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sada smo za svaki podatak pravili posebnu promenljivu (seq_1, seq_2, seq_3) i ponavljali skoro iste naredbe. To radi samo kad je podataka malo i kad unapred znamo koliko ih ima. Lista čuva mnogo elemenata u jednoj promenljivoj, a petlja izražava ideju „ponavljanje sa varijacijom”.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Dosadašnji tipovi (stringovi, brojevi, fajl objekti) čuvaju po jednu vrednost; fajl može da sadrži mnogo podataka, ali jedan fajl objekat i dalje predstavlja jedan fajl. Rešenje iz poglavlja 3 radilo je samo zato što je sekvenci bilo malo i što smo njihov broj znali unapred. Sa stotinama sekvenci najveći deo koda bio bi pravljenje promenljivih, a program koji čita nepoznat broj sekvenci iz fajla ne bismo ni mogli da napišemo. Do sada su se naredbe izvršavale odozgo nadole, jedna po jedna; to je lako pratiti, ali vodi u ponavljanje.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Listu pravimo uglastim zagradama, a elemente razdvajamo zarezima; elementi mogu biti stringovi, brojevi ili bilo koje druge vrednosti. Metod index radi obrnuto od indeksiranja: za poznat element daje njegov indeks. Isecanje [2:5] je ista notacija kao za podstringove u poglavlju 2, sa istim pravilom (početak uključen, kraj isključen). To nije slučajnost: kad smo isecali stringove, tretirali smo string kao listu karaktera.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Dužinu liste dobijamo istom funkcijom len kao za stringove. Spajanje lista znakom + radi isto kao spajanje stringova i ne menja nijednu od dve liste. Ako želimo da elemente jedne liste dodamo na kraj postojeće liste, menjajući je, koristimo extend, koji radi kao append, ali prima listu umesto jednog elementa.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 je zanimljiv jer menja promenljivu na kojoj je pozvan: lista apes posle poziva ima četiri elementa umesto tri. Nasuprot tome, apes + monkeys ne menja nijednu od dve liste, nego pravi novu sa pet elemenata. Da bismo ispisali listu spojenu sa tekstom, pretvaramo je sa str, kao brojeve. Podrazumevano se stringovi sortiraju abecedno, a brojevi rastuće.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iz knjige: za listu apes ispisati svaki element u posebnom redu, sa rečima „is an ape”. Bez petlje pišemo tri skoro iste naredbe i oslanjamo se na to da znamo broj elemenata. Petlja izražava upravo ono što želimo da kažemo: za svaki element liste uradi sledeće. Detalje sintakse petlje prolazimo na sledećem slajdu.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Bez petlje bismo pisali print(apes[0] + ...), print(apes[1] + ...) i tako redom: to se ponavlja i zahteva da unapred znamo broj elemenata. Sa petljom, izmena se pravi na jednom mestu, a dodavanje elemenata u listu ne zahteva nikakvu izmenu petlje. Telo može imati koliko god linija i koristiti sve dosadašnje alate, sa jednim izuzetkom: listu ne menjamo dok petlja kroz nju prolazi. Obrazac „linija sa dvotačkom, pa uvučeni blok” videćemo i kod funkcija i uslova. IndentationError se javlja pre nego što program uopšte počne da 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Umesto šest naredbi za šest linija izlaza, pišemo samo dve print naredbe. Telo petlje može imati koliko god linija i koristiti sve dosad naučene funkcije i metode. Jedini izuzetak: lista se ne menja dok se kroz nju prolazi, jer bi Python mogao da se zbuni oko toga koji su elementi već obrađeni, a koji tek dolaze. Promenljive name_length i first_letter dobijaju novu vrednost u svakom krugu.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Uvođenje blokova donosi novu vrstu greške, IndentationError. Kada je dobijete, proverite da su sve linije bloka poravnate i da ne mešate tabove i razmake; tabovi i razmaci vama izgledaju isto, ali Pythonu ne. Zato je u poglavlju 1 preporučena tab emulacija: editor svaki tab pretvara u četiri razmaka. Uvučene linije mogu počinjati bilo kojim brojem razmaka, ali u istom bloku moraju biti uvučene na isti način.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Ideja da se nešto što nije lista ponaša kao lista je moćna: kad naučimo sintaksu za liste, koristimo je na mnogo mesta. Kod stringa elementi su karakteri, kod fajla linije. split je metod stringa koji vraća listu; dobijenu listu možemo dalje obrađivati petljom. Ako baš morate da koristite i read i petlju na istom fajlu, zatvorite ga i ponovo otvorite.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iz knjige: ispisati prva tri ostatka proteina, pa prva četiri, i tako dalje. Petlja preko samog stringa daje pojedinačne ostatke, a ručno pisana lista [3, 4, 5, ..., 10] je glomazna i zahteva da unapred znamo dužinu. range generiše brojeve za nas. Pošto je kraj isključen, pišemo len(protein) + 1 da bi poslednji prefiks bio ceo protein.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svaka sekvenca u input.txt počinje istim fragmentom od 14 baza, adapterom za sekvenciranje koji je trebalo ukloniti. Treba ga odseći, upisati očišćene sekvence u novi fajl i ispisati dužinu svake. Rešavamo korak po korak: prvo samo čitamo i ispisujemo. Sekvence su različite dužine, pa kraj isečka računamo sa len za svaku posebno; početak je 14, jer 15. baza ima indeks 14. Izlazi su iz materijala uz knjigu i ovde su skraćeni. Kraći zapis istog isečka je dna[14:].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Kada smo proverili da isecanje radi, prelazimo sa ispisa na pisanje u fajl: fajl za pisanje otvaramo pre petlje, a u petlji upisujemo svaku isečenu sekvencu. Nismo uklonili novi red, ali to ne smeta, jer se nalazi tačno na pravom mestu u izlaznom fajlu. Poslednji korak, ispis dužina, zahteva samo još jednu liniju. Napomena: knjiga ne skida znak za novi red, pa je ispisana dužina za jedan veća od broja baza (osim, možda, za poslednju liniju fajla).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genomic_dna.txt sadrži deo genomske DNK, a exons.txt pozicije egzona, po jedan egzon u liniji, sa početkom i krajem razdvojenim zarezom. Treba izdvojiti egzone, spojiti ih i upisati u novi fajl. Novi deo problema je čitanje fajla sa pozicijama, pa njega rešavamo prvo. split sa zarezom kao graničnikom daje listu od dva elementa; drugi element još ima znak za novi red, zbog čega se u izlazu javljaju prazni redovi. Za sada ga ignorišemo. Promenljive start i stop dobijaju nove vrednosti u svakom krugu petlje.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Genomsku sekvencu čitamo odjednom sa read, jer nam treba ceo sadržaj, a ne linija po liniju. Greška se javlja u liniji sa isecanjem: isečak traži brojeve, a mi smo mu dali stringove. Rezultat split je uvek lista stringova, pa su i njeni elementi stringovi. Ovo je primer zašto je važno znati tip svake vrednosti. Sa funkcijom int program radi kako treba i ispisuje egzone jedan po jedan; sledeći korak je da ih spojimo.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Rešenje se u knjizi gradi postepeno: prvo ispis svake linije fajla, zatim ispis liste koju vraća split, pa start i stop, pa ispis svakog egzona, i na kraju sakupljanje kodirajuće sekvence. Ispisivanje coding_sequence u svakom krugu petlje pokazuje kako sekvenca raste. Poslednje tri linije upisuju rezultat u fajl, posle petlje (bez uvlačenja). Prazan string "" je početna vrednost na koju dodajemo egzone.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i petlje rade zajedno: lista čuva mnogo elemenata u jednoj promenljivoj, a petlja ih obrađuje jedan po jedan. Usput smo upoznali blokove i važnost uvlačenja. Kad savladamo sintaksu za liste, možemo je koristiti i za stringove, fajlove i opsege. Kod prve vežbe: dna[14:] uzima sve od 15. karaktera do kraja.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4 OD 9</a:t>
            </a:r>
            <a:endParaRPr sz="1200"/>
          </a:p>
        </p:txBody>
      </p:sp>
      <p:sp>
        <p:nvSpPr>
          <p:cNvPr id="3" name="Tekst 1x100.00"/>
          <p:cNvSpPr txBox="1"/>
          <p:nvPr/>
        </p:nvSpPr>
        <p:spPr>
          <a:xfrm>
            <a:off x="812800" y="3457079"/>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04</a:t>
            </a:r>
            <a:endParaRPr sz="10000"/>
          </a:p>
        </p:txBody>
      </p:sp>
      <p:sp>
        <p:nvSpPr>
          <p:cNvPr id="4" name="Tekst 1x54.60"/>
          <p:cNvSpPr txBox="1"/>
          <p:nvPr/>
        </p:nvSpPr>
        <p:spPr>
          <a:xfrm>
            <a:off x="812800" y="4879479"/>
            <a:ext cx="10777728" cy="69334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Liste i petlje</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Ista obrada za stotine i hiljade sekvenci, bez kopiranja koda</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Kad promenljivih postane previše</a:t>
            </a:r>
            <a:endParaRPr sz="3200"/>
          </a:p>
        </p:txBody>
      </p:sp>
      <p:sp>
        <p:nvSpPr>
          <p:cNvPr id="4" name="Rounded Rectangle 3"/>
          <p:cNvSpPr/>
          <p:nvPr/>
        </p:nvSpPr>
        <p:spPr>
          <a:xfrm>
            <a:off x="819150" y="1708051"/>
            <a:ext cx="4514751"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8x20.15"/>
          <p:cNvSpPr txBox="1"/>
          <p:nvPr/>
        </p:nvSpPr>
        <p:spPr>
          <a:xfrm>
            <a:off x="1079500" y="1892201"/>
            <a:ext cx="4073932"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poglavlje 3: promenljiva za svaku sekvencu</a:t>
            </a:r>
            <a:br/>
            <a:r>
              <a:rPr sz="1300" b="0" i="0">
                <a:solidFill>
                  <a:srgbClr val="E8EEE9"/>
                </a:solidFill>
                <a:latin typeface="Consolas"/>
              </a:rPr>
              <a:t>seq_1 = </a:t>
            </a:r>
            <a:r>
              <a:rPr sz="1300" b="0" i="0">
                <a:solidFill>
                  <a:srgbClr val="F0A35E"/>
                </a:solidFill>
                <a:latin typeface="Consolas"/>
              </a:rPr>
              <a:t>"ATCGTACGATCGATCGATCGCTAGACGTATCG"</a:t>
            </a:r>
            <a:br/>
            <a:r>
              <a:rPr sz="1300" b="0" i="0">
                <a:solidFill>
                  <a:srgbClr val="E8EEE9"/>
                </a:solidFill>
                <a:latin typeface="Consolas"/>
              </a:rPr>
              <a:t>seq_2 = </a:t>
            </a:r>
            <a:r>
              <a:rPr sz="1300" b="0" i="0">
                <a:solidFill>
                  <a:srgbClr val="F0A35E"/>
                </a:solidFill>
                <a:latin typeface="Consolas"/>
              </a:rPr>
              <a:t>"actgatcgacgatcgatcgatcacgact"</a:t>
            </a:r>
            <a:br/>
            <a:r>
              <a:rPr sz="1300" b="0" i="0">
                <a:solidFill>
                  <a:srgbClr val="E8EEE9"/>
                </a:solidFill>
                <a:latin typeface="Consolas"/>
              </a:rPr>
              <a:t>seq_3 = </a:t>
            </a:r>
            <a:r>
              <a:rPr sz="1300" b="0" i="0">
                <a:solidFill>
                  <a:srgbClr val="F0A35E"/>
                </a:solidFill>
                <a:latin typeface="Consolas"/>
              </a:rPr>
              <a:t>"ACTGAC-ACTGT--ACTGTA----CATGTG"</a:t>
            </a:r>
            <a:br/>
            <a:r>
              <a:rPr sz="1300" b="0" i="0">
                <a:solidFill>
                  <a:srgbClr val="8FB3AA"/>
                </a:solidFill>
                <a:latin typeface="Consolas"/>
              </a:rPr>
              <a:t># i skoro ista naredba tri puta</a:t>
            </a:r>
            <a:br/>
            <a:r>
              <a:rPr sz="1300" b="0" i="0">
                <a:solidFill>
                  <a:srgbClr val="E8EEE9"/>
                </a:solidFill>
                <a:latin typeface="Consolas"/>
              </a:rPr>
              <a:t>output_1 = open(header_1 + </a:t>
            </a:r>
            <a:r>
              <a:rPr sz="1300" b="0" i="0">
                <a:solidFill>
                  <a:srgbClr val="F0A35E"/>
                </a:solidFill>
                <a:latin typeface="Consolas"/>
              </a:rPr>
              <a:t>".fasta"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output_2 = open(header_2 + </a:t>
            </a:r>
            <a:r>
              <a:rPr sz="1300" b="0" i="0">
                <a:solidFill>
                  <a:srgbClr val="F0A35E"/>
                </a:solidFill>
                <a:latin typeface="Consolas"/>
              </a:rPr>
              <a:t>".fasta"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output_3 = open(header_3 + </a:t>
            </a:r>
            <a:r>
              <a:rPr sz="1300" b="0" i="0">
                <a:solidFill>
                  <a:srgbClr val="F0A35E"/>
                </a:solidFill>
                <a:latin typeface="Consolas"/>
              </a:rPr>
              <a:t>".fasta"</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endParaRPr sz="1300"/>
          </a:p>
        </p:txBody>
      </p:sp>
      <p:sp>
        <p:nvSpPr>
          <p:cNvPr id="6" name="Tekst 2x24.30"/>
          <p:cNvSpPr txBox="1"/>
          <p:nvPr/>
        </p:nvSpPr>
        <p:spPr>
          <a:xfrm>
            <a:off x="5645051" y="1701701"/>
            <a:ext cx="5848832" cy="617141"/>
          </a:xfrm>
          <a:prstGeom prst="rect">
            <a:avLst/>
          </a:prstGeom>
          <a:noFill/>
        </p:spPr>
        <p:txBody>
          <a:bodyPr wrap="square" anchor="t" lIns="0" rIns="0" tIns="0" bIns="0">
            <a:noAutofit/>
          </a:bodyPr>
          <a:lstStyle/>
          <a:p>
            <a:pPr algn="l">
              <a:lnSpc>
                <a:spcPts val="2430"/>
              </a:lnSpc>
              <a:spcBef>
                <a:spcPts val="0"/>
              </a:spcBef>
              <a:spcAft>
                <a:spcPts val="0"/>
              </a:spcAft>
            </a:pPr>
            <a:r>
              <a:rPr sz="1800" b="0" i="0">
                <a:solidFill>
                  <a:srgbClr val="13262B"/>
                </a:solidFill>
                <a:latin typeface="Arial"/>
              </a:rPr>
              <a:t>A šta sa 300 ili 3000 sekvenci? Ili kad ne znamo unapred koliko ih ima?</a:t>
            </a:r>
            <a:endParaRPr sz="1800"/>
          </a:p>
        </p:txBody>
      </p:sp>
      <p:sp>
        <p:nvSpPr>
          <p:cNvPr id="7" name="Rounded Rectangle 6"/>
          <p:cNvSpPr/>
          <p:nvPr/>
        </p:nvSpPr>
        <p:spPr>
          <a:xfrm>
            <a:off x="5648226" y="2474416"/>
            <a:ext cx="5727799" cy="893961"/>
          </a:xfrm>
          <a:prstGeom prst="roundRect">
            <a:avLst>
              <a:gd name="adj" fmla="val 11365"/>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5854601" y="2629991"/>
            <a:ext cx="54213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Lista</a:t>
            </a:r>
            <a:endParaRPr sz="1800"/>
          </a:p>
        </p:txBody>
      </p:sp>
      <p:sp>
        <p:nvSpPr>
          <p:cNvPr id="9" name="Tekst 1x20.30"/>
          <p:cNvSpPr txBox="1"/>
          <p:nvPr/>
        </p:nvSpPr>
        <p:spPr>
          <a:xfrm>
            <a:off x="5854601" y="2955032"/>
            <a:ext cx="54213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Jedna promenljiva čuva mnogo vrednosti.</a:t>
            </a:r>
            <a:endParaRPr sz="1400"/>
          </a:p>
        </p:txBody>
      </p:sp>
      <p:sp>
        <p:nvSpPr>
          <p:cNvPr id="10" name="Rounded Rectangle 9"/>
          <p:cNvSpPr/>
          <p:nvPr/>
        </p:nvSpPr>
        <p:spPr>
          <a:xfrm>
            <a:off x="5648226" y="3527127"/>
            <a:ext cx="5727799" cy="893961"/>
          </a:xfrm>
          <a:prstGeom prst="roundRect">
            <a:avLst>
              <a:gd name="adj" fmla="val 11365"/>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21.60"/>
          <p:cNvSpPr txBox="1"/>
          <p:nvPr/>
        </p:nvSpPr>
        <p:spPr>
          <a:xfrm>
            <a:off x="5854601" y="3682702"/>
            <a:ext cx="542135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Petlja</a:t>
            </a:r>
            <a:endParaRPr sz="1800"/>
          </a:p>
        </p:txBody>
      </p:sp>
      <p:sp>
        <p:nvSpPr>
          <p:cNvPr id="12" name="Tekst 1x20.30"/>
          <p:cNvSpPr txBox="1"/>
          <p:nvPr/>
        </p:nvSpPr>
        <p:spPr>
          <a:xfrm>
            <a:off x="5854601" y="4007743"/>
            <a:ext cx="542135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Ista naredba za svaki element: ponavljanje sa varijacijom.</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Liste: mnogo vrednosti u jednoj promenljivoj</a:t>
            </a:r>
            <a:endParaRPr sz="3200"/>
          </a:p>
        </p:txBody>
      </p:sp>
      <p:sp>
        <p:nvSpPr>
          <p:cNvPr id="4" name="Tekst 1x18.20"/>
          <p:cNvSpPr txBox="1"/>
          <p:nvPr/>
        </p:nvSpPr>
        <p:spPr>
          <a:xfrm>
            <a:off x="1785342" y="1703586"/>
            <a:ext cx="116185"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0</a:t>
            </a:r>
            <a:endParaRPr sz="1300"/>
          </a:p>
        </p:txBody>
      </p:sp>
      <p:sp>
        <p:nvSpPr>
          <p:cNvPr id="5" name="Rounded Rectangle 4"/>
          <p:cNvSpPr/>
          <p:nvPr/>
        </p:nvSpPr>
        <p:spPr>
          <a:xfrm>
            <a:off x="819150" y="1991816"/>
            <a:ext cx="2023170" cy="497780"/>
          </a:xfrm>
          <a:prstGeom prst="roundRect">
            <a:avLst>
              <a:gd name="adj" fmla="val 1530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18.20"/>
          <p:cNvSpPr txBox="1"/>
          <p:nvPr/>
        </p:nvSpPr>
        <p:spPr>
          <a:xfrm>
            <a:off x="883119" y="2125166"/>
            <a:ext cx="1895231"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"Homo sapiens"</a:t>
            </a:r>
            <a:endParaRPr sz="1400"/>
          </a:p>
        </p:txBody>
      </p:sp>
      <p:sp>
        <p:nvSpPr>
          <p:cNvPr id="7" name="Tekst 1x18.20"/>
          <p:cNvSpPr txBox="1"/>
          <p:nvPr/>
        </p:nvSpPr>
        <p:spPr>
          <a:xfrm>
            <a:off x="1739900" y="2546747"/>
            <a:ext cx="206970"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5F6F70"/>
                </a:solidFill>
                <a:latin typeface="Consolas"/>
              </a:rPr>
              <a:t>-3</a:t>
            </a:r>
            <a:endParaRPr sz="1300"/>
          </a:p>
        </p:txBody>
      </p:sp>
      <p:sp>
        <p:nvSpPr>
          <p:cNvPr id="8" name="Tekst 1x18.20"/>
          <p:cNvSpPr txBox="1"/>
          <p:nvPr/>
        </p:nvSpPr>
        <p:spPr>
          <a:xfrm>
            <a:off x="3922812" y="1703586"/>
            <a:ext cx="116185"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1</a:t>
            </a:r>
            <a:endParaRPr sz="1300"/>
          </a:p>
        </p:txBody>
      </p:sp>
      <p:sp>
        <p:nvSpPr>
          <p:cNvPr id="9" name="Rounded Rectangle 8"/>
          <p:cNvSpPr/>
          <p:nvPr/>
        </p:nvSpPr>
        <p:spPr>
          <a:xfrm>
            <a:off x="2956620" y="1991816"/>
            <a:ext cx="2023269" cy="497780"/>
          </a:xfrm>
          <a:prstGeom prst="roundRect">
            <a:avLst>
              <a:gd name="adj" fmla="val 1530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8.20"/>
          <p:cNvSpPr txBox="1"/>
          <p:nvPr/>
        </p:nvSpPr>
        <p:spPr>
          <a:xfrm>
            <a:off x="3020588" y="2125166"/>
            <a:ext cx="1895332"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"Pan troglodytes"</a:t>
            </a:r>
            <a:endParaRPr sz="1400"/>
          </a:p>
        </p:txBody>
      </p:sp>
      <p:sp>
        <p:nvSpPr>
          <p:cNvPr id="11" name="Tekst 1x18.20"/>
          <p:cNvSpPr txBox="1"/>
          <p:nvPr/>
        </p:nvSpPr>
        <p:spPr>
          <a:xfrm>
            <a:off x="3877469" y="2546747"/>
            <a:ext cx="206970"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5F6F70"/>
                </a:solidFill>
                <a:latin typeface="Consolas"/>
              </a:rPr>
              <a:t>-2</a:t>
            </a:r>
            <a:endParaRPr sz="1300"/>
          </a:p>
        </p:txBody>
      </p:sp>
      <p:sp>
        <p:nvSpPr>
          <p:cNvPr id="12" name="Tekst 1x18.20"/>
          <p:cNvSpPr txBox="1"/>
          <p:nvPr/>
        </p:nvSpPr>
        <p:spPr>
          <a:xfrm>
            <a:off x="6060380" y="1703586"/>
            <a:ext cx="116185" cy="231080"/>
          </a:xfrm>
          <a:prstGeom prst="rect">
            <a:avLst/>
          </a:prstGeom>
          <a:noFill/>
        </p:spPr>
        <p:txBody>
          <a:bodyPr wrap="square" anchor="t" lIns="0" rIns="0" tIns="0" bIns="0">
            <a:noAutofit/>
          </a:bodyPr>
          <a:lstStyle/>
          <a:p>
            <a:pPr algn="l">
              <a:lnSpc>
                <a:spcPts val="1820"/>
              </a:lnSpc>
              <a:spcBef>
                <a:spcPts val="0"/>
              </a:spcBef>
              <a:spcAft>
                <a:spcPts val="0"/>
              </a:spcAft>
            </a:pPr>
            <a:r>
              <a:rPr sz="1300" b="1" i="0">
                <a:solidFill>
                  <a:srgbClr val="A8521A"/>
                </a:solidFill>
                <a:latin typeface="Consolas"/>
              </a:rPr>
              <a:t>2</a:t>
            </a:r>
            <a:endParaRPr sz="1300"/>
          </a:p>
        </p:txBody>
      </p:sp>
      <p:sp>
        <p:nvSpPr>
          <p:cNvPr id="13" name="Rounded Rectangle 12"/>
          <p:cNvSpPr/>
          <p:nvPr/>
        </p:nvSpPr>
        <p:spPr>
          <a:xfrm>
            <a:off x="5094188" y="1991816"/>
            <a:ext cx="2023170" cy="497780"/>
          </a:xfrm>
          <a:prstGeom prst="roundRect">
            <a:avLst>
              <a:gd name="adj" fmla="val 15307"/>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8.20"/>
          <p:cNvSpPr txBox="1"/>
          <p:nvPr/>
        </p:nvSpPr>
        <p:spPr>
          <a:xfrm>
            <a:off x="5158158" y="2125166"/>
            <a:ext cx="1895231" cy="231080"/>
          </a:xfrm>
          <a:prstGeom prst="rect">
            <a:avLst/>
          </a:prstGeom>
          <a:noFill/>
        </p:spPr>
        <p:txBody>
          <a:bodyPr wrap="square" anchor="t" lIns="0" rIns="0" tIns="0" bIns="0">
            <a:noAutofit/>
          </a:bodyPr>
          <a:lstStyle/>
          <a:p>
            <a:pPr algn="ctr">
              <a:lnSpc>
                <a:spcPts val="1820"/>
              </a:lnSpc>
              <a:spcBef>
                <a:spcPts val="0"/>
              </a:spcBef>
              <a:spcAft>
                <a:spcPts val="0"/>
              </a:spcAft>
            </a:pPr>
            <a:r>
              <a:rPr sz="1400" b="0" i="0">
                <a:solidFill>
                  <a:srgbClr val="13262B"/>
                </a:solidFill>
                <a:latin typeface="Consolas"/>
              </a:rPr>
              <a:t>"Gorilla gorilla"</a:t>
            </a:r>
            <a:endParaRPr sz="1400"/>
          </a:p>
        </p:txBody>
      </p:sp>
      <p:sp>
        <p:nvSpPr>
          <p:cNvPr id="15" name="Tekst 1x18.20"/>
          <p:cNvSpPr txBox="1"/>
          <p:nvPr/>
        </p:nvSpPr>
        <p:spPr>
          <a:xfrm>
            <a:off x="6014938" y="2546747"/>
            <a:ext cx="206970"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5F6F70"/>
                </a:solidFill>
                <a:latin typeface="Consolas"/>
              </a:rPr>
              <a:t>-1</a:t>
            </a:r>
            <a:endParaRPr sz="1300"/>
          </a:p>
        </p:txBody>
      </p:sp>
      <p:sp>
        <p:nvSpPr>
          <p:cNvPr id="16" name="Rounded Rectangle 15"/>
          <p:cNvSpPr/>
          <p:nvPr/>
        </p:nvSpPr>
        <p:spPr>
          <a:xfrm>
            <a:off x="7428607" y="1701701"/>
            <a:ext cx="3950593" cy="1078111"/>
          </a:xfrm>
          <a:prstGeom prst="roundRect">
            <a:avLst>
              <a:gd name="adj" fmla="val 7067"/>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28607" y="1701701"/>
            <a:ext cx="38100" cy="107811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3x20.30"/>
          <p:cNvSpPr txBox="1"/>
          <p:nvPr/>
        </p:nvSpPr>
        <p:spPr>
          <a:xfrm>
            <a:off x="7669907" y="1854101"/>
            <a:ext cx="3576215"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Svaka stavka je element. Indeksi kreću od 0, a negativni broje od kraja: </a:t>
            </a:r>
            <a:r>
              <a:rPr sz="1400" b="0" i="0">
                <a:solidFill>
                  <a:srgbClr val="A8521A"/>
                </a:solidFill>
                <a:latin typeface="Arial"/>
              </a:rPr>
              <a:t>apes[-1]</a:t>
            </a:r>
            <a:r>
              <a:rPr sz="1400" b="0" i="0">
                <a:solidFill>
                  <a:srgbClr val="13262B"/>
                </a:solidFill>
                <a:latin typeface="Arial"/>
              </a:rPr>
              <a:t> je poslednji element.</a:t>
            </a:r>
            <a:endParaRPr sz="1400"/>
          </a:p>
        </p:txBody>
      </p:sp>
      <p:sp>
        <p:nvSpPr>
          <p:cNvPr id="19" name="Rounded Rectangle 18"/>
          <p:cNvSpPr/>
          <p:nvPr/>
        </p:nvSpPr>
        <p:spPr>
          <a:xfrm>
            <a:off x="819150" y="3040162"/>
            <a:ext cx="10553700"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6x20.15"/>
          <p:cNvSpPr txBox="1"/>
          <p:nvPr/>
        </p:nvSpPr>
        <p:spPr>
          <a:xfrm>
            <a:off x="1079500" y="3224312"/>
            <a:ext cx="10185400"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apes = [</a:t>
            </a:r>
            <a:r>
              <a:rPr sz="1300" b="0" i="0">
                <a:solidFill>
                  <a:srgbClr val="F0A35E"/>
                </a:solidFill>
                <a:latin typeface="Consolas"/>
              </a:rPr>
              <a:t>"Homo sapiens"</a:t>
            </a:r>
            <a:r>
              <a:rPr sz="1300" b="0" i="0">
                <a:solidFill>
                  <a:srgbClr val="E8EEE9"/>
                </a:solidFill>
                <a:latin typeface="Consolas"/>
              </a:rPr>
              <a:t>, </a:t>
            </a:r>
            <a:r>
              <a:rPr sz="1300" b="0" i="0">
                <a:solidFill>
                  <a:srgbClr val="F0A35E"/>
                </a:solidFill>
                <a:latin typeface="Consolas"/>
              </a:rPr>
              <a:t>"Pan troglodytes"</a:t>
            </a:r>
            <a:r>
              <a:rPr sz="1300" b="0" i="0">
                <a:solidFill>
                  <a:srgbClr val="E8EEE9"/>
                </a:solidFill>
                <a:latin typeface="Consolas"/>
              </a:rPr>
              <a:t>, </a:t>
            </a:r>
            <a:r>
              <a:rPr sz="1300" b="0" i="0">
                <a:solidFill>
                  <a:srgbClr val="F0A35E"/>
                </a:solidFill>
                <a:latin typeface="Consolas"/>
              </a:rPr>
              <a:t>"Gorilla gorilla"</a:t>
            </a:r>
            <a:r>
              <a:rPr sz="1300" b="0" i="0">
                <a:solidFill>
                  <a:srgbClr val="E8EEE9"/>
                </a:solidFill>
                <a:latin typeface="Consolas"/>
              </a:rPr>
              <a:t>]</a:t>
            </a:r>
            <a:br/>
            <a:r>
              <a:rPr sz="1300" b="0" i="0">
                <a:solidFill>
                  <a:srgbClr val="E8EEE9"/>
                </a:solidFill>
                <a:latin typeface="Consolas"/>
              </a:rPr>
              <a:t>conserved_sites = [24, 56, 132]</a:t>
            </a:r>
            <a:br/>
            <a:r>
              <a:rPr sz="1300" b="0" i="0">
                <a:solidFill>
                  <a:srgbClr val="E8EEE9"/>
                </a:solidFill>
                <a:latin typeface="Consolas"/>
              </a:rPr>
              <a:t>print(apes[0])                                </a:t>
            </a:r>
            <a:r>
              <a:rPr sz="1300" b="0" i="0">
                <a:solidFill>
                  <a:srgbClr val="8FB3AA"/>
                </a:solidFill>
                <a:latin typeface="Consolas"/>
              </a:rPr>
              <a:t># Homo sapiens</a:t>
            </a:r>
            <a:br/>
            <a:r>
              <a:rPr sz="1300" b="0" i="0">
                <a:solidFill>
                  <a:srgbClr val="E8EEE9"/>
                </a:solidFill>
                <a:latin typeface="Consolas"/>
              </a:rPr>
              <a:t>chimp_index = apes.index(</a:t>
            </a:r>
            <a:r>
              <a:rPr sz="1300" b="0" i="0">
                <a:solidFill>
                  <a:srgbClr val="F0A35E"/>
                </a:solidFill>
                <a:latin typeface="Consolas"/>
              </a:rPr>
              <a:t>"Pan troglodytes"</a:t>
            </a:r>
            <a:r>
              <a:rPr sz="1300" b="0" i="0">
                <a:solidFill>
                  <a:srgbClr val="E8EEE9"/>
                </a:solidFill>
                <a:latin typeface="Consolas"/>
              </a:rPr>
              <a:t>)   </a:t>
            </a:r>
            <a:r>
              <a:rPr sz="1300" b="0" i="0">
                <a:solidFill>
                  <a:srgbClr val="8FB3AA"/>
                </a:solidFill>
                <a:latin typeface="Consolas"/>
              </a:rPr>
              <a:t># 1</a:t>
            </a:r>
            <a:br/>
            <a:r>
              <a:rPr sz="1300" b="0" i="0">
                <a:solidFill>
                  <a:srgbClr val="E8EEE9"/>
                </a:solidFill>
                <a:latin typeface="Consolas"/>
              </a:rPr>
              <a:t>ranks = [</a:t>
            </a:r>
            <a:r>
              <a:rPr sz="1300" b="0" i="0">
                <a:solidFill>
                  <a:srgbClr val="F0A35E"/>
                </a:solidFill>
                <a:latin typeface="Consolas"/>
              </a:rPr>
              <a:t>"kingdom"</a:t>
            </a:r>
            <a:r>
              <a:rPr sz="1300" b="0" i="0">
                <a:solidFill>
                  <a:srgbClr val="E8EEE9"/>
                </a:solidFill>
                <a:latin typeface="Consolas"/>
              </a:rPr>
              <a:t>, </a:t>
            </a:r>
            <a:r>
              <a:rPr sz="1300" b="0" i="0">
                <a:solidFill>
                  <a:srgbClr val="F0A35E"/>
                </a:solidFill>
                <a:latin typeface="Consolas"/>
              </a:rPr>
              <a:t>"phylum"</a:t>
            </a:r>
            <a:r>
              <a:rPr sz="1300" b="0" i="0">
                <a:solidFill>
                  <a:srgbClr val="E8EEE9"/>
                </a:solidFill>
                <a:latin typeface="Consolas"/>
              </a:rPr>
              <a:t>, </a:t>
            </a:r>
            <a:r>
              <a:rPr sz="1300" b="0" i="0">
                <a:solidFill>
                  <a:srgbClr val="F0A35E"/>
                </a:solidFill>
                <a:latin typeface="Consolas"/>
              </a:rPr>
              <a:t>"class"</a:t>
            </a:r>
            <a:r>
              <a:rPr sz="1300" b="0" i="0">
                <a:solidFill>
                  <a:srgbClr val="E8EEE9"/>
                </a:solidFill>
                <a:latin typeface="Consolas"/>
              </a:rPr>
              <a:t>, </a:t>
            </a:r>
            <a:r>
              <a:rPr sz="1300" b="0" i="0">
                <a:solidFill>
                  <a:srgbClr val="F0A35E"/>
                </a:solidFill>
                <a:latin typeface="Consolas"/>
              </a:rPr>
              <a:t>"order"</a:t>
            </a:r>
            <a:r>
              <a:rPr sz="1300" b="0" i="0">
                <a:solidFill>
                  <a:srgbClr val="E8EEE9"/>
                </a:solidFill>
                <a:latin typeface="Consolas"/>
              </a:rPr>
              <a:t>, </a:t>
            </a:r>
            <a:r>
              <a:rPr sz="1300" b="0" i="0">
                <a:solidFill>
                  <a:srgbClr val="F0A35E"/>
                </a:solidFill>
                <a:latin typeface="Consolas"/>
              </a:rPr>
              <a:t>"family"</a:t>
            </a:r>
            <a:r>
              <a:rPr sz="1300" b="0" i="0">
                <a:solidFill>
                  <a:srgbClr val="E8EEE9"/>
                </a:solidFill>
                <a:latin typeface="Consolas"/>
              </a:rPr>
              <a:t>]</a:t>
            </a:r>
            <a:br/>
            <a:r>
              <a:rPr sz="1300" b="0" i="0">
                <a:solidFill>
                  <a:srgbClr val="E8EEE9"/>
                </a:solidFill>
                <a:latin typeface="Consolas"/>
              </a:rPr>
              <a:t>lower_ranks = ranks[2:5]                      </a:t>
            </a:r>
            <a:r>
              <a:rPr sz="1300" b="0" i="0">
                <a:solidFill>
                  <a:srgbClr val="8FB3AA"/>
                </a:solidFill>
                <a:latin typeface="Consolas"/>
              </a:rPr>
              <a:t># ['class', 'order', 'family']</a:t>
            </a:r>
            <a:endParaRPr sz="13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Dodavanje elemenata i spajanje lista</a:t>
            </a:r>
            <a:endParaRPr sz="3200"/>
          </a:p>
        </p:txBody>
      </p:sp>
      <p:sp>
        <p:nvSpPr>
          <p:cNvPr id="4" name="Rounded Rectangle 3"/>
          <p:cNvSpPr/>
          <p:nvPr/>
        </p:nvSpPr>
        <p:spPr>
          <a:xfrm>
            <a:off x="819150" y="1708051"/>
            <a:ext cx="5059561"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92201"/>
            <a:ext cx="4629638"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apes: lista sa tri vrste</a:t>
            </a:r>
            <a:br/>
            <a:r>
              <a:rPr sz="1300" b="0" i="0">
                <a:solidFill>
                  <a:srgbClr val="E8EEE9"/>
                </a:solidFill>
                <a:latin typeface="Consolas"/>
              </a:rPr>
              <a:t>print(</a:t>
            </a:r>
            <a:r>
              <a:rPr sz="1300" b="0" i="0">
                <a:solidFill>
                  <a:srgbClr val="F0A35E"/>
                </a:solidFill>
                <a:latin typeface="Consolas"/>
              </a:rPr>
              <a:t>"There are "</a:t>
            </a:r>
            <a:r>
              <a:rPr sz="1300" b="0" i="0">
                <a:solidFill>
                  <a:srgbClr val="E8EEE9"/>
                </a:solidFill>
                <a:latin typeface="Consolas"/>
              </a:rPr>
              <a:t> + str(len(apes)) + </a:t>
            </a:r>
            <a:r>
              <a:rPr sz="1300" b="0" i="0">
                <a:solidFill>
                  <a:srgbClr val="F0A35E"/>
                </a:solidFill>
                <a:latin typeface="Consolas"/>
              </a:rPr>
              <a:t>" apes"</a:t>
            </a:r>
            <a:r>
              <a:rPr sz="1300" b="0" i="0">
                <a:solidFill>
                  <a:srgbClr val="E8EEE9"/>
                </a:solidFill>
                <a:latin typeface="Consolas"/>
              </a:rPr>
              <a:t>)</a:t>
            </a:r>
            <a:br/>
            <a:r>
              <a:rPr sz="1300" b="0" i="0">
                <a:solidFill>
                  <a:srgbClr val="E8EEE9"/>
                </a:solidFill>
                <a:latin typeface="Consolas"/>
              </a:rPr>
              <a:t>apes.append(</a:t>
            </a:r>
            <a:r>
              <a:rPr sz="1300" b="0" i="0">
                <a:solidFill>
                  <a:srgbClr val="F0A35E"/>
                </a:solidFill>
                <a:latin typeface="Consolas"/>
              </a:rPr>
              <a:t>"Pan paniscus"</a:t>
            </a:r>
            <a:r>
              <a:rPr sz="1300" b="0" i="0">
                <a:solidFill>
                  <a:srgbClr val="E8EEE9"/>
                </a:solidFill>
                <a:latin typeface="Consolas"/>
              </a:rPr>
              <a:t>)</a:t>
            </a:r>
            <a:br/>
            <a:r>
              <a:rPr sz="1300" b="0" i="0">
                <a:solidFill>
                  <a:srgbClr val="E8EEE9"/>
                </a:solidFill>
                <a:latin typeface="Consolas"/>
              </a:rPr>
              <a:t>print(</a:t>
            </a:r>
            <a:r>
              <a:rPr sz="1300" b="0" i="0">
                <a:solidFill>
                  <a:srgbClr val="F0A35E"/>
                </a:solidFill>
                <a:latin typeface="Consolas"/>
              </a:rPr>
              <a:t>"Now there are "</a:t>
            </a:r>
            <a:r>
              <a:rPr sz="1300" b="0" i="0">
                <a:solidFill>
                  <a:srgbClr val="E8EEE9"/>
                </a:solidFill>
                <a:latin typeface="Consolas"/>
              </a:rPr>
              <a:t> + str(len(apes)) + </a:t>
            </a:r>
            <a:r>
              <a:rPr sz="1300" b="0" i="0">
                <a:solidFill>
                  <a:srgbClr val="F0A35E"/>
                </a:solidFill>
                <a:latin typeface="Consolas"/>
              </a:rPr>
              <a:t>" apes"</a:t>
            </a:r>
            <a:r>
              <a:rPr sz="1300" b="0" i="0">
                <a:solidFill>
                  <a:srgbClr val="E8EEE9"/>
                </a:solidFill>
                <a:latin typeface="Consolas"/>
              </a:rPr>
              <a:t>)</a:t>
            </a:r>
            <a:endParaRPr sz="1300"/>
          </a:p>
        </p:txBody>
      </p:sp>
      <p:sp>
        <p:nvSpPr>
          <p:cNvPr id="6" name="Rounded Rectangle 5"/>
          <p:cNvSpPr/>
          <p:nvPr/>
        </p:nvSpPr>
        <p:spPr>
          <a:xfrm>
            <a:off x="5993011" y="1708051"/>
            <a:ext cx="2527300" cy="1391841"/>
          </a:xfrm>
          <a:prstGeom prst="roundRect">
            <a:avLst>
              <a:gd name="adj" fmla="val 729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4x20.15"/>
          <p:cNvSpPr txBox="1"/>
          <p:nvPr/>
        </p:nvSpPr>
        <p:spPr>
          <a:xfrm>
            <a:off x="6253361" y="1892201"/>
            <a:ext cx="2046732"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There are 3 apes</a:t>
            </a:r>
            <a:br/>
            <a:r>
              <a:rPr sz="1300" b="0" i="0">
                <a:solidFill>
                  <a:srgbClr val="13262B"/>
                </a:solidFill>
                <a:latin typeface="Consolas"/>
              </a:rPr>
              <a:t> </a:t>
            </a:r>
            <a:br/>
            <a:r>
              <a:rPr sz="1300" b="0" i="0">
                <a:solidFill>
                  <a:srgbClr val="13262B"/>
                </a:solidFill>
                <a:latin typeface="Consolas"/>
              </a:rPr>
              <a:t>Now there are 4 apes</a:t>
            </a:r>
            <a:endParaRPr sz="1300"/>
          </a:p>
        </p:txBody>
      </p:sp>
      <p:sp>
        <p:nvSpPr>
          <p:cNvPr id="8" name="Rounded Rectangle 7"/>
          <p:cNvSpPr/>
          <p:nvPr/>
        </p:nvSpPr>
        <p:spPr>
          <a:xfrm>
            <a:off x="8628261" y="1701701"/>
            <a:ext cx="2750939" cy="1404541"/>
          </a:xfrm>
          <a:prstGeom prst="roundRect">
            <a:avLst>
              <a:gd name="adj" fmla="val 542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28261" y="1701701"/>
            <a:ext cx="38100" cy="14045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8844161" y="2146201"/>
            <a:ext cx="2404384"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append</a:t>
            </a:r>
            <a:r>
              <a:rPr sz="1400" b="0" i="0">
                <a:solidFill>
                  <a:srgbClr val="13262B"/>
                </a:solidFill>
                <a:latin typeface="Arial"/>
              </a:rPr>
              <a:t> menja listu na kojoj je pozvan.</a:t>
            </a:r>
            <a:endParaRPr sz="1400"/>
          </a:p>
        </p:txBody>
      </p:sp>
      <p:sp>
        <p:nvSpPr>
          <p:cNvPr id="11" name="Rounded Rectangle 10"/>
          <p:cNvSpPr/>
          <p:nvPr/>
        </p:nvSpPr>
        <p:spPr>
          <a:xfrm>
            <a:off x="819150" y="3366591"/>
            <a:ext cx="4605635" cy="1903611"/>
          </a:xfrm>
          <a:prstGeom prst="roundRect">
            <a:avLst>
              <a:gd name="adj" fmla="val 5337"/>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6x20.15"/>
          <p:cNvSpPr txBox="1"/>
          <p:nvPr/>
        </p:nvSpPr>
        <p:spPr>
          <a:xfrm>
            <a:off x="1079500" y="3550741"/>
            <a:ext cx="4166634"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apes ponovo ima tri elementa</a:t>
            </a:r>
            <a:br/>
            <a:r>
              <a:rPr sz="1300" b="0" i="0">
                <a:solidFill>
                  <a:srgbClr val="E8EEE9"/>
                </a:solidFill>
                <a:latin typeface="Consolas"/>
              </a:rPr>
              <a:t>monkeys = [</a:t>
            </a:r>
            <a:r>
              <a:rPr sz="1300" b="0" i="0">
                <a:solidFill>
                  <a:srgbClr val="F0A35E"/>
                </a:solidFill>
                <a:latin typeface="Consolas"/>
              </a:rPr>
              <a:t>"Papio ursinus"</a:t>
            </a:r>
            <a:r>
              <a:rPr sz="1300" b="0" i="0">
                <a:solidFill>
                  <a:srgbClr val="E8EEE9"/>
                </a:solidFill>
                <a:latin typeface="Consolas"/>
              </a:rPr>
              <a:t>, </a:t>
            </a:r>
            <a:r>
              <a:rPr sz="1300" b="0" i="0">
                <a:solidFill>
                  <a:srgbClr val="F0A35E"/>
                </a:solidFill>
                <a:latin typeface="Consolas"/>
              </a:rPr>
              <a:t>"Macaca mulatta"</a:t>
            </a:r>
            <a:r>
              <a:rPr sz="1300" b="0" i="0">
                <a:solidFill>
                  <a:srgbClr val="E8EEE9"/>
                </a:solidFill>
                <a:latin typeface="Consolas"/>
              </a:rPr>
              <a:t>]</a:t>
            </a:r>
            <a:br/>
            <a:r>
              <a:rPr sz="1300" b="0" i="0">
                <a:solidFill>
                  <a:srgbClr val="E8EEE9"/>
                </a:solidFill>
                <a:latin typeface="Consolas"/>
              </a:rPr>
              <a:t>primates = apes + monkeys</a:t>
            </a:r>
            <a:br/>
            <a:r>
              <a:rPr sz="1300" b="0" i="0">
                <a:solidFill>
                  <a:srgbClr val="E8EEE9"/>
                </a:solidFill>
                <a:latin typeface="Consolas"/>
              </a:rPr>
              <a:t>print(str(len(apes)) + </a:t>
            </a:r>
            <a:r>
              <a:rPr sz="1300" b="0" i="0">
                <a:solidFill>
                  <a:srgbClr val="F0A35E"/>
                </a:solidFill>
                <a:latin typeface="Consolas"/>
              </a:rPr>
              <a:t>" apes"</a:t>
            </a:r>
            <a:r>
              <a:rPr sz="1300" b="0" i="0">
                <a:solidFill>
                  <a:srgbClr val="E8EEE9"/>
                </a:solidFill>
                <a:latin typeface="Consolas"/>
              </a:rPr>
              <a:t>)</a:t>
            </a:r>
            <a:br/>
            <a:r>
              <a:rPr sz="1300" b="0" i="0">
                <a:solidFill>
                  <a:srgbClr val="E8EEE9"/>
                </a:solidFill>
                <a:latin typeface="Consolas"/>
              </a:rPr>
              <a:t>print(str(len(monkeys)) + </a:t>
            </a:r>
            <a:r>
              <a:rPr sz="1300" b="0" i="0">
                <a:solidFill>
                  <a:srgbClr val="F0A35E"/>
                </a:solidFill>
                <a:latin typeface="Consolas"/>
              </a:rPr>
              <a:t>" monkeys"</a:t>
            </a:r>
            <a:r>
              <a:rPr sz="1300" b="0" i="0">
                <a:solidFill>
                  <a:srgbClr val="E8EEE9"/>
                </a:solidFill>
                <a:latin typeface="Consolas"/>
              </a:rPr>
              <a:t>)</a:t>
            </a:r>
            <a:br/>
            <a:r>
              <a:rPr sz="1300" b="0" i="0">
                <a:solidFill>
                  <a:srgbClr val="E8EEE9"/>
                </a:solidFill>
                <a:latin typeface="Consolas"/>
              </a:rPr>
              <a:t>print(str(len(primates)) + </a:t>
            </a:r>
            <a:r>
              <a:rPr sz="1300" b="0" i="0">
                <a:solidFill>
                  <a:srgbClr val="F0A35E"/>
                </a:solidFill>
                <a:latin typeface="Consolas"/>
              </a:rPr>
              <a:t>" primates"</a:t>
            </a:r>
            <a:r>
              <a:rPr sz="1300" b="0" i="0">
                <a:solidFill>
                  <a:srgbClr val="E8EEE9"/>
                </a:solidFill>
                <a:latin typeface="Consolas"/>
              </a:rPr>
              <a:t>)</a:t>
            </a:r>
            <a:endParaRPr sz="1300"/>
          </a:p>
        </p:txBody>
      </p:sp>
      <p:sp>
        <p:nvSpPr>
          <p:cNvPr id="13" name="Rounded Rectangle 12"/>
          <p:cNvSpPr/>
          <p:nvPr/>
        </p:nvSpPr>
        <p:spPr>
          <a:xfrm>
            <a:off x="5539085" y="3366591"/>
            <a:ext cx="1638300" cy="1903611"/>
          </a:xfrm>
          <a:prstGeom prst="roundRect">
            <a:avLst>
              <a:gd name="adj" fmla="val 6201"/>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6x20.15"/>
          <p:cNvSpPr txBox="1"/>
          <p:nvPr/>
        </p:nvSpPr>
        <p:spPr>
          <a:xfrm>
            <a:off x="5799435" y="3550741"/>
            <a:ext cx="1143000"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 </a:t>
            </a:r>
            <a:br/>
            <a:r>
              <a:rPr sz="1300" b="0" i="0">
                <a:solidFill>
                  <a:srgbClr val="13262B"/>
                </a:solidFill>
                <a:latin typeface="Consolas"/>
              </a:rPr>
              <a:t> </a:t>
            </a:r>
            <a:br/>
            <a:r>
              <a:rPr sz="1300" b="0" i="0">
                <a:solidFill>
                  <a:srgbClr val="13262B"/>
                </a:solidFill>
                <a:latin typeface="Consolas"/>
              </a:rPr>
              <a:t>3 apes</a:t>
            </a:r>
            <a:br/>
            <a:r>
              <a:rPr sz="1300" b="0" i="0">
                <a:solidFill>
                  <a:srgbClr val="13262B"/>
                </a:solidFill>
                <a:latin typeface="Consolas"/>
              </a:rPr>
              <a:t>2 monkeys</a:t>
            </a:r>
            <a:br/>
            <a:r>
              <a:rPr sz="1300" b="0" i="0">
                <a:solidFill>
                  <a:srgbClr val="13262B"/>
                </a:solidFill>
                <a:latin typeface="Consolas"/>
              </a:rPr>
              <a:t>5 primates</a:t>
            </a:r>
            <a:endParaRPr sz="1300"/>
          </a:p>
        </p:txBody>
      </p:sp>
      <p:sp>
        <p:nvSpPr>
          <p:cNvPr id="15" name="Rounded Rectangle 14"/>
          <p:cNvSpPr/>
          <p:nvPr/>
        </p:nvSpPr>
        <p:spPr>
          <a:xfrm>
            <a:off x="7285335" y="3360241"/>
            <a:ext cx="4093865" cy="1916311"/>
          </a:xfrm>
          <a:prstGeom prst="roundRect">
            <a:avLst>
              <a:gd name="adj" fmla="val 3976"/>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85335" y="3360241"/>
            <a:ext cx="38100" cy="191631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2x20.30"/>
          <p:cNvSpPr txBox="1"/>
          <p:nvPr/>
        </p:nvSpPr>
        <p:spPr>
          <a:xfrm>
            <a:off x="7501235" y="4060627"/>
            <a:ext cx="377416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a:t>
            </a:r>
            <a:r>
              <a:rPr sz="1400" b="0" i="0">
                <a:solidFill>
                  <a:srgbClr val="13262B"/>
                </a:solidFill>
                <a:latin typeface="Arial"/>
              </a:rPr>
              <a:t> pravi novu listu, a originali ostaju isti. </a:t>
            </a:r>
            <a:r>
              <a:rPr sz="1400" b="0" i="0">
                <a:solidFill>
                  <a:srgbClr val="A8521A"/>
                </a:solidFill>
                <a:latin typeface="Arial"/>
              </a:rPr>
              <a:t>extend</a:t>
            </a:r>
            <a:r>
              <a:rPr sz="1400" b="0" i="0">
                <a:solidFill>
                  <a:srgbClr val="13262B"/>
                </a:solidFill>
                <a:latin typeface="Arial"/>
              </a:rPr>
              <a:t> dodaje elemente druge liste i menja listu.</a:t>
            </a:r>
            <a:endParaRPr sz="14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Menjanje liste</a:t>
            </a:r>
            <a:endParaRPr sz="3200"/>
          </a:p>
        </p:txBody>
      </p:sp>
      <p:sp>
        <p:nvSpPr>
          <p:cNvPr id="4" name="Rectangle 3"/>
          <p:cNvSpPr/>
          <p:nvPr/>
        </p:nvSpPr>
        <p:spPr>
          <a:xfrm>
            <a:off x="812800" y="1701701"/>
            <a:ext cx="4699000" cy="512366"/>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207716"/>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2x15.60"/>
          <p:cNvSpPr txBox="1"/>
          <p:nvPr/>
        </p:nvSpPr>
        <p:spPr>
          <a:xfrm>
            <a:off x="911860" y="1759486"/>
            <a:ext cx="1427490" cy="390446"/>
          </a:xfrm>
          <a:prstGeom prst="rect">
            <a:avLst/>
          </a:prstGeom>
          <a:noFill/>
        </p:spPr>
        <p:txBody>
          <a:bodyPr wrap="square" anchor="t" lIns="0" rIns="0" tIns="0" bIns="0">
            <a:noAutofit/>
          </a:bodyPr>
          <a:lstStyle/>
          <a:p>
            <a:pPr algn="l">
              <a:lnSpc>
                <a:spcPts val="1560"/>
              </a:lnSpc>
              <a:spcBef>
                <a:spcPts val="0"/>
              </a:spcBef>
              <a:spcAft>
                <a:spcPts val="0"/>
              </a:spcAft>
            </a:pPr>
            <a:r>
              <a:rPr sz="1300" b="1" i="0">
                <a:solidFill>
                  <a:srgbClr val="3D4F52"/>
                </a:solidFill>
                <a:latin typeface="Arial"/>
              </a:rPr>
              <a:t>Alat</a:t>
            </a:r>
            <a:endParaRPr sz="1300"/>
          </a:p>
        </p:txBody>
      </p:sp>
      <p:sp>
        <p:nvSpPr>
          <p:cNvPr id="7" name="Rectangle 6"/>
          <p:cNvSpPr/>
          <p:nvPr/>
        </p:nvSpPr>
        <p:spPr>
          <a:xfrm>
            <a:off x="2410420" y="2207716"/>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2x15.60"/>
          <p:cNvSpPr txBox="1"/>
          <p:nvPr/>
        </p:nvSpPr>
        <p:spPr>
          <a:xfrm>
            <a:off x="2509480" y="1759486"/>
            <a:ext cx="2002628" cy="390446"/>
          </a:xfrm>
          <a:prstGeom prst="rect">
            <a:avLst/>
          </a:prstGeom>
          <a:noFill/>
        </p:spPr>
        <p:txBody>
          <a:bodyPr wrap="square" anchor="t" lIns="0" rIns="0" tIns="0" bIns="0">
            <a:noAutofit/>
          </a:bodyPr>
          <a:lstStyle/>
          <a:p>
            <a:pPr algn="l">
              <a:lnSpc>
                <a:spcPts val="1560"/>
              </a:lnSpc>
              <a:spcBef>
                <a:spcPts val="0"/>
              </a:spcBef>
              <a:spcAft>
                <a:spcPts val="0"/>
              </a:spcAft>
            </a:pPr>
            <a:r>
              <a:rPr sz="1300" b="1" i="0">
                <a:solidFill>
                  <a:srgbClr val="3D4F52"/>
                </a:solidFill>
                <a:latin typeface="Arial"/>
              </a:rPr>
              <a:t>Šta radi</a:t>
            </a:r>
            <a:endParaRPr sz="1300"/>
          </a:p>
        </p:txBody>
      </p:sp>
      <p:sp>
        <p:nvSpPr>
          <p:cNvPr id="9" name="Rectangle 8"/>
          <p:cNvSpPr/>
          <p:nvPr/>
        </p:nvSpPr>
        <p:spPr>
          <a:xfrm>
            <a:off x="4571901" y="2207716"/>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15.60"/>
          <p:cNvSpPr txBox="1"/>
          <p:nvPr/>
        </p:nvSpPr>
        <p:spPr>
          <a:xfrm>
            <a:off x="4670961" y="1759486"/>
            <a:ext cx="767179" cy="390446"/>
          </a:xfrm>
          <a:prstGeom prst="rect">
            <a:avLst/>
          </a:prstGeom>
          <a:noFill/>
        </p:spPr>
        <p:txBody>
          <a:bodyPr wrap="square" anchor="t" lIns="0" rIns="0" tIns="0" bIns="0">
            <a:noAutofit/>
          </a:bodyPr>
          <a:lstStyle/>
          <a:p>
            <a:pPr algn="l">
              <a:lnSpc>
                <a:spcPts val="1560"/>
              </a:lnSpc>
              <a:spcBef>
                <a:spcPts val="0"/>
              </a:spcBef>
              <a:spcAft>
                <a:spcPts val="0"/>
              </a:spcAft>
            </a:pPr>
            <a:r>
              <a:rPr sz="1300" b="1" i="0">
                <a:solidFill>
                  <a:srgbClr val="3D4F52"/>
                </a:solidFill>
                <a:latin typeface="Arial"/>
              </a:rPr>
              <a:t>Menja listu?</a:t>
            </a:r>
            <a:endParaRPr sz="1300"/>
          </a:p>
        </p:txBody>
      </p:sp>
      <p:sp>
        <p:nvSpPr>
          <p:cNvPr id="11" name="Rectangle 10"/>
          <p:cNvSpPr/>
          <p:nvPr/>
        </p:nvSpPr>
        <p:spPr>
          <a:xfrm>
            <a:off x="812800" y="2526407"/>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5.60"/>
          <p:cNvSpPr txBox="1"/>
          <p:nvPr/>
        </p:nvSpPr>
        <p:spPr>
          <a:xfrm>
            <a:off x="911860" y="2271851"/>
            <a:ext cx="1427490"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Arial"/>
              </a:rPr>
              <a:t>append(x)</a:t>
            </a:r>
            <a:endParaRPr sz="1300"/>
          </a:p>
        </p:txBody>
      </p:sp>
      <p:sp>
        <p:nvSpPr>
          <p:cNvPr id="13" name="Rectangle 12"/>
          <p:cNvSpPr/>
          <p:nvPr/>
        </p:nvSpPr>
        <p:spPr>
          <a:xfrm>
            <a:off x="2410420" y="2526407"/>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5.60"/>
          <p:cNvSpPr txBox="1"/>
          <p:nvPr/>
        </p:nvSpPr>
        <p:spPr>
          <a:xfrm>
            <a:off x="2509480" y="2271851"/>
            <a:ext cx="2002628"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dodaje element na kraj</a:t>
            </a:r>
            <a:endParaRPr sz="1300"/>
          </a:p>
        </p:txBody>
      </p:sp>
      <p:sp>
        <p:nvSpPr>
          <p:cNvPr id="15" name="Rectangle 14"/>
          <p:cNvSpPr/>
          <p:nvPr/>
        </p:nvSpPr>
        <p:spPr>
          <a:xfrm>
            <a:off x="4571901" y="2526407"/>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5.60"/>
          <p:cNvSpPr txBox="1"/>
          <p:nvPr/>
        </p:nvSpPr>
        <p:spPr>
          <a:xfrm>
            <a:off x="4670961" y="2271851"/>
            <a:ext cx="767179"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da</a:t>
            </a:r>
            <a:endParaRPr sz="1300"/>
          </a:p>
        </p:txBody>
      </p:sp>
      <p:sp>
        <p:nvSpPr>
          <p:cNvPr id="17" name="Rectangle 16"/>
          <p:cNvSpPr/>
          <p:nvPr/>
        </p:nvSpPr>
        <p:spPr>
          <a:xfrm>
            <a:off x="812800" y="3041948"/>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2x15.60"/>
          <p:cNvSpPr txBox="1"/>
          <p:nvPr/>
        </p:nvSpPr>
        <p:spPr>
          <a:xfrm>
            <a:off x="911860" y="2590542"/>
            <a:ext cx="1427490" cy="39362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Arial"/>
              </a:rPr>
              <a:t>extend(lista)</a:t>
            </a:r>
            <a:endParaRPr sz="1300"/>
          </a:p>
        </p:txBody>
      </p:sp>
      <p:sp>
        <p:nvSpPr>
          <p:cNvPr id="19" name="Rectangle 18"/>
          <p:cNvSpPr/>
          <p:nvPr/>
        </p:nvSpPr>
        <p:spPr>
          <a:xfrm>
            <a:off x="2410420" y="3041948"/>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2x15.60"/>
          <p:cNvSpPr txBox="1"/>
          <p:nvPr/>
        </p:nvSpPr>
        <p:spPr>
          <a:xfrm>
            <a:off x="2509480" y="2590542"/>
            <a:ext cx="2002628" cy="39362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dodaje elemente druge liste</a:t>
            </a:r>
            <a:endParaRPr sz="1300"/>
          </a:p>
        </p:txBody>
      </p:sp>
      <p:sp>
        <p:nvSpPr>
          <p:cNvPr id="21" name="Rectangle 20"/>
          <p:cNvSpPr/>
          <p:nvPr/>
        </p:nvSpPr>
        <p:spPr>
          <a:xfrm>
            <a:off x="4571901" y="3041948"/>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2x15.60"/>
          <p:cNvSpPr txBox="1"/>
          <p:nvPr/>
        </p:nvSpPr>
        <p:spPr>
          <a:xfrm>
            <a:off x="4670961" y="2590542"/>
            <a:ext cx="767179" cy="39362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da</a:t>
            </a:r>
            <a:endParaRPr sz="1300"/>
          </a:p>
        </p:txBody>
      </p:sp>
      <p:sp>
        <p:nvSpPr>
          <p:cNvPr id="23" name="Rectangle 22"/>
          <p:cNvSpPr/>
          <p:nvPr/>
        </p:nvSpPr>
        <p:spPr>
          <a:xfrm>
            <a:off x="812800" y="3360638"/>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15.60"/>
          <p:cNvSpPr txBox="1"/>
          <p:nvPr/>
        </p:nvSpPr>
        <p:spPr>
          <a:xfrm>
            <a:off x="911860" y="3106083"/>
            <a:ext cx="1427490"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Arial"/>
              </a:rPr>
              <a:t>lista1 + lista2</a:t>
            </a:r>
            <a:endParaRPr sz="1300"/>
          </a:p>
        </p:txBody>
      </p:sp>
      <p:sp>
        <p:nvSpPr>
          <p:cNvPr id="25" name="Rectangle 24"/>
          <p:cNvSpPr/>
          <p:nvPr/>
        </p:nvSpPr>
        <p:spPr>
          <a:xfrm>
            <a:off x="2410420" y="3360638"/>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t 1x15.60"/>
          <p:cNvSpPr txBox="1"/>
          <p:nvPr/>
        </p:nvSpPr>
        <p:spPr>
          <a:xfrm>
            <a:off x="2509480" y="3106083"/>
            <a:ext cx="2002628"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pravi novu, spojenu listu</a:t>
            </a:r>
            <a:endParaRPr sz="1300"/>
          </a:p>
        </p:txBody>
      </p:sp>
      <p:sp>
        <p:nvSpPr>
          <p:cNvPr id="27" name="Rectangle 26"/>
          <p:cNvSpPr/>
          <p:nvPr/>
        </p:nvSpPr>
        <p:spPr>
          <a:xfrm>
            <a:off x="4571901" y="3360638"/>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1x15.60"/>
          <p:cNvSpPr txBox="1"/>
          <p:nvPr/>
        </p:nvSpPr>
        <p:spPr>
          <a:xfrm>
            <a:off x="4670961" y="3106083"/>
            <a:ext cx="767179"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ne</a:t>
            </a:r>
            <a:endParaRPr sz="1300"/>
          </a:p>
        </p:txBody>
      </p:sp>
      <p:sp>
        <p:nvSpPr>
          <p:cNvPr id="29" name="Rectangle 28"/>
          <p:cNvSpPr/>
          <p:nvPr/>
        </p:nvSpPr>
        <p:spPr>
          <a:xfrm>
            <a:off x="812800" y="3679329"/>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kst 1x15.60"/>
          <p:cNvSpPr txBox="1"/>
          <p:nvPr/>
        </p:nvSpPr>
        <p:spPr>
          <a:xfrm>
            <a:off x="911860" y="3424773"/>
            <a:ext cx="1427490"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Arial"/>
              </a:rPr>
              <a:t>reverse()</a:t>
            </a:r>
            <a:endParaRPr sz="1300"/>
          </a:p>
        </p:txBody>
      </p:sp>
      <p:sp>
        <p:nvSpPr>
          <p:cNvPr id="31" name="Rectangle 30"/>
          <p:cNvSpPr/>
          <p:nvPr/>
        </p:nvSpPr>
        <p:spPr>
          <a:xfrm>
            <a:off x="2410420" y="3679329"/>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kst 1x15.60"/>
          <p:cNvSpPr txBox="1"/>
          <p:nvPr/>
        </p:nvSpPr>
        <p:spPr>
          <a:xfrm>
            <a:off x="2509480" y="3424773"/>
            <a:ext cx="2002628"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obrće redosled</a:t>
            </a:r>
            <a:endParaRPr sz="1300"/>
          </a:p>
        </p:txBody>
      </p:sp>
      <p:sp>
        <p:nvSpPr>
          <p:cNvPr id="33" name="Rectangle 32"/>
          <p:cNvSpPr/>
          <p:nvPr/>
        </p:nvSpPr>
        <p:spPr>
          <a:xfrm>
            <a:off x="4571901" y="3679329"/>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kst 1x15.60"/>
          <p:cNvSpPr txBox="1"/>
          <p:nvPr/>
        </p:nvSpPr>
        <p:spPr>
          <a:xfrm>
            <a:off x="4670961" y="3424773"/>
            <a:ext cx="767179"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da</a:t>
            </a:r>
            <a:endParaRPr sz="1300"/>
          </a:p>
        </p:txBody>
      </p:sp>
      <p:sp>
        <p:nvSpPr>
          <p:cNvPr id="35" name="Rectangle 34"/>
          <p:cNvSpPr/>
          <p:nvPr/>
        </p:nvSpPr>
        <p:spPr>
          <a:xfrm>
            <a:off x="812800" y="4194870"/>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kst 2x15.60"/>
          <p:cNvSpPr txBox="1"/>
          <p:nvPr/>
        </p:nvSpPr>
        <p:spPr>
          <a:xfrm>
            <a:off x="911860" y="3743464"/>
            <a:ext cx="1427490" cy="39362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Arial"/>
              </a:rPr>
              <a:t>sort()</a:t>
            </a:r>
            <a:endParaRPr sz="1300"/>
          </a:p>
        </p:txBody>
      </p:sp>
      <p:sp>
        <p:nvSpPr>
          <p:cNvPr id="37" name="Rectangle 36"/>
          <p:cNvSpPr/>
          <p:nvPr/>
        </p:nvSpPr>
        <p:spPr>
          <a:xfrm>
            <a:off x="2410420" y="4194870"/>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kst 2x15.60"/>
          <p:cNvSpPr txBox="1"/>
          <p:nvPr/>
        </p:nvSpPr>
        <p:spPr>
          <a:xfrm>
            <a:off x="2509480" y="3743464"/>
            <a:ext cx="2002628" cy="39362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sortira: abecedno ili rastuće</a:t>
            </a:r>
            <a:endParaRPr sz="1300"/>
          </a:p>
        </p:txBody>
      </p:sp>
      <p:sp>
        <p:nvSpPr>
          <p:cNvPr id="39" name="Rectangle 38"/>
          <p:cNvSpPr/>
          <p:nvPr/>
        </p:nvSpPr>
        <p:spPr>
          <a:xfrm>
            <a:off x="4571901" y="4194870"/>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kst 2x15.60"/>
          <p:cNvSpPr txBox="1"/>
          <p:nvPr/>
        </p:nvSpPr>
        <p:spPr>
          <a:xfrm>
            <a:off x="4670961" y="3743464"/>
            <a:ext cx="767179" cy="39362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da</a:t>
            </a:r>
            <a:endParaRPr sz="1300"/>
          </a:p>
        </p:txBody>
      </p:sp>
      <p:sp>
        <p:nvSpPr>
          <p:cNvPr id="41" name="Rectangle 40"/>
          <p:cNvSpPr/>
          <p:nvPr/>
        </p:nvSpPr>
        <p:spPr>
          <a:xfrm>
            <a:off x="812800" y="4513560"/>
            <a:ext cx="159762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kst 1x15.60"/>
          <p:cNvSpPr txBox="1"/>
          <p:nvPr/>
        </p:nvSpPr>
        <p:spPr>
          <a:xfrm>
            <a:off x="911860" y="4259005"/>
            <a:ext cx="1427490"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Arial"/>
              </a:rPr>
              <a:t>len(lista)</a:t>
            </a:r>
            <a:endParaRPr sz="1300"/>
          </a:p>
        </p:txBody>
      </p:sp>
      <p:sp>
        <p:nvSpPr>
          <p:cNvPr id="43" name="Rectangle 42"/>
          <p:cNvSpPr/>
          <p:nvPr/>
        </p:nvSpPr>
        <p:spPr>
          <a:xfrm>
            <a:off x="2410420" y="4513560"/>
            <a:ext cx="216148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kst 1x15.60"/>
          <p:cNvSpPr txBox="1"/>
          <p:nvPr/>
        </p:nvSpPr>
        <p:spPr>
          <a:xfrm>
            <a:off x="2509480" y="4259005"/>
            <a:ext cx="2002628"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broj elemenata</a:t>
            </a:r>
            <a:endParaRPr sz="1300"/>
          </a:p>
        </p:txBody>
      </p:sp>
      <p:sp>
        <p:nvSpPr>
          <p:cNvPr id="45" name="Rectangle 44"/>
          <p:cNvSpPr/>
          <p:nvPr/>
        </p:nvSpPr>
        <p:spPr>
          <a:xfrm>
            <a:off x="4571901" y="4513560"/>
            <a:ext cx="939899"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kst 1x15.60"/>
          <p:cNvSpPr txBox="1"/>
          <p:nvPr/>
        </p:nvSpPr>
        <p:spPr>
          <a:xfrm>
            <a:off x="4670961" y="4259005"/>
            <a:ext cx="767179"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3D4F52"/>
                </a:solidFill>
                <a:latin typeface="Arial"/>
              </a:rPr>
              <a:t>ne</a:t>
            </a:r>
            <a:endParaRPr sz="1300"/>
          </a:p>
        </p:txBody>
      </p:sp>
      <p:sp>
        <p:nvSpPr>
          <p:cNvPr id="47" name="Rounded Rectangle 46"/>
          <p:cNvSpPr/>
          <p:nvPr/>
        </p:nvSpPr>
        <p:spPr>
          <a:xfrm>
            <a:off x="5822950" y="1708051"/>
            <a:ext cx="554990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kst 8x20.15"/>
          <p:cNvSpPr txBox="1"/>
          <p:nvPr/>
        </p:nvSpPr>
        <p:spPr>
          <a:xfrm>
            <a:off x="6083300" y="1892201"/>
            <a:ext cx="5129784"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apes.append(</a:t>
            </a:r>
            <a:r>
              <a:rPr sz="1300" b="0" i="0">
                <a:solidFill>
                  <a:srgbClr val="F0A35E"/>
                </a:solidFill>
                <a:latin typeface="Consolas"/>
              </a:rPr>
              <a:t>"Pan paniscus"</a:t>
            </a:r>
            <a:r>
              <a:rPr sz="1300" b="0" i="0">
                <a:solidFill>
                  <a:srgbClr val="E8EEE9"/>
                </a:solidFill>
                <a:latin typeface="Consolas"/>
              </a:rPr>
              <a:t>)</a:t>
            </a:r>
            <a:br/>
            <a:r>
              <a:rPr sz="1300" b="0" i="0">
                <a:solidFill>
                  <a:srgbClr val="E8EEE9"/>
                </a:solidFill>
                <a:latin typeface="Consolas"/>
              </a:rPr>
              <a:t>primates = apes + monkeys</a:t>
            </a:r>
            <a:br/>
            <a:r>
              <a:rPr sz="1300" b="0" i="0">
                <a:solidFill>
                  <a:srgbClr val="E8EEE9"/>
                </a:solidFill>
                <a:latin typeface="Consolas"/>
              </a:rPr>
              <a:t>ranks = [</a:t>
            </a:r>
            <a:r>
              <a:rPr sz="1300" b="0" i="0">
                <a:solidFill>
                  <a:srgbClr val="F0A35E"/>
                </a:solidFill>
                <a:latin typeface="Consolas"/>
              </a:rPr>
              <a:t>"kingdom"</a:t>
            </a:r>
            <a:r>
              <a:rPr sz="1300" b="0" i="0">
                <a:solidFill>
                  <a:srgbClr val="E8EEE9"/>
                </a:solidFill>
                <a:latin typeface="Consolas"/>
              </a:rPr>
              <a:t>, </a:t>
            </a:r>
            <a:r>
              <a:rPr sz="1300" b="0" i="0">
                <a:solidFill>
                  <a:srgbClr val="F0A35E"/>
                </a:solidFill>
                <a:latin typeface="Consolas"/>
              </a:rPr>
              <a:t>"phylum"</a:t>
            </a:r>
            <a:r>
              <a:rPr sz="1300" b="0" i="0">
                <a:solidFill>
                  <a:srgbClr val="E8EEE9"/>
                </a:solidFill>
                <a:latin typeface="Consolas"/>
              </a:rPr>
              <a:t>, </a:t>
            </a:r>
            <a:r>
              <a:rPr sz="1300" b="0" i="0">
                <a:solidFill>
                  <a:srgbClr val="F0A35E"/>
                </a:solidFill>
                <a:latin typeface="Consolas"/>
              </a:rPr>
              <a:t>"class"</a:t>
            </a:r>
            <a:r>
              <a:rPr sz="1300" b="0" i="0">
                <a:solidFill>
                  <a:srgbClr val="E8EEE9"/>
                </a:solidFill>
                <a:latin typeface="Consolas"/>
              </a:rPr>
              <a:t>,</a:t>
            </a:r>
            <a:br/>
            <a:r>
              <a:rPr sz="1300" b="0" i="0">
                <a:solidFill>
                  <a:srgbClr val="E8EEE9"/>
                </a:solidFill>
                <a:latin typeface="Consolas"/>
              </a:rPr>
              <a:t>         </a:t>
            </a:r>
            <a:r>
              <a:rPr sz="1300" b="0" i="0">
                <a:solidFill>
                  <a:srgbClr val="F0A35E"/>
                </a:solidFill>
                <a:latin typeface="Consolas"/>
              </a:rPr>
              <a:t>"order"</a:t>
            </a:r>
            <a:r>
              <a:rPr sz="1300" b="0" i="0">
                <a:solidFill>
                  <a:srgbClr val="E8EEE9"/>
                </a:solidFill>
                <a:latin typeface="Consolas"/>
              </a:rPr>
              <a:t>, </a:t>
            </a:r>
            <a:r>
              <a:rPr sz="1300" b="0" i="0">
                <a:solidFill>
                  <a:srgbClr val="F0A35E"/>
                </a:solidFill>
                <a:latin typeface="Consolas"/>
              </a:rPr>
              <a:t>"family"</a:t>
            </a:r>
            <a:r>
              <a:rPr sz="1300" b="0" i="0">
                <a:solidFill>
                  <a:srgbClr val="E8EEE9"/>
                </a:solidFill>
                <a:latin typeface="Consolas"/>
              </a:rPr>
              <a:t>]</a:t>
            </a:r>
            <a:br/>
            <a:r>
              <a:rPr sz="1300" b="0" i="0">
                <a:solidFill>
                  <a:srgbClr val="E8EEE9"/>
                </a:solidFill>
                <a:latin typeface="Consolas"/>
              </a:rPr>
              <a:t>ranks.reverse()</a:t>
            </a:r>
            <a:br/>
            <a:r>
              <a:rPr sz="1300" b="0" i="0">
                <a:solidFill>
                  <a:srgbClr val="E8EEE9"/>
                </a:solidFill>
                <a:latin typeface="Consolas"/>
              </a:rPr>
              <a:t>print(ranks)</a:t>
            </a:r>
            <a:br/>
            <a:r>
              <a:rPr sz="1300" b="0" i="0">
                <a:solidFill>
                  <a:srgbClr val="E8EEE9"/>
                </a:solidFill>
                <a:latin typeface="Consolas"/>
              </a:rPr>
              <a:t>ranks.sort()</a:t>
            </a:r>
            <a:br/>
            <a:r>
              <a:rPr sz="1300" b="0" i="0">
                <a:solidFill>
                  <a:srgbClr val="E8EEE9"/>
                </a:solidFill>
                <a:latin typeface="Consolas"/>
              </a:rPr>
              <a:t>print(ranks)</a:t>
            </a:r>
            <a:endParaRPr sz="1300"/>
          </a:p>
        </p:txBody>
      </p:sp>
      <p:sp>
        <p:nvSpPr>
          <p:cNvPr id="49" name="Rounded Rectangle 48"/>
          <p:cNvSpPr/>
          <p:nvPr/>
        </p:nvSpPr>
        <p:spPr>
          <a:xfrm>
            <a:off x="5822950" y="4263132"/>
            <a:ext cx="5549900"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kst 1x16.80"/>
          <p:cNvSpPr txBox="1"/>
          <p:nvPr/>
        </p:nvSpPr>
        <p:spPr>
          <a:xfrm>
            <a:off x="10325100" y="4320282"/>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51" name="Tekst 3x20.15"/>
          <p:cNvSpPr txBox="1"/>
          <p:nvPr/>
        </p:nvSpPr>
        <p:spPr>
          <a:xfrm>
            <a:off x="6083300" y="4447282"/>
            <a:ext cx="5129784"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 </a:t>
            </a:r>
            <a:br/>
            <a:r>
              <a:rPr sz="1300" b="0" i="0">
                <a:solidFill>
                  <a:srgbClr val="13262B"/>
                </a:solidFill>
                <a:latin typeface="Consolas"/>
              </a:rPr>
              <a:t>['family', 'order', 'class', 'phylum', 'kingdom']</a:t>
            </a:r>
            <a:br/>
            <a:r>
              <a:rPr sz="1300" b="0" i="0">
                <a:solidFill>
                  <a:srgbClr val="13262B"/>
                </a:solidFill>
                <a:latin typeface="Consolas"/>
              </a:rPr>
              <a:t>['class', 'family', 'kingdom', 'order', 'phylum']</a:t>
            </a:r>
            <a:endParaRPr sz="13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Isti posao bez petlje i sa petljom</a:t>
            </a:r>
            <a:endParaRPr sz="3200"/>
          </a:p>
        </p:txBody>
      </p:sp>
      <p:sp>
        <p:nvSpPr>
          <p:cNvPr id="4" name="Tekst 1x21.60"/>
          <p:cNvSpPr txBox="1"/>
          <p:nvPr/>
        </p:nvSpPr>
        <p:spPr>
          <a:xfrm>
            <a:off x="8128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Bez petlje</a:t>
            </a:r>
            <a:endParaRPr sz="1800"/>
          </a:p>
        </p:txBody>
      </p:sp>
      <p:sp>
        <p:nvSpPr>
          <p:cNvPr id="5" name="Rounded Rectangle 4"/>
          <p:cNvSpPr/>
          <p:nvPr/>
        </p:nvSpPr>
        <p:spPr>
          <a:xfrm>
            <a:off x="819150" y="2083891"/>
            <a:ext cx="51181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3x20.15"/>
          <p:cNvSpPr txBox="1"/>
          <p:nvPr/>
        </p:nvSpPr>
        <p:spPr>
          <a:xfrm>
            <a:off x="1079500" y="2268041"/>
            <a:ext cx="468934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print(apes[0] + </a:t>
            </a:r>
            <a:r>
              <a:rPr sz="1300" b="0" i="0">
                <a:solidFill>
                  <a:srgbClr val="F0A35E"/>
                </a:solidFill>
                <a:latin typeface="Consolas"/>
              </a:rPr>
              <a:t>" is an ape"</a:t>
            </a:r>
            <a:r>
              <a:rPr sz="1300" b="0" i="0">
                <a:solidFill>
                  <a:srgbClr val="E8EEE9"/>
                </a:solidFill>
                <a:latin typeface="Consolas"/>
              </a:rPr>
              <a:t>)</a:t>
            </a:r>
            <a:br/>
            <a:r>
              <a:rPr sz="1300" b="0" i="0">
                <a:solidFill>
                  <a:srgbClr val="E8EEE9"/>
                </a:solidFill>
                <a:latin typeface="Consolas"/>
              </a:rPr>
              <a:t>print(apes[1] + </a:t>
            </a:r>
            <a:r>
              <a:rPr sz="1300" b="0" i="0">
                <a:solidFill>
                  <a:srgbClr val="F0A35E"/>
                </a:solidFill>
                <a:latin typeface="Consolas"/>
              </a:rPr>
              <a:t>" is an ape"</a:t>
            </a:r>
            <a:r>
              <a:rPr sz="1300" b="0" i="0">
                <a:solidFill>
                  <a:srgbClr val="E8EEE9"/>
                </a:solidFill>
                <a:latin typeface="Consolas"/>
              </a:rPr>
              <a:t>)</a:t>
            </a:r>
            <a:br/>
            <a:r>
              <a:rPr sz="1300" b="0" i="0">
                <a:solidFill>
                  <a:srgbClr val="E8EEE9"/>
                </a:solidFill>
                <a:latin typeface="Consolas"/>
              </a:rPr>
              <a:t>print(apes[2] + </a:t>
            </a:r>
            <a:r>
              <a:rPr sz="1300" b="0" i="0">
                <a:solidFill>
                  <a:srgbClr val="F0A35E"/>
                </a:solidFill>
                <a:latin typeface="Consolas"/>
              </a:rPr>
              <a:t>" is an ape"</a:t>
            </a:r>
            <a:r>
              <a:rPr sz="1300" b="0" i="0">
                <a:solidFill>
                  <a:srgbClr val="E8EEE9"/>
                </a:solidFill>
                <a:latin typeface="Consolas"/>
              </a:rPr>
              <a:t>)</a:t>
            </a:r>
            <a:endParaRPr sz="1300"/>
          </a:p>
        </p:txBody>
      </p:sp>
      <p:sp>
        <p:nvSpPr>
          <p:cNvPr id="7" name="Tekst 2x20.30"/>
          <p:cNvSpPr txBox="1"/>
          <p:nvPr/>
        </p:nvSpPr>
        <p:spPr>
          <a:xfrm>
            <a:off x="812800" y="3327797"/>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Ponavlja se, i moramo unapred da znamo koliko elemenata lista ima.</a:t>
            </a:r>
            <a:endParaRPr sz="1400"/>
          </a:p>
        </p:txBody>
      </p:sp>
      <p:sp>
        <p:nvSpPr>
          <p:cNvPr id="8" name="Tekst 1x21.60"/>
          <p:cNvSpPr txBox="1"/>
          <p:nvPr/>
        </p:nvSpPr>
        <p:spPr>
          <a:xfrm>
            <a:off x="62484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Sa petljom</a:t>
            </a:r>
            <a:endParaRPr sz="1800"/>
          </a:p>
        </p:txBody>
      </p:sp>
      <p:sp>
        <p:nvSpPr>
          <p:cNvPr id="9" name="Rounded Rectangle 8"/>
          <p:cNvSpPr/>
          <p:nvPr/>
        </p:nvSpPr>
        <p:spPr>
          <a:xfrm>
            <a:off x="6254750" y="2083891"/>
            <a:ext cx="51181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15"/>
          <p:cNvSpPr txBox="1"/>
          <p:nvPr/>
        </p:nvSpPr>
        <p:spPr>
          <a:xfrm>
            <a:off x="6515100" y="2268041"/>
            <a:ext cx="468934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ape </a:t>
            </a:r>
            <a:r>
              <a:rPr sz="1300" b="0" i="0">
                <a:solidFill>
                  <a:srgbClr val="6FD3C1"/>
                </a:solidFill>
                <a:latin typeface="Consolas"/>
              </a:rPr>
              <a:t>in</a:t>
            </a:r>
            <a:r>
              <a:rPr sz="1300" b="0" i="0">
                <a:solidFill>
                  <a:srgbClr val="E8EEE9"/>
                </a:solidFill>
                <a:latin typeface="Consolas"/>
              </a:rPr>
              <a:t> apes:</a:t>
            </a:r>
            <a:br/>
            <a:r>
              <a:rPr sz="1300" b="0" i="0">
                <a:solidFill>
                  <a:srgbClr val="E8EEE9"/>
                </a:solidFill>
                <a:latin typeface="Consolas"/>
              </a:rPr>
              <a:t>    print(ape + </a:t>
            </a:r>
            <a:r>
              <a:rPr sz="1300" b="0" i="0">
                <a:solidFill>
                  <a:srgbClr val="F0A35E"/>
                </a:solidFill>
                <a:latin typeface="Consolas"/>
              </a:rPr>
              <a:t>" is an ape"</a:t>
            </a:r>
            <a:r>
              <a:rPr sz="1300" b="0" i="0">
                <a:solidFill>
                  <a:srgbClr val="E8EEE9"/>
                </a:solidFill>
                <a:latin typeface="Consolas"/>
              </a:rPr>
              <a:t>)</a:t>
            </a:r>
            <a:br/>
            <a:r>
              <a:rPr sz="1300" b="0" i="0">
                <a:solidFill>
                  <a:srgbClr val="E8EEE9"/>
                </a:solidFill>
                <a:latin typeface="Consolas"/>
              </a:rPr>
              <a:t> </a:t>
            </a:r>
            <a:endParaRPr sz="1300"/>
          </a:p>
        </p:txBody>
      </p:sp>
      <p:sp>
        <p:nvSpPr>
          <p:cNvPr id="11" name="Tekst 2x20.30"/>
          <p:cNvSpPr txBox="1"/>
          <p:nvPr/>
        </p:nvSpPr>
        <p:spPr>
          <a:xfrm>
            <a:off x="6248400" y="3327797"/>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„Za svaki element liste apes, ispiši element i reči ‘is an ape’.” Radi za bilo koliko elemenata.</a:t>
            </a:r>
            <a:endParaRPr sz="1400"/>
          </a:p>
        </p:txBody>
      </p:sp>
      <p:sp>
        <p:nvSpPr>
          <p:cNvPr id="12" name="Rounded Rectangle 11"/>
          <p:cNvSpPr/>
          <p:nvPr/>
        </p:nvSpPr>
        <p:spPr>
          <a:xfrm>
            <a:off x="819150" y="4103688"/>
            <a:ext cx="2790031" cy="1288355"/>
          </a:xfrm>
          <a:prstGeom prst="roundRect">
            <a:avLst>
              <a:gd name="adj" fmla="val 788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16.80"/>
          <p:cNvSpPr txBox="1"/>
          <p:nvPr/>
        </p:nvSpPr>
        <p:spPr>
          <a:xfrm>
            <a:off x="2180431" y="4160838"/>
            <a:ext cx="1295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 OBA</a:t>
            </a:r>
            <a:endParaRPr sz="1200"/>
          </a:p>
        </p:txBody>
      </p:sp>
      <p:sp>
        <p:nvSpPr>
          <p:cNvPr id="14" name="Tekst 3x20.15"/>
          <p:cNvSpPr txBox="1"/>
          <p:nvPr/>
        </p:nvSpPr>
        <p:spPr>
          <a:xfrm>
            <a:off x="1079500" y="4440238"/>
            <a:ext cx="231471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Homo sapiens is an ape</a:t>
            </a:r>
            <a:br/>
            <a:r>
              <a:rPr sz="1300" b="0" i="0">
                <a:solidFill>
                  <a:srgbClr val="13262B"/>
                </a:solidFill>
                <a:latin typeface="Consolas"/>
              </a:rPr>
              <a:t>Pan troglodytes is an ape</a:t>
            </a:r>
            <a:br/>
            <a:r>
              <a:rPr sz="1300" b="0" i="0">
                <a:solidFill>
                  <a:srgbClr val="13262B"/>
                </a:solidFill>
                <a:latin typeface="Consolas"/>
              </a:rPr>
              <a:t>Gorilla gorilla is an ape</a:t>
            </a:r>
            <a:endParaRPr sz="1300"/>
          </a:p>
        </p:txBody>
      </p:sp>
      <p:sp>
        <p:nvSpPr>
          <p:cNvPr id="15" name="Rounded Rectangle 14"/>
          <p:cNvSpPr/>
          <p:nvPr/>
        </p:nvSpPr>
        <p:spPr>
          <a:xfrm>
            <a:off x="3818731" y="4097338"/>
            <a:ext cx="7560469" cy="1301055"/>
          </a:xfrm>
          <a:prstGeom prst="roundRect">
            <a:avLst>
              <a:gd name="adj" fmla="val 5856"/>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18731" y="4097338"/>
            <a:ext cx="38100" cy="1301055"/>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kst 2x20.30"/>
          <p:cNvSpPr txBox="1"/>
          <p:nvPr/>
        </p:nvSpPr>
        <p:spPr>
          <a:xfrm>
            <a:off x="4060031" y="4490045"/>
            <a:ext cx="723788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Sa petljom se izmena pravi na jednom mestu, a dodavanje vrsta u listu ne zahteva nikakvu izmenu petlje.</a:t>
            </a:r>
            <a:endParaRPr sz="14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Petlja for: ponavljanje sa varijacijom</a:t>
            </a:r>
            <a:endParaRPr sz="3200"/>
          </a:p>
        </p:txBody>
      </p:sp>
      <p:sp>
        <p:nvSpPr>
          <p:cNvPr id="4" name="Rounded Rectangle 3"/>
          <p:cNvSpPr/>
          <p:nvPr/>
        </p:nvSpPr>
        <p:spPr>
          <a:xfrm>
            <a:off x="819150" y="1708051"/>
            <a:ext cx="3153172"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5x20.15"/>
          <p:cNvSpPr txBox="1"/>
          <p:nvPr/>
        </p:nvSpPr>
        <p:spPr>
          <a:xfrm>
            <a:off x="1079500" y="1892201"/>
            <a:ext cx="2685121"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apes = [</a:t>
            </a:r>
            <a:r>
              <a:rPr sz="1300" b="0" i="0">
                <a:solidFill>
                  <a:srgbClr val="F0A35E"/>
                </a:solidFill>
                <a:latin typeface="Consolas"/>
              </a:rPr>
              <a:t>"Homo sapiens"</a:t>
            </a:r>
            <a:r>
              <a:rPr sz="1300" b="0" i="0">
                <a:solidFill>
                  <a:srgbClr val="E8EEE9"/>
                </a:solidFill>
                <a:latin typeface="Consolas"/>
              </a:rPr>
              <a:t>,</a:t>
            </a:r>
            <a:br/>
            <a:r>
              <a:rPr sz="1300" b="0" i="0">
                <a:solidFill>
                  <a:srgbClr val="E8EEE9"/>
                </a:solidFill>
                <a:latin typeface="Consolas"/>
              </a:rPr>
              <a:t>        </a:t>
            </a:r>
            <a:r>
              <a:rPr sz="1300" b="0" i="0">
                <a:solidFill>
                  <a:srgbClr val="F0A35E"/>
                </a:solidFill>
                <a:latin typeface="Consolas"/>
              </a:rPr>
              <a:t>"Pan troglodytes"</a:t>
            </a:r>
            <a:r>
              <a:rPr sz="1300" b="0" i="0">
                <a:solidFill>
                  <a:srgbClr val="E8EEE9"/>
                </a:solidFill>
                <a:latin typeface="Consolas"/>
              </a:rPr>
              <a:t>,</a:t>
            </a:r>
            <a:br/>
            <a:r>
              <a:rPr sz="1300" b="0" i="0">
                <a:solidFill>
                  <a:srgbClr val="E8EEE9"/>
                </a:solidFill>
                <a:latin typeface="Consolas"/>
              </a:rPr>
              <a:t>        </a:t>
            </a:r>
            <a:r>
              <a:rPr sz="1300" b="0" i="0">
                <a:solidFill>
                  <a:srgbClr val="F0A35E"/>
                </a:solidFill>
                <a:latin typeface="Consolas"/>
              </a:rPr>
              <a:t>"Gorilla gorilla"</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ape </a:t>
            </a:r>
            <a:r>
              <a:rPr sz="1300" b="0" i="0">
                <a:solidFill>
                  <a:srgbClr val="6FD3C1"/>
                </a:solidFill>
                <a:latin typeface="Consolas"/>
              </a:rPr>
              <a:t>in</a:t>
            </a:r>
            <a:r>
              <a:rPr sz="1300" b="0" i="0">
                <a:solidFill>
                  <a:srgbClr val="E8EEE9"/>
                </a:solidFill>
                <a:latin typeface="Consolas"/>
              </a:rPr>
              <a:t> apes:</a:t>
            </a:r>
            <a:br/>
            <a:r>
              <a:rPr sz="1300" b="0" i="0">
                <a:solidFill>
                  <a:srgbClr val="E8EEE9"/>
                </a:solidFill>
                <a:latin typeface="Consolas"/>
              </a:rPr>
              <a:t>    print(ape + </a:t>
            </a:r>
            <a:r>
              <a:rPr sz="1300" b="0" i="0">
                <a:solidFill>
                  <a:srgbClr val="F0A35E"/>
                </a:solidFill>
                <a:latin typeface="Consolas"/>
              </a:rPr>
              <a:t>" is an ape"</a:t>
            </a:r>
            <a:r>
              <a:rPr sz="1300" b="0" i="0">
                <a:solidFill>
                  <a:srgbClr val="E8EEE9"/>
                </a:solidFill>
                <a:latin typeface="Consolas"/>
              </a:rPr>
              <a:t>)</a:t>
            </a:r>
            <a:endParaRPr sz="1300"/>
          </a:p>
        </p:txBody>
      </p:sp>
      <p:sp>
        <p:nvSpPr>
          <p:cNvPr id="6" name="Rounded Rectangle 5"/>
          <p:cNvSpPr/>
          <p:nvPr/>
        </p:nvSpPr>
        <p:spPr>
          <a:xfrm>
            <a:off x="819150" y="3495477"/>
            <a:ext cx="3153172"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2924572" y="3552627"/>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8" name="Tekst 3x20.15"/>
          <p:cNvSpPr txBox="1"/>
          <p:nvPr/>
        </p:nvSpPr>
        <p:spPr>
          <a:xfrm>
            <a:off x="1079500" y="3679627"/>
            <a:ext cx="2685121"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Homo sapiens is an ape</a:t>
            </a:r>
            <a:br/>
            <a:r>
              <a:rPr sz="1300" b="0" i="0">
                <a:solidFill>
                  <a:srgbClr val="13262B"/>
                </a:solidFill>
                <a:latin typeface="Consolas"/>
              </a:rPr>
              <a:t>Pan troglodytes is an ape</a:t>
            </a:r>
            <a:br/>
            <a:r>
              <a:rPr sz="1300" b="0" i="0">
                <a:solidFill>
                  <a:srgbClr val="13262B"/>
                </a:solidFill>
                <a:latin typeface="Consolas"/>
              </a:rPr>
              <a:t>Gorilla gorilla is an ape</a:t>
            </a:r>
            <a:endParaRPr sz="1300"/>
          </a:p>
        </p:txBody>
      </p:sp>
      <p:sp>
        <p:nvSpPr>
          <p:cNvPr id="9" name="Rounded Rectangle 8"/>
          <p:cNvSpPr/>
          <p:nvPr/>
        </p:nvSpPr>
        <p:spPr>
          <a:xfrm>
            <a:off x="4286647" y="1704876"/>
            <a:ext cx="7089378" cy="1768872"/>
          </a:xfrm>
          <a:prstGeom prst="roundRect">
            <a:avLst>
              <a:gd name="adj" fmla="val 574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21.60"/>
          <p:cNvSpPr txBox="1"/>
          <p:nvPr/>
        </p:nvSpPr>
        <p:spPr>
          <a:xfrm>
            <a:off x="4493022" y="1885851"/>
            <a:ext cx="679854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Anatomija petlje</a:t>
            </a:r>
            <a:endParaRPr sz="1800"/>
          </a:p>
        </p:txBody>
      </p:sp>
      <p:sp>
        <p:nvSpPr>
          <p:cNvPr id="11" name="Tekst 4x20.30"/>
          <p:cNvSpPr txBox="1"/>
          <p:nvPr/>
        </p:nvSpPr>
        <p:spPr>
          <a:xfrm>
            <a:off x="4493022" y="2261691"/>
            <a:ext cx="6798548" cy="103108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A8521A"/>
                </a:solidFill>
                <a:latin typeface="Arial"/>
              </a:rPr>
              <a:t>for x in y:</a:t>
            </a:r>
            <a:r>
              <a:rPr sz="1400" b="0" i="0">
                <a:solidFill>
                  <a:srgbClr val="3D4F52"/>
                </a:solidFill>
                <a:latin typeface="Arial"/>
              </a:rPr>
              <a:t> y je lista, a x redom dobija svaki element</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Prva linija se završava dvotačkom, a telo petlje je uvučeni blok</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Telo se izvršava jednom za svaki element</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Promenljiva petlje postoji samo unutar petlje (opseg, scope)</a:t>
            </a:r>
            <a:endParaRPr sz="1400"/>
          </a:p>
        </p:txBody>
      </p:sp>
      <p:sp>
        <p:nvSpPr>
          <p:cNvPr id="12" name="Rounded Rectangle 11"/>
          <p:cNvSpPr/>
          <p:nvPr/>
        </p:nvSpPr>
        <p:spPr>
          <a:xfrm>
            <a:off x="4283472" y="3629323"/>
            <a:ext cx="7095728"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3472" y="3629323"/>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20.30"/>
          <p:cNvSpPr txBox="1"/>
          <p:nvPr/>
        </p:nvSpPr>
        <p:spPr>
          <a:xfrm>
            <a:off x="4524772" y="3781723"/>
            <a:ext cx="677314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Sve linije bloka moraju biti uvučene isto, inače </a:t>
            </a:r>
            <a:r>
              <a:rPr sz="1400" b="0" i="0">
                <a:solidFill>
                  <a:srgbClr val="A8521A"/>
                </a:solidFill>
                <a:latin typeface="Arial"/>
              </a:rPr>
              <a:t>IndentationError</a:t>
            </a:r>
            <a:r>
              <a:rPr sz="1400" b="0" i="0">
                <a:solidFill>
                  <a:srgbClr val="13262B"/>
                </a:solidFill>
                <a:latin typeface="Arial"/>
              </a:rPr>
              <a:t>. Ne mešajte tabove i razmake.</a:t>
            </a:r>
            <a:endParaRPr sz="14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Telo petlje može imati više naredbi</a:t>
            </a:r>
            <a:endParaRPr sz="3200"/>
          </a:p>
        </p:txBody>
      </p:sp>
      <p:sp>
        <p:nvSpPr>
          <p:cNvPr id="4" name="Rounded Rectangle 3"/>
          <p:cNvSpPr/>
          <p:nvPr/>
        </p:nvSpPr>
        <p:spPr>
          <a:xfrm>
            <a:off x="819150" y="1657251"/>
            <a:ext cx="105537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5x20.15"/>
          <p:cNvSpPr txBox="1"/>
          <p:nvPr/>
        </p:nvSpPr>
        <p:spPr>
          <a:xfrm>
            <a:off x="1079500" y="1841401"/>
            <a:ext cx="10185400"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ape </a:t>
            </a:r>
            <a:r>
              <a:rPr sz="1300" b="0" i="0">
                <a:solidFill>
                  <a:srgbClr val="6FD3C1"/>
                </a:solidFill>
                <a:latin typeface="Consolas"/>
              </a:rPr>
              <a:t>in</a:t>
            </a:r>
            <a:r>
              <a:rPr sz="1300" b="0" i="0">
                <a:solidFill>
                  <a:srgbClr val="E8EEE9"/>
                </a:solidFill>
                <a:latin typeface="Consolas"/>
              </a:rPr>
              <a:t> apes:</a:t>
            </a:r>
            <a:br/>
            <a:r>
              <a:rPr sz="1300" b="0" i="0">
                <a:solidFill>
                  <a:srgbClr val="E8EEE9"/>
                </a:solidFill>
                <a:latin typeface="Consolas"/>
              </a:rPr>
              <a:t>    name_length = len(ape)</a:t>
            </a:r>
            <a:br/>
            <a:r>
              <a:rPr sz="1300" b="0" i="0">
                <a:solidFill>
                  <a:srgbClr val="E8EEE9"/>
                </a:solidFill>
                <a:latin typeface="Consolas"/>
              </a:rPr>
              <a:t>    first_letter = ape[0]</a:t>
            </a:r>
            <a:br/>
            <a:r>
              <a:rPr sz="1300" b="0" i="0">
                <a:solidFill>
                  <a:srgbClr val="E8EEE9"/>
                </a:solidFill>
                <a:latin typeface="Consolas"/>
              </a:rPr>
              <a:t>    print(ape + </a:t>
            </a:r>
            <a:r>
              <a:rPr sz="1300" b="0" i="0">
                <a:solidFill>
                  <a:srgbClr val="F0A35E"/>
                </a:solidFill>
                <a:latin typeface="Consolas"/>
              </a:rPr>
              <a:t>" is an ape. Its name starts with "</a:t>
            </a:r>
            <a:r>
              <a:rPr sz="1300" b="0" i="0">
                <a:solidFill>
                  <a:srgbClr val="E8EEE9"/>
                </a:solidFill>
                <a:latin typeface="Consolas"/>
              </a:rPr>
              <a:t> + first_letter)</a:t>
            </a:r>
            <a:br/>
            <a:r>
              <a:rPr sz="1300" b="0" i="0">
                <a:solidFill>
                  <a:srgbClr val="E8EEE9"/>
                </a:solidFill>
                <a:latin typeface="Consolas"/>
              </a:rPr>
              <a:t>    print(</a:t>
            </a:r>
            <a:r>
              <a:rPr sz="1300" b="0" i="0">
                <a:solidFill>
                  <a:srgbClr val="F0A35E"/>
                </a:solidFill>
                <a:latin typeface="Consolas"/>
              </a:rPr>
              <a:t>"Its name has "</a:t>
            </a:r>
            <a:r>
              <a:rPr sz="1300" b="0" i="0">
                <a:solidFill>
                  <a:srgbClr val="E8EEE9"/>
                </a:solidFill>
                <a:latin typeface="Consolas"/>
              </a:rPr>
              <a:t> + str(name_length) + </a:t>
            </a:r>
            <a:r>
              <a:rPr sz="1300" b="0" i="0">
                <a:solidFill>
                  <a:srgbClr val="F0A35E"/>
                </a:solidFill>
                <a:latin typeface="Consolas"/>
              </a:rPr>
              <a:t>" letters"</a:t>
            </a:r>
            <a:r>
              <a:rPr sz="1300" b="0" i="0">
                <a:solidFill>
                  <a:srgbClr val="E8EEE9"/>
                </a:solidFill>
                <a:latin typeface="Consolas"/>
              </a:rPr>
              <a:t>)</a:t>
            </a:r>
            <a:endParaRPr sz="1300"/>
          </a:p>
        </p:txBody>
      </p:sp>
      <p:sp>
        <p:nvSpPr>
          <p:cNvPr id="6" name="Rounded Rectangle 5"/>
          <p:cNvSpPr/>
          <p:nvPr/>
        </p:nvSpPr>
        <p:spPr>
          <a:xfrm>
            <a:off x="819150" y="3520877"/>
            <a:ext cx="4968577" cy="2056011"/>
          </a:xfrm>
          <a:prstGeom prst="roundRect">
            <a:avLst>
              <a:gd name="adj" fmla="val 4941"/>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6.80"/>
          <p:cNvSpPr txBox="1"/>
          <p:nvPr/>
        </p:nvSpPr>
        <p:spPr>
          <a:xfrm>
            <a:off x="4739977" y="3578027"/>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8" name="Tekst 6x20.15"/>
          <p:cNvSpPr txBox="1"/>
          <p:nvPr/>
        </p:nvSpPr>
        <p:spPr>
          <a:xfrm>
            <a:off x="1079500" y="3857427"/>
            <a:ext cx="4536835"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Homo sapiens is an ape. Its name starts with H</a:t>
            </a:r>
            <a:br/>
            <a:r>
              <a:rPr sz="1300" b="0" i="0">
                <a:solidFill>
                  <a:srgbClr val="13262B"/>
                </a:solidFill>
                <a:latin typeface="Consolas"/>
              </a:rPr>
              <a:t>Its name has 12 letters</a:t>
            </a:r>
            <a:br/>
            <a:r>
              <a:rPr sz="1300" b="0" i="0">
                <a:solidFill>
                  <a:srgbClr val="13262B"/>
                </a:solidFill>
                <a:latin typeface="Consolas"/>
              </a:rPr>
              <a:t>Pan troglodytes is an ape. Its name starts with P</a:t>
            </a:r>
            <a:br/>
            <a:r>
              <a:rPr sz="1300" b="0" i="0">
                <a:solidFill>
                  <a:srgbClr val="13262B"/>
                </a:solidFill>
                <a:latin typeface="Consolas"/>
              </a:rPr>
              <a:t>Its name has 15 letters</a:t>
            </a:r>
            <a:br/>
            <a:r>
              <a:rPr sz="1300" b="0" i="0">
                <a:solidFill>
                  <a:srgbClr val="13262B"/>
                </a:solidFill>
                <a:latin typeface="Consolas"/>
              </a:rPr>
              <a:t>Gorilla gorilla is an ape. Its name starts with G</a:t>
            </a:r>
            <a:br/>
            <a:r>
              <a:rPr sz="1300" b="0" i="0">
                <a:solidFill>
                  <a:srgbClr val="13262B"/>
                </a:solidFill>
                <a:latin typeface="Consolas"/>
              </a:rPr>
              <a:t>Its name has 15 letters</a:t>
            </a:r>
            <a:endParaRPr sz="1300"/>
          </a:p>
        </p:txBody>
      </p:sp>
      <p:sp>
        <p:nvSpPr>
          <p:cNvPr id="9" name="Rounded Rectangle 8"/>
          <p:cNvSpPr/>
          <p:nvPr/>
        </p:nvSpPr>
        <p:spPr>
          <a:xfrm>
            <a:off x="6000452" y="3517702"/>
            <a:ext cx="5375573"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30"/>
          <p:cNvSpPr txBox="1"/>
          <p:nvPr/>
        </p:nvSpPr>
        <p:spPr>
          <a:xfrm>
            <a:off x="6181427" y="3673277"/>
            <a:ext cx="511389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Četiri naredbe u telu, dve od njih print: dve linije izlaza po elementu.</a:t>
            </a:r>
            <a:endParaRPr sz="1400"/>
          </a:p>
        </p:txBody>
      </p:sp>
      <p:sp>
        <p:nvSpPr>
          <p:cNvPr id="11" name="Rounded Rectangle 10"/>
          <p:cNvSpPr/>
          <p:nvPr/>
        </p:nvSpPr>
        <p:spPr>
          <a:xfrm>
            <a:off x="5997277" y="4449167"/>
            <a:ext cx="5381923"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97277" y="4449167"/>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30"/>
          <p:cNvSpPr txBox="1"/>
          <p:nvPr/>
        </p:nvSpPr>
        <p:spPr>
          <a:xfrm>
            <a:off x="6213177" y="4601567"/>
            <a:ext cx="5087987"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U telu je dozvoljeno sve, osim menjanja liste kroz koju petlja prolazi.</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Blokovi i greške u uvlačenju</a:t>
            </a:r>
            <a:endParaRPr sz="3200"/>
          </a:p>
        </p:txBody>
      </p:sp>
      <p:sp>
        <p:nvSpPr>
          <p:cNvPr id="4" name="Rounded Rectangle 3"/>
          <p:cNvSpPr/>
          <p:nvPr/>
        </p:nvSpPr>
        <p:spPr>
          <a:xfrm>
            <a:off x="819150" y="1708051"/>
            <a:ext cx="3924300"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92201"/>
            <a:ext cx="3471672"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ape </a:t>
            </a:r>
            <a:r>
              <a:rPr sz="1300" b="0" i="0">
                <a:solidFill>
                  <a:srgbClr val="6FD3C1"/>
                </a:solidFill>
                <a:latin typeface="Consolas"/>
              </a:rPr>
              <a:t>in</a:t>
            </a:r>
            <a:r>
              <a:rPr sz="1300" b="0" i="0">
                <a:solidFill>
                  <a:srgbClr val="E8EEE9"/>
                </a:solidFill>
                <a:latin typeface="Consolas"/>
              </a:rPr>
              <a:t> apes:</a:t>
            </a:r>
            <a:br/>
            <a:r>
              <a:rPr sz="1300" b="0" i="0">
                <a:solidFill>
                  <a:srgbClr val="E8EEE9"/>
                </a:solidFill>
                <a:latin typeface="Consolas"/>
              </a:rPr>
              <a:t>    name_length = len(ape)</a:t>
            </a:r>
            <a:br/>
            <a:r>
              <a:rPr sz="1300" b="0" i="0">
                <a:solidFill>
                  <a:srgbClr val="E8EEE9"/>
                </a:solidFill>
                <a:latin typeface="Consolas"/>
              </a:rPr>
              <a:t>  first_letter = ape[0]</a:t>
            </a:r>
            <a:br/>
            <a:r>
              <a:rPr sz="1300" b="0" i="0">
                <a:solidFill>
                  <a:srgbClr val="E8EEE9"/>
                </a:solidFill>
                <a:latin typeface="Consolas"/>
              </a:rPr>
              <a:t>    print(ape + </a:t>
            </a:r>
            <a:r>
              <a:rPr sz="1300" b="0" i="0">
                <a:solidFill>
                  <a:srgbClr val="F0A35E"/>
                </a:solidFill>
                <a:latin typeface="Consolas"/>
              </a:rPr>
              <a:t>" is an ape"</a:t>
            </a:r>
            <a:r>
              <a:rPr sz="1300" b="0" i="0">
                <a:solidFill>
                  <a:srgbClr val="E8EEE9"/>
                </a:solidFill>
                <a:latin typeface="Consolas"/>
              </a:rPr>
              <a:t>)</a:t>
            </a:r>
            <a:endParaRPr sz="1300"/>
          </a:p>
        </p:txBody>
      </p:sp>
      <p:sp>
        <p:nvSpPr>
          <p:cNvPr id="6" name="Tekst 2x18.00"/>
          <p:cNvSpPr txBox="1"/>
          <p:nvPr/>
        </p:nvSpPr>
        <p:spPr>
          <a:xfrm>
            <a:off x="812800" y="3207841"/>
            <a:ext cx="4015740" cy="457200"/>
          </a:xfrm>
          <a:prstGeom prst="rect">
            <a:avLst/>
          </a:prstGeom>
          <a:noFill/>
        </p:spPr>
        <p:txBody>
          <a:bodyPr wrap="square" anchor="t" lIns="0" rIns="0" tIns="0" bIns="0">
            <a:noAutofit/>
          </a:bodyPr>
          <a:lstStyle/>
          <a:p>
            <a:pPr algn="l">
              <a:lnSpc>
                <a:spcPts val="1800"/>
              </a:lnSpc>
              <a:spcBef>
                <a:spcPts val="0"/>
              </a:spcBef>
              <a:spcAft>
                <a:spcPts val="0"/>
              </a:spcAft>
            </a:pPr>
            <a:r>
              <a:rPr sz="1200" b="0" i="0">
                <a:solidFill>
                  <a:srgbClr val="A8521A"/>
                </a:solidFill>
                <a:latin typeface="Consolas"/>
              </a:rPr>
              <a:t>IndentationError: unindent does not match any outer indentation level</a:t>
            </a:r>
            <a:endParaRPr sz="1200"/>
          </a:p>
        </p:txBody>
      </p:sp>
      <p:sp>
        <p:nvSpPr>
          <p:cNvPr id="7" name="Tekst 3x20.30"/>
          <p:cNvSpPr txBox="1"/>
          <p:nvPr/>
        </p:nvSpPr>
        <p:spPr>
          <a:xfrm>
            <a:off x="812800" y="3766641"/>
            <a:ext cx="4015740"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Treća linija je uvučena dva razmaka umesto četiri. Greška se javlja pre nego što program uopšte počne.</a:t>
            </a:r>
            <a:endParaRPr sz="1400"/>
          </a:p>
        </p:txBody>
      </p:sp>
      <p:sp>
        <p:nvSpPr>
          <p:cNvPr id="8" name="Rounded Rectangle 7"/>
          <p:cNvSpPr/>
          <p:nvPr/>
        </p:nvSpPr>
        <p:spPr>
          <a:xfrm>
            <a:off x="5057775" y="1704876"/>
            <a:ext cx="6318250" cy="1485702"/>
          </a:xfrm>
          <a:prstGeom prst="roundRect">
            <a:avLst>
              <a:gd name="adj" fmla="val 683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1.60"/>
          <p:cNvSpPr txBox="1"/>
          <p:nvPr/>
        </p:nvSpPr>
        <p:spPr>
          <a:xfrm>
            <a:off x="5264150" y="1885851"/>
            <a:ext cx="6023610"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Blok</a:t>
            </a:r>
            <a:endParaRPr sz="1800"/>
          </a:p>
        </p:txBody>
      </p:sp>
      <p:sp>
        <p:nvSpPr>
          <p:cNvPr id="10" name="Tekst 3x20.30"/>
          <p:cNvSpPr txBox="1"/>
          <p:nvPr/>
        </p:nvSpPr>
        <p:spPr>
          <a:xfrm>
            <a:off x="5264150" y="2236291"/>
            <a:ext cx="6023610"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Linija koja se završava dvotačkom, pa uvučene linije. Isti obrazac imaju petlje, funkcije (pogl. 5) i uslovi (pogl. 6). U drugim jezicima blok obeležavaju vitičaste zagrade.</a:t>
            </a:r>
            <a:endParaRPr sz="1400"/>
          </a:p>
        </p:txBody>
      </p:sp>
      <p:sp>
        <p:nvSpPr>
          <p:cNvPr id="11" name="Rounded Rectangle 10"/>
          <p:cNvSpPr/>
          <p:nvPr/>
        </p:nvSpPr>
        <p:spPr>
          <a:xfrm>
            <a:off x="5054600" y="3346152"/>
            <a:ext cx="6324600" cy="820341"/>
          </a:xfrm>
          <a:prstGeom prst="roundRect">
            <a:avLst>
              <a:gd name="adj" fmla="val 928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54600" y="3346152"/>
            <a:ext cx="38100" cy="8203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30"/>
          <p:cNvSpPr txBox="1"/>
          <p:nvPr/>
        </p:nvSpPr>
        <p:spPr>
          <a:xfrm>
            <a:off x="5295900" y="3498552"/>
            <a:ext cx="599770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Sve linije bloka moraju biti uvučene isto. Tab emulacija u editoru sprečava mešanje tabova i razmaka.</a:t>
            </a:r>
            <a:endParaRPr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Stringovi, fajlovi i split kao liste</a:t>
            </a:r>
            <a:endParaRPr sz="3200"/>
          </a:p>
        </p:txBody>
      </p:sp>
      <p:sp>
        <p:nvSpPr>
          <p:cNvPr id="4" name="Tekst 1x21.60"/>
          <p:cNvSpPr txBox="1"/>
          <p:nvPr/>
        </p:nvSpPr>
        <p:spPr>
          <a:xfrm>
            <a:off x="812800" y="1701701"/>
            <a:ext cx="345436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String: karakteri</a:t>
            </a:r>
            <a:endParaRPr sz="1800"/>
          </a:p>
        </p:txBody>
      </p:sp>
      <p:sp>
        <p:nvSpPr>
          <p:cNvPr id="5" name="Rounded Rectangle 4"/>
          <p:cNvSpPr/>
          <p:nvPr/>
        </p:nvSpPr>
        <p:spPr>
          <a:xfrm>
            <a:off x="812800" y="2077541"/>
            <a:ext cx="3386634" cy="1013222"/>
          </a:xfrm>
          <a:prstGeom prst="roundRect">
            <a:avLst>
              <a:gd name="adj" fmla="val 10027"/>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3x18.60"/>
          <p:cNvSpPr txBox="1"/>
          <p:nvPr/>
        </p:nvSpPr>
        <p:spPr>
          <a:xfrm>
            <a:off x="990600" y="2229941"/>
            <a:ext cx="3091654" cy="708422"/>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E8EEE9"/>
                </a:solidFill>
                <a:latin typeface="Consolas"/>
              </a:rPr>
              <a:t>name = </a:t>
            </a:r>
            <a:r>
              <a:rPr sz="1200" b="0" i="0">
                <a:solidFill>
                  <a:srgbClr val="F0A35E"/>
                </a:solidFill>
                <a:latin typeface="Consolas"/>
              </a:rPr>
              <a:t>"martin"</a:t>
            </a:r>
            <a:br/>
            <a:r>
              <a:rPr sz="1200" b="0" i="0">
                <a:solidFill>
                  <a:srgbClr val="6FD3C1"/>
                </a:solidFill>
                <a:latin typeface="Consolas"/>
              </a:rPr>
              <a:t>for</a:t>
            </a:r>
            <a:r>
              <a:rPr sz="1200" b="0" i="0">
                <a:solidFill>
                  <a:srgbClr val="E8EEE9"/>
                </a:solidFill>
                <a:latin typeface="Consolas"/>
              </a:rPr>
              <a:t> character </a:t>
            </a:r>
            <a:r>
              <a:rPr sz="1200" b="0" i="0">
                <a:solidFill>
                  <a:srgbClr val="6FD3C1"/>
                </a:solidFill>
                <a:latin typeface="Consolas"/>
              </a:rPr>
              <a:t>in</a:t>
            </a:r>
            <a:r>
              <a:rPr sz="1200" b="0" i="0">
                <a:solidFill>
                  <a:srgbClr val="E8EEE9"/>
                </a:solidFill>
                <a:latin typeface="Consolas"/>
              </a:rPr>
              <a:t> name:</a:t>
            </a:r>
            <a:br/>
            <a:r>
              <a:rPr sz="1200" b="0" i="0">
                <a:solidFill>
                  <a:srgbClr val="E8EEE9"/>
                </a:solidFill>
                <a:latin typeface="Consolas"/>
              </a:rPr>
              <a:t>    print(character)</a:t>
            </a:r>
            <a:endParaRPr sz="1200"/>
          </a:p>
        </p:txBody>
      </p:sp>
      <p:sp>
        <p:nvSpPr>
          <p:cNvPr id="7" name="Tekst 3x20.30"/>
          <p:cNvSpPr txBox="1"/>
          <p:nvPr/>
        </p:nvSpPr>
        <p:spPr>
          <a:xfrm>
            <a:off x="812800" y="3192363"/>
            <a:ext cx="3454366"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Svaki karakter je jedan element. Ponavljanje nad elementima zove se iteracija.</a:t>
            </a:r>
            <a:endParaRPr sz="1400"/>
          </a:p>
        </p:txBody>
      </p:sp>
      <p:sp>
        <p:nvSpPr>
          <p:cNvPr id="8" name="Tekst 1x21.60"/>
          <p:cNvSpPr txBox="1"/>
          <p:nvPr/>
        </p:nvSpPr>
        <p:spPr>
          <a:xfrm>
            <a:off x="4402634" y="1701701"/>
            <a:ext cx="3454467"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Fajl: linije</a:t>
            </a:r>
            <a:endParaRPr sz="1800"/>
          </a:p>
        </p:txBody>
      </p:sp>
      <p:sp>
        <p:nvSpPr>
          <p:cNvPr id="9" name="Rounded Rectangle 8"/>
          <p:cNvSpPr/>
          <p:nvPr/>
        </p:nvSpPr>
        <p:spPr>
          <a:xfrm>
            <a:off x="4402634" y="2077541"/>
            <a:ext cx="3386733" cy="1013222"/>
          </a:xfrm>
          <a:prstGeom prst="roundRect">
            <a:avLst>
              <a:gd name="adj" fmla="val 10027"/>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18.60"/>
          <p:cNvSpPr txBox="1"/>
          <p:nvPr/>
        </p:nvSpPr>
        <p:spPr>
          <a:xfrm>
            <a:off x="4580434" y="2229941"/>
            <a:ext cx="3091755" cy="708422"/>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E8EEE9"/>
                </a:solidFill>
                <a:latin typeface="Consolas"/>
              </a:rPr>
              <a:t>file = open(</a:t>
            </a:r>
            <a:r>
              <a:rPr sz="1200" b="0" i="0">
                <a:solidFill>
                  <a:srgbClr val="F0A35E"/>
                </a:solidFill>
                <a:latin typeface="Consolas"/>
              </a:rPr>
              <a:t>"input.txt"</a:t>
            </a:r>
            <a:r>
              <a:rPr sz="1200" b="0" i="0">
                <a:solidFill>
                  <a:srgbClr val="E8EEE9"/>
                </a:solidFill>
                <a:latin typeface="Consolas"/>
              </a:rPr>
              <a:t>)</a:t>
            </a:r>
            <a:br/>
            <a:r>
              <a:rPr sz="1200" b="0" i="0">
                <a:solidFill>
                  <a:srgbClr val="6FD3C1"/>
                </a:solidFill>
                <a:latin typeface="Consolas"/>
              </a:rPr>
              <a:t>for</a:t>
            </a:r>
            <a:r>
              <a:rPr sz="1200" b="0" i="0">
                <a:solidFill>
                  <a:srgbClr val="E8EEE9"/>
                </a:solidFill>
                <a:latin typeface="Consolas"/>
              </a:rPr>
              <a:t> line </a:t>
            </a:r>
            <a:r>
              <a:rPr sz="1200" b="0" i="0">
                <a:solidFill>
                  <a:srgbClr val="6FD3C1"/>
                </a:solidFill>
                <a:latin typeface="Consolas"/>
              </a:rPr>
              <a:t>in</a:t>
            </a:r>
            <a:r>
              <a:rPr sz="1200" b="0" i="0">
                <a:solidFill>
                  <a:srgbClr val="E8EEE9"/>
                </a:solidFill>
                <a:latin typeface="Consolas"/>
              </a:rPr>
              <a:t> file:</a:t>
            </a:r>
            <a:br/>
            <a:r>
              <a:rPr sz="1200" b="0" i="0">
                <a:solidFill>
                  <a:srgbClr val="E8EEE9"/>
                </a:solidFill>
                <a:latin typeface="Consolas"/>
              </a:rPr>
              <a:t>    print(line)</a:t>
            </a:r>
            <a:endParaRPr sz="1200"/>
          </a:p>
        </p:txBody>
      </p:sp>
      <p:sp>
        <p:nvSpPr>
          <p:cNvPr id="11" name="Tekst 2x20.30"/>
          <p:cNvSpPr txBox="1"/>
          <p:nvPr/>
        </p:nvSpPr>
        <p:spPr>
          <a:xfrm>
            <a:off x="4402634" y="3192363"/>
            <a:ext cx="3454467"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Svaka linija je jedan element, zajedno sa znakom za novi red na kraju.</a:t>
            </a:r>
            <a:endParaRPr sz="1400"/>
          </a:p>
        </p:txBody>
      </p:sp>
      <p:sp>
        <p:nvSpPr>
          <p:cNvPr id="12" name="Tekst 1x21.60"/>
          <p:cNvSpPr txBox="1"/>
          <p:nvPr/>
        </p:nvSpPr>
        <p:spPr>
          <a:xfrm>
            <a:off x="7992566" y="1701701"/>
            <a:ext cx="345436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split: nova lista</a:t>
            </a:r>
            <a:endParaRPr sz="1800"/>
          </a:p>
        </p:txBody>
      </p:sp>
      <p:sp>
        <p:nvSpPr>
          <p:cNvPr id="13" name="Rounded Rectangle 12"/>
          <p:cNvSpPr/>
          <p:nvPr/>
        </p:nvSpPr>
        <p:spPr>
          <a:xfrm>
            <a:off x="7992566" y="2077541"/>
            <a:ext cx="3386634" cy="1013222"/>
          </a:xfrm>
          <a:prstGeom prst="roundRect">
            <a:avLst>
              <a:gd name="adj" fmla="val 10027"/>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3x18.60"/>
          <p:cNvSpPr txBox="1"/>
          <p:nvPr/>
        </p:nvSpPr>
        <p:spPr>
          <a:xfrm>
            <a:off x="8170366" y="2229941"/>
            <a:ext cx="3091654" cy="708422"/>
          </a:xfrm>
          <a:prstGeom prst="rect">
            <a:avLst/>
          </a:prstGeom>
          <a:noFill/>
        </p:spPr>
        <p:txBody>
          <a:bodyPr wrap="none" anchor="t" lIns="0" rIns="0" tIns="0" bIns="0">
            <a:noAutofit/>
          </a:bodyPr>
          <a:lstStyle/>
          <a:p>
            <a:pPr algn="l">
              <a:lnSpc>
                <a:spcPts val="1860"/>
              </a:lnSpc>
              <a:spcBef>
                <a:spcPts val="0"/>
              </a:spcBef>
              <a:spcAft>
                <a:spcPts val="0"/>
              </a:spcAft>
            </a:pPr>
            <a:r>
              <a:rPr sz="1200" b="0" i="0">
                <a:solidFill>
                  <a:srgbClr val="E8EEE9"/>
                </a:solidFill>
                <a:latin typeface="Consolas"/>
              </a:rPr>
              <a:t>names = </a:t>
            </a:r>
            <a:r>
              <a:rPr sz="1200" b="0" i="0">
                <a:solidFill>
                  <a:srgbClr val="F0A35E"/>
                </a:solidFill>
                <a:latin typeface="Consolas"/>
              </a:rPr>
              <a:t>"melanogaster,simulans"</a:t>
            </a:r>
            <a:br/>
            <a:r>
              <a:rPr sz="1200" b="0" i="0">
                <a:solidFill>
                  <a:srgbClr val="E8EEE9"/>
                </a:solidFill>
                <a:latin typeface="Consolas"/>
              </a:rPr>
              <a:t>species = names.split(</a:t>
            </a:r>
            <a:r>
              <a:rPr sz="1200" b="0" i="0">
                <a:solidFill>
                  <a:srgbClr val="F0A35E"/>
                </a:solidFill>
                <a:latin typeface="Consolas"/>
              </a:rPr>
              <a:t>","</a:t>
            </a:r>
            <a:r>
              <a:rPr sz="1200" b="0" i="0">
                <a:solidFill>
                  <a:srgbClr val="E8EEE9"/>
                </a:solidFill>
                <a:latin typeface="Consolas"/>
              </a:rPr>
              <a:t>)</a:t>
            </a:r>
            <a:br/>
            <a:r>
              <a:rPr sz="1200" b="0" i="0">
                <a:solidFill>
                  <a:srgbClr val="E8EEE9"/>
                </a:solidFill>
                <a:latin typeface="Consolas"/>
              </a:rPr>
              <a:t>print(species)</a:t>
            </a:r>
            <a:endParaRPr sz="1200"/>
          </a:p>
        </p:txBody>
      </p:sp>
      <p:sp>
        <p:nvSpPr>
          <p:cNvPr id="15" name="Tekst 2x20.30"/>
          <p:cNvSpPr txBox="1"/>
          <p:nvPr/>
        </p:nvSpPr>
        <p:spPr>
          <a:xfrm>
            <a:off x="7992566" y="3192363"/>
            <a:ext cx="345436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Deli string na svakom graničniku (delimiter): </a:t>
            </a:r>
            <a:r>
              <a:rPr sz="1400" b="0" i="0">
                <a:solidFill>
                  <a:srgbClr val="A8521A"/>
                </a:solidFill>
                <a:latin typeface="Arial"/>
              </a:rPr>
              <a:t>['melanogaster', 'simulans']</a:t>
            </a:r>
            <a:endParaRPr sz="1400"/>
          </a:p>
        </p:txBody>
      </p:sp>
      <p:sp>
        <p:nvSpPr>
          <p:cNvPr id="16" name="Rounded Rectangle 15"/>
          <p:cNvSpPr/>
          <p:nvPr/>
        </p:nvSpPr>
        <p:spPr>
          <a:xfrm>
            <a:off x="812800" y="4219674"/>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4219674"/>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20.30"/>
          <p:cNvSpPr txBox="1"/>
          <p:nvPr/>
        </p:nvSpPr>
        <p:spPr>
          <a:xfrm>
            <a:off x="1054100" y="4372074"/>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Ne mešajte </a:t>
            </a:r>
            <a:r>
              <a:rPr sz="1400" b="0" i="0">
                <a:solidFill>
                  <a:srgbClr val="A8521A"/>
                </a:solidFill>
                <a:latin typeface="Arial"/>
              </a:rPr>
              <a:t>read()</a:t>
            </a:r>
            <a:r>
              <a:rPr sz="1400" b="0" i="0">
                <a:solidFill>
                  <a:srgbClr val="13262B"/>
                </a:solidFill>
                <a:latin typeface="Arial"/>
              </a:rPr>
              <a:t> i petlju nad istim fajl objektom: posle </a:t>
            </a:r>
            <a:r>
              <a:rPr sz="1400" b="0" i="0">
                <a:solidFill>
                  <a:srgbClr val="A8521A"/>
                </a:solidFill>
                <a:latin typeface="Arial"/>
              </a:rPr>
              <a:t>read()</a:t>
            </a:r>
            <a:r>
              <a:rPr sz="1400" b="0" i="0">
                <a:solidFill>
                  <a:srgbClr val="13262B"/>
                </a:solidFill>
                <a:latin typeface="Arial"/>
              </a:rPr>
              <a:t> Python je već na kraju fajla, pa petlja ne dobija nijednu liniju.</a:t>
            </a:r>
            <a:endParaRPr sz="14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Petlje sa opsezima: range</a:t>
            </a:r>
            <a:endParaRPr sz="3200"/>
          </a:p>
        </p:txBody>
      </p:sp>
      <p:sp>
        <p:nvSpPr>
          <p:cNvPr id="4" name="Rectangle 3"/>
          <p:cNvSpPr/>
          <p:nvPr/>
        </p:nvSpPr>
        <p:spPr>
          <a:xfrm>
            <a:off x="812800" y="1701701"/>
            <a:ext cx="5562600" cy="315516"/>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010866"/>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15.60"/>
          <p:cNvSpPr txBox="1"/>
          <p:nvPr/>
        </p:nvSpPr>
        <p:spPr>
          <a:xfrm>
            <a:off x="911860" y="1759486"/>
            <a:ext cx="2634844" cy="193596"/>
          </a:xfrm>
          <a:prstGeom prst="rect">
            <a:avLst/>
          </a:prstGeom>
          <a:noFill/>
        </p:spPr>
        <p:txBody>
          <a:bodyPr wrap="square" anchor="t" lIns="0" rIns="0" tIns="0" bIns="0">
            <a:noAutofit/>
          </a:bodyPr>
          <a:lstStyle/>
          <a:p>
            <a:pPr algn="l">
              <a:lnSpc>
                <a:spcPts val="1560"/>
              </a:lnSpc>
              <a:spcBef>
                <a:spcPts val="0"/>
              </a:spcBef>
              <a:spcAft>
                <a:spcPts val="0"/>
              </a:spcAft>
            </a:pPr>
            <a:r>
              <a:rPr sz="1300" b="1" i="0">
                <a:solidFill>
                  <a:srgbClr val="13262B"/>
                </a:solidFill>
                <a:latin typeface="Consolas"/>
              </a:rPr>
              <a:t>Poziv</a:t>
            </a:r>
            <a:endParaRPr sz="1300"/>
          </a:p>
        </p:txBody>
      </p:sp>
      <p:sp>
        <p:nvSpPr>
          <p:cNvPr id="7" name="Rectangle 6"/>
          <p:cNvSpPr/>
          <p:nvPr/>
        </p:nvSpPr>
        <p:spPr>
          <a:xfrm>
            <a:off x="3594100" y="2010866"/>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5.60"/>
          <p:cNvSpPr txBox="1"/>
          <p:nvPr/>
        </p:nvSpPr>
        <p:spPr>
          <a:xfrm>
            <a:off x="3693160" y="1759486"/>
            <a:ext cx="2634844" cy="193596"/>
          </a:xfrm>
          <a:prstGeom prst="rect">
            <a:avLst/>
          </a:prstGeom>
          <a:noFill/>
        </p:spPr>
        <p:txBody>
          <a:bodyPr wrap="square" anchor="t" lIns="0" rIns="0" tIns="0" bIns="0">
            <a:noAutofit/>
          </a:bodyPr>
          <a:lstStyle/>
          <a:p>
            <a:pPr algn="l">
              <a:lnSpc>
                <a:spcPts val="1560"/>
              </a:lnSpc>
              <a:spcBef>
                <a:spcPts val="0"/>
              </a:spcBef>
              <a:spcAft>
                <a:spcPts val="0"/>
              </a:spcAft>
            </a:pPr>
            <a:r>
              <a:rPr sz="1300" b="1" i="0">
                <a:solidFill>
                  <a:srgbClr val="13262B"/>
                </a:solidFill>
                <a:latin typeface="Consolas"/>
              </a:rPr>
              <a:t>Brojevi</a:t>
            </a:r>
            <a:endParaRPr sz="1300"/>
          </a:p>
        </p:txBody>
      </p:sp>
      <p:sp>
        <p:nvSpPr>
          <p:cNvPr id="9" name="Rectangle 8"/>
          <p:cNvSpPr/>
          <p:nvPr/>
        </p:nvSpPr>
        <p:spPr>
          <a:xfrm>
            <a:off x="812800" y="2329557"/>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5.60"/>
          <p:cNvSpPr txBox="1"/>
          <p:nvPr/>
        </p:nvSpPr>
        <p:spPr>
          <a:xfrm>
            <a:off x="911860" y="2075001"/>
            <a:ext cx="2634844"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Consolas"/>
              </a:rPr>
              <a:t>range(6)</a:t>
            </a:r>
            <a:endParaRPr sz="1300"/>
          </a:p>
        </p:txBody>
      </p:sp>
      <p:sp>
        <p:nvSpPr>
          <p:cNvPr id="11" name="Rectangle 10"/>
          <p:cNvSpPr/>
          <p:nvPr/>
        </p:nvSpPr>
        <p:spPr>
          <a:xfrm>
            <a:off x="3594100" y="2329557"/>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5.60"/>
          <p:cNvSpPr txBox="1"/>
          <p:nvPr/>
        </p:nvSpPr>
        <p:spPr>
          <a:xfrm>
            <a:off x="3693160" y="2075001"/>
            <a:ext cx="2634844"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13262B"/>
                </a:solidFill>
                <a:latin typeface="Consolas"/>
              </a:rPr>
              <a:t>0 1 2 3 4 5</a:t>
            </a:r>
            <a:endParaRPr sz="1300"/>
          </a:p>
        </p:txBody>
      </p:sp>
      <p:sp>
        <p:nvSpPr>
          <p:cNvPr id="13" name="Rectangle 12"/>
          <p:cNvSpPr/>
          <p:nvPr/>
        </p:nvSpPr>
        <p:spPr>
          <a:xfrm>
            <a:off x="812800" y="2648248"/>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5.60"/>
          <p:cNvSpPr txBox="1"/>
          <p:nvPr/>
        </p:nvSpPr>
        <p:spPr>
          <a:xfrm>
            <a:off x="911860" y="2393692"/>
            <a:ext cx="2634844"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Consolas"/>
              </a:rPr>
              <a:t>range(3, 8)</a:t>
            </a:r>
            <a:endParaRPr sz="1300"/>
          </a:p>
        </p:txBody>
      </p:sp>
      <p:sp>
        <p:nvSpPr>
          <p:cNvPr id="15" name="Rectangle 14"/>
          <p:cNvSpPr/>
          <p:nvPr/>
        </p:nvSpPr>
        <p:spPr>
          <a:xfrm>
            <a:off x="3594100" y="2648248"/>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5.60"/>
          <p:cNvSpPr txBox="1"/>
          <p:nvPr/>
        </p:nvSpPr>
        <p:spPr>
          <a:xfrm>
            <a:off x="3693160" y="2393692"/>
            <a:ext cx="2634844"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13262B"/>
                </a:solidFill>
                <a:latin typeface="Consolas"/>
              </a:rPr>
              <a:t>3 4 5 6 7</a:t>
            </a:r>
            <a:endParaRPr sz="1300"/>
          </a:p>
        </p:txBody>
      </p:sp>
      <p:sp>
        <p:nvSpPr>
          <p:cNvPr id="17" name="Rectangle 16"/>
          <p:cNvSpPr/>
          <p:nvPr/>
        </p:nvSpPr>
        <p:spPr>
          <a:xfrm>
            <a:off x="812800" y="2966938"/>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15.60"/>
          <p:cNvSpPr txBox="1"/>
          <p:nvPr/>
        </p:nvSpPr>
        <p:spPr>
          <a:xfrm>
            <a:off x="911860" y="2712383"/>
            <a:ext cx="2634844"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A8521A"/>
                </a:solidFill>
                <a:latin typeface="Consolas"/>
              </a:rPr>
              <a:t>range(2, 14, 4)</a:t>
            </a:r>
            <a:endParaRPr sz="1300"/>
          </a:p>
        </p:txBody>
      </p:sp>
      <p:sp>
        <p:nvSpPr>
          <p:cNvPr id="19" name="Rectangle 18"/>
          <p:cNvSpPr/>
          <p:nvPr/>
        </p:nvSpPr>
        <p:spPr>
          <a:xfrm>
            <a:off x="3594100" y="2966938"/>
            <a:ext cx="2781300"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15.60"/>
          <p:cNvSpPr txBox="1"/>
          <p:nvPr/>
        </p:nvSpPr>
        <p:spPr>
          <a:xfrm>
            <a:off x="3693160" y="2712383"/>
            <a:ext cx="2634844" cy="196771"/>
          </a:xfrm>
          <a:prstGeom prst="rect">
            <a:avLst/>
          </a:prstGeom>
          <a:noFill/>
        </p:spPr>
        <p:txBody>
          <a:bodyPr wrap="square" anchor="t" lIns="0" rIns="0" tIns="0" bIns="0">
            <a:noAutofit/>
          </a:bodyPr>
          <a:lstStyle/>
          <a:p>
            <a:pPr algn="l">
              <a:lnSpc>
                <a:spcPts val="1560"/>
              </a:lnSpc>
              <a:spcBef>
                <a:spcPts val="0"/>
              </a:spcBef>
              <a:spcAft>
                <a:spcPts val="0"/>
              </a:spcAft>
            </a:pPr>
            <a:r>
              <a:rPr sz="1300" b="0" i="0">
                <a:solidFill>
                  <a:srgbClr val="13262B"/>
                </a:solidFill>
                <a:latin typeface="Consolas"/>
              </a:rPr>
              <a:t>2 6 10</a:t>
            </a:r>
            <a:endParaRPr sz="1300"/>
          </a:p>
        </p:txBody>
      </p:sp>
      <p:sp>
        <p:nvSpPr>
          <p:cNvPr id="21" name="Tekst 3x20.30"/>
          <p:cNvSpPr txBox="1"/>
          <p:nvPr/>
        </p:nvSpPr>
        <p:spPr>
          <a:xfrm>
            <a:off x="812800" y="3128863"/>
            <a:ext cx="5673852" cy="773311"/>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Jedan broj: od 0 do tog broja, bez njega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Dva broja: početak uključen, kraj isključen, kao kod isecanja</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Treći broj je korak</a:t>
            </a:r>
            <a:endParaRPr sz="1400"/>
          </a:p>
        </p:txBody>
      </p:sp>
      <p:sp>
        <p:nvSpPr>
          <p:cNvPr id="22" name="Rounded Rectangle 21"/>
          <p:cNvSpPr/>
          <p:nvPr/>
        </p:nvSpPr>
        <p:spPr>
          <a:xfrm>
            <a:off x="6686550" y="1708051"/>
            <a:ext cx="46863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t 3x20.15"/>
          <p:cNvSpPr txBox="1"/>
          <p:nvPr/>
        </p:nvSpPr>
        <p:spPr>
          <a:xfrm>
            <a:off x="6946900" y="1892201"/>
            <a:ext cx="4248912"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protein = </a:t>
            </a:r>
            <a:r>
              <a:rPr sz="1300" b="0" i="0">
                <a:solidFill>
                  <a:srgbClr val="F0A35E"/>
                </a:solidFill>
                <a:latin typeface="Consolas"/>
              </a:rPr>
              <a:t>"vlspadktnv"</a:t>
            </a:r>
            <a:br/>
            <a:r>
              <a:rPr sz="1300" b="0" i="0">
                <a:solidFill>
                  <a:srgbClr val="6FD3C1"/>
                </a:solidFill>
                <a:latin typeface="Consolas"/>
              </a:rPr>
              <a:t>for</a:t>
            </a:r>
            <a:r>
              <a:rPr sz="1300" b="0" i="0">
                <a:solidFill>
                  <a:srgbClr val="E8EEE9"/>
                </a:solidFill>
                <a:latin typeface="Consolas"/>
              </a:rPr>
              <a:t> stop </a:t>
            </a:r>
            <a:r>
              <a:rPr sz="1300" b="0" i="0">
                <a:solidFill>
                  <a:srgbClr val="6FD3C1"/>
                </a:solidFill>
                <a:latin typeface="Consolas"/>
              </a:rPr>
              <a:t>in</a:t>
            </a:r>
            <a:r>
              <a:rPr sz="1300" b="0" i="0">
                <a:solidFill>
                  <a:srgbClr val="E8EEE9"/>
                </a:solidFill>
                <a:latin typeface="Consolas"/>
              </a:rPr>
              <a:t> range(3, len(protein) + 1):</a:t>
            </a:r>
            <a:br/>
            <a:r>
              <a:rPr sz="1300" b="0" i="0">
                <a:solidFill>
                  <a:srgbClr val="E8EEE9"/>
                </a:solidFill>
                <a:latin typeface="Consolas"/>
              </a:rPr>
              <a:t>    print(protein[0:stop])</a:t>
            </a:r>
            <a:endParaRPr sz="1300"/>
          </a:p>
        </p:txBody>
      </p:sp>
      <p:sp>
        <p:nvSpPr>
          <p:cNvPr id="24" name="Rounded Rectangle 23"/>
          <p:cNvSpPr/>
          <p:nvPr/>
        </p:nvSpPr>
        <p:spPr>
          <a:xfrm>
            <a:off x="6686550" y="2983706"/>
            <a:ext cx="4686300" cy="2216944"/>
          </a:xfrm>
          <a:prstGeom prst="roundRect">
            <a:avLst>
              <a:gd name="adj" fmla="val 4582"/>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kst 1x16.80"/>
          <p:cNvSpPr txBox="1"/>
          <p:nvPr/>
        </p:nvSpPr>
        <p:spPr>
          <a:xfrm>
            <a:off x="10325100" y="3040856"/>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26" name="Tekst 8x18.20"/>
          <p:cNvSpPr txBox="1"/>
          <p:nvPr/>
        </p:nvSpPr>
        <p:spPr>
          <a:xfrm>
            <a:off x="6946900" y="3167856"/>
            <a:ext cx="4248912" cy="1848644"/>
          </a:xfrm>
          <a:prstGeom prst="rect">
            <a:avLst/>
          </a:prstGeom>
          <a:noFill/>
        </p:spPr>
        <p:txBody>
          <a:bodyPr wrap="none" anchor="t" lIns="0" rIns="0" tIns="0" bIns="0">
            <a:noAutofit/>
          </a:bodyPr>
          <a:lstStyle/>
          <a:p>
            <a:pPr algn="l">
              <a:lnSpc>
                <a:spcPts val="1820"/>
              </a:lnSpc>
              <a:spcBef>
                <a:spcPts val="0"/>
              </a:spcBef>
              <a:spcAft>
                <a:spcPts val="0"/>
              </a:spcAft>
            </a:pPr>
            <a:r>
              <a:rPr sz="1300" b="0" i="0">
                <a:solidFill>
                  <a:srgbClr val="13262B"/>
                </a:solidFill>
                <a:latin typeface="Consolas"/>
              </a:rPr>
              <a:t>vls</a:t>
            </a:r>
            <a:br/>
            <a:r>
              <a:rPr sz="1300" b="0" i="0">
                <a:solidFill>
                  <a:srgbClr val="13262B"/>
                </a:solidFill>
                <a:latin typeface="Consolas"/>
              </a:rPr>
              <a:t>vlsp</a:t>
            </a:r>
            <a:br/>
            <a:r>
              <a:rPr sz="1300" b="0" i="0">
                <a:solidFill>
                  <a:srgbClr val="13262B"/>
                </a:solidFill>
                <a:latin typeface="Consolas"/>
              </a:rPr>
              <a:t>vlspa</a:t>
            </a:r>
            <a:br/>
            <a:r>
              <a:rPr sz="1300" b="0" i="0">
                <a:solidFill>
                  <a:srgbClr val="13262B"/>
                </a:solidFill>
                <a:latin typeface="Consolas"/>
              </a:rPr>
              <a:t>vlspad</a:t>
            </a:r>
            <a:br/>
            <a:r>
              <a:rPr sz="1300" b="0" i="0">
                <a:solidFill>
                  <a:srgbClr val="13262B"/>
                </a:solidFill>
                <a:latin typeface="Consolas"/>
              </a:rPr>
              <a:t>vlspadk</a:t>
            </a:r>
            <a:br/>
            <a:r>
              <a:rPr sz="1300" b="0" i="0">
                <a:solidFill>
                  <a:srgbClr val="13262B"/>
                </a:solidFill>
                <a:latin typeface="Consolas"/>
              </a:rPr>
              <a:t>vlspadkt</a:t>
            </a:r>
            <a:br/>
            <a:r>
              <a:rPr sz="1300" b="0" i="0">
                <a:solidFill>
                  <a:srgbClr val="13262B"/>
                </a:solidFill>
                <a:latin typeface="Consolas"/>
              </a:rPr>
              <a:t>vlspadktn</a:t>
            </a:r>
            <a:br/>
            <a:r>
              <a:rPr sz="1300" b="0" i="0">
                <a:solidFill>
                  <a:srgbClr val="13262B"/>
                </a:solidFill>
                <a:latin typeface="Consolas"/>
              </a:rPr>
              <a:t>vlspadktnv</a:t>
            </a:r>
            <a:endParaRPr sz="13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VEŽBA: UKLANJANJE ADAPTERA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čitanje i isecanje</a:t>
            </a:r>
            <a:endParaRPr sz="3200"/>
          </a:p>
        </p:txBody>
      </p:sp>
      <p:sp>
        <p:nvSpPr>
          <p:cNvPr id="4" name="Rounded Rectangle 3"/>
          <p:cNvSpPr/>
          <p:nvPr/>
        </p:nvSpPr>
        <p:spPr>
          <a:xfrm>
            <a:off x="819150" y="1657251"/>
            <a:ext cx="2699345"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3x20.15"/>
          <p:cNvSpPr txBox="1"/>
          <p:nvPr/>
        </p:nvSpPr>
        <p:spPr>
          <a:xfrm>
            <a:off x="1079500" y="1841401"/>
            <a:ext cx="222221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file = open(</a:t>
            </a:r>
            <a:r>
              <a:rPr sz="1300" b="0" i="0">
                <a:solidFill>
                  <a:srgbClr val="F0A35E"/>
                </a:solidFill>
                <a:latin typeface="Consolas"/>
              </a:rPr>
              <a:t>"input.txt"</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dna </a:t>
            </a:r>
            <a:r>
              <a:rPr sz="1300" b="0" i="0">
                <a:solidFill>
                  <a:srgbClr val="6FD3C1"/>
                </a:solidFill>
                <a:latin typeface="Consolas"/>
              </a:rPr>
              <a:t>in</a:t>
            </a:r>
            <a:r>
              <a:rPr sz="1300" b="0" i="0">
                <a:solidFill>
                  <a:srgbClr val="E8EEE9"/>
                </a:solidFill>
                <a:latin typeface="Consolas"/>
              </a:rPr>
              <a:t> file:</a:t>
            </a:r>
            <a:br/>
            <a:r>
              <a:rPr sz="1300" b="0" i="0">
                <a:solidFill>
                  <a:srgbClr val="E8EEE9"/>
                </a:solidFill>
                <a:latin typeface="Consolas"/>
              </a:rPr>
              <a:t>    print(dna)</a:t>
            </a:r>
            <a:endParaRPr sz="1300"/>
          </a:p>
        </p:txBody>
      </p:sp>
      <p:sp>
        <p:nvSpPr>
          <p:cNvPr id="6" name="Rounded Rectangle 5"/>
          <p:cNvSpPr/>
          <p:nvPr/>
        </p:nvSpPr>
        <p:spPr>
          <a:xfrm>
            <a:off x="3632795" y="1657251"/>
            <a:ext cx="3879453" cy="1391841"/>
          </a:xfrm>
          <a:prstGeom prst="roundRect">
            <a:avLst>
              <a:gd name="adj" fmla="val 729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4x20.15"/>
          <p:cNvSpPr txBox="1"/>
          <p:nvPr/>
        </p:nvSpPr>
        <p:spPr>
          <a:xfrm>
            <a:off x="3893145" y="1841401"/>
            <a:ext cx="3425928"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A8521A"/>
                </a:solidFill>
                <a:latin typeface="Consolas"/>
              </a:rPr>
              <a:t>ATTCGATTATAAGC</a:t>
            </a:r>
            <a:r>
              <a:rPr sz="1300" b="0" i="0">
                <a:solidFill>
                  <a:srgbClr val="13262B"/>
                </a:solidFill>
                <a:latin typeface="Consolas"/>
              </a:rPr>
              <a:t>TCGATCGATCGATCGATCGATC…</a:t>
            </a:r>
            <a:br/>
            <a:r>
              <a:rPr sz="1300" b="0" i="0">
                <a:solidFill>
                  <a:srgbClr val="13262B"/>
                </a:solidFill>
                <a:latin typeface="Consolas"/>
              </a:rPr>
              <a:t> </a:t>
            </a:r>
            <a:br/>
            <a:r>
              <a:rPr sz="1300" b="0" i="0">
                <a:solidFill>
                  <a:srgbClr val="A8521A"/>
                </a:solidFill>
                <a:latin typeface="Consolas"/>
              </a:rPr>
              <a:t>ATTCGATTATAAGC</a:t>
            </a:r>
            <a:r>
              <a:rPr sz="1300" b="0" i="0">
                <a:solidFill>
                  <a:srgbClr val="13262B"/>
                </a:solidFill>
                <a:latin typeface="Consolas"/>
              </a:rPr>
              <a:t>ACTGATCGATCGATCGATCGAT…</a:t>
            </a:r>
            <a:br/>
            <a:r>
              <a:rPr sz="1300" b="0" i="0">
                <a:solidFill>
                  <a:srgbClr val="13262B"/>
                </a:solidFill>
                <a:latin typeface="Consolas"/>
              </a:rPr>
              <a:t> </a:t>
            </a:r>
            <a:endParaRPr sz="1300"/>
          </a:p>
        </p:txBody>
      </p:sp>
      <p:sp>
        <p:nvSpPr>
          <p:cNvPr id="8" name="Rounded Rectangle 7"/>
          <p:cNvSpPr/>
          <p:nvPr/>
        </p:nvSpPr>
        <p:spPr>
          <a:xfrm>
            <a:off x="7620198" y="1650901"/>
            <a:ext cx="3759002" cy="1404541"/>
          </a:xfrm>
          <a:prstGeom prst="roundRect">
            <a:avLst>
              <a:gd name="adj" fmla="val 542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198" y="1650901"/>
            <a:ext cx="38100" cy="14045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30"/>
          <p:cNvSpPr txBox="1"/>
          <p:nvPr/>
        </p:nvSpPr>
        <p:spPr>
          <a:xfrm>
            <a:off x="7836098" y="1966516"/>
            <a:ext cx="3432608"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Prazni redovi: linija iz fajla već ima \n, a print dodaje još jedan. Za sada to ignorišemo.</a:t>
            </a:r>
            <a:endParaRPr sz="1400"/>
          </a:p>
        </p:txBody>
      </p:sp>
      <p:sp>
        <p:nvSpPr>
          <p:cNvPr id="11" name="Rounded Rectangle 10"/>
          <p:cNvSpPr/>
          <p:nvPr/>
        </p:nvSpPr>
        <p:spPr>
          <a:xfrm>
            <a:off x="819150" y="3264991"/>
            <a:ext cx="4968577"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5x20.15"/>
          <p:cNvSpPr txBox="1"/>
          <p:nvPr/>
        </p:nvSpPr>
        <p:spPr>
          <a:xfrm>
            <a:off x="1079500" y="3449141"/>
            <a:ext cx="4536835"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file = open(</a:t>
            </a:r>
            <a:r>
              <a:rPr sz="1300" b="0" i="0">
                <a:solidFill>
                  <a:srgbClr val="F0A35E"/>
                </a:solidFill>
                <a:latin typeface="Consolas"/>
              </a:rPr>
              <a:t>"input.txt"</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dna </a:t>
            </a:r>
            <a:r>
              <a:rPr sz="1300" b="0" i="0">
                <a:solidFill>
                  <a:srgbClr val="6FD3C1"/>
                </a:solidFill>
                <a:latin typeface="Consolas"/>
              </a:rPr>
              <a:t>in</a:t>
            </a:r>
            <a:r>
              <a:rPr sz="1300" b="0" i="0">
                <a:solidFill>
                  <a:srgbClr val="E8EEE9"/>
                </a:solidFill>
                <a:latin typeface="Consolas"/>
              </a:rPr>
              <a:t> file:</a:t>
            </a:r>
            <a:br/>
            <a:r>
              <a:rPr sz="1300" b="0" i="0">
                <a:solidFill>
                  <a:srgbClr val="E8EEE9"/>
                </a:solidFill>
                <a:latin typeface="Consolas"/>
              </a:rPr>
              <a:t>    last_character_position = len(dna)</a:t>
            </a:r>
            <a:br/>
            <a:r>
              <a:rPr sz="1300" b="0" i="0">
                <a:solidFill>
                  <a:srgbClr val="E8EEE9"/>
                </a:solidFill>
                <a:latin typeface="Consolas"/>
              </a:rPr>
              <a:t>    trimmed_dna = dna[14:last_character_position]</a:t>
            </a:r>
            <a:br/>
            <a:r>
              <a:rPr sz="1300" b="0" i="0">
                <a:solidFill>
                  <a:srgbClr val="E8EEE9"/>
                </a:solidFill>
                <a:latin typeface="Consolas"/>
              </a:rPr>
              <a:t>    print(trimmed_dna)</a:t>
            </a:r>
            <a:endParaRPr sz="1300"/>
          </a:p>
        </p:txBody>
      </p:sp>
      <p:sp>
        <p:nvSpPr>
          <p:cNvPr id="13" name="Rounded Rectangle 12"/>
          <p:cNvSpPr/>
          <p:nvPr/>
        </p:nvSpPr>
        <p:spPr>
          <a:xfrm>
            <a:off x="5902027" y="3264991"/>
            <a:ext cx="5470823" cy="1647726"/>
          </a:xfrm>
          <a:prstGeom prst="roundRect">
            <a:avLst>
              <a:gd name="adj" fmla="val 616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3x20.15"/>
          <p:cNvSpPr txBox="1"/>
          <p:nvPr/>
        </p:nvSpPr>
        <p:spPr>
          <a:xfrm>
            <a:off x="6162377" y="3705027"/>
            <a:ext cx="5049125"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TCGATCGATCGATCGATCGATC…</a:t>
            </a:r>
            <a:br/>
            <a:r>
              <a:rPr sz="1300" b="0" i="0">
                <a:solidFill>
                  <a:srgbClr val="13262B"/>
                </a:solidFill>
                <a:latin typeface="Consolas"/>
              </a:rPr>
              <a:t>ACTGATCGATCGATCGATCGAT…</a:t>
            </a:r>
            <a:br/>
            <a:r>
              <a:rPr sz="1300" b="0" i="0">
                <a:solidFill>
                  <a:srgbClr val="13262B"/>
                </a:solidFill>
                <a:latin typeface="Consolas"/>
              </a:rPr>
              <a:t>ATCGATCACGATCTATCGTACG…</a:t>
            </a:r>
            <a:endParaRPr sz="13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VEŽBA: UKLANJANJE ADAPTERA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2: upis u fajl i ispis dužina</a:t>
            </a:r>
            <a:endParaRPr sz="3200"/>
          </a:p>
        </p:txBody>
      </p:sp>
      <p:sp>
        <p:nvSpPr>
          <p:cNvPr id="4" name="Rounded Rectangle 3"/>
          <p:cNvSpPr/>
          <p:nvPr/>
        </p:nvSpPr>
        <p:spPr>
          <a:xfrm>
            <a:off x="819150" y="1708051"/>
            <a:ext cx="10553700" cy="2159496"/>
          </a:xfrm>
          <a:prstGeom prst="roundRect">
            <a:avLst>
              <a:gd name="adj" fmla="val 470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7x20.15"/>
          <p:cNvSpPr txBox="1"/>
          <p:nvPr/>
        </p:nvSpPr>
        <p:spPr>
          <a:xfrm>
            <a:off x="1079500" y="1892201"/>
            <a:ext cx="10185400"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file = open(</a:t>
            </a:r>
            <a:r>
              <a:rPr sz="1300" b="0" i="0">
                <a:solidFill>
                  <a:srgbClr val="F0A35E"/>
                </a:solidFill>
                <a:latin typeface="Consolas"/>
              </a:rPr>
              <a:t>"input.txt"</a:t>
            </a:r>
            <a:r>
              <a:rPr sz="1300" b="0" i="0">
                <a:solidFill>
                  <a:srgbClr val="E8EEE9"/>
                </a:solidFill>
                <a:latin typeface="Consolas"/>
              </a:rPr>
              <a:t>)</a:t>
            </a:r>
            <a:br/>
            <a:r>
              <a:rPr sz="1300" b="0" i="0">
                <a:solidFill>
                  <a:srgbClr val="E8EEE9"/>
                </a:solidFill>
                <a:latin typeface="Consolas"/>
              </a:rPr>
              <a:t>output = open(</a:t>
            </a:r>
            <a:r>
              <a:rPr sz="1300" b="0" i="0">
                <a:solidFill>
                  <a:srgbClr val="F0A35E"/>
                </a:solidFill>
                <a:latin typeface="Consolas"/>
              </a:rPr>
              <a:t>"trimmed.txt"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dna </a:t>
            </a:r>
            <a:r>
              <a:rPr sz="1300" b="0" i="0">
                <a:solidFill>
                  <a:srgbClr val="6FD3C1"/>
                </a:solidFill>
                <a:latin typeface="Consolas"/>
              </a:rPr>
              <a:t>in</a:t>
            </a:r>
            <a:r>
              <a:rPr sz="1300" b="0" i="0">
                <a:solidFill>
                  <a:srgbClr val="E8EEE9"/>
                </a:solidFill>
                <a:latin typeface="Consolas"/>
              </a:rPr>
              <a:t> file:</a:t>
            </a:r>
            <a:br/>
            <a:r>
              <a:rPr sz="1300" b="0" i="0">
                <a:solidFill>
                  <a:srgbClr val="E8EEE9"/>
                </a:solidFill>
                <a:latin typeface="Consolas"/>
              </a:rPr>
              <a:t>    last_character_position = len(dna)</a:t>
            </a:r>
            <a:br/>
            <a:r>
              <a:rPr sz="1300" b="0" i="0">
                <a:solidFill>
                  <a:srgbClr val="E8EEE9"/>
                </a:solidFill>
                <a:latin typeface="Consolas"/>
              </a:rPr>
              <a:t>    trimmed_dna = dna[14:last_character_position]</a:t>
            </a:r>
            <a:br/>
            <a:r>
              <a:rPr sz="1300" b="0" i="0">
                <a:solidFill>
                  <a:srgbClr val="E8EEE9"/>
                </a:solidFill>
                <a:latin typeface="Consolas"/>
              </a:rPr>
              <a:t>    output.write(trimmed_dna)</a:t>
            </a:r>
            <a:br/>
            <a:r>
              <a:rPr sz="1300" b="0" i="0">
                <a:solidFill>
                  <a:srgbClr val="E8EEE9"/>
                </a:solidFill>
                <a:latin typeface="Consolas"/>
              </a:rPr>
              <a:t>    print(</a:t>
            </a:r>
            <a:r>
              <a:rPr sz="1300" b="0" i="0">
                <a:solidFill>
                  <a:srgbClr val="F0A35E"/>
                </a:solidFill>
                <a:latin typeface="Consolas"/>
              </a:rPr>
              <a:t>"processed sequence with length "</a:t>
            </a:r>
            <a:r>
              <a:rPr sz="1300" b="0" i="0">
                <a:solidFill>
                  <a:srgbClr val="E8EEE9"/>
                </a:solidFill>
                <a:latin typeface="Consolas"/>
              </a:rPr>
              <a:t> + str(len(trimmed_dna)))</a:t>
            </a:r>
            <a:endParaRPr sz="1300"/>
          </a:p>
        </p:txBody>
      </p:sp>
      <p:sp>
        <p:nvSpPr>
          <p:cNvPr id="6" name="Rounded Rectangle 5"/>
          <p:cNvSpPr/>
          <p:nvPr/>
        </p:nvSpPr>
        <p:spPr>
          <a:xfrm>
            <a:off x="815975" y="4131072"/>
            <a:ext cx="3405684" cy="1084461"/>
          </a:xfrm>
          <a:prstGeom prst="roundRect">
            <a:avLst>
              <a:gd name="adj" fmla="val 93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2x20.30"/>
          <p:cNvSpPr txBox="1"/>
          <p:nvPr/>
        </p:nvSpPr>
        <p:spPr>
          <a:xfrm>
            <a:off x="996950" y="4286647"/>
            <a:ext cx="310460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Izlazni fajl otvaramo pre petlje, a pišemo u njega unutar petlje.</a:t>
            </a:r>
            <a:endParaRPr sz="1400"/>
          </a:p>
        </p:txBody>
      </p:sp>
      <p:sp>
        <p:nvSpPr>
          <p:cNvPr id="8" name="Rounded Rectangle 7"/>
          <p:cNvSpPr/>
          <p:nvPr/>
        </p:nvSpPr>
        <p:spPr>
          <a:xfrm>
            <a:off x="4380409" y="4131072"/>
            <a:ext cx="3405783" cy="1084461"/>
          </a:xfrm>
          <a:prstGeom prst="roundRect">
            <a:avLst>
              <a:gd name="adj" fmla="val 9368"/>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3x20.30"/>
          <p:cNvSpPr txBox="1"/>
          <p:nvPr/>
        </p:nvSpPr>
        <p:spPr>
          <a:xfrm>
            <a:off x="4561384" y="4286647"/>
            <a:ext cx="3104709"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Novi red ovde ne smeta: ostaje na kraju svake sekvence, pa su linije u fajlu tačno razdvojene.</a:t>
            </a:r>
            <a:endParaRPr sz="1400"/>
          </a:p>
        </p:txBody>
      </p:sp>
      <p:sp>
        <p:nvSpPr>
          <p:cNvPr id="10" name="Rounded Rectangle 9"/>
          <p:cNvSpPr/>
          <p:nvPr/>
        </p:nvSpPr>
        <p:spPr>
          <a:xfrm>
            <a:off x="7941766" y="4127897"/>
            <a:ext cx="3437434" cy="1090811"/>
          </a:xfrm>
          <a:prstGeom prst="roundRect">
            <a:avLst>
              <a:gd name="adj" fmla="val 698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41766" y="4127897"/>
            <a:ext cx="38100" cy="109081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2x20.30"/>
          <p:cNvSpPr txBox="1"/>
          <p:nvPr/>
        </p:nvSpPr>
        <p:spPr>
          <a:xfrm>
            <a:off x="8157666" y="4280297"/>
            <a:ext cx="3104608"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Pažnja: ispisana dužina broji i \n. Za tačan broj baza prvo </a:t>
            </a:r>
            <a:r>
              <a:rPr sz="1400" b="0" i="0">
                <a:solidFill>
                  <a:srgbClr val="A8521A"/>
                </a:solidFill>
                <a:latin typeface="Arial"/>
              </a:rPr>
              <a:t>rstrip("\n")</a:t>
            </a:r>
            <a:r>
              <a:rPr sz="1400" b="0" i="0">
                <a:solidFill>
                  <a:srgbClr val="13262B"/>
                </a:solidFill>
                <a:latin typeface="Arial"/>
              </a:rPr>
              <a:t>.</a:t>
            </a:r>
            <a:endParaRPr sz="1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VEŽBA: VIŠE EGZONA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čitanje pozicija egzona</a:t>
            </a:r>
            <a:endParaRPr sz="3200"/>
          </a:p>
        </p:txBody>
      </p:sp>
      <p:sp>
        <p:nvSpPr>
          <p:cNvPr id="4" name="Rounded Rectangle 3"/>
          <p:cNvSpPr/>
          <p:nvPr/>
        </p:nvSpPr>
        <p:spPr>
          <a:xfrm>
            <a:off x="819150" y="1657251"/>
            <a:ext cx="1511300" cy="1518841"/>
          </a:xfrm>
          <a:prstGeom prst="roundRect">
            <a:avLst>
              <a:gd name="adj" fmla="val 6722"/>
            </a:avLst>
          </a:prstGeom>
          <a:solidFill>
            <a:srgbClr val="FCFBF7"/>
          </a:solidFill>
          <a:ln w="1270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16.80"/>
          <p:cNvSpPr txBox="1"/>
          <p:nvPr/>
        </p:nvSpPr>
        <p:spPr>
          <a:xfrm>
            <a:off x="1028700" y="1727101"/>
            <a:ext cx="11684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00">
                <a:solidFill>
                  <a:srgbClr val="5F6F70"/>
                </a:solidFill>
                <a:latin typeface="Arial"/>
              </a:rPr>
              <a:t>EXONS.TXT</a:t>
            </a:r>
            <a:endParaRPr sz="1200"/>
          </a:p>
        </p:txBody>
      </p:sp>
      <p:sp>
        <p:nvSpPr>
          <p:cNvPr id="6" name="Tekst 4x20.15"/>
          <p:cNvSpPr txBox="1"/>
          <p:nvPr/>
        </p:nvSpPr>
        <p:spPr>
          <a:xfrm>
            <a:off x="1028700" y="1968401"/>
            <a:ext cx="1117600"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5,58</a:t>
            </a:r>
            <a:br/>
            <a:r>
              <a:rPr sz="1300" b="0" i="0">
                <a:solidFill>
                  <a:srgbClr val="13262B"/>
                </a:solidFill>
                <a:latin typeface="Consolas"/>
              </a:rPr>
              <a:t>72,133</a:t>
            </a:r>
            <a:br/>
            <a:r>
              <a:rPr sz="1300" b="0" i="0">
                <a:solidFill>
                  <a:srgbClr val="13262B"/>
                </a:solidFill>
                <a:latin typeface="Consolas"/>
              </a:rPr>
              <a:t>190,276</a:t>
            </a:r>
            <a:br/>
            <a:r>
              <a:rPr sz="1300" b="0" i="0">
                <a:solidFill>
                  <a:srgbClr val="13262B"/>
                </a:solidFill>
                <a:latin typeface="Consolas"/>
              </a:rPr>
              <a:t>340,398</a:t>
            </a:r>
            <a:endParaRPr sz="1300"/>
          </a:p>
        </p:txBody>
      </p:sp>
      <p:sp>
        <p:nvSpPr>
          <p:cNvPr id="7" name="Rounded Rectangle 6"/>
          <p:cNvSpPr/>
          <p:nvPr/>
        </p:nvSpPr>
        <p:spPr>
          <a:xfrm>
            <a:off x="2495550" y="1657251"/>
            <a:ext cx="3607098" cy="1518841"/>
          </a:xfrm>
          <a:prstGeom prst="roundRect">
            <a:avLst>
              <a:gd name="adj" fmla="val 668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4x20.15"/>
          <p:cNvSpPr txBox="1"/>
          <p:nvPr/>
        </p:nvSpPr>
        <p:spPr>
          <a:xfrm>
            <a:off x="2755900" y="1841401"/>
            <a:ext cx="3148126"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exon_locations = open(</a:t>
            </a:r>
            <a:r>
              <a:rPr sz="1300" b="0" i="0">
                <a:solidFill>
                  <a:srgbClr val="F0A35E"/>
                </a:solidFill>
                <a:latin typeface="Consolas"/>
              </a:rPr>
              <a:t>"exons.txt"</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line </a:t>
            </a:r>
            <a:r>
              <a:rPr sz="1300" b="0" i="0">
                <a:solidFill>
                  <a:srgbClr val="6FD3C1"/>
                </a:solidFill>
                <a:latin typeface="Consolas"/>
              </a:rPr>
              <a:t>in</a:t>
            </a:r>
            <a:r>
              <a:rPr sz="1300" b="0" i="0">
                <a:solidFill>
                  <a:srgbClr val="E8EEE9"/>
                </a:solidFill>
                <a:latin typeface="Consolas"/>
              </a:rPr>
              <a:t> exon_locations:</a:t>
            </a:r>
            <a:br/>
            <a:r>
              <a:rPr sz="1300" b="0" i="0">
                <a:solidFill>
                  <a:srgbClr val="E8EEE9"/>
                </a:solidFill>
                <a:latin typeface="Consolas"/>
              </a:rPr>
              <a:t>    positions = line.split(</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print(positions)</a:t>
            </a:r>
            <a:endParaRPr sz="1300"/>
          </a:p>
        </p:txBody>
      </p:sp>
      <p:sp>
        <p:nvSpPr>
          <p:cNvPr id="9" name="Rounded Rectangle 8"/>
          <p:cNvSpPr/>
          <p:nvPr/>
        </p:nvSpPr>
        <p:spPr>
          <a:xfrm>
            <a:off x="6267748" y="1657251"/>
            <a:ext cx="5105102" cy="1518841"/>
          </a:xfrm>
          <a:prstGeom prst="roundRect">
            <a:avLst>
              <a:gd name="adj" fmla="val 668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4x20.15"/>
          <p:cNvSpPr txBox="1"/>
          <p:nvPr/>
        </p:nvSpPr>
        <p:spPr>
          <a:xfrm>
            <a:off x="6528098" y="1841401"/>
            <a:ext cx="4676090"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['5', '58\n']</a:t>
            </a:r>
            <a:br/>
            <a:r>
              <a:rPr sz="1300" b="0" i="0">
                <a:solidFill>
                  <a:srgbClr val="13262B"/>
                </a:solidFill>
                <a:latin typeface="Consolas"/>
              </a:rPr>
              <a:t>['72', '133\n']</a:t>
            </a:r>
            <a:br/>
            <a:r>
              <a:rPr sz="1300" b="0" i="0">
                <a:solidFill>
                  <a:srgbClr val="13262B"/>
                </a:solidFill>
                <a:latin typeface="Consolas"/>
              </a:rPr>
              <a:t>['190', '276\n']</a:t>
            </a:r>
            <a:br/>
            <a:r>
              <a:rPr sz="1300" b="0" i="0">
                <a:solidFill>
                  <a:srgbClr val="13262B"/>
                </a:solidFill>
                <a:latin typeface="Consolas"/>
              </a:rPr>
              <a:t>['340', '398\n']</a:t>
            </a:r>
            <a:endParaRPr sz="1300"/>
          </a:p>
        </p:txBody>
      </p:sp>
      <p:sp>
        <p:nvSpPr>
          <p:cNvPr id="11" name="Rounded Rectangle 10"/>
          <p:cNvSpPr/>
          <p:nvPr/>
        </p:nvSpPr>
        <p:spPr>
          <a:xfrm>
            <a:off x="819150" y="3391991"/>
            <a:ext cx="5241032"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4x20.15"/>
          <p:cNvSpPr txBox="1"/>
          <p:nvPr/>
        </p:nvSpPr>
        <p:spPr>
          <a:xfrm>
            <a:off x="1079500" y="3576141"/>
            <a:ext cx="4814739"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u petlji, posle split:</a:t>
            </a:r>
            <a:br/>
            <a:r>
              <a:rPr sz="1300" b="0" i="0">
                <a:solidFill>
                  <a:srgbClr val="E8EEE9"/>
                </a:solidFill>
                <a:latin typeface="Consolas"/>
              </a:rPr>
              <a:t>    start = positions[0]</a:t>
            </a:r>
            <a:br/>
            <a:r>
              <a:rPr sz="1300" b="0" i="0">
                <a:solidFill>
                  <a:srgbClr val="E8EEE9"/>
                </a:solidFill>
                <a:latin typeface="Consolas"/>
              </a:rPr>
              <a:t>    stop = positions[1]</a:t>
            </a:r>
            <a:br/>
            <a:r>
              <a:rPr sz="1300" b="0" i="0">
                <a:solidFill>
                  <a:srgbClr val="E8EEE9"/>
                </a:solidFill>
                <a:latin typeface="Consolas"/>
              </a:rPr>
              <a:t>    print(</a:t>
            </a:r>
            <a:r>
              <a:rPr sz="1300" b="0" i="0">
                <a:solidFill>
                  <a:srgbClr val="F0A35E"/>
                </a:solidFill>
                <a:latin typeface="Consolas"/>
              </a:rPr>
              <a:t>"start is "</a:t>
            </a:r>
            <a:r>
              <a:rPr sz="1300" b="0" i="0">
                <a:solidFill>
                  <a:srgbClr val="E8EEE9"/>
                </a:solidFill>
                <a:latin typeface="Consolas"/>
              </a:rPr>
              <a:t> + start + </a:t>
            </a:r>
            <a:r>
              <a:rPr sz="1300" b="0" i="0">
                <a:solidFill>
                  <a:srgbClr val="F0A35E"/>
                </a:solidFill>
                <a:latin typeface="Consolas"/>
              </a:rPr>
              <a:t>", stop is "</a:t>
            </a:r>
            <a:r>
              <a:rPr sz="1300" b="0" i="0">
                <a:solidFill>
                  <a:srgbClr val="E8EEE9"/>
                </a:solidFill>
                <a:latin typeface="Consolas"/>
              </a:rPr>
              <a:t> + stop)</a:t>
            </a:r>
            <a:endParaRPr sz="1300"/>
          </a:p>
        </p:txBody>
      </p:sp>
      <p:sp>
        <p:nvSpPr>
          <p:cNvPr id="13" name="Rounded Rectangle 12"/>
          <p:cNvSpPr/>
          <p:nvPr/>
        </p:nvSpPr>
        <p:spPr>
          <a:xfrm>
            <a:off x="6225282" y="3391991"/>
            <a:ext cx="5147568" cy="1391841"/>
          </a:xfrm>
          <a:prstGeom prst="roundRect">
            <a:avLst>
              <a:gd name="adj" fmla="val 7299"/>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4x20.15"/>
          <p:cNvSpPr txBox="1"/>
          <p:nvPr/>
        </p:nvSpPr>
        <p:spPr>
          <a:xfrm>
            <a:off x="6485632" y="3576141"/>
            <a:ext cx="4719405"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start is 5, stop is 58</a:t>
            </a:r>
            <a:br/>
            <a:r>
              <a:rPr sz="1300" b="0" i="0">
                <a:solidFill>
                  <a:srgbClr val="13262B"/>
                </a:solidFill>
                <a:latin typeface="Consolas"/>
              </a:rPr>
              <a:t> </a:t>
            </a:r>
            <a:br/>
            <a:r>
              <a:rPr sz="1300" b="0" i="0">
                <a:solidFill>
                  <a:srgbClr val="13262B"/>
                </a:solidFill>
                <a:latin typeface="Consolas"/>
              </a:rPr>
              <a:t>start is 72, stop is 133</a:t>
            </a:r>
            <a:br/>
            <a:r>
              <a:rPr sz="1300" b="0" i="0">
                <a:solidFill>
                  <a:srgbClr val="13262B"/>
                </a:solidFill>
                <a:latin typeface="Consolas"/>
              </a:rPr>
              <a:t> </a:t>
            </a:r>
            <a:endParaRPr sz="13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VEŽBA: VIŠE EGZONA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2: string nije broj</a:t>
            </a:r>
            <a:endParaRPr sz="3200"/>
          </a:p>
        </p:txBody>
      </p:sp>
      <p:sp>
        <p:nvSpPr>
          <p:cNvPr id="4" name="Rounded Rectangle 3"/>
          <p:cNvSpPr/>
          <p:nvPr/>
        </p:nvSpPr>
        <p:spPr>
          <a:xfrm>
            <a:off x="819150" y="1708051"/>
            <a:ext cx="4514751"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8x20.15"/>
          <p:cNvSpPr txBox="1"/>
          <p:nvPr/>
        </p:nvSpPr>
        <p:spPr>
          <a:xfrm>
            <a:off x="1079500" y="1892201"/>
            <a:ext cx="4073932"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genomic_dna = open(</a:t>
            </a:r>
            <a:r>
              <a:rPr sz="1300" b="0" i="0">
                <a:solidFill>
                  <a:srgbClr val="F0A35E"/>
                </a:solidFill>
                <a:latin typeface="Consolas"/>
              </a:rPr>
              <a:t>"genomic_dna.txt"</a:t>
            </a:r>
            <a:r>
              <a:rPr sz="1300" b="0" i="0">
                <a:solidFill>
                  <a:srgbClr val="E8EEE9"/>
                </a:solidFill>
                <a:latin typeface="Consolas"/>
              </a:rPr>
              <a:t>).read()</a:t>
            </a:r>
            <a:br/>
            <a:r>
              <a:rPr sz="1300" b="0" i="0">
                <a:solidFill>
                  <a:srgbClr val="E8EEE9"/>
                </a:solidFill>
                <a:latin typeface="Consolas"/>
              </a:rPr>
              <a:t>exon_locations = open(</a:t>
            </a:r>
            <a:r>
              <a:rPr sz="1300" b="0" i="0">
                <a:solidFill>
                  <a:srgbClr val="F0A35E"/>
                </a:solidFill>
                <a:latin typeface="Consolas"/>
              </a:rPr>
              <a:t>"exons.txt"</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line </a:t>
            </a:r>
            <a:r>
              <a:rPr sz="1300" b="0" i="0">
                <a:solidFill>
                  <a:srgbClr val="6FD3C1"/>
                </a:solidFill>
                <a:latin typeface="Consolas"/>
              </a:rPr>
              <a:t>in</a:t>
            </a:r>
            <a:r>
              <a:rPr sz="1300" b="0" i="0">
                <a:solidFill>
                  <a:srgbClr val="E8EEE9"/>
                </a:solidFill>
                <a:latin typeface="Consolas"/>
              </a:rPr>
              <a:t> exon_locations:</a:t>
            </a:r>
            <a:br/>
            <a:r>
              <a:rPr sz="1300" b="0" i="0">
                <a:solidFill>
                  <a:srgbClr val="E8EEE9"/>
                </a:solidFill>
                <a:latin typeface="Consolas"/>
              </a:rPr>
              <a:t>    positions = line.split(</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start = positions[0]</a:t>
            </a:r>
            <a:br/>
            <a:r>
              <a:rPr sz="1300" b="0" i="0">
                <a:solidFill>
                  <a:srgbClr val="E8EEE9"/>
                </a:solidFill>
                <a:latin typeface="Consolas"/>
              </a:rPr>
              <a:t>    stop = positions[1]</a:t>
            </a:r>
            <a:br/>
            <a:r>
              <a:rPr sz="1300" b="0" i="0">
                <a:solidFill>
                  <a:srgbClr val="E8EEE9"/>
                </a:solidFill>
                <a:latin typeface="Consolas"/>
              </a:rPr>
              <a:t>    exon = genomic_dna[start:stop]</a:t>
            </a:r>
            <a:br/>
            <a:r>
              <a:rPr sz="1300" b="0" i="0">
                <a:solidFill>
                  <a:srgbClr val="E8EEE9"/>
                </a:solidFill>
                <a:latin typeface="Consolas"/>
              </a:rPr>
              <a:t>    print(</a:t>
            </a:r>
            <a:r>
              <a:rPr sz="1300" b="0" i="0">
                <a:solidFill>
                  <a:srgbClr val="F0A35E"/>
                </a:solidFill>
                <a:latin typeface="Consolas"/>
              </a:rPr>
              <a:t>"exon is: "</a:t>
            </a:r>
            <a:r>
              <a:rPr sz="1300" b="0" i="0">
                <a:solidFill>
                  <a:srgbClr val="E8EEE9"/>
                </a:solidFill>
                <a:latin typeface="Consolas"/>
              </a:rPr>
              <a:t> + exon)</a:t>
            </a:r>
            <a:endParaRPr sz="1300"/>
          </a:p>
        </p:txBody>
      </p:sp>
      <p:sp>
        <p:nvSpPr>
          <p:cNvPr id="6" name="Rounded Rectangle 5"/>
          <p:cNvSpPr/>
          <p:nvPr/>
        </p:nvSpPr>
        <p:spPr>
          <a:xfrm>
            <a:off x="5651401" y="1708051"/>
            <a:ext cx="5721449" cy="774700"/>
          </a:xfrm>
          <a:prstGeom prst="roundRect">
            <a:avLst>
              <a:gd name="adj" fmla="val 1311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2x18.00"/>
          <p:cNvSpPr txBox="1"/>
          <p:nvPr/>
        </p:nvSpPr>
        <p:spPr>
          <a:xfrm>
            <a:off x="5860951" y="1866801"/>
            <a:ext cx="5408396" cy="457200"/>
          </a:xfrm>
          <a:prstGeom prst="rect">
            <a:avLst/>
          </a:prstGeom>
          <a:noFill/>
        </p:spPr>
        <p:txBody>
          <a:bodyPr wrap="square" anchor="t" lIns="0" rIns="0" tIns="0" bIns="0">
            <a:noAutofit/>
          </a:bodyPr>
          <a:lstStyle/>
          <a:p>
            <a:pPr algn="l">
              <a:lnSpc>
                <a:spcPts val="1800"/>
              </a:lnSpc>
              <a:spcBef>
                <a:spcPts val="0"/>
              </a:spcBef>
              <a:spcAft>
                <a:spcPts val="0"/>
              </a:spcAft>
            </a:pPr>
            <a:r>
              <a:rPr sz="1200" b="0" i="0">
                <a:solidFill>
                  <a:srgbClr val="A8521A"/>
                </a:solidFill>
                <a:latin typeface="Consolas"/>
              </a:rPr>
              <a:t>TypeError: slice indices must be integers or None or have an __index__ method</a:t>
            </a:r>
            <a:endParaRPr sz="1200"/>
          </a:p>
        </p:txBody>
      </p:sp>
      <p:sp>
        <p:nvSpPr>
          <p:cNvPr id="8" name="Tekst 1x20.30"/>
          <p:cNvSpPr txBox="1"/>
          <p:nvPr/>
        </p:nvSpPr>
        <p:spPr>
          <a:xfrm>
            <a:off x="5645051" y="2590701"/>
            <a:ext cx="584883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start</a:t>
            </a:r>
            <a:r>
              <a:rPr sz="1400" b="0" i="0">
                <a:solidFill>
                  <a:srgbClr val="3D4F52"/>
                </a:solidFill>
                <a:latin typeface="Arial"/>
              </a:rPr>
              <a:t> i </a:t>
            </a:r>
            <a:r>
              <a:rPr sz="1400" b="0" i="0">
                <a:solidFill>
                  <a:srgbClr val="A8521A"/>
                </a:solidFill>
                <a:latin typeface="Arial"/>
              </a:rPr>
              <a:t>stop</a:t>
            </a:r>
            <a:r>
              <a:rPr sz="1400" b="0" i="0">
                <a:solidFill>
                  <a:srgbClr val="3D4F52"/>
                </a:solidFill>
                <a:latin typeface="Arial"/>
              </a:rPr>
              <a:t> su stringovi, jer su elementi liste koju je vratio split.</a:t>
            </a:r>
            <a:endParaRPr sz="1400"/>
          </a:p>
        </p:txBody>
      </p:sp>
      <p:sp>
        <p:nvSpPr>
          <p:cNvPr id="9" name="Rounded Rectangle 8"/>
          <p:cNvSpPr/>
          <p:nvPr/>
        </p:nvSpPr>
        <p:spPr>
          <a:xfrm>
            <a:off x="5651401" y="2956421"/>
            <a:ext cx="5721449"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2x20.15"/>
          <p:cNvSpPr txBox="1"/>
          <p:nvPr/>
        </p:nvSpPr>
        <p:spPr>
          <a:xfrm>
            <a:off x="5911751" y="3140571"/>
            <a:ext cx="5304764"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    start = int(positions[0])</a:t>
            </a:r>
            <a:br/>
            <a:r>
              <a:rPr sz="1300" b="0" i="0">
                <a:solidFill>
                  <a:srgbClr val="E8EEE9"/>
                </a:solidFill>
                <a:latin typeface="Consolas"/>
              </a:rPr>
              <a:t>    stop = int(positions[1])</a:t>
            </a:r>
            <a:endParaRPr sz="1300"/>
          </a:p>
        </p:txBody>
      </p:sp>
      <p:sp>
        <p:nvSpPr>
          <p:cNvPr id="11" name="Tekst 2x20.30"/>
          <p:cNvSpPr txBox="1"/>
          <p:nvPr/>
        </p:nvSpPr>
        <p:spPr>
          <a:xfrm>
            <a:off x="5645051" y="3944441"/>
            <a:ext cx="584883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int</a:t>
            </a:r>
            <a:r>
              <a:rPr sz="1400" b="0" i="0">
                <a:solidFill>
                  <a:srgbClr val="3D4F52"/>
                </a:solidFill>
                <a:latin typeface="Arial"/>
              </a:rPr>
              <a:t> pretvara string u ceo broj; </a:t>
            </a:r>
            <a:r>
              <a:rPr sz="1400" b="0" i="0">
                <a:solidFill>
                  <a:srgbClr val="A8521A"/>
                </a:solidFill>
                <a:latin typeface="Arial"/>
              </a:rPr>
              <a:t>int('58\n')</a:t>
            </a:r>
            <a:r>
              <a:rPr sz="1400" b="0" i="0">
                <a:solidFill>
                  <a:srgbClr val="3D4F52"/>
                </a:solidFill>
                <a:latin typeface="Arial"/>
              </a:rPr>
              <a:t> daje 58, jer razmaci i novi red oko broja ne smetaju.</a:t>
            </a:r>
            <a:endParaRPr sz="14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VEŽBA: VIŠE EGZONA</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3: spajanje egzona i upis u fajl</a:t>
            </a:r>
            <a:endParaRPr sz="3200"/>
          </a:p>
        </p:txBody>
      </p:sp>
      <p:sp>
        <p:nvSpPr>
          <p:cNvPr id="4" name="Rounded Rectangle 3"/>
          <p:cNvSpPr/>
          <p:nvPr/>
        </p:nvSpPr>
        <p:spPr>
          <a:xfrm>
            <a:off x="819150" y="1708051"/>
            <a:ext cx="4514751" cy="3438922"/>
          </a:xfrm>
          <a:prstGeom prst="roundRect">
            <a:avLst>
              <a:gd name="adj" fmla="val 295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2x20.15"/>
          <p:cNvSpPr txBox="1"/>
          <p:nvPr/>
        </p:nvSpPr>
        <p:spPr>
          <a:xfrm>
            <a:off x="1079500" y="1892201"/>
            <a:ext cx="4073932" cy="307062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genomic_dna = open(</a:t>
            </a:r>
            <a:r>
              <a:rPr sz="1300" b="0" i="0">
                <a:solidFill>
                  <a:srgbClr val="F0A35E"/>
                </a:solidFill>
                <a:latin typeface="Consolas"/>
              </a:rPr>
              <a:t>"genomic_dna.txt"</a:t>
            </a:r>
            <a:r>
              <a:rPr sz="1300" b="0" i="0">
                <a:solidFill>
                  <a:srgbClr val="E8EEE9"/>
                </a:solidFill>
                <a:latin typeface="Consolas"/>
              </a:rPr>
              <a:t>).read()</a:t>
            </a:r>
            <a:br/>
            <a:r>
              <a:rPr sz="1300" b="0" i="0">
                <a:solidFill>
                  <a:srgbClr val="E8EEE9"/>
                </a:solidFill>
                <a:latin typeface="Consolas"/>
              </a:rPr>
              <a:t>exon_locations = open(</a:t>
            </a:r>
            <a:r>
              <a:rPr sz="1300" b="0" i="0">
                <a:solidFill>
                  <a:srgbClr val="F0A35E"/>
                </a:solidFill>
                <a:latin typeface="Consolas"/>
              </a:rPr>
              <a:t>"exons.txt"</a:t>
            </a:r>
            <a:r>
              <a:rPr sz="1300" b="0" i="0">
                <a:solidFill>
                  <a:srgbClr val="E8EEE9"/>
                </a:solidFill>
                <a:latin typeface="Consolas"/>
              </a:rPr>
              <a:t>)</a:t>
            </a:r>
            <a:br/>
            <a:r>
              <a:rPr sz="1300" b="0" i="0">
                <a:solidFill>
                  <a:srgbClr val="E8EEE9"/>
                </a:solidFill>
                <a:latin typeface="Consolas"/>
              </a:rPr>
              <a:t>coding_sequence = </a:t>
            </a:r>
            <a:r>
              <a:rPr sz="1300" b="0" i="0">
                <a:solidFill>
                  <a:srgbClr val="F0A35E"/>
                </a:solidFill>
                <a:latin typeface="Consolas"/>
              </a:rPr>
              <a:t>""</a:t>
            </a:r>
            <a:br/>
            <a:r>
              <a:rPr sz="1300" b="0" i="0">
                <a:solidFill>
                  <a:srgbClr val="6FD3C1"/>
                </a:solidFill>
                <a:latin typeface="Consolas"/>
              </a:rPr>
              <a:t>for</a:t>
            </a:r>
            <a:r>
              <a:rPr sz="1300" b="0" i="0">
                <a:solidFill>
                  <a:srgbClr val="E8EEE9"/>
                </a:solidFill>
                <a:latin typeface="Consolas"/>
              </a:rPr>
              <a:t> line </a:t>
            </a:r>
            <a:r>
              <a:rPr sz="1300" b="0" i="0">
                <a:solidFill>
                  <a:srgbClr val="6FD3C1"/>
                </a:solidFill>
                <a:latin typeface="Consolas"/>
              </a:rPr>
              <a:t>in</a:t>
            </a:r>
            <a:r>
              <a:rPr sz="1300" b="0" i="0">
                <a:solidFill>
                  <a:srgbClr val="E8EEE9"/>
                </a:solidFill>
                <a:latin typeface="Consolas"/>
              </a:rPr>
              <a:t> exon_locations:</a:t>
            </a:r>
            <a:br/>
            <a:r>
              <a:rPr sz="1300" b="0" i="0">
                <a:solidFill>
                  <a:srgbClr val="E8EEE9"/>
                </a:solidFill>
                <a:latin typeface="Consolas"/>
              </a:rPr>
              <a:t>    positions = line.split(</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start = int(positions[0])</a:t>
            </a:r>
            <a:br/>
            <a:r>
              <a:rPr sz="1300" b="0" i="0">
                <a:solidFill>
                  <a:srgbClr val="E8EEE9"/>
                </a:solidFill>
                <a:latin typeface="Consolas"/>
              </a:rPr>
              <a:t>    stop = int(positions[1])</a:t>
            </a:r>
            <a:br/>
            <a:r>
              <a:rPr sz="1300" b="0" i="0">
                <a:solidFill>
                  <a:srgbClr val="E8EEE9"/>
                </a:solidFill>
                <a:latin typeface="Consolas"/>
              </a:rPr>
              <a:t>    exon = genomic_dna[start:stop]</a:t>
            </a:r>
            <a:br/>
            <a:r>
              <a:rPr sz="1300" b="0" i="0">
                <a:solidFill>
                  <a:srgbClr val="E8EEE9"/>
                </a:solidFill>
                <a:latin typeface="Consolas"/>
              </a:rPr>
              <a:t>    coding_sequence = coding_sequence + exon</a:t>
            </a:r>
            <a:br/>
            <a:r>
              <a:rPr sz="1300" b="0" i="0">
                <a:solidFill>
                  <a:srgbClr val="E8EEE9"/>
                </a:solidFill>
                <a:latin typeface="Consolas"/>
              </a:rPr>
              <a:t>output = open(</a:t>
            </a:r>
            <a:r>
              <a:rPr sz="1300" b="0" i="0">
                <a:solidFill>
                  <a:srgbClr val="F0A35E"/>
                </a:solidFill>
                <a:latin typeface="Consolas"/>
              </a:rPr>
              <a:t>"coding_sequence.txt"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output.write(coding_sequence)</a:t>
            </a:r>
            <a:br/>
            <a:r>
              <a:rPr sz="1300" b="0" i="0">
                <a:solidFill>
                  <a:srgbClr val="E8EEE9"/>
                </a:solidFill>
                <a:latin typeface="Consolas"/>
              </a:rPr>
              <a:t>output.close()</a:t>
            </a:r>
            <a:endParaRPr sz="1300"/>
          </a:p>
        </p:txBody>
      </p:sp>
      <p:sp>
        <p:nvSpPr>
          <p:cNvPr id="6" name="Tekst 1x20.30"/>
          <p:cNvSpPr txBox="1"/>
          <p:nvPr/>
        </p:nvSpPr>
        <p:spPr>
          <a:xfrm>
            <a:off x="5645051" y="1701701"/>
            <a:ext cx="584883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U </a:t>
            </a:r>
            <a:r>
              <a:rPr sz="1400" b="0" i="0">
                <a:solidFill>
                  <a:srgbClr val="A8521A"/>
                </a:solidFill>
                <a:latin typeface="Arial"/>
              </a:rPr>
              <a:t>exons.txt</a:t>
            </a:r>
            <a:r>
              <a:rPr sz="1400" b="0" i="0">
                <a:solidFill>
                  <a:srgbClr val="13262B"/>
                </a:solidFill>
                <a:latin typeface="Arial"/>
              </a:rPr>
              <a:t> je jedan egzon po liniji, u obliku </a:t>
            </a:r>
            <a:r>
              <a:rPr sz="1400" b="0" i="0">
                <a:solidFill>
                  <a:srgbClr val="A8521A"/>
                </a:solidFill>
                <a:latin typeface="Arial"/>
              </a:rPr>
              <a:t>početak,kraj</a:t>
            </a:r>
            <a:r>
              <a:rPr sz="1400" b="0" i="0">
                <a:solidFill>
                  <a:srgbClr val="13262B"/>
                </a:solidFill>
                <a:latin typeface="Arial"/>
              </a:rPr>
              <a:t>.</a:t>
            </a:r>
            <a:endParaRPr sz="1400"/>
          </a:p>
        </p:txBody>
      </p:sp>
      <p:sp>
        <p:nvSpPr>
          <p:cNvPr id="7" name="Rounded Rectangle 6"/>
          <p:cNvSpPr/>
          <p:nvPr/>
        </p:nvSpPr>
        <p:spPr>
          <a:xfrm>
            <a:off x="5648226" y="2064246"/>
            <a:ext cx="5727799" cy="518120"/>
          </a:xfrm>
          <a:prstGeom prst="roundRect">
            <a:avLst>
              <a:gd name="adj" fmla="val 1960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9.60"/>
          <p:cNvSpPr txBox="1"/>
          <p:nvPr/>
        </p:nvSpPr>
        <p:spPr>
          <a:xfrm>
            <a:off x="5829201" y="2194421"/>
            <a:ext cx="12323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1</a:t>
            </a:r>
            <a:endParaRPr sz="1400"/>
          </a:p>
        </p:txBody>
      </p:sp>
      <p:sp>
        <p:nvSpPr>
          <p:cNvPr id="9" name="Tekst 1x20.30"/>
          <p:cNvSpPr txBox="1"/>
          <p:nvPr/>
        </p:nvSpPr>
        <p:spPr>
          <a:xfrm>
            <a:off x="6054030" y="2194421"/>
            <a:ext cx="2498604"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split(',')</a:t>
            </a:r>
            <a:r>
              <a:rPr sz="1400" b="0" i="0">
                <a:solidFill>
                  <a:srgbClr val="3D4F52"/>
                </a:solidFill>
                <a:latin typeface="Arial"/>
              </a:rPr>
              <a:t> deli liniju na dva stringa</a:t>
            </a:r>
            <a:endParaRPr sz="1400"/>
          </a:p>
        </p:txBody>
      </p:sp>
      <p:sp>
        <p:nvSpPr>
          <p:cNvPr id="10" name="Rounded Rectangle 9"/>
          <p:cNvSpPr/>
          <p:nvPr/>
        </p:nvSpPr>
        <p:spPr>
          <a:xfrm>
            <a:off x="5648226" y="2690316"/>
            <a:ext cx="5727799" cy="775891"/>
          </a:xfrm>
          <a:prstGeom prst="roundRect">
            <a:avLst>
              <a:gd name="adj" fmla="val 1309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1x19.60"/>
          <p:cNvSpPr txBox="1"/>
          <p:nvPr/>
        </p:nvSpPr>
        <p:spPr>
          <a:xfrm>
            <a:off x="5829201" y="2820491"/>
            <a:ext cx="12323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2</a:t>
            </a:r>
            <a:endParaRPr sz="1400"/>
          </a:p>
        </p:txBody>
      </p:sp>
      <p:sp>
        <p:nvSpPr>
          <p:cNvPr id="12" name="Tekst 2x20.30"/>
          <p:cNvSpPr txBox="1"/>
          <p:nvPr/>
        </p:nvSpPr>
        <p:spPr>
          <a:xfrm>
            <a:off x="6054030" y="2820491"/>
            <a:ext cx="524384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int()</a:t>
            </a:r>
            <a:r>
              <a:rPr sz="1400" b="0" i="0">
                <a:solidFill>
                  <a:srgbClr val="3D4F52"/>
                </a:solidFill>
                <a:latin typeface="Arial"/>
              </a:rPr>
              <a:t> pretvara string u broj, jer pozicije za isecanje moraju biti brojevi</a:t>
            </a:r>
            <a:endParaRPr sz="1400"/>
          </a:p>
        </p:txBody>
      </p:sp>
      <p:sp>
        <p:nvSpPr>
          <p:cNvPr id="13" name="Rounded Rectangle 12"/>
          <p:cNvSpPr/>
          <p:nvPr/>
        </p:nvSpPr>
        <p:spPr>
          <a:xfrm>
            <a:off x="5648226" y="3574157"/>
            <a:ext cx="5727799" cy="775891"/>
          </a:xfrm>
          <a:prstGeom prst="roundRect">
            <a:avLst>
              <a:gd name="adj" fmla="val 1309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9.60"/>
          <p:cNvSpPr txBox="1"/>
          <p:nvPr/>
        </p:nvSpPr>
        <p:spPr>
          <a:xfrm>
            <a:off x="5829201" y="3704332"/>
            <a:ext cx="123230"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A8521A"/>
                </a:solidFill>
                <a:latin typeface="Consolas"/>
              </a:rPr>
              <a:t>3</a:t>
            </a:r>
            <a:endParaRPr sz="1400"/>
          </a:p>
        </p:txBody>
      </p:sp>
      <p:sp>
        <p:nvSpPr>
          <p:cNvPr id="15" name="Tekst 2x20.30"/>
          <p:cNvSpPr txBox="1"/>
          <p:nvPr/>
        </p:nvSpPr>
        <p:spPr>
          <a:xfrm>
            <a:off x="6054030" y="3704332"/>
            <a:ext cx="524384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Promenljiva je sa obe strane znaka =: prvo se računa desna strana, pa se rezultat upisuje nazad</a:t>
            </a:r>
            <a:endParaRPr sz="14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04 · LISTE I PETLJE</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vežbe</a:t>
            </a:r>
            <a:endParaRPr sz="3200"/>
          </a:p>
        </p:txBody>
      </p:sp>
      <p:sp>
        <p:nvSpPr>
          <p:cNvPr id="4" name="Rounded Rectangle 3"/>
          <p:cNvSpPr/>
          <p:nvPr/>
        </p:nvSpPr>
        <p:spPr>
          <a:xfrm>
            <a:off x="815975" y="1704876"/>
            <a:ext cx="4848920" cy="2284412"/>
          </a:xfrm>
          <a:prstGeom prst="roundRect">
            <a:avLst>
              <a:gd name="adj" fmla="val 4447"/>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524893"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6x20.30"/>
          <p:cNvSpPr txBox="1"/>
          <p:nvPr/>
        </p:nvSpPr>
        <p:spPr>
          <a:xfrm>
            <a:off x="1022350" y="2261691"/>
            <a:ext cx="4524893" cy="154662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Liste: pravljenje, indeksi (i negativni), isecanje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append, extend, reverse, sort i spajanje sa +</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Petlja for: dvotačka, uvučeni blok, promenljiva petlje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Uvlačenje mora biti dosledno: IndentationError</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Stringovi, fajlovi i range ponašaju se kao liste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split pravi listu od stringa</a:t>
            </a:r>
            <a:endParaRPr sz="1400"/>
          </a:p>
        </p:txBody>
      </p:sp>
      <p:sp>
        <p:nvSpPr>
          <p:cNvPr id="7" name="Rounded Rectangle 6"/>
          <p:cNvSpPr/>
          <p:nvPr/>
        </p:nvSpPr>
        <p:spPr>
          <a:xfrm>
            <a:off x="5871270" y="1701701"/>
            <a:ext cx="5507930" cy="2020292"/>
          </a:xfrm>
          <a:prstGeom prst="roundRect">
            <a:avLst>
              <a:gd name="adj" fmla="val 5028"/>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6074470" y="1879501"/>
            <a:ext cx="5203561"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Vežbe</a:t>
            </a:r>
            <a:endParaRPr sz="1800"/>
          </a:p>
        </p:txBody>
      </p:sp>
      <p:sp>
        <p:nvSpPr>
          <p:cNvPr id="9" name="Tekst 5x20.30"/>
          <p:cNvSpPr txBox="1"/>
          <p:nvPr/>
        </p:nvSpPr>
        <p:spPr>
          <a:xfrm>
            <a:off x="6074470" y="2255341"/>
            <a:ext cx="5203561" cy="1288852"/>
          </a:xfrm>
          <a:prstGeom prst="rect">
            <a:avLst/>
          </a:prstGeom>
          <a:noFill/>
        </p:spPr>
        <p:txBody>
          <a:bodyPr wrap="square" anchor="t" lIns="0" rIns="0" tIns="0" bIns="0">
            <a:noAutofit/>
          </a:bodyPr>
          <a:lstStyle/>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U input.txt svaka sekvenca počinje istim adapterom od 14 baza. Uklonite ga, upišite očišćene sekvence u novi fajl i ispišite dužinu svake</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Iz genomic_dna.txt izdvojite egzone čije su pozicije u exons.txt, spojite ih i upišite u novi fajl</a:t>
            </a:r>
            <a:endParaRPr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4: Liste i petlje</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