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Podsetnik na prvu vežbu iz poglavlja 2: za AT sadržaj trebale su četiri linije koda, i na svakom mestu gde nam treba AT sadržaj morali bismo ih tačno prepisati. Bilo bi lepo da postoji ugrađena funkcija get_at_content, kao što postoje print, len i open. Ne postoji, ali je možemo napisati sami. Prednosti: kod se piše jednom, izmena se pravi na jednom mestu, delovi programa se razvijaju nezavisno, a funkcije se mogu koristiti i u drugim programima.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Prva vežba iz poglavlja 2: ako ne računamo prvu liniju (unos sekvence) i poslednju (ispis), AT sadržaj računaju četiri linije. Mogli bismo ih sabiti u jednu, at_content = (my_dna.count('A') + my_dna.count('T')) / len(my_dna), ali bi kod bio mnogo manje čitljiv. Python nema ugrađenu funkciju za AT sadržaj, ali ima nešto još bolje: način da sami napravimo funkciju. Podela koda na funkcije omogućava i rešavanje većih problema, jer na delovima radimo odvojeno.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Pisanje funkcije zove se definisanje. Ime funkcije i imena argumenata su proizvoljna, kao i imena promenljivih. Telo može imati koliko god linija, sve sa istim uvlačenjem; u telu argument koristimo preko imena iz prve linije. Povratna vrednost je preciznije tipa float, broj sa decimalnom tačkom. U Pythonu 2 je za deljenje potreban from __future__ import division.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iz definicije ne radi ništa dok funkciju ne pozovemo. Ako je samo pozovemo, izračunati AT sadržaj nestaje; povratnu vrednost moramo sačuvati u promenljivoj ili odmah iskoristiti, npr. u print. Isto pravilo opsega važi i za promenljivu petlje.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Mali program koji koristi novu funkciju na dva načina: rezultat prvo čuvamo u promenljivoj pa ispisujemo, a zatim ga ispisujemo direktno. Prvi poziv radi kako treba (0.45), ali druga dva otkrivaju probleme. Upravo tako nastaje bolja verzija funkcije na sledećim slajdovima: funkciju menjamo, a kod koji je poziva ostaje isti.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Prva verzija je za "ATGCATGCAACTGTAGC" vraćala 0.5294117647058824, a za sekvencu malim slovima "aactgtagctagctagcagcgta" vraćala 0.0, što je pogrešno. Ugrađena funkcija round prima broj i broj decimala na koji se zaokružuje (knjiga argument naziva sig_figs, „značajne cifre”, ali round zapravo zaokružuje na decimale). Bolje rešenje bi bilo formatirati broj tek pri ispisu, ali to izlazi iz okvira knjige.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Ovo je u knjizi jedina rečenica napisana masnim slovima, jer je razumevanje njenih posledica ključ za pisanje većih programa. Bez enkapsulacije, veličina programa je ograničena brojem linija koje možemo da držimo u glavi. Sa funkcijama gradimo složen program od malih blokova. Od ovog poglavlja rešenja vežbi koriste funkcije gde god to ima smisla.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Funkcija bez argumenata je dozvoljena (def get_a_number(): return 42), ali retko korisna. Prva varijanta deluje zgodno jer radi, ali razbija enkapsulaciju koju smo tek stekli. Ako primetite da funkcija koristi promenljive spolja, napravite od njih argumente. Druga varijanta je manje fleksibilna: ako kasnije poželite da AT sadržaj upišete u fajl ili koristite u računu, moraćete da pišete nove funkcije. Jednostavne funkcije koje rade jedan posao kasnije slažemo kao kocke.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 bismo koristili funkciju, treba da znamo broj, tip i redosled argumenata i tip povratne vrednosti. Imenovani (keyword) argumenti uklanjaju potrebu da pamtimo redosled i rade i sa metodima. Stilovi se mogu mešati, ali posle imenovanog argumenta ne sme da dođe običan (pozicioni). Podrazumevane vrednosti smo već sreli kod open, gde je režim podrazumevano "r". Korisne su za opcije koje se retko menjaju.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Rešenja ranijih vežbi smo proveravali ispisom i poređenjem sa odgovorom koji znamo napamet. assert to radi automatski: posle reči assert ide poziv funkcije, dva znaka jednakosti i očekivani rezultat. Dva znaka = objašnjavamo u poglavlju 6. Test za sekvencu sa N u početku pada; kad dodamo uklanjanje N, prolazi. Ponovno pokretanje testova posle izmene u razvoju softvera zove se regresiono testovanje.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Zadatak: funkcija prima proteinsku sekvencu i oznaku aminokiseline i vraća procenat koji ta aminokiselina čini u proteinu. Strategija iz knjige: prvo napisati kod za jedan konkretan protein i jednu aminokiselinu, pa ga pretvoriti u funkciju tako što promenljive protein i aa postaju argumenti, a print postaje return. Računanje je kao kod AT sadržaja, samo pomnoženo sa 100. Testove (assert) dodajemo na kraj programa.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Pokretanje programa pokazuje da jedan test ne prolazi, a poruka o grešci tačno navodi koji. Funkcija ne radi kada je protein velikim slovima, a oznaka aminokiseline malim. Na osnovu testova možemo da pretpostavimo da će i sledeći test, sa obrnutom situacijom, pasti. Oba problema rešavamo tako što na početku funkcije oba ulaza pretvorimo u velika slova; isti trik smo videli ranije: protein = protein.upper().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Novo u ovoj vežbi: funkcija kojoj je jedan argument lista. Ponovo prvo rešavamo jedan konkretan slučaj, pa pravimo funkciju. Postoje dva pristupa: petljom proći kroz zadate aminokiseline i sabrati koliko se puta svaka javlja, ili proći kroz protein kao kroz listu i za svaki karakter pitati da li je u listi aminokiselina. Knjiga koristi prvi; za drugi trebaju uslovi iz sledećeg poglavlja. Ispisi u petlji služe samo da vidimo kako zbir raste.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Kada konkretan kod pretvorimo u funkciju (protein i lista postaju argumenti), prolaze svi testovi osim poslednjeg, koji funkciju poziva samo sa proteinom. Python tada ni ne stiže do provere rezultata, jer poziv ne uspeva: nedostaje argument. Rešenje je jedna izmena, podrazumevana vrednost u prvoj liniji definicije. U Pythonu 2 poruka glasi takes exactly 2 arguments (1 given). Napredna napomena: lista kao podrazumevana vrednost je bezbedna samo dok je funkcija ne menja, kao ovde.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Ostale provere iz knjige za prvi deo: oznaka "r" daje 10 (mala slova treba prevesti u velika), a "Y" daje 0. Za drugi deo: ["M"] daje 5, a ['F', 'S', 'L'] daje 70. Za drugi deo treba podrazumevana vrednost argumenta (lista hidrofobnih aminokiselina) i petlja kroz listu.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62B"/>
        </a:solidFill>
        <a:effectLst/>
      </p:bgPr>
    </p:bg>
    <p:spTree>
      <p:nvGrpSpPr>
        <p:cNvPr id="1" name=""/>
        <p:cNvGrpSpPr/>
        <p:nvPr/>
      </p:nvGrpSpPr>
      <p:grpSpPr/>
      <p:sp>
        <p:nvSpPr>
          <p:cNvPr id="2" name="Tekst 1x16.80"/>
          <p:cNvSpPr txBox="1"/>
          <p:nvPr/>
        </p:nvSpPr>
        <p:spPr>
          <a:xfrm>
            <a:off x="812800" y="711200"/>
            <a:ext cx="647700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6FD3C1"/>
                </a:solidFill>
                <a:latin typeface="Arial"/>
              </a:rPr>
              <a:t>POGLAVLJE 5 OD 9</a:t>
            </a:r>
            <a:endParaRPr sz="1200"/>
          </a:p>
        </p:txBody>
      </p:sp>
      <p:sp>
        <p:nvSpPr>
          <p:cNvPr id="3" name="Tekst 1x100.00"/>
          <p:cNvSpPr txBox="1"/>
          <p:nvPr/>
        </p:nvSpPr>
        <p:spPr>
          <a:xfrm>
            <a:off x="812800" y="3457079"/>
            <a:ext cx="10777728" cy="1270000"/>
          </a:xfrm>
          <a:prstGeom prst="rect">
            <a:avLst/>
          </a:prstGeom>
          <a:noFill/>
        </p:spPr>
        <p:txBody>
          <a:bodyPr wrap="square" anchor="t" lIns="0" rIns="0" tIns="0" bIns="0">
            <a:noAutofit/>
          </a:bodyPr>
          <a:lstStyle/>
          <a:p>
            <a:pPr algn="l">
              <a:lnSpc>
                <a:spcPts val="10000"/>
              </a:lnSpc>
              <a:spcBef>
                <a:spcPts val="0"/>
              </a:spcBef>
              <a:spcAft>
                <a:spcPts val="0"/>
              </a:spcAft>
            </a:pPr>
            <a:r>
              <a:rPr sz="10000" b="1" i="0">
                <a:solidFill>
                  <a:srgbClr val="F0A35E"/>
                </a:solidFill>
                <a:latin typeface="Consolas"/>
              </a:rPr>
              <a:t>05</a:t>
            </a:r>
            <a:endParaRPr sz="10000"/>
          </a:p>
        </p:txBody>
      </p:sp>
      <p:sp>
        <p:nvSpPr>
          <p:cNvPr id="4" name="Tekst 1x54.60"/>
          <p:cNvSpPr txBox="1"/>
          <p:nvPr/>
        </p:nvSpPr>
        <p:spPr>
          <a:xfrm>
            <a:off x="812800" y="4879479"/>
            <a:ext cx="10777728" cy="693341"/>
          </a:xfrm>
          <a:prstGeom prst="rect">
            <a:avLst/>
          </a:prstGeom>
          <a:noFill/>
        </p:spPr>
        <p:txBody>
          <a:bodyPr wrap="square" anchor="t" lIns="0" rIns="0" tIns="0" bIns="0">
            <a:noAutofit/>
          </a:bodyPr>
          <a:lstStyle/>
          <a:p>
            <a:pPr algn="l">
              <a:lnSpc>
                <a:spcPts val="5460"/>
              </a:lnSpc>
              <a:spcBef>
                <a:spcPts val="0"/>
              </a:spcBef>
              <a:spcAft>
                <a:spcPts val="0"/>
              </a:spcAft>
            </a:pPr>
            <a:r>
              <a:rPr sz="5200" b="1" i="0">
                <a:solidFill>
                  <a:srgbClr val="F6F4EE"/>
                </a:solidFill>
                <a:latin typeface="Arial"/>
              </a:rPr>
              <a:t>Pisanje sopstvenih funkcija</a:t>
            </a:r>
            <a:endParaRPr sz="5200"/>
          </a:p>
        </p:txBody>
      </p:sp>
      <p:sp>
        <p:nvSpPr>
          <p:cNvPr id="5" name="Tekst 1x25.20"/>
          <p:cNvSpPr txBox="1"/>
          <p:nvPr/>
        </p:nvSpPr>
        <p:spPr>
          <a:xfrm>
            <a:off x="812800" y="5725220"/>
            <a:ext cx="10777728" cy="319980"/>
          </a:xfrm>
          <a:prstGeom prst="rect">
            <a:avLst/>
          </a:prstGeom>
          <a:noFill/>
        </p:spPr>
        <p:txBody>
          <a:bodyPr wrap="square" anchor="t" lIns="0" rIns="0" tIns="0" bIns="0">
            <a:noAutofit/>
          </a:bodyPr>
          <a:lstStyle/>
          <a:p>
            <a:pPr algn="l">
              <a:lnSpc>
                <a:spcPts val="2520"/>
              </a:lnSpc>
              <a:spcBef>
                <a:spcPts val="0"/>
              </a:spcBef>
              <a:spcAft>
                <a:spcPts val="0"/>
              </a:spcAft>
            </a:pPr>
            <a:r>
              <a:rPr sz="1800" b="0" i="0">
                <a:solidFill>
                  <a:srgbClr val="BFD3CD"/>
                </a:solidFill>
                <a:latin typeface="Arial"/>
              </a:rPr>
              <a:t>Kod koji se ponavlja pakujemo u imenovanu celinu i od malih blokova gradimo veće programe</a:t>
            </a:r>
            <a:endParaRPr sz="18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05 · PISANJE SOPSTVENIH FUNKCIJA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Isti kod na više mesta? Napravite funkciju</a:t>
            </a:r>
            <a:endParaRPr sz="3200"/>
          </a:p>
        </p:txBody>
      </p:sp>
      <p:sp>
        <p:nvSpPr>
          <p:cNvPr id="4" name="Rounded Rectangle 3"/>
          <p:cNvSpPr/>
          <p:nvPr/>
        </p:nvSpPr>
        <p:spPr>
          <a:xfrm>
            <a:off x="819150" y="1708051"/>
            <a:ext cx="10553700" cy="1903611"/>
          </a:xfrm>
          <a:prstGeom prst="roundRect">
            <a:avLst>
              <a:gd name="adj" fmla="val 5337"/>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6x20.15"/>
          <p:cNvSpPr txBox="1"/>
          <p:nvPr/>
        </p:nvSpPr>
        <p:spPr>
          <a:xfrm>
            <a:off x="1079500" y="1892201"/>
            <a:ext cx="10185400" cy="153531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my_dna = </a:t>
            </a:r>
            <a:r>
              <a:rPr sz="1300" b="0" i="0">
                <a:solidFill>
                  <a:srgbClr val="F0A35E"/>
                </a:solidFill>
                <a:latin typeface="Consolas"/>
              </a:rPr>
              <a:t>"ACTGATCGATTACGTATAGTATTTGCTATCATACATATATATCGATGCGTTCAT"</a:t>
            </a:r>
            <a:br/>
            <a:r>
              <a:rPr sz="1300" b="0" i="0">
                <a:solidFill>
                  <a:srgbClr val="6FD3C1"/>
                </a:solidFill>
                <a:latin typeface="Consolas"/>
              </a:rPr>
              <a:t>length = len(my_dna)</a:t>
            </a:r>
            <a:br/>
            <a:r>
              <a:rPr sz="1300" b="0" i="0">
                <a:solidFill>
                  <a:srgbClr val="6FD3C1"/>
                </a:solidFill>
                <a:latin typeface="Consolas"/>
              </a:rPr>
              <a:t>a_count = my_dna.count('A')</a:t>
            </a:r>
            <a:br/>
            <a:r>
              <a:rPr sz="1300" b="0" i="0">
                <a:solidFill>
                  <a:srgbClr val="6FD3C1"/>
                </a:solidFill>
                <a:latin typeface="Consolas"/>
              </a:rPr>
              <a:t>t_count = my_dna.count('T')</a:t>
            </a:r>
            <a:br/>
            <a:r>
              <a:rPr sz="1300" b="0" i="0">
                <a:solidFill>
                  <a:srgbClr val="6FD3C1"/>
                </a:solidFill>
                <a:latin typeface="Consolas"/>
              </a:rPr>
              <a:t>at_content = (a_count + t_count) / length</a:t>
            </a:r>
            <a:br/>
            <a:r>
              <a:rPr sz="1300" b="0" i="0">
                <a:solidFill>
                  <a:srgbClr val="E8EEE9"/>
                </a:solidFill>
                <a:latin typeface="Consolas"/>
              </a:rPr>
              <a:t>print(</a:t>
            </a:r>
            <a:r>
              <a:rPr sz="1300" b="0" i="0">
                <a:solidFill>
                  <a:srgbClr val="F0A35E"/>
                </a:solidFill>
                <a:latin typeface="Consolas"/>
              </a:rPr>
              <a:t>"AT content is "</a:t>
            </a:r>
            <a:r>
              <a:rPr sz="1300" b="0" i="0">
                <a:solidFill>
                  <a:srgbClr val="E8EEE9"/>
                </a:solidFill>
                <a:latin typeface="Consolas"/>
              </a:rPr>
              <a:t> + str(at_content))</a:t>
            </a:r>
            <a:endParaRPr sz="1300"/>
          </a:p>
        </p:txBody>
      </p:sp>
      <p:sp>
        <p:nvSpPr>
          <p:cNvPr id="6" name="Rounded Rectangle 5"/>
          <p:cNvSpPr/>
          <p:nvPr/>
        </p:nvSpPr>
        <p:spPr>
          <a:xfrm>
            <a:off x="815975" y="3875187"/>
            <a:ext cx="5181600" cy="1730772"/>
          </a:xfrm>
          <a:prstGeom prst="roundRect">
            <a:avLst>
              <a:gd name="adj" fmla="val 5870"/>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21.60"/>
          <p:cNvSpPr txBox="1"/>
          <p:nvPr/>
        </p:nvSpPr>
        <p:spPr>
          <a:xfrm>
            <a:off x="1022350" y="4056162"/>
            <a:ext cx="4864227"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Četiri istaknuta reda</a:t>
            </a:r>
            <a:endParaRPr sz="1800"/>
          </a:p>
        </p:txBody>
      </p:sp>
      <p:sp>
        <p:nvSpPr>
          <p:cNvPr id="8" name="Tekst 3x20.30"/>
          <p:cNvSpPr txBox="1"/>
          <p:nvPr/>
        </p:nvSpPr>
        <p:spPr>
          <a:xfrm>
            <a:off x="1022350" y="4406602"/>
            <a:ext cx="4864227" cy="77331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računaju AT sadržaj. Gde god nam on treba, morali bismo da ih prepišemo bez greške. Zgodnija bi bila funkcija </a:t>
            </a:r>
            <a:r>
              <a:rPr sz="1400" b="0" i="0">
                <a:solidFill>
                  <a:srgbClr val="A8521A"/>
                </a:solidFill>
                <a:latin typeface="Arial"/>
              </a:rPr>
              <a:t>get_at_content</a:t>
            </a:r>
            <a:r>
              <a:rPr sz="1400" b="0" i="0">
                <a:solidFill>
                  <a:srgbClr val="3D4F52"/>
                </a:solidFill>
                <a:latin typeface="Arial"/>
              </a:rPr>
              <a:t>, kao print, len ili open.</a:t>
            </a:r>
            <a:endParaRPr sz="1400"/>
          </a:p>
        </p:txBody>
      </p:sp>
      <p:sp>
        <p:nvSpPr>
          <p:cNvPr id="9" name="Rounded Rectangle 8"/>
          <p:cNvSpPr/>
          <p:nvPr/>
        </p:nvSpPr>
        <p:spPr>
          <a:xfrm>
            <a:off x="6203950" y="3872012"/>
            <a:ext cx="5175250" cy="1737122"/>
          </a:xfrm>
          <a:prstGeom prst="roundRect">
            <a:avLst>
              <a:gd name="adj" fmla="val 5848"/>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1x21.60"/>
          <p:cNvSpPr txBox="1"/>
          <p:nvPr/>
        </p:nvSpPr>
        <p:spPr>
          <a:xfrm>
            <a:off x="6407150" y="4049812"/>
            <a:ext cx="4864227"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Sopstvena funkcija</a:t>
            </a:r>
            <a:endParaRPr sz="1800"/>
          </a:p>
        </p:txBody>
      </p:sp>
      <p:sp>
        <p:nvSpPr>
          <p:cNvPr id="11" name="Tekst 4x20.30"/>
          <p:cNvSpPr txBox="1"/>
          <p:nvPr/>
        </p:nvSpPr>
        <p:spPr>
          <a:xfrm>
            <a:off x="6407150" y="4400252"/>
            <a:ext cx="4864227" cy="1031081"/>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13262B"/>
              </a:buClr>
              <a:buFont typeface="Arial"/>
              <a:buChar char="•"/>
            </a:pPr>
            <a:r>
              <a:rPr sz="1400" b="0" i="0">
                <a:solidFill>
                  <a:srgbClr val="13262B"/>
                </a:solidFill>
                <a:latin typeface="Arial"/>
              </a:rPr>
              <a:t>kod se piše jednom, koristi više puta</a:t>
            </a:r>
            <a:endParaRPr sz="1400"/>
          </a:p>
          <a:p>
            <a:pPr algn="l" marL="228600" indent="-171450">
              <a:lnSpc>
                <a:spcPts val="2030"/>
              </a:lnSpc>
              <a:spcBef>
                <a:spcPts val="0"/>
              </a:spcBef>
              <a:spcAft>
                <a:spcPts val="0"/>
              </a:spcAft>
              <a:buClr>
                <a:srgbClr val="13262B"/>
              </a:buClr>
              <a:buFont typeface="Arial"/>
              <a:buChar char="•"/>
            </a:pPr>
            <a:r>
              <a:rPr sz="1400" b="0" i="0">
                <a:solidFill>
                  <a:srgbClr val="13262B"/>
                </a:solidFill>
                <a:latin typeface="Arial"/>
              </a:rPr>
              <a:t>izmena se pravi na jednom mestu</a:t>
            </a:r>
            <a:endParaRPr sz="1400"/>
          </a:p>
          <a:p>
            <a:pPr algn="l" marL="228600" indent="-171450">
              <a:lnSpc>
                <a:spcPts val="2030"/>
              </a:lnSpc>
              <a:spcBef>
                <a:spcPts val="0"/>
              </a:spcBef>
              <a:spcAft>
                <a:spcPts val="0"/>
              </a:spcAft>
              <a:buClr>
                <a:srgbClr val="13262B"/>
              </a:buClr>
              <a:buFont typeface="Arial"/>
              <a:buChar char="•"/>
            </a:pPr>
            <a:r>
              <a:rPr sz="1400" b="0" i="0">
                <a:solidFill>
                  <a:srgbClr val="13262B"/>
                </a:solidFill>
                <a:latin typeface="Arial"/>
              </a:rPr>
              <a:t>delovi programa se razvijaju nezavisno</a:t>
            </a:r>
            <a:endParaRPr sz="1400"/>
          </a:p>
          <a:p>
            <a:pPr algn="l" marL="228600" indent="-171450">
              <a:lnSpc>
                <a:spcPts val="2030"/>
              </a:lnSpc>
              <a:spcBef>
                <a:spcPts val="0"/>
              </a:spcBef>
              <a:spcAft>
                <a:spcPts val="0"/>
              </a:spcAft>
              <a:buClr>
                <a:srgbClr val="13262B"/>
              </a:buClr>
              <a:buFont typeface="Arial"/>
              <a:buChar char="•"/>
            </a:pPr>
            <a:r>
              <a:rPr sz="1400" b="0" i="0">
                <a:solidFill>
                  <a:srgbClr val="13262B"/>
                </a:solidFill>
                <a:latin typeface="Arial"/>
              </a:rPr>
              <a:t>ista funkcija radi i u drugim programima</a:t>
            </a:r>
            <a:endParaRPr sz="14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05 · PISANJE SOPSTVENIH FUNKCIJA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Definisanje funkcije</a:t>
            </a:r>
            <a:endParaRPr sz="3200"/>
          </a:p>
        </p:txBody>
      </p:sp>
      <p:sp>
        <p:nvSpPr>
          <p:cNvPr id="4" name="Rounded Rectangle 3"/>
          <p:cNvSpPr/>
          <p:nvPr/>
        </p:nvSpPr>
        <p:spPr>
          <a:xfrm>
            <a:off x="819150" y="1708051"/>
            <a:ext cx="4978400" cy="1903611"/>
          </a:xfrm>
          <a:prstGeom prst="roundRect">
            <a:avLst>
              <a:gd name="adj" fmla="val 5337"/>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6x20.15"/>
          <p:cNvSpPr txBox="1"/>
          <p:nvPr/>
        </p:nvSpPr>
        <p:spPr>
          <a:xfrm>
            <a:off x="1079500" y="1892201"/>
            <a:ext cx="4546854" cy="153531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def</a:t>
            </a:r>
            <a:r>
              <a:rPr sz="1300" b="0" i="0">
                <a:solidFill>
                  <a:srgbClr val="E8EEE9"/>
                </a:solidFill>
                <a:latin typeface="Consolas"/>
              </a:rPr>
              <a:t> get_at_content(dna):</a:t>
            </a:r>
            <a:br/>
            <a:r>
              <a:rPr sz="1300" b="0" i="0">
                <a:solidFill>
                  <a:srgbClr val="E8EEE9"/>
                </a:solidFill>
                <a:latin typeface="Consolas"/>
              </a:rPr>
              <a:t>    length = len(dna)</a:t>
            </a:r>
            <a:br/>
            <a:r>
              <a:rPr sz="1300" b="0" i="0">
                <a:solidFill>
                  <a:srgbClr val="E8EEE9"/>
                </a:solidFill>
                <a:latin typeface="Consolas"/>
              </a:rPr>
              <a:t>    a_count = dna.count(</a:t>
            </a:r>
            <a:r>
              <a:rPr sz="1300" b="0" i="0">
                <a:solidFill>
                  <a:srgbClr val="F0A35E"/>
                </a:solidFill>
                <a:latin typeface="Consolas"/>
              </a:rPr>
              <a:t>'A'</a:t>
            </a:r>
            <a:r>
              <a:rPr sz="1300" b="0" i="0">
                <a:solidFill>
                  <a:srgbClr val="E8EEE9"/>
                </a:solidFill>
                <a:latin typeface="Consolas"/>
              </a:rPr>
              <a:t>)</a:t>
            </a:r>
            <a:br/>
            <a:r>
              <a:rPr sz="1300" b="0" i="0">
                <a:solidFill>
                  <a:srgbClr val="E8EEE9"/>
                </a:solidFill>
                <a:latin typeface="Consolas"/>
              </a:rPr>
              <a:t>    t_count = dna.count(</a:t>
            </a:r>
            <a:r>
              <a:rPr sz="1300" b="0" i="0">
                <a:solidFill>
                  <a:srgbClr val="F0A35E"/>
                </a:solidFill>
                <a:latin typeface="Consolas"/>
              </a:rPr>
              <a:t>'T'</a:t>
            </a:r>
            <a:r>
              <a:rPr sz="1300" b="0" i="0">
                <a:solidFill>
                  <a:srgbClr val="E8EEE9"/>
                </a:solidFill>
                <a:latin typeface="Consolas"/>
              </a:rPr>
              <a:t>)</a:t>
            </a:r>
            <a:br/>
            <a:r>
              <a:rPr sz="1300" b="0" i="0">
                <a:solidFill>
                  <a:srgbClr val="E8EEE9"/>
                </a:solidFill>
                <a:latin typeface="Consolas"/>
              </a:rPr>
              <a:t>    at_content = (a_count + t_count) / length</a:t>
            </a:r>
            <a:br/>
            <a:r>
              <a:rPr sz="1300" b="0" i="0">
                <a:solidFill>
                  <a:srgbClr val="E8EEE9"/>
                </a:solidFill>
                <a:latin typeface="Consolas"/>
              </a:rPr>
              <a:t>    </a:t>
            </a:r>
            <a:r>
              <a:rPr sz="1300" b="0" i="0">
                <a:solidFill>
                  <a:srgbClr val="6FD3C1"/>
                </a:solidFill>
                <a:latin typeface="Consolas"/>
              </a:rPr>
              <a:t>return</a:t>
            </a:r>
            <a:r>
              <a:rPr sz="1300" b="0" i="0">
                <a:solidFill>
                  <a:srgbClr val="E8EEE9"/>
                </a:solidFill>
                <a:latin typeface="Consolas"/>
              </a:rPr>
              <a:t> at_content</a:t>
            </a:r>
            <a:endParaRPr sz="1300"/>
          </a:p>
        </p:txBody>
      </p:sp>
      <p:sp>
        <p:nvSpPr>
          <p:cNvPr id="6" name="Rounded Rectangle 5"/>
          <p:cNvSpPr/>
          <p:nvPr/>
        </p:nvSpPr>
        <p:spPr>
          <a:xfrm>
            <a:off x="812800" y="3770412"/>
            <a:ext cx="4991100" cy="820341"/>
          </a:xfrm>
          <a:prstGeom prst="roundRect">
            <a:avLst>
              <a:gd name="adj" fmla="val 9288"/>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800" y="3770412"/>
            <a:ext cx="38100" cy="82034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2x20.30"/>
          <p:cNvSpPr txBox="1"/>
          <p:nvPr/>
        </p:nvSpPr>
        <p:spPr>
          <a:xfrm>
            <a:off x="1054100" y="3922812"/>
            <a:ext cx="4637532"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Pre pisanja odredite ulaz i izlaz: jedan argument tipa string (DNK), a povratna vrednost je broj.</a:t>
            </a:r>
            <a:endParaRPr sz="1400"/>
          </a:p>
        </p:txBody>
      </p:sp>
      <p:sp>
        <p:nvSpPr>
          <p:cNvPr id="9" name="Tekst 1x20.30"/>
          <p:cNvSpPr txBox="1"/>
          <p:nvPr/>
        </p:nvSpPr>
        <p:spPr>
          <a:xfrm>
            <a:off x="6159500" y="1701701"/>
            <a:ext cx="1684020" cy="257770"/>
          </a:xfrm>
          <a:prstGeom prst="rect">
            <a:avLst/>
          </a:prstGeom>
          <a:noFill/>
        </p:spPr>
        <p:txBody>
          <a:bodyPr wrap="square" anchor="t" lIns="0" rIns="0" tIns="0" bIns="0">
            <a:noAutofit/>
          </a:bodyPr>
          <a:lstStyle/>
          <a:p>
            <a:pPr algn="l">
              <a:lnSpc>
                <a:spcPts val="2030"/>
              </a:lnSpc>
              <a:spcBef>
                <a:spcPts val="0"/>
              </a:spcBef>
              <a:spcAft>
                <a:spcPts val="0"/>
              </a:spcAft>
            </a:pPr>
            <a:r>
              <a:rPr sz="1400" b="1" i="0">
                <a:solidFill>
                  <a:srgbClr val="0F7C6E"/>
                </a:solidFill>
                <a:latin typeface="Consolas"/>
              </a:rPr>
              <a:t>def</a:t>
            </a:r>
            <a:endParaRPr sz="1400"/>
          </a:p>
        </p:txBody>
      </p:sp>
      <p:sp>
        <p:nvSpPr>
          <p:cNvPr id="10" name="Tekst 1x20.30"/>
          <p:cNvSpPr txBox="1"/>
          <p:nvPr/>
        </p:nvSpPr>
        <p:spPr>
          <a:xfrm>
            <a:off x="7962900" y="1701701"/>
            <a:ext cx="3484626"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„definiši”: počinje definiciju</a:t>
            </a:r>
            <a:endParaRPr sz="1400"/>
          </a:p>
        </p:txBody>
      </p:sp>
      <p:sp>
        <p:nvSpPr>
          <p:cNvPr id="11" name="Tekst 1x20.30"/>
          <p:cNvSpPr txBox="1"/>
          <p:nvPr/>
        </p:nvSpPr>
        <p:spPr>
          <a:xfrm>
            <a:off x="6159500" y="2111871"/>
            <a:ext cx="1684020" cy="257770"/>
          </a:xfrm>
          <a:prstGeom prst="rect">
            <a:avLst/>
          </a:prstGeom>
          <a:noFill/>
        </p:spPr>
        <p:txBody>
          <a:bodyPr wrap="square" anchor="t" lIns="0" rIns="0" tIns="0" bIns="0">
            <a:noAutofit/>
          </a:bodyPr>
          <a:lstStyle/>
          <a:p>
            <a:pPr algn="l">
              <a:lnSpc>
                <a:spcPts val="2030"/>
              </a:lnSpc>
              <a:spcBef>
                <a:spcPts val="0"/>
              </a:spcBef>
              <a:spcAft>
                <a:spcPts val="0"/>
              </a:spcAft>
            </a:pPr>
            <a:r>
              <a:rPr sz="1400" b="1" i="0">
                <a:solidFill>
                  <a:srgbClr val="A8521A"/>
                </a:solidFill>
                <a:latin typeface="Consolas"/>
              </a:rPr>
              <a:t>get_at_content</a:t>
            </a:r>
            <a:endParaRPr sz="1400"/>
          </a:p>
        </p:txBody>
      </p:sp>
      <p:sp>
        <p:nvSpPr>
          <p:cNvPr id="12" name="Tekst 1x20.30"/>
          <p:cNvSpPr txBox="1"/>
          <p:nvPr/>
        </p:nvSpPr>
        <p:spPr>
          <a:xfrm>
            <a:off x="7962900" y="2111871"/>
            <a:ext cx="3484626"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ime funkcije, proizvoljno</a:t>
            </a:r>
            <a:endParaRPr sz="1400"/>
          </a:p>
        </p:txBody>
      </p:sp>
      <p:sp>
        <p:nvSpPr>
          <p:cNvPr id="13" name="Tekst 1x20.30"/>
          <p:cNvSpPr txBox="1"/>
          <p:nvPr/>
        </p:nvSpPr>
        <p:spPr>
          <a:xfrm>
            <a:off x="6159500" y="2522041"/>
            <a:ext cx="1684020" cy="257770"/>
          </a:xfrm>
          <a:prstGeom prst="rect">
            <a:avLst/>
          </a:prstGeom>
          <a:noFill/>
        </p:spPr>
        <p:txBody>
          <a:bodyPr wrap="square" anchor="t" lIns="0" rIns="0" tIns="0" bIns="0">
            <a:noAutofit/>
          </a:bodyPr>
          <a:lstStyle/>
          <a:p>
            <a:pPr algn="l">
              <a:lnSpc>
                <a:spcPts val="2030"/>
              </a:lnSpc>
              <a:spcBef>
                <a:spcPts val="0"/>
              </a:spcBef>
              <a:spcAft>
                <a:spcPts val="0"/>
              </a:spcAft>
            </a:pPr>
            <a:r>
              <a:rPr sz="1400" b="1" i="0">
                <a:solidFill>
                  <a:srgbClr val="A8521A"/>
                </a:solidFill>
                <a:latin typeface="Consolas"/>
              </a:rPr>
              <a:t>(dna)</a:t>
            </a:r>
            <a:endParaRPr sz="1400"/>
          </a:p>
        </p:txBody>
      </p:sp>
      <p:sp>
        <p:nvSpPr>
          <p:cNvPr id="14" name="Tekst 2x20.30"/>
          <p:cNvSpPr txBox="1"/>
          <p:nvPr/>
        </p:nvSpPr>
        <p:spPr>
          <a:xfrm>
            <a:off x="7962900" y="2522041"/>
            <a:ext cx="3484626"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argument: promenljiva koja dobija vrednost pri pozivu</a:t>
            </a:r>
            <a:endParaRPr sz="1400"/>
          </a:p>
        </p:txBody>
      </p:sp>
      <p:sp>
        <p:nvSpPr>
          <p:cNvPr id="15" name="Tekst 1x20.30"/>
          <p:cNvSpPr txBox="1"/>
          <p:nvPr/>
        </p:nvSpPr>
        <p:spPr>
          <a:xfrm>
            <a:off x="6159500" y="3189982"/>
            <a:ext cx="1684020" cy="257770"/>
          </a:xfrm>
          <a:prstGeom prst="rect">
            <a:avLst/>
          </a:prstGeom>
          <a:noFill/>
        </p:spPr>
        <p:txBody>
          <a:bodyPr wrap="square" anchor="t" lIns="0" rIns="0" tIns="0" bIns="0">
            <a:noAutofit/>
          </a:bodyPr>
          <a:lstStyle/>
          <a:p>
            <a:pPr algn="l">
              <a:lnSpc>
                <a:spcPts val="2030"/>
              </a:lnSpc>
              <a:spcBef>
                <a:spcPts val="0"/>
              </a:spcBef>
              <a:spcAft>
                <a:spcPts val="0"/>
              </a:spcAft>
            </a:pPr>
            <a:r>
              <a:rPr sz="1400" b="1" i="0">
                <a:solidFill>
                  <a:srgbClr val="A8521A"/>
                </a:solidFill>
                <a:latin typeface="Consolas"/>
              </a:rPr>
              <a:t>: i blok</a:t>
            </a:r>
            <a:endParaRPr sz="1400"/>
          </a:p>
        </p:txBody>
      </p:sp>
      <p:sp>
        <p:nvSpPr>
          <p:cNvPr id="16" name="Tekst 1x20.30"/>
          <p:cNvSpPr txBox="1"/>
          <p:nvPr/>
        </p:nvSpPr>
        <p:spPr>
          <a:xfrm>
            <a:off x="7962900" y="3189982"/>
            <a:ext cx="3484626"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telo funkcije, uvučeno kao kod petlje</a:t>
            </a:r>
            <a:endParaRPr sz="1400"/>
          </a:p>
        </p:txBody>
      </p:sp>
      <p:sp>
        <p:nvSpPr>
          <p:cNvPr id="17" name="Tekst 1x20.30"/>
          <p:cNvSpPr txBox="1"/>
          <p:nvPr/>
        </p:nvSpPr>
        <p:spPr>
          <a:xfrm>
            <a:off x="6159500" y="3600152"/>
            <a:ext cx="1684020" cy="257770"/>
          </a:xfrm>
          <a:prstGeom prst="rect">
            <a:avLst/>
          </a:prstGeom>
          <a:noFill/>
        </p:spPr>
        <p:txBody>
          <a:bodyPr wrap="square" anchor="t" lIns="0" rIns="0" tIns="0" bIns="0">
            <a:noAutofit/>
          </a:bodyPr>
          <a:lstStyle/>
          <a:p>
            <a:pPr algn="l">
              <a:lnSpc>
                <a:spcPts val="2030"/>
              </a:lnSpc>
              <a:spcBef>
                <a:spcPts val="0"/>
              </a:spcBef>
              <a:spcAft>
                <a:spcPts val="0"/>
              </a:spcAft>
            </a:pPr>
            <a:r>
              <a:rPr sz="1400" b="1" i="0">
                <a:solidFill>
                  <a:srgbClr val="0F7C6E"/>
                </a:solidFill>
                <a:latin typeface="Consolas"/>
              </a:rPr>
              <a:t>return</a:t>
            </a:r>
            <a:endParaRPr sz="1400"/>
          </a:p>
        </p:txBody>
      </p:sp>
      <p:sp>
        <p:nvSpPr>
          <p:cNvPr id="18" name="Tekst 1x20.30"/>
          <p:cNvSpPr txBox="1"/>
          <p:nvPr/>
        </p:nvSpPr>
        <p:spPr>
          <a:xfrm>
            <a:off x="7962900" y="3600152"/>
            <a:ext cx="3484626"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vrednost koju funkcija vraća</a:t>
            </a:r>
            <a:endParaRPr sz="140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05 · PISANJE SOPSTVENIH FUNKCIJA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Definicija nije poziv</a:t>
            </a:r>
            <a:endParaRPr sz="3200"/>
          </a:p>
        </p:txBody>
      </p:sp>
      <p:sp>
        <p:nvSpPr>
          <p:cNvPr id="4" name="Rounded Rectangle 3"/>
          <p:cNvSpPr/>
          <p:nvPr/>
        </p:nvSpPr>
        <p:spPr>
          <a:xfrm>
            <a:off x="819150" y="1708051"/>
            <a:ext cx="10553700" cy="1903611"/>
          </a:xfrm>
          <a:prstGeom prst="roundRect">
            <a:avLst>
              <a:gd name="adj" fmla="val 5337"/>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6x20.15"/>
          <p:cNvSpPr txBox="1"/>
          <p:nvPr/>
        </p:nvSpPr>
        <p:spPr>
          <a:xfrm>
            <a:off x="1079500" y="1892201"/>
            <a:ext cx="10185400" cy="153531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8FB3AA"/>
                </a:solidFill>
                <a:latin typeface="Consolas"/>
              </a:rPr>
              <a:t># poziv bez čuvanja rezultata: vrednost se gubi</a:t>
            </a:r>
            <a:br/>
            <a:r>
              <a:rPr sz="1300" b="0" i="0">
                <a:solidFill>
                  <a:srgbClr val="E8EEE9"/>
                </a:solidFill>
                <a:latin typeface="Consolas"/>
              </a:rPr>
              <a:t>get_at_content(</a:t>
            </a:r>
            <a:r>
              <a:rPr sz="1300" b="0" i="0">
                <a:solidFill>
                  <a:srgbClr val="F0A35E"/>
                </a:solidFill>
                <a:latin typeface="Consolas"/>
              </a:rPr>
              <a:t>"ATGACTGGACCA"</a:t>
            </a:r>
            <a:r>
              <a:rPr sz="1300" b="0" i="0">
                <a:solidFill>
                  <a:srgbClr val="E8EEE9"/>
                </a:solidFill>
                <a:latin typeface="Consolas"/>
              </a:rPr>
              <a:t>)</a:t>
            </a:r>
            <a:br/>
            <a:r>
              <a:rPr sz="1300" b="0" i="0">
                <a:solidFill>
                  <a:srgbClr val="8FB3AA"/>
                </a:solidFill>
                <a:latin typeface="Consolas"/>
              </a:rPr>
              <a:t># sačuvajte rezultat u promenljivoj…</a:t>
            </a:r>
            <a:br/>
            <a:r>
              <a:rPr sz="1300" b="0" i="0">
                <a:solidFill>
                  <a:srgbClr val="E8EEE9"/>
                </a:solidFill>
                <a:latin typeface="Consolas"/>
              </a:rPr>
              <a:t>at_content = get_at_content(</a:t>
            </a:r>
            <a:r>
              <a:rPr sz="1300" b="0" i="0">
                <a:solidFill>
                  <a:srgbClr val="F0A35E"/>
                </a:solidFill>
                <a:latin typeface="Consolas"/>
              </a:rPr>
              <a:t>"ATGACTGGACCA"</a:t>
            </a:r>
            <a:r>
              <a:rPr sz="1300" b="0" i="0">
                <a:solidFill>
                  <a:srgbClr val="E8EEE9"/>
                </a:solidFill>
                <a:latin typeface="Consolas"/>
              </a:rPr>
              <a:t>)</a:t>
            </a:r>
            <a:br/>
            <a:r>
              <a:rPr sz="1300" b="0" i="0">
                <a:solidFill>
                  <a:srgbClr val="8FB3AA"/>
                </a:solidFill>
                <a:latin typeface="Consolas"/>
              </a:rPr>
              <a:t># …ili ga odmah iskoristite</a:t>
            </a:r>
            <a:br/>
            <a:r>
              <a:rPr sz="1300" b="0" i="0">
                <a:solidFill>
                  <a:srgbClr val="E8EEE9"/>
                </a:solidFill>
                <a:latin typeface="Consolas"/>
              </a:rPr>
              <a:t>print(</a:t>
            </a:r>
            <a:r>
              <a:rPr sz="1300" b="0" i="0">
                <a:solidFill>
                  <a:srgbClr val="F0A35E"/>
                </a:solidFill>
                <a:latin typeface="Consolas"/>
              </a:rPr>
              <a:t>"AT content is "</a:t>
            </a:r>
            <a:r>
              <a:rPr sz="1300" b="0" i="0">
                <a:solidFill>
                  <a:srgbClr val="E8EEE9"/>
                </a:solidFill>
                <a:latin typeface="Consolas"/>
              </a:rPr>
              <a:t> + str(get_at_content(</a:t>
            </a:r>
            <a:r>
              <a:rPr sz="1300" b="0" i="0">
                <a:solidFill>
                  <a:srgbClr val="F0A35E"/>
                </a:solidFill>
                <a:latin typeface="Consolas"/>
              </a:rPr>
              <a:t>"ATGACTGGACCA"</a:t>
            </a:r>
            <a:r>
              <a:rPr sz="1300" b="0" i="0">
                <a:solidFill>
                  <a:srgbClr val="E8EEE9"/>
                </a:solidFill>
                <a:latin typeface="Consolas"/>
              </a:rPr>
              <a:t>)))</a:t>
            </a:r>
            <a:endParaRPr sz="1300"/>
          </a:p>
        </p:txBody>
      </p:sp>
      <p:sp>
        <p:nvSpPr>
          <p:cNvPr id="6" name="Rounded Rectangle 5"/>
          <p:cNvSpPr/>
          <p:nvPr/>
        </p:nvSpPr>
        <p:spPr>
          <a:xfrm>
            <a:off x="815975" y="3875187"/>
            <a:ext cx="5175250" cy="1473002"/>
          </a:xfrm>
          <a:prstGeom prst="roundRect">
            <a:avLst>
              <a:gd name="adj" fmla="val 6897"/>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21.60"/>
          <p:cNvSpPr txBox="1"/>
          <p:nvPr/>
        </p:nvSpPr>
        <p:spPr>
          <a:xfrm>
            <a:off x="1022350" y="4056162"/>
            <a:ext cx="48577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Argument čeka vrednost</a:t>
            </a:r>
            <a:endParaRPr sz="1800"/>
          </a:p>
        </p:txBody>
      </p:sp>
      <p:sp>
        <p:nvSpPr>
          <p:cNvPr id="8" name="Tekst 2x20.30"/>
          <p:cNvSpPr txBox="1"/>
          <p:nvPr/>
        </p:nvSpPr>
        <p:spPr>
          <a:xfrm>
            <a:off x="1022350" y="4406602"/>
            <a:ext cx="485775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dna</a:t>
            </a:r>
            <a:r>
              <a:rPr sz="1400" b="0" i="0">
                <a:solidFill>
                  <a:srgbClr val="3D4F52"/>
                </a:solidFill>
                <a:latin typeface="Arial"/>
              </a:rPr>
              <a:t> nema vrednost pri definiciji. Dobija je pri svakom pozivu, i to svaki put drugu, kao promenljiva petlje.</a:t>
            </a:r>
            <a:endParaRPr sz="1400"/>
          </a:p>
        </p:txBody>
      </p:sp>
      <p:sp>
        <p:nvSpPr>
          <p:cNvPr id="9" name="Rounded Rectangle 8"/>
          <p:cNvSpPr/>
          <p:nvPr/>
        </p:nvSpPr>
        <p:spPr>
          <a:xfrm>
            <a:off x="6200775" y="3875187"/>
            <a:ext cx="5175250" cy="1473002"/>
          </a:xfrm>
          <a:prstGeom prst="roundRect">
            <a:avLst>
              <a:gd name="adj" fmla="val 6897"/>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1x21.60"/>
          <p:cNvSpPr txBox="1"/>
          <p:nvPr/>
        </p:nvSpPr>
        <p:spPr>
          <a:xfrm>
            <a:off x="6407150" y="4056162"/>
            <a:ext cx="48577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Opseg (scope)</a:t>
            </a:r>
            <a:endParaRPr sz="1800"/>
          </a:p>
        </p:txBody>
      </p:sp>
      <p:sp>
        <p:nvSpPr>
          <p:cNvPr id="11" name="Tekst 1x20.30"/>
          <p:cNvSpPr txBox="1"/>
          <p:nvPr/>
        </p:nvSpPr>
        <p:spPr>
          <a:xfrm>
            <a:off x="6407150" y="4406602"/>
            <a:ext cx="4857750"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Promenljive napravljene u funkciji ne postoje van nje:</a:t>
            </a:r>
            <a:endParaRPr sz="1400"/>
          </a:p>
        </p:txBody>
      </p:sp>
      <p:sp>
        <p:nvSpPr>
          <p:cNvPr id="12" name="Tekst 2x16.80"/>
          <p:cNvSpPr txBox="1"/>
          <p:nvPr/>
        </p:nvSpPr>
        <p:spPr>
          <a:xfrm>
            <a:off x="6407150" y="4740573"/>
            <a:ext cx="4857750" cy="426641"/>
          </a:xfrm>
          <a:prstGeom prst="rect">
            <a:avLst/>
          </a:prstGeom>
          <a:noFill/>
        </p:spPr>
        <p:txBody>
          <a:bodyPr wrap="square" anchor="t" lIns="0" rIns="0" tIns="0" bIns="0">
            <a:noAutofit/>
          </a:bodyPr>
          <a:lstStyle/>
          <a:p>
            <a:pPr algn="l">
              <a:lnSpc>
                <a:spcPts val="1680"/>
              </a:lnSpc>
              <a:spcBef>
                <a:spcPts val="0"/>
              </a:spcBef>
              <a:spcAft>
                <a:spcPts val="0"/>
              </a:spcAft>
            </a:pPr>
            <a:r>
              <a:rPr sz="1200" b="0" i="0">
                <a:solidFill>
                  <a:srgbClr val="A8521A"/>
                </a:solidFill>
                <a:latin typeface="Consolas"/>
              </a:rPr>
              <a:t>print(a_count) → NameError: name 'a_count' is not defined</a:t>
            </a:r>
            <a:endParaRPr sz="120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05 · PISANJE SOPSTVENIH FUNKCIJA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Prva upotreba otkriva dva problema</a:t>
            </a:r>
            <a:endParaRPr sz="3200"/>
          </a:p>
        </p:txBody>
      </p:sp>
      <p:sp>
        <p:nvSpPr>
          <p:cNvPr id="4" name="Rounded Rectangle 3"/>
          <p:cNvSpPr/>
          <p:nvPr/>
        </p:nvSpPr>
        <p:spPr>
          <a:xfrm>
            <a:off x="819150" y="1708051"/>
            <a:ext cx="5422602" cy="1647726"/>
          </a:xfrm>
          <a:prstGeom prst="roundRect">
            <a:avLst>
              <a:gd name="adj" fmla="val 616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5x20.15"/>
          <p:cNvSpPr txBox="1"/>
          <p:nvPr/>
        </p:nvSpPr>
        <p:spPr>
          <a:xfrm>
            <a:off x="1079500" y="1892201"/>
            <a:ext cx="4999940" cy="127942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8FB3AA"/>
                </a:solidFill>
                <a:latin typeface="Consolas"/>
              </a:rPr>
              <a:t># get_at_content: prva verzija funkcije</a:t>
            </a:r>
            <a:br/>
            <a:r>
              <a:rPr sz="1300" b="0" i="0">
                <a:solidFill>
                  <a:srgbClr val="E8EEE9"/>
                </a:solidFill>
                <a:latin typeface="Consolas"/>
              </a:rPr>
              <a:t>my_at_content = get_at_content(</a:t>
            </a:r>
            <a:r>
              <a:rPr sz="1300" b="0" i="0">
                <a:solidFill>
                  <a:srgbClr val="F0A35E"/>
                </a:solidFill>
                <a:latin typeface="Consolas"/>
              </a:rPr>
              <a:t>"ATGCGCGATCGATCGAATCG"</a:t>
            </a:r>
            <a:r>
              <a:rPr sz="1300" b="0" i="0">
                <a:solidFill>
                  <a:srgbClr val="E8EEE9"/>
                </a:solidFill>
                <a:latin typeface="Consolas"/>
              </a:rPr>
              <a:t>)</a:t>
            </a:r>
            <a:br/>
            <a:r>
              <a:rPr sz="1300" b="0" i="0">
                <a:solidFill>
                  <a:srgbClr val="E8EEE9"/>
                </a:solidFill>
                <a:latin typeface="Consolas"/>
              </a:rPr>
              <a:t>print(str(my_at_content))</a:t>
            </a:r>
            <a:br/>
            <a:r>
              <a:rPr sz="1300" b="0" i="0">
                <a:solidFill>
                  <a:srgbClr val="E8EEE9"/>
                </a:solidFill>
                <a:latin typeface="Consolas"/>
              </a:rPr>
              <a:t>print(get_at_content(</a:t>
            </a:r>
            <a:r>
              <a:rPr sz="1300" b="0" i="0">
                <a:solidFill>
                  <a:srgbClr val="F0A35E"/>
                </a:solidFill>
                <a:latin typeface="Consolas"/>
              </a:rPr>
              <a:t>"ATGCATGCAACTGTAGC"</a:t>
            </a:r>
            <a:r>
              <a:rPr sz="1300" b="0" i="0">
                <a:solidFill>
                  <a:srgbClr val="E8EEE9"/>
                </a:solidFill>
                <a:latin typeface="Consolas"/>
              </a:rPr>
              <a:t>))</a:t>
            </a:r>
            <a:br/>
            <a:r>
              <a:rPr sz="1300" b="0" i="0">
                <a:solidFill>
                  <a:srgbClr val="E8EEE9"/>
                </a:solidFill>
                <a:latin typeface="Consolas"/>
              </a:rPr>
              <a:t>print(get_at_content(</a:t>
            </a:r>
            <a:r>
              <a:rPr sz="1300" b="0" i="0">
                <a:solidFill>
                  <a:srgbClr val="F0A35E"/>
                </a:solidFill>
                <a:latin typeface="Consolas"/>
              </a:rPr>
              <a:t>"aactgtagctagctagcagcgta"</a:t>
            </a:r>
            <a:r>
              <a:rPr sz="1300" b="0" i="0">
                <a:solidFill>
                  <a:srgbClr val="E8EEE9"/>
                </a:solidFill>
                <a:latin typeface="Consolas"/>
              </a:rPr>
              <a:t>))</a:t>
            </a:r>
            <a:endParaRPr sz="1300"/>
          </a:p>
        </p:txBody>
      </p:sp>
      <p:sp>
        <p:nvSpPr>
          <p:cNvPr id="6" name="Rounded Rectangle 5"/>
          <p:cNvSpPr/>
          <p:nvPr/>
        </p:nvSpPr>
        <p:spPr>
          <a:xfrm>
            <a:off x="6356052" y="1708051"/>
            <a:ext cx="2154634" cy="1647726"/>
          </a:xfrm>
          <a:prstGeom prst="roundRect">
            <a:avLst>
              <a:gd name="adj" fmla="val 6166"/>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16.80"/>
          <p:cNvSpPr txBox="1"/>
          <p:nvPr/>
        </p:nvSpPr>
        <p:spPr>
          <a:xfrm>
            <a:off x="7488337" y="1765201"/>
            <a:ext cx="9144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IZLAZ</a:t>
            </a:r>
            <a:endParaRPr sz="1200"/>
          </a:p>
        </p:txBody>
      </p:sp>
      <p:sp>
        <p:nvSpPr>
          <p:cNvPr id="8" name="Tekst 5x20.15"/>
          <p:cNvSpPr txBox="1"/>
          <p:nvPr/>
        </p:nvSpPr>
        <p:spPr>
          <a:xfrm>
            <a:off x="6616402" y="1892201"/>
            <a:ext cx="1666613" cy="127942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 </a:t>
            </a:r>
            <a:br/>
            <a:r>
              <a:rPr sz="1300" b="0" i="0">
                <a:solidFill>
                  <a:srgbClr val="13262B"/>
                </a:solidFill>
                <a:latin typeface="Consolas"/>
              </a:rPr>
              <a:t> </a:t>
            </a:r>
            <a:br/>
            <a:r>
              <a:rPr sz="1300" b="0" i="0">
                <a:solidFill>
                  <a:srgbClr val="13262B"/>
                </a:solidFill>
                <a:latin typeface="Consolas"/>
              </a:rPr>
              <a:t>0.45</a:t>
            </a:r>
            <a:br/>
            <a:r>
              <a:rPr sz="1300" b="0" i="0">
                <a:solidFill>
                  <a:srgbClr val="13262B"/>
                </a:solidFill>
                <a:latin typeface="Consolas"/>
              </a:rPr>
              <a:t>0.5294117647058824</a:t>
            </a:r>
            <a:br/>
            <a:r>
              <a:rPr sz="1300" b="0" i="0">
                <a:solidFill>
                  <a:srgbClr val="13262B"/>
                </a:solidFill>
                <a:latin typeface="Consolas"/>
              </a:rPr>
              <a:t>0.0</a:t>
            </a:r>
            <a:endParaRPr sz="1300"/>
          </a:p>
        </p:txBody>
      </p:sp>
      <p:sp>
        <p:nvSpPr>
          <p:cNvPr id="9" name="Rounded Rectangle 8"/>
          <p:cNvSpPr/>
          <p:nvPr/>
        </p:nvSpPr>
        <p:spPr>
          <a:xfrm>
            <a:off x="815975" y="3619302"/>
            <a:ext cx="5175250" cy="1227931"/>
          </a:xfrm>
          <a:prstGeom prst="roundRect">
            <a:avLst>
              <a:gd name="adj" fmla="val 8274"/>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1x21.60"/>
          <p:cNvSpPr txBox="1"/>
          <p:nvPr/>
        </p:nvSpPr>
        <p:spPr>
          <a:xfrm>
            <a:off x="1022350" y="3800277"/>
            <a:ext cx="48577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Previše decimala</a:t>
            </a:r>
            <a:endParaRPr sz="1800"/>
          </a:p>
        </p:txBody>
      </p:sp>
      <p:sp>
        <p:nvSpPr>
          <p:cNvPr id="11" name="Tekst 2x20.30"/>
          <p:cNvSpPr txBox="1"/>
          <p:nvPr/>
        </p:nvSpPr>
        <p:spPr>
          <a:xfrm>
            <a:off x="1022350" y="4150717"/>
            <a:ext cx="485775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Drugi poziv daje 0.5294117647058824. Dovoljne su dve decimale.</a:t>
            </a:r>
            <a:endParaRPr sz="1400"/>
          </a:p>
        </p:txBody>
      </p:sp>
      <p:sp>
        <p:nvSpPr>
          <p:cNvPr id="12" name="Rounded Rectangle 11"/>
          <p:cNvSpPr/>
          <p:nvPr/>
        </p:nvSpPr>
        <p:spPr>
          <a:xfrm>
            <a:off x="6200775" y="3619302"/>
            <a:ext cx="5175250" cy="1227931"/>
          </a:xfrm>
          <a:prstGeom prst="roundRect">
            <a:avLst>
              <a:gd name="adj" fmla="val 8274"/>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1x21.60"/>
          <p:cNvSpPr txBox="1"/>
          <p:nvPr/>
        </p:nvSpPr>
        <p:spPr>
          <a:xfrm>
            <a:off x="6407150" y="3800277"/>
            <a:ext cx="48577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Mala slova daju 0.0</a:t>
            </a:r>
            <a:endParaRPr sz="1800"/>
          </a:p>
        </p:txBody>
      </p:sp>
      <p:sp>
        <p:nvSpPr>
          <p:cNvPr id="14" name="Tekst 2x20.30"/>
          <p:cNvSpPr txBox="1"/>
          <p:nvPr/>
        </p:nvSpPr>
        <p:spPr>
          <a:xfrm>
            <a:off x="6407150" y="4150717"/>
            <a:ext cx="485775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count('A')</a:t>
            </a:r>
            <a:r>
              <a:rPr sz="1400" b="0" i="0">
                <a:solidFill>
                  <a:srgbClr val="3D4F52"/>
                </a:solidFill>
                <a:latin typeface="Arial"/>
              </a:rPr>
              <a:t> ne broji malo a, pa je rezultat za treću sekvencu pogrešan.</a:t>
            </a:r>
            <a:endParaRPr sz="14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05 · PISANJE SOPSTVENIH FUNKCIJA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Poboljšanje funkcije</a:t>
            </a:r>
            <a:endParaRPr sz="3200"/>
          </a:p>
        </p:txBody>
      </p:sp>
      <p:sp>
        <p:nvSpPr>
          <p:cNvPr id="4" name="Rounded Rectangle 3"/>
          <p:cNvSpPr/>
          <p:nvPr/>
        </p:nvSpPr>
        <p:spPr>
          <a:xfrm>
            <a:off x="819150" y="1708051"/>
            <a:ext cx="4605536" cy="3183037"/>
          </a:xfrm>
          <a:prstGeom prst="roundRect">
            <a:avLst>
              <a:gd name="adj" fmla="val 3191"/>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1x20.15"/>
          <p:cNvSpPr txBox="1"/>
          <p:nvPr/>
        </p:nvSpPr>
        <p:spPr>
          <a:xfrm>
            <a:off x="1079500" y="1892201"/>
            <a:ext cx="4166533" cy="2814737"/>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def</a:t>
            </a:r>
            <a:r>
              <a:rPr sz="1300" b="0" i="0">
                <a:solidFill>
                  <a:srgbClr val="E8EEE9"/>
                </a:solidFill>
                <a:latin typeface="Consolas"/>
              </a:rPr>
              <a:t> get_at_content(dna, sig_figs):</a:t>
            </a:r>
            <a:br/>
            <a:r>
              <a:rPr sz="1300" b="0" i="0">
                <a:solidFill>
                  <a:srgbClr val="E8EEE9"/>
                </a:solidFill>
                <a:latin typeface="Consolas"/>
              </a:rPr>
              <a:t>    length = len(dna)</a:t>
            </a:r>
            <a:br/>
            <a:r>
              <a:rPr sz="1300" b="0" i="0">
                <a:solidFill>
                  <a:srgbClr val="E8EEE9"/>
                </a:solidFill>
                <a:latin typeface="Consolas"/>
              </a:rPr>
              <a:t>    a_count = dna.upper().count(</a:t>
            </a:r>
            <a:r>
              <a:rPr sz="1300" b="0" i="0">
                <a:solidFill>
                  <a:srgbClr val="F0A35E"/>
                </a:solidFill>
                <a:latin typeface="Consolas"/>
              </a:rPr>
              <a:t>'A'</a:t>
            </a:r>
            <a:r>
              <a:rPr sz="1300" b="0" i="0">
                <a:solidFill>
                  <a:srgbClr val="E8EEE9"/>
                </a:solidFill>
                <a:latin typeface="Consolas"/>
              </a:rPr>
              <a:t>)</a:t>
            </a:r>
            <a:br/>
            <a:r>
              <a:rPr sz="1300" b="0" i="0">
                <a:solidFill>
                  <a:srgbClr val="E8EEE9"/>
                </a:solidFill>
                <a:latin typeface="Consolas"/>
              </a:rPr>
              <a:t>    t_count = dna.upper().count(</a:t>
            </a:r>
            <a:r>
              <a:rPr sz="1300" b="0" i="0">
                <a:solidFill>
                  <a:srgbClr val="F0A35E"/>
                </a:solidFill>
                <a:latin typeface="Consolas"/>
              </a:rPr>
              <a:t>'T'</a:t>
            </a:r>
            <a:r>
              <a:rPr sz="1300" b="0" i="0">
                <a:solidFill>
                  <a:srgbClr val="E8EEE9"/>
                </a:solidFill>
                <a:latin typeface="Consolas"/>
              </a:rPr>
              <a:t>)</a:t>
            </a:r>
            <a:br/>
            <a:r>
              <a:rPr sz="1300" b="0" i="0">
                <a:solidFill>
                  <a:srgbClr val="E8EEE9"/>
                </a:solidFill>
                <a:latin typeface="Consolas"/>
              </a:rPr>
              <a:t>    at_content = (a_count + t_count) / length</a:t>
            </a:r>
            <a:br/>
            <a:r>
              <a:rPr sz="1300" b="0" i="0">
                <a:solidFill>
                  <a:srgbClr val="E8EEE9"/>
                </a:solidFill>
                <a:latin typeface="Consolas"/>
              </a:rPr>
              <a:t>    </a:t>
            </a:r>
            <a:r>
              <a:rPr sz="1300" b="0" i="0">
                <a:solidFill>
                  <a:srgbClr val="6FD3C1"/>
                </a:solidFill>
                <a:latin typeface="Consolas"/>
              </a:rPr>
              <a:t>return</a:t>
            </a:r>
            <a:r>
              <a:rPr sz="1300" b="0" i="0">
                <a:solidFill>
                  <a:srgbClr val="E8EEE9"/>
                </a:solidFill>
                <a:latin typeface="Consolas"/>
              </a:rPr>
              <a:t> round(at_content, sig_figs)</a:t>
            </a:r>
            <a:br/>
            <a:r>
              <a:rPr sz="1300" b="0" i="0">
                <a:solidFill>
                  <a:srgbClr val="E8EEE9"/>
                </a:solidFill>
                <a:latin typeface="Consolas"/>
              </a:rPr>
              <a:t> </a:t>
            </a:r>
            <a:br/>
            <a:r>
              <a:rPr sz="1300" b="0" i="0">
                <a:solidFill>
                  <a:srgbClr val="E8EEE9"/>
                </a:solidFill>
                <a:latin typeface="Consolas"/>
              </a:rPr>
              <a:t>test_dna = </a:t>
            </a:r>
            <a:r>
              <a:rPr sz="1300" b="0" i="0">
                <a:solidFill>
                  <a:srgbClr val="F0A35E"/>
                </a:solidFill>
                <a:latin typeface="Consolas"/>
              </a:rPr>
              <a:t>"ATGCATGCAACTGTAGC"</a:t>
            </a:r>
            <a:br/>
            <a:r>
              <a:rPr sz="1300" b="0" i="0">
                <a:solidFill>
                  <a:srgbClr val="E8EEE9"/>
                </a:solidFill>
                <a:latin typeface="Consolas"/>
              </a:rPr>
              <a:t>print(get_at_content(test_dna, 1))</a:t>
            </a:r>
            <a:br/>
            <a:r>
              <a:rPr sz="1300" b="0" i="0">
                <a:solidFill>
                  <a:srgbClr val="E8EEE9"/>
                </a:solidFill>
                <a:latin typeface="Consolas"/>
              </a:rPr>
              <a:t>print(get_at_content(test_dna, 2))</a:t>
            </a:r>
            <a:br/>
            <a:r>
              <a:rPr sz="1300" b="0" i="0">
                <a:solidFill>
                  <a:srgbClr val="E8EEE9"/>
                </a:solidFill>
                <a:latin typeface="Consolas"/>
              </a:rPr>
              <a:t>print(get_at_content(test_dna, 3))</a:t>
            </a:r>
            <a:endParaRPr sz="1300"/>
          </a:p>
        </p:txBody>
      </p:sp>
      <p:sp>
        <p:nvSpPr>
          <p:cNvPr id="6" name="Rounded Rectangle 5"/>
          <p:cNvSpPr/>
          <p:nvPr/>
        </p:nvSpPr>
        <p:spPr>
          <a:xfrm>
            <a:off x="5739011" y="1704876"/>
            <a:ext cx="5637014" cy="1768872"/>
          </a:xfrm>
          <a:prstGeom prst="roundRect">
            <a:avLst>
              <a:gd name="adj" fmla="val 5743"/>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21.60"/>
          <p:cNvSpPr txBox="1"/>
          <p:nvPr/>
        </p:nvSpPr>
        <p:spPr>
          <a:xfrm>
            <a:off x="5945386" y="1885851"/>
            <a:ext cx="5328749"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Šta je popravljeno</a:t>
            </a:r>
            <a:endParaRPr sz="1800"/>
          </a:p>
        </p:txBody>
      </p:sp>
      <p:sp>
        <p:nvSpPr>
          <p:cNvPr id="8" name="Tekst 4x20.30"/>
          <p:cNvSpPr txBox="1"/>
          <p:nvPr/>
        </p:nvSpPr>
        <p:spPr>
          <a:xfrm>
            <a:off x="5945386" y="2261691"/>
            <a:ext cx="5328749" cy="1031081"/>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Previše decimala (0.5294117647058824): </a:t>
            </a:r>
            <a:r>
              <a:rPr sz="1400" b="0" i="0">
                <a:solidFill>
                  <a:srgbClr val="A8521A"/>
                </a:solidFill>
                <a:latin typeface="Arial"/>
              </a:rPr>
              <a:t>round</a:t>
            </a:r>
            <a:r>
              <a:rPr sz="1400" b="0" i="0">
                <a:solidFill>
                  <a:srgbClr val="3D4F52"/>
                </a:solidFill>
                <a:latin typeface="Arial"/>
              </a:rPr>
              <a:t> zaokružuje rezultat</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Mala slova davala su 0.0: </a:t>
            </a:r>
            <a:r>
              <a:rPr sz="1400" b="0" i="0">
                <a:solidFill>
                  <a:srgbClr val="A8521A"/>
                </a:solidFill>
                <a:latin typeface="Arial"/>
              </a:rPr>
              <a:t>upper()</a:t>
            </a:r>
            <a:r>
              <a:rPr sz="1400" b="0" i="0">
                <a:solidFill>
                  <a:srgbClr val="3D4F52"/>
                </a:solidFill>
                <a:latin typeface="Arial"/>
              </a:rPr>
              <a:t> pre brojanja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Broj decimala postaje drugi argument, </a:t>
            </a:r>
            <a:r>
              <a:rPr sz="1400" b="0" i="0">
                <a:solidFill>
                  <a:srgbClr val="A8521A"/>
                </a:solidFill>
                <a:latin typeface="Arial"/>
              </a:rPr>
              <a:t>sig_figs</a:t>
            </a:r>
            <a:endParaRPr sz="1400"/>
          </a:p>
        </p:txBody>
      </p:sp>
      <p:sp>
        <p:nvSpPr>
          <p:cNvPr id="9" name="Rounded Rectangle 8"/>
          <p:cNvSpPr/>
          <p:nvPr/>
        </p:nvSpPr>
        <p:spPr>
          <a:xfrm>
            <a:off x="5742186" y="3635673"/>
            <a:ext cx="5630664" cy="1135955"/>
          </a:xfrm>
          <a:prstGeom prst="roundRect">
            <a:avLst>
              <a:gd name="adj" fmla="val 8944"/>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1x16.80"/>
          <p:cNvSpPr txBox="1"/>
          <p:nvPr/>
        </p:nvSpPr>
        <p:spPr>
          <a:xfrm>
            <a:off x="10325100" y="3692823"/>
            <a:ext cx="9144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IZLAZ</a:t>
            </a:r>
            <a:endParaRPr sz="1200"/>
          </a:p>
        </p:txBody>
      </p:sp>
      <p:sp>
        <p:nvSpPr>
          <p:cNvPr id="11" name="Tekst 3x20.15"/>
          <p:cNvSpPr txBox="1"/>
          <p:nvPr/>
        </p:nvSpPr>
        <p:spPr>
          <a:xfrm>
            <a:off x="6002536" y="3819823"/>
            <a:ext cx="5212163"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0.5</a:t>
            </a:r>
            <a:br/>
            <a:r>
              <a:rPr sz="1300" b="0" i="0">
                <a:solidFill>
                  <a:srgbClr val="13262B"/>
                </a:solidFill>
                <a:latin typeface="Consolas"/>
              </a:rPr>
              <a:t>0.53</a:t>
            </a:r>
            <a:br/>
            <a:r>
              <a:rPr sz="1300" b="0" i="0">
                <a:solidFill>
                  <a:srgbClr val="13262B"/>
                </a:solidFill>
                <a:latin typeface="Consolas"/>
              </a:rPr>
              <a:t>0.529</a:t>
            </a:r>
            <a:endParaRPr sz="13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7C6E"/>
        </a:solidFill>
        <a:effectLst/>
      </p:bgPr>
    </p:bg>
    <p:spTree>
      <p:nvGrpSpPr>
        <p:cNvPr id="1" name=""/>
        <p:cNvGrpSpPr/>
        <p:nvPr/>
      </p:nvGrpSpPr>
      <p:grpSpPr/>
      <p:sp>
        <p:nvSpPr>
          <p:cNvPr id="2" name="Tekst 1x16.80"/>
          <p:cNvSpPr txBox="1"/>
          <p:nvPr/>
        </p:nvSpPr>
        <p:spPr>
          <a:xfrm>
            <a:off x="812800" y="1708348"/>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F6F4EE"/>
                </a:solidFill>
                <a:latin typeface="Arial"/>
              </a:rPr>
              <a:t>05 · PISANJE SOPSTVENIH FUNKCIJA</a:t>
            </a:r>
            <a:endParaRPr sz="1200"/>
          </a:p>
        </p:txBody>
      </p:sp>
      <p:sp>
        <p:nvSpPr>
          <p:cNvPr id="3" name="Tekst 3x54.60"/>
          <p:cNvSpPr txBox="1"/>
          <p:nvPr/>
        </p:nvSpPr>
        <p:spPr>
          <a:xfrm>
            <a:off x="812800" y="2175669"/>
            <a:ext cx="10777728" cy="2080022"/>
          </a:xfrm>
          <a:prstGeom prst="rect">
            <a:avLst/>
          </a:prstGeom>
          <a:noFill/>
        </p:spPr>
        <p:txBody>
          <a:bodyPr wrap="square" anchor="t" lIns="0" rIns="0" tIns="0" bIns="0">
            <a:noAutofit/>
          </a:bodyPr>
          <a:lstStyle/>
          <a:p>
            <a:pPr algn="l">
              <a:lnSpc>
                <a:spcPts val="5460"/>
              </a:lnSpc>
              <a:spcBef>
                <a:spcPts val="0"/>
              </a:spcBef>
              <a:spcAft>
                <a:spcPts val="0"/>
              </a:spcAft>
            </a:pPr>
            <a:r>
              <a:rPr sz="5200" b="1" i="0">
                <a:solidFill>
                  <a:srgbClr val="F6F4EE"/>
                </a:solidFill>
                <a:latin typeface="Arial"/>
              </a:rPr>
              <a:t>Promenili smo definiciju funkcije,</a:t>
            </a:r>
            <a:br/>
            <a:r>
              <a:rPr sz="5200" b="1" i="0">
                <a:solidFill>
                  <a:srgbClr val="F6F4EE"/>
                </a:solidFill>
                <a:latin typeface="Arial"/>
              </a:rPr>
              <a:t>a da nismo dirali kod koji je</a:t>
            </a:r>
            <a:br/>
            <a:r>
              <a:rPr sz="5200" b="1" i="0">
                <a:solidFill>
                  <a:srgbClr val="F6F4EE"/>
                </a:solidFill>
                <a:latin typeface="Arial"/>
              </a:rPr>
              <a:t>koristi.</a:t>
            </a:r>
            <a:endParaRPr sz="5200"/>
          </a:p>
        </p:txBody>
      </p:sp>
      <p:sp>
        <p:nvSpPr>
          <p:cNvPr id="4" name="Tekst 2x25.20"/>
          <p:cNvSpPr txBox="1"/>
          <p:nvPr/>
        </p:nvSpPr>
        <p:spPr>
          <a:xfrm>
            <a:off x="812800" y="4509691"/>
            <a:ext cx="10777728" cy="639961"/>
          </a:xfrm>
          <a:prstGeom prst="rect">
            <a:avLst/>
          </a:prstGeom>
          <a:noFill/>
        </p:spPr>
        <p:txBody>
          <a:bodyPr wrap="square" anchor="t" lIns="0" rIns="0" tIns="0" bIns="0">
            <a:noAutofit/>
          </a:bodyPr>
          <a:lstStyle/>
          <a:p>
            <a:pPr algn="l">
              <a:lnSpc>
                <a:spcPts val="2520"/>
              </a:lnSpc>
              <a:spcBef>
                <a:spcPts val="0"/>
              </a:spcBef>
              <a:spcAft>
                <a:spcPts val="0"/>
              </a:spcAft>
            </a:pPr>
            <a:r>
              <a:rPr sz="1800" b="0" i="0">
                <a:solidFill>
                  <a:srgbClr val="F6F4EE"/>
                </a:solidFill>
                <a:latin typeface="Arial"/>
              </a:rPr>
              <a:t>To je enkapsulacija: program delimo na male delove na kojima radimo nezavisno, a svaki je dovoljno mali da ga ceo razumemo.</a:t>
            </a:r>
            <a:endParaRPr sz="18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05 · PISANJE SOPSTVENIH FUNKCIJA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Dve navike koje kvare funkcije</a:t>
            </a:r>
            <a:endParaRPr sz="3200"/>
          </a:p>
        </p:txBody>
      </p:sp>
      <p:sp>
        <p:nvSpPr>
          <p:cNvPr id="4" name="Tekst 1x21.60"/>
          <p:cNvSpPr txBox="1"/>
          <p:nvPr/>
        </p:nvSpPr>
        <p:spPr>
          <a:xfrm>
            <a:off x="812800" y="1701701"/>
            <a:ext cx="5233416"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Oslanjanje na spoljnu promenljivu</a:t>
            </a:r>
            <a:endParaRPr sz="1800"/>
          </a:p>
        </p:txBody>
      </p:sp>
      <p:sp>
        <p:nvSpPr>
          <p:cNvPr id="5" name="Rounded Rectangle 4"/>
          <p:cNvSpPr/>
          <p:nvPr/>
        </p:nvSpPr>
        <p:spPr>
          <a:xfrm>
            <a:off x="819150" y="2083891"/>
            <a:ext cx="5118100" cy="1647726"/>
          </a:xfrm>
          <a:prstGeom prst="roundRect">
            <a:avLst>
              <a:gd name="adj" fmla="val 616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5x20.15"/>
          <p:cNvSpPr txBox="1"/>
          <p:nvPr/>
        </p:nvSpPr>
        <p:spPr>
          <a:xfrm>
            <a:off x="1079500" y="2268041"/>
            <a:ext cx="4689348" cy="127942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def</a:t>
            </a:r>
            <a:r>
              <a:rPr sz="1300" b="0" i="0">
                <a:solidFill>
                  <a:srgbClr val="E8EEE9"/>
                </a:solidFill>
                <a:latin typeface="Consolas"/>
              </a:rPr>
              <a:t> get_at_content():</a:t>
            </a:r>
            <a:br/>
            <a:r>
              <a:rPr sz="1300" b="0" i="0">
                <a:solidFill>
                  <a:srgbClr val="E8EEE9"/>
                </a:solidFill>
                <a:latin typeface="Consolas"/>
              </a:rPr>
              <a:t>    length = len(dna)</a:t>
            </a:r>
            <a:br/>
            <a:r>
              <a:rPr sz="1300" b="0" i="0">
                <a:solidFill>
                  <a:srgbClr val="E8EEE9"/>
                </a:solidFill>
                <a:latin typeface="Consolas"/>
              </a:rPr>
              <a:t>    </a:t>
            </a:r>
            <a:r>
              <a:rPr sz="1300" b="0" i="0">
                <a:solidFill>
                  <a:srgbClr val="8FB3AA"/>
                </a:solidFill>
                <a:latin typeface="Consolas"/>
              </a:rPr>
              <a:t># … ostatak kao ranije</a:t>
            </a:r>
            <a:br/>
            <a:r>
              <a:rPr sz="1300" b="0" i="0">
                <a:solidFill>
                  <a:srgbClr val="E8EEE9"/>
                </a:solidFill>
                <a:latin typeface="Consolas"/>
              </a:rPr>
              <a:t>dna = </a:t>
            </a:r>
            <a:r>
              <a:rPr sz="1300" b="0" i="0">
                <a:solidFill>
                  <a:srgbClr val="F0A35E"/>
                </a:solidFill>
                <a:latin typeface="Consolas"/>
              </a:rPr>
              <a:t>"ACTGATCGATCG"</a:t>
            </a:r>
            <a:br/>
            <a:r>
              <a:rPr sz="1300" b="0" i="0">
                <a:solidFill>
                  <a:srgbClr val="E8EEE9"/>
                </a:solidFill>
                <a:latin typeface="Consolas"/>
              </a:rPr>
              <a:t>print(get_at_content())</a:t>
            </a:r>
            <a:endParaRPr sz="1300"/>
          </a:p>
        </p:txBody>
      </p:sp>
      <p:sp>
        <p:nvSpPr>
          <p:cNvPr id="7" name="Tekst 2x20.30"/>
          <p:cNvSpPr txBox="1"/>
          <p:nvPr/>
        </p:nvSpPr>
        <p:spPr>
          <a:xfrm>
            <a:off x="812800" y="3839567"/>
            <a:ext cx="5233416"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Radi samo ako negde postoji promenljiva </a:t>
            </a:r>
            <a:r>
              <a:rPr sz="1400" b="0" i="0">
                <a:solidFill>
                  <a:srgbClr val="A8521A"/>
                </a:solidFill>
                <a:latin typeface="Arial"/>
              </a:rPr>
              <a:t>dna</a:t>
            </a:r>
            <a:r>
              <a:rPr sz="1400" b="0" i="0">
                <a:solidFill>
                  <a:srgbClr val="3D4F52"/>
                </a:solidFill>
                <a:latin typeface="Arial"/>
              </a:rPr>
              <a:t>, pa delovi koda više nisu nezavisni. Spoljne promenljive pretvorite u argumente.</a:t>
            </a:r>
            <a:endParaRPr sz="1400"/>
          </a:p>
        </p:txBody>
      </p:sp>
      <p:sp>
        <p:nvSpPr>
          <p:cNvPr id="8" name="Tekst 1x21.60"/>
          <p:cNvSpPr txBox="1"/>
          <p:nvPr/>
        </p:nvSpPr>
        <p:spPr>
          <a:xfrm>
            <a:off x="6248400" y="1701701"/>
            <a:ext cx="5233416"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Ispis umesto povratne vrednosti</a:t>
            </a:r>
            <a:endParaRPr sz="1800"/>
          </a:p>
        </p:txBody>
      </p:sp>
      <p:sp>
        <p:nvSpPr>
          <p:cNvPr id="9" name="Rounded Rectangle 8"/>
          <p:cNvSpPr/>
          <p:nvPr/>
        </p:nvSpPr>
        <p:spPr>
          <a:xfrm>
            <a:off x="6254750" y="2083891"/>
            <a:ext cx="5118100"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3x20.15"/>
          <p:cNvSpPr txBox="1"/>
          <p:nvPr/>
        </p:nvSpPr>
        <p:spPr>
          <a:xfrm>
            <a:off x="6515100" y="2268041"/>
            <a:ext cx="4689348"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def</a:t>
            </a:r>
            <a:r>
              <a:rPr sz="1300" b="0" i="0">
                <a:solidFill>
                  <a:srgbClr val="E8EEE9"/>
                </a:solidFill>
                <a:latin typeface="Consolas"/>
              </a:rPr>
              <a:t> print_at_content(dna):</a:t>
            </a:r>
            <a:br/>
            <a:r>
              <a:rPr sz="1300" b="0" i="0">
                <a:solidFill>
                  <a:srgbClr val="E8EEE9"/>
                </a:solidFill>
                <a:latin typeface="Consolas"/>
              </a:rPr>
              <a:t>    </a:t>
            </a:r>
            <a:r>
              <a:rPr sz="1300" b="0" i="0">
                <a:solidFill>
                  <a:srgbClr val="8FB3AA"/>
                </a:solidFill>
                <a:latin typeface="Consolas"/>
              </a:rPr>
              <a:t># … računanje kao ranije</a:t>
            </a:r>
            <a:br/>
            <a:r>
              <a:rPr sz="1300" b="0" i="0">
                <a:solidFill>
                  <a:srgbClr val="E8EEE9"/>
                </a:solidFill>
                <a:latin typeface="Consolas"/>
              </a:rPr>
              <a:t>    print(str(round(at_content, 2)))</a:t>
            </a:r>
            <a:endParaRPr sz="1300"/>
          </a:p>
        </p:txBody>
      </p:sp>
      <p:sp>
        <p:nvSpPr>
          <p:cNvPr id="11" name="Tekst 3x20.30"/>
          <p:cNvSpPr txBox="1"/>
          <p:nvPr/>
        </p:nvSpPr>
        <p:spPr>
          <a:xfrm>
            <a:off x="6248400" y="3327797"/>
            <a:ext cx="5233416" cy="77331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„Izračunaj i ispiši” su dva posla. Neka funkcija radi jedan posao i vrati rezultat; ispis, upis u fajl ili dalju računicu radi kod koji je poziva.</a:t>
            </a:r>
            <a:endParaRPr sz="14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05 · PISANJE SOPSTVENIH FUNKCIJA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Imenovani argumenti i podrazumevane vrednosti</a:t>
            </a:r>
            <a:endParaRPr sz="3200"/>
          </a:p>
        </p:txBody>
      </p:sp>
      <p:sp>
        <p:nvSpPr>
          <p:cNvPr id="4" name="Tekst 1x21.60"/>
          <p:cNvSpPr txBox="1"/>
          <p:nvPr/>
        </p:nvSpPr>
        <p:spPr>
          <a:xfrm>
            <a:off x="812800" y="1701701"/>
            <a:ext cx="5233416"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Imenovani argumenti</a:t>
            </a:r>
            <a:endParaRPr sz="1800"/>
          </a:p>
        </p:txBody>
      </p:sp>
      <p:sp>
        <p:nvSpPr>
          <p:cNvPr id="5" name="Rounded Rectangle 4"/>
          <p:cNvSpPr/>
          <p:nvPr/>
        </p:nvSpPr>
        <p:spPr>
          <a:xfrm>
            <a:off x="819150" y="2083891"/>
            <a:ext cx="5118100" cy="1903611"/>
          </a:xfrm>
          <a:prstGeom prst="roundRect">
            <a:avLst>
              <a:gd name="adj" fmla="val 5337"/>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6x20.15"/>
          <p:cNvSpPr txBox="1"/>
          <p:nvPr/>
        </p:nvSpPr>
        <p:spPr>
          <a:xfrm>
            <a:off x="1079500" y="2268041"/>
            <a:ext cx="4689348" cy="153531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get_at_content(</a:t>
            </a:r>
            <a:r>
              <a:rPr sz="1300" b="0" i="0">
                <a:solidFill>
                  <a:srgbClr val="F0A35E"/>
                </a:solidFill>
                <a:latin typeface="Consolas"/>
              </a:rPr>
              <a:t>"ATCGTGACTCG"</a:t>
            </a:r>
            <a:r>
              <a:rPr sz="1300" b="0" i="0">
                <a:solidFill>
                  <a:srgbClr val="E8EEE9"/>
                </a:solidFill>
                <a:latin typeface="Consolas"/>
              </a:rPr>
              <a:t>, 2)</a:t>
            </a:r>
            <a:br/>
            <a:r>
              <a:rPr sz="1300" b="0" i="0">
                <a:solidFill>
                  <a:srgbClr val="E8EEE9"/>
                </a:solidFill>
                <a:latin typeface="Consolas"/>
              </a:rPr>
              <a:t>get_at_content(dna=</a:t>
            </a:r>
            <a:r>
              <a:rPr sz="1300" b="0" i="0">
                <a:solidFill>
                  <a:srgbClr val="F0A35E"/>
                </a:solidFill>
                <a:latin typeface="Consolas"/>
              </a:rPr>
              <a:t>"ATCGTGACTCG"</a:t>
            </a:r>
            <a:r>
              <a:rPr sz="1300" b="0" i="0">
                <a:solidFill>
                  <a:srgbClr val="E8EEE9"/>
                </a:solidFill>
                <a:latin typeface="Consolas"/>
              </a:rPr>
              <a:t>, sig_figs=2)</a:t>
            </a:r>
            <a:br/>
            <a:r>
              <a:rPr sz="1300" b="0" i="0">
                <a:solidFill>
                  <a:srgbClr val="E8EEE9"/>
                </a:solidFill>
                <a:latin typeface="Consolas"/>
              </a:rPr>
              <a:t>get_at_content(sig_figs=2, dna=</a:t>
            </a:r>
            <a:r>
              <a:rPr sz="1300" b="0" i="0">
                <a:solidFill>
                  <a:srgbClr val="F0A35E"/>
                </a:solidFill>
                <a:latin typeface="Consolas"/>
              </a:rPr>
              <a:t>"ATCGTGACTCG"</a:t>
            </a:r>
            <a:r>
              <a:rPr sz="1300" b="0" i="0">
                <a:solidFill>
                  <a:srgbClr val="E8EEE9"/>
                </a:solidFill>
                <a:latin typeface="Consolas"/>
              </a:rPr>
              <a:t>)</a:t>
            </a:r>
            <a:br/>
            <a:r>
              <a:rPr sz="1300" b="0" i="0">
                <a:solidFill>
                  <a:srgbClr val="E8EEE9"/>
                </a:solidFill>
                <a:latin typeface="Consolas"/>
              </a:rPr>
              <a:t>get_at_content(</a:t>
            </a:r>
            <a:r>
              <a:rPr sz="1300" b="0" i="0">
                <a:solidFill>
                  <a:srgbClr val="F0A35E"/>
                </a:solidFill>
                <a:latin typeface="Consolas"/>
              </a:rPr>
              <a:t>"ATCGTGACTCG"</a:t>
            </a:r>
            <a:r>
              <a:rPr sz="1300" b="0" i="0">
                <a:solidFill>
                  <a:srgbClr val="E8EEE9"/>
                </a:solidFill>
                <a:latin typeface="Consolas"/>
              </a:rPr>
              <a:t>, sig_figs=2)</a:t>
            </a:r>
            <a:br/>
            <a:r>
              <a:rPr sz="1300" b="0" i="0">
                <a:solidFill>
                  <a:srgbClr val="8FB3AA"/>
                </a:solidFill>
                <a:latin typeface="Consolas"/>
              </a:rPr>
              <a:t># greška: posle imenovanog ne ide običan</a:t>
            </a:r>
            <a:br/>
            <a:r>
              <a:rPr sz="1300" b="0" i="0">
                <a:solidFill>
                  <a:srgbClr val="E8EEE9"/>
                </a:solidFill>
                <a:latin typeface="Consolas"/>
              </a:rPr>
              <a:t>get_at_content(dna=</a:t>
            </a:r>
            <a:r>
              <a:rPr sz="1300" b="0" i="0">
                <a:solidFill>
                  <a:srgbClr val="F0A35E"/>
                </a:solidFill>
                <a:latin typeface="Consolas"/>
              </a:rPr>
              <a:t>"ATCGTGACTCG"</a:t>
            </a:r>
            <a:r>
              <a:rPr sz="1300" b="0" i="0">
                <a:solidFill>
                  <a:srgbClr val="E8EEE9"/>
                </a:solidFill>
                <a:latin typeface="Consolas"/>
              </a:rPr>
              <a:t>, 2)</a:t>
            </a:r>
            <a:endParaRPr sz="1300"/>
          </a:p>
        </p:txBody>
      </p:sp>
      <p:sp>
        <p:nvSpPr>
          <p:cNvPr id="7" name="Tekst 2x20.30"/>
          <p:cNvSpPr txBox="1"/>
          <p:nvPr/>
        </p:nvSpPr>
        <p:spPr>
          <a:xfrm>
            <a:off x="812800" y="4095452"/>
            <a:ext cx="5233416"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Prva četiri poziva su ista. Redosled imenovanih argumenata nije bitan, a poziv je čitljiviji.</a:t>
            </a:r>
            <a:endParaRPr sz="1400"/>
          </a:p>
        </p:txBody>
      </p:sp>
      <p:sp>
        <p:nvSpPr>
          <p:cNvPr id="8" name="Tekst 1x21.60"/>
          <p:cNvSpPr txBox="1"/>
          <p:nvPr/>
        </p:nvSpPr>
        <p:spPr>
          <a:xfrm>
            <a:off x="6248400" y="1701701"/>
            <a:ext cx="5233416"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Podrazumevane vrednosti</a:t>
            </a:r>
            <a:endParaRPr sz="1800"/>
          </a:p>
        </p:txBody>
      </p:sp>
      <p:sp>
        <p:nvSpPr>
          <p:cNvPr id="9" name="Rounded Rectangle 8"/>
          <p:cNvSpPr/>
          <p:nvPr/>
        </p:nvSpPr>
        <p:spPr>
          <a:xfrm>
            <a:off x="6254750" y="2083891"/>
            <a:ext cx="5118100" cy="1647726"/>
          </a:xfrm>
          <a:prstGeom prst="roundRect">
            <a:avLst>
              <a:gd name="adj" fmla="val 616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5x20.15"/>
          <p:cNvSpPr txBox="1"/>
          <p:nvPr/>
        </p:nvSpPr>
        <p:spPr>
          <a:xfrm>
            <a:off x="6515100" y="2268041"/>
            <a:ext cx="4689348" cy="127942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def</a:t>
            </a:r>
            <a:r>
              <a:rPr sz="1300" b="0" i="0">
                <a:solidFill>
                  <a:srgbClr val="E8EEE9"/>
                </a:solidFill>
                <a:latin typeface="Consolas"/>
              </a:rPr>
              <a:t> get_at_content(dna, sig_figs=2):</a:t>
            </a:r>
            <a:br/>
            <a:r>
              <a:rPr sz="1300" b="0" i="0">
                <a:solidFill>
                  <a:srgbClr val="E8EEE9"/>
                </a:solidFill>
                <a:latin typeface="Consolas"/>
              </a:rPr>
              <a:t>    </a:t>
            </a:r>
            <a:r>
              <a:rPr sz="1300" b="0" i="0">
                <a:solidFill>
                  <a:srgbClr val="8FB3AA"/>
                </a:solidFill>
                <a:latin typeface="Consolas"/>
              </a:rPr>
              <a:t># … telo kao ranije</a:t>
            </a:r>
            <a:br/>
            <a:r>
              <a:rPr sz="1300" b="0" i="0">
                <a:solidFill>
                  <a:srgbClr val="E8EEE9"/>
                </a:solidFill>
                <a:latin typeface="Consolas"/>
              </a:rPr>
              <a:t>get_at_content(</a:t>
            </a:r>
            <a:r>
              <a:rPr sz="1300" b="0" i="0">
                <a:solidFill>
                  <a:srgbClr val="F0A35E"/>
                </a:solidFill>
                <a:latin typeface="Consolas"/>
              </a:rPr>
              <a:t>"ATCGTGACTCG"</a:t>
            </a:r>
            <a:r>
              <a:rPr sz="1300" b="0" i="0">
                <a:solidFill>
                  <a:srgbClr val="E8EEE9"/>
                </a:solidFill>
                <a:latin typeface="Consolas"/>
              </a:rPr>
              <a:t>)</a:t>
            </a:r>
            <a:br/>
            <a:r>
              <a:rPr sz="1300" b="0" i="0">
                <a:solidFill>
                  <a:srgbClr val="E8EEE9"/>
                </a:solidFill>
                <a:latin typeface="Consolas"/>
              </a:rPr>
              <a:t>get_at_content(</a:t>
            </a:r>
            <a:r>
              <a:rPr sz="1300" b="0" i="0">
                <a:solidFill>
                  <a:srgbClr val="F0A35E"/>
                </a:solidFill>
                <a:latin typeface="Consolas"/>
              </a:rPr>
              <a:t>"ATCGTGACTCG"</a:t>
            </a:r>
            <a:r>
              <a:rPr sz="1300" b="0" i="0">
                <a:solidFill>
                  <a:srgbClr val="E8EEE9"/>
                </a:solidFill>
                <a:latin typeface="Consolas"/>
              </a:rPr>
              <a:t>, 3)</a:t>
            </a:r>
            <a:br/>
            <a:r>
              <a:rPr sz="1300" b="0" i="0">
                <a:solidFill>
                  <a:srgbClr val="E8EEE9"/>
                </a:solidFill>
                <a:latin typeface="Consolas"/>
              </a:rPr>
              <a:t>get_at_content(</a:t>
            </a:r>
            <a:r>
              <a:rPr sz="1300" b="0" i="0">
                <a:solidFill>
                  <a:srgbClr val="F0A35E"/>
                </a:solidFill>
                <a:latin typeface="Consolas"/>
              </a:rPr>
              <a:t>"ATCGTGACTCG"</a:t>
            </a:r>
            <a:r>
              <a:rPr sz="1300" b="0" i="0">
                <a:solidFill>
                  <a:srgbClr val="E8EEE9"/>
                </a:solidFill>
                <a:latin typeface="Consolas"/>
              </a:rPr>
              <a:t>, sig_figs=4)</a:t>
            </a:r>
            <a:endParaRPr sz="1300"/>
          </a:p>
        </p:txBody>
      </p:sp>
      <p:sp>
        <p:nvSpPr>
          <p:cNvPr id="11" name="Rounded Rectangle 10"/>
          <p:cNvSpPr/>
          <p:nvPr/>
        </p:nvSpPr>
        <p:spPr>
          <a:xfrm>
            <a:off x="6254750" y="3845917"/>
            <a:ext cx="1065411" cy="1288355"/>
          </a:xfrm>
          <a:prstGeom prst="roundRect">
            <a:avLst>
              <a:gd name="adj" fmla="val 9536"/>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1x16.80"/>
          <p:cNvSpPr txBox="1"/>
          <p:nvPr/>
        </p:nvSpPr>
        <p:spPr>
          <a:xfrm>
            <a:off x="6323211" y="3903067"/>
            <a:ext cx="8890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IZLAZ</a:t>
            </a:r>
            <a:endParaRPr sz="1200"/>
          </a:p>
        </p:txBody>
      </p:sp>
      <p:sp>
        <p:nvSpPr>
          <p:cNvPr id="13" name="Tekst 3x20.15"/>
          <p:cNvSpPr txBox="1"/>
          <p:nvPr/>
        </p:nvSpPr>
        <p:spPr>
          <a:xfrm>
            <a:off x="6515100" y="4182467"/>
            <a:ext cx="570111"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0.45</a:t>
            </a:r>
            <a:br/>
            <a:r>
              <a:rPr sz="1300" b="0" i="0">
                <a:solidFill>
                  <a:srgbClr val="13262B"/>
                </a:solidFill>
                <a:latin typeface="Consolas"/>
              </a:rPr>
              <a:t>0.455</a:t>
            </a:r>
            <a:br/>
            <a:r>
              <a:rPr sz="1300" b="0" i="0">
                <a:solidFill>
                  <a:srgbClr val="13262B"/>
                </a:solidFill>
                <a:latin typeface="Consolas"/>
              </a:rPr>
              <a:t>0.4545</a:t>
            </a:r>
            <a:endParaRPr sz="1300"/>
          </a:p>
        </p:txBody>
      </p:sp>
      <p:sp>
        <p:nvSpPr>
          <p:cNvPr id="14" name="Tekst 5x20.30"/>
          <p:cNvSpPr txBox="1"/>
          <p:nvPr/>
        </p:nvSpPr>
        <p:spPr>
          <a:xfrm>
            <a:off x="7428111" y="3839567"/>
            <a:ext cx="4030111" cy="1301055"/>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Podrazumevana vrednost ima smisla samo kad postoji razuman izbor; za </a:t>
            </a:r>
            <a:r>
              <a:rPr sz="1400" b="0" i="0">
                <a:solidFill>
                  <a:srgbClr val="A8521A"/>
                </a:solidFill>
                <a:latin typeface="Arial"/>
              </a:rPr>
              <a:t>dna</a:t>
            </a:r>
            <a:r>
              <a:rPr sz="1400" b="0" i="0">
                <a:solidFill>
                  <a:srgbClr val="3D4F52"/>
                </a:solidFill>
                <a:latin typeface="Arial"/>
              </a:rPr>
              <a:t> ne postoji.</a:t>
            </a:r>
            <a:endParaRPr sz="14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05 · PISANJE SOPSTVENIH FUNKCIJA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Testiranje funkcija: assert</a:t>
            </a:r>
            <a:endParaRPr sz="3200"/>
          </a:p>
        </p:txBody>
      </p:sp>
      <p:sp>
        <p:nvSpPr>
          <p:cNvPr id="4" name="Tekst 2x20.30"/>
          <p:cNvSpPr txBox="1"/>
          <p:nvPr/>
        </p:nvSpPr>
        <p:spPr>
          <a:xfrm>
            <a:off x="812800" y="1701701"/>
            <a:ext cx="5090922"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Ako uslov posle </a:t>
            </a:r>
            <a:r>
              <a:rPr sz="1400" b="0" i="0">
                <a:solidFill>
                  <a:srgbClr val="A8521A"/>
                </a:solidFill>
                <a:latin typeface="Arial"/>
              </a:rPr>
              <a:t>assert</a:t>
            </a:r>
            <a:r>
              <a:rPr sz="1400" b="0" i="0">
                <a:solidFill>
                  <a:srgbClr val="13262B"/>
                </a:solidFill>
                <a:latin typeface="Arial"/>
              </a:rPr>
              <a:t> nije tačan, program staje sa </a:t>
            </a:r>
            <a:r>
              <a:rPr sz="1400" b="0" i="0">
                <a:solidFill>
                  <a:srgbClr val="A8521A"/>
                </a:solidFill>
                <a:latin typeface="Arial"/>
              </a:rPr>
              <a:t>AssertionError</a:t>
            </a:r>
            <a:r>
              <a:rPr sz="1400" b="0" i="0">
                <a:solidFill>
                  <a:srgbClr val="13262B"/>
                </a:solidFill>
                <a:latin typeface="Arial"/>
              </a:rPr>
              <a:t>. Kao pozitivna kontrola u laboratoriji.</a:t>
            </a:r>
            <a:endParaRPr sz="1400"/>
          </a:p>
        </p:txBody>
      </p:sp>
      <p:sp>
        <p:nvSpPr>
          <p:cNvPr id="5" name="Rounded Rectangle 4"/>
          <p:cNvSpPr/>
          <p:nvPr/>
        </p:nvSpPr>
        <p:spPr>
          <a:xfrm>
            <a:off x="819150" y="2325191"/>
            <a:ext cx="4978400" cy="2415381"/>
          </a:xfrm>
          <a:prstGeom prst="roundRect">
            <a:avLst>
              <a:gd name="adj" fmla="val 420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8x20.15"/>
          <p:cNvSpPr txBox="1"/>
          <p:nvPr/>
        </p:nvSpPr>
        <p:spPr>
          <a:xfrm>
            <a:off x="1079500" y="2509341"/>
            <a:ext cx="4546854" cy="204708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assert</a:t>
            </a:r>
            <a:r>
              <a:rPr sz="1300" b="0" i="0">
                <a:solidFill>
                  <a:srgbClr val="E8EEE9"/>
                </a:solidFill>
                <a:latin typeface="Consolas"/>
              </a:rPr>
              <a:t> get_at_content(</a:t>
            </a:r>
            <a:r>
              <a:rPr sz="1300" b="0" i="0">
                <a:solidFill>
                  <a:srgbClr val="F0A35E"/>
                </a:solidFill>
                <a:latin typeface="Consolas"/>
              </a:rPr>
              <a:t>"A"</a:t>
            </a:r>
            <a:r>
              <a:rPr sz="1300" b="0" i="0">
                <a:solidFill>
                  <a:srgbClr val="E8EEE9"/>
                </a:solidFill>
                <a:latin typeface="Consolas"/>
              </a:rPr>
              <a:t>) == 1</a:t>
            </a:r>
            <a:br/>
            <a:r>
              <a:rPr sz="1300" b="0" i="0">
                <a:solidFill>
                  <a:srgbClr val="6FD3C1"/>
                </a:solidFill>
                <a:latin typeface="Consolas"/>
              </a:rPr>
              <a:t>assert</a:t>
            </a:r>
            <a:r>
              <a:rPr sz="1300" b="0" i="0">
                <a:solidFill>
                  <a:srgbClr val="E8EEE9"/>
                </a:solidFill>
                <a:latin typeface="Consolas"/>
              </a:rPr>
              <a:t> get_at_content(</a:t>
            </a:r>
            <a:r>
              <a:rPr sz="1300" b="0" i="0">
                <a:solidFill>
                  <a:srgbClr val="F0A35E"/>
                </a:solidFill>
                <a:latin typeface="Consolas"/>
              </a:rPr>
              <a:t>"G"</a:t>
            </a:r>
            <a:r>
              <a:rPr sz="1300" b="0" i="0">
                <a:solidFill>
                  <a:srgbClr val="E8EEE9"/>
                </a:solidFill>
                <a:latin typeface="Consolas"/>
              </a:rPr>
              <a:t>) == 0</a:t>
            </a:r>
            <a:br/>
            <a:r>
              <a:rPr sz="1300" b="0" i="0">
                <a:solidFill>
                  <a:srgbClr val="6FD3C1"/>
                </a:solidFill>
                <a:latin typeface="Consolas"/>
              </a:rPr>
              <a:t>assert</a:t>
            </a:r>
            <a:r>
              <a:rPr sz="1300" b="0" i="0">
                <a:solidFill>
                  <a:srgbClr val="E8EEE9"/>
                </a:solidFill>
                <a:latin typeface="Consolas"/>
              </a:rPr>
              <a:t> get_at_content(</a:t>
            </a:r>
            <a:r>
              <a:rPr sz="1300" b="0" i="0">
                <a:solidFill>
                  <a:srgbClr val="F0A35E"/>
                </a:solidFill>
                <a:latin typeface="Consolas"/>
              </a:rPr>
              <a:t>"ATGC"</a:t>
            </a:r>
            <a:r>
              <a:rPr sz="1300" b="0" i="0">
                <a:solidFill>
                  <a:srgbClr val="E8EEE9"/>
                </a:solidFill>
                <a:latin typeface="Consolas"/>
              </a:rPr>
              <a:t>) == 0.5</a:t>
            </a:r>
            <a:br/>
            <a:r>
              <a:rPr sz="1300" b="0" i="0">
                <a:solidFill>
                  <a:srgbClr val="6FD3C1"/>
                </a:solidFill>
                <a:latin typeface="Consolas"/>
              </a:rPr>
              <a:t>assert</a:t>
            </a:r>
            <a:r>
              <a:rPr sz="1300" b="0" i="0">
                <a:solidFill>
                  <a:srgbClr val="E8EEE9"/>
                </a:solidFill>
                <a:latin typeface="Consolas"/>
              </a:rPr>
              <a:t> get_at_content(</a:t>
            </a:r>
            <a:r>
              <a:rPr sz="1300" b="0" i="0">
                <a:solidFill>
                  <a:srgbClr val="F0A35E"/>
                </a:solidFill>
                <a:latin typeface="Consolas"/>
              </a:rPr>
              <a:t>"AGG"</a:t>
            </a:r>
            <a:r>
              <a:rPr sz="1300" b="0" i="0">
                <a:solidFill>
                  <a:srgbClr val="E8EEE9"/>
                </a:solidFill>
                <a:latin typeface="Consolas"/>
              </a:rPr>
              <a:t>) == 0.33</a:t>
            </a:r>
            <a:br/>
            <a:r>
              <a:rPr sz="1300" b="0" i="0">
                <a:solidFill>
                  <a:srgbClr val="6FD3C1"/>
                </a:solidFill>
                <a:latin typeface="Consolas"/>
              </a:rPr>
              <a:t>assert</a:t>
            </a:r>
            <a:r>
              <a:rPr sz="1300" b="0" i="0">
                <a:solidFill>
                  <a:srgbClr val="E8EEE9"/>
                </a:solidFill>
                <a:latin typeface="Consolas"/>
              </a:rPr>
              <a:t> get_at_content(</a:t>
            </a:r>
            <a:r>
              <a:rPr sz="1300" b="0" i="0">
                <a:solidFill>
                  <a:srgbClr val="F0A35E"/>
                </a:solidFill>
                <a:latin typeface="Consolas"/>
              </a:rPr>
              <a:t>"AGG"</a:t>
            </a:r>
            <a:r>
              <a:rPr sz="1300" b="0" i="0">
                <a:solidFill>
                  <a:srgbClr val="E8EEE9"/>
                </a:solidFill>
                <a:latin typeface="Consolas"/>
              </a:rPr>
              <a:t>, 1) == 0.3</a:t>
            </a:r>
            <a:br/>
            <a:r>
              <a:rPr sz="1300" b="0" i="0">
                <a:solidFill>
                  <a:srgbClr val="6FD3C1"/>
                </a:solidFill>
                <a:latin typeface="Consolas"/>
              </a:rPr>
              <a:t>assert</a:t>
            </a:r>
            <a:r>
              <a:rPr sz="1300" b="0" i="0">
                <a:solidFill>
                  <a:srgbClr val="E8EEE9"/>
                </a:solidFill>
                <a:latin typeface="Consolas"/>
              </a:rPr>
              <a:t> get_at_content(</a:t>
            </a:r>
            <a:r>
              <a:rPr sz="1300" b="0" i="0">
                <a:solidFill>
                  <a:srgbClr val="F0A35E"/>
                </a:solidFill>
                <a:latin typeface="Consolas"/>
              </a:rPr>
              <a:t>"AGG"</a:t>
            </a:r>
            <a:r>
              <a:rPr sz="1300" b="0" i="0">
                <a:solidFill>
                  <a:srgbClr val="E8EEE9"/>
                </a:solidFill>
                <a:latin typeface="Consolas"/>
              </a:rPr>
              <a:t>, 5) == 0.33333</a:t>
            </a:r>
            <a:br/>
            <a:r>
              <a:rPr sz="1300" b="0" i="0">
                <a:solidFill>
                  <a:srgbClr val="8FB3AA"/>
                </a:solidFill>
                <a:latin typeface="Consolas"/>
              </a:rPr>
              <a:t># nepoznate baze N ne bi smele da utiču</a:t>
            </a:r>
            <a:br/>
            <a:r>
              <a:rPr sz="1300" b="0" i="0">
                <a:solidFill>
                  <a:srgbClr val="6FD3C1"/>
                </a:solidFill>
                <a:latin typeface="Consolas"/>
              </a:rPr>
              <a:t>assert</a:t>
            </a:r>
            <a:r>
              <a:rPr sz="1300" b="0" i="0">
                <a:solidFill>
                  <a:srgbClr val="E8EEE9"/>
                </a:solidFill>
                <a:latin typeface="Consolas"/>
              </a:rPr>
              <a:t> get_at_content(</a:t>
            </a:r>
            <a:r>
              <a:rPr sz="1300" b="0" i="0">
                <a:solidFill>
                  <a:srgbClr val="F0A35E"/>
                </a:solidFill>
                <a:latin typeface="Consolas"/>
              </a:rPr>
              <a:t>"ATGCNNNNNNNNNN"</a:t>
            </a:r>
            <a:r>
              <a:rPr sz="1300" b="0" i="0">
                <a:solidFill>
                  <a:srgbClr val="E8EEE9"/>
                </a:solidFill>
                <a:latin typeface="Consolas"/>
              </a:rPr>
              <a:t>) == 0.5</a:t>
            </a:r>
            <a:endParaRPr sz="1300"/>
          </a:p>
        </p:txBody>
      </p:sp>
      <p:sp>
        <p:nvSpPr>
          <p:cNvPr id="7" name="Rounded Rectangle 6"/>
          <p:cNvSpPr/>
          <p:nvPr/>
        </p:nvSpPr>
        <p:spPr>
          <a:xfrm>
            <a:off x="6115050" y="1708051"/>
            <a:ext cx="5257800" cy="1391841"/>
          </a:xfrm>
          <a:prstGeom prst="roundRect">
            <a:avLst>
              <a:gd name="adj" fmla="val 7299"/>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4x20.15"/>
          <p:cNvSpPr txBox="1"/>
          <p:nvPr/>
        </p:nvSpPr>
        <p:spPr>
          <a:xfrm>
            <a:off x="6375400" y="1892201"/>
            <a:ext cx="4831842"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def</a:t>
            </a:r>
            <a:r>
              <a:rPr sz="1300" b="0" i="0">
                <a:solidFill>
                  <a:srgbClr val="E8EEE9"/>
                </a:solidFill>
                <a:latin typeface="Consolas"/>
              </a:rPr>
              <a:t> get_at_content(dna, sig_figs=2):</a:t>
            </a:r>
            <a:br/>
            <a:r>
              <a:rPr sz="1300" b="0" i="0">
                <a:solidFill>
                  <a:srgbClr val="E8EEE9"/>
                </a:solidFill>
                <a:latin typeface="Consolas"/>
              </a:rPr>
              <a:t>    </a:t>
            </a:r>
            <a:r>
              <a:rPr sz="1300" b="0" i="0">
                <a:solidFill>
                  <a:srgbClr val="8FB3AA"/>
                </a:solidFill>
                <a:latin typeface="Consolas"/>
              </a:rPr>
              <a:t># ispravka: izbaci N pre računanja</a:t>
            </a:r>
            <a:br/>
            <a:r>
              <a:rPr sz="1300" b="0" i="0">
                <a:solidFill>
                  <a:srgbClr val="E8EEE9"/>
                </a:solidFill>
                <a:latin typeface="Consolas"/>
              </a:rPr>
              <a:t>    dna = dna.replace(</a:t>
            </a:r>
            <a:r>
              <a:rPr sz="1300" b="0" i="0">
                <a:solidFill>
                  <a:srgbClr val="F0A35E"/>
                </a:solidFill>
                <a:latin typeface="Consolas"/>
              </a:rPr>
              <a:t>'N'</a:t>
            </a:r>
            <a:r>
              <a:rPr sz="1300" b="0" i="0">
                <a:solidFill>
                  <a:srgbClr val="E8EEE9"/>
                </a:solidFill>
                <a:latin typeface="Consolas"/>
              </a:rPr>
              <a:t>, </a:t>
            </a:r>
            <a:r>
              <a:rPr sz="1300" b="0" i="0">
                <a:solidFill>
                  <a:srgbClr val="F0A35E"/>
                </a:solidFill>
                <a:latin typeface="Consolas"/>
              </a:rPr>
              <a:t>''</a:t>
            </a:r>
            <a:r>
              <a:rPr sz="1300" b="0" i="0">
                <a:solidFill>
                  <a:srgbClr val="E8EEE9"/>
                </a:solidFill>
                <a:latin typeface="Consolas"/>
              </a:rPr>
              <a:t>)</a:t>
            </a:r>
            <a:br/>
            <a:r>
              <a:rPr sz="1300" b="0" i="0">
                <a:solidFill>
                  <a:srgbClr val="E8EEE9"/>
                </a:solidFill>
                <a:latin typeface="Consolas"/>
              </a:rPr>
              <a:t>    </a:t>
            </a:r>
            <a:r>
              <a:rPr sz="1300" b="0" i="0">
                <a:solidFill>
                  <a:srgbClr val="8FB3AA"/>
                </a:solidFill>
                <a:latin typeface="Consolas"/>
              </a:rPr>
              <a:t># … ostatak kao ranije</a:t>
            </a:r>
            <a:endParaRPr sz="1300"/>
          </a:p>
        </p:txBody>
      </p:sp>
      <p:sp>
        <p:nvSpPr>
          <p:cNvPr id="9" name="Rounded Rectangle 8"/>
          <p:cNvSpPr/>
          <p:nvPr/>
        </p:nvSpPr>
        <p:spPr>
          <a:xfrm>
            <a:off x="6111875" y="3261816"/>
            <a:ext cx="5264150" cy="1393031"/>
          </a:xfrm>
          <a:prstGeom prst="roundRect">
            <a:avLst>
              <a:gd name="adj" fmla="val 7293"/>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4x20.30"/>
          <p:cNvSpPr txBox="1"/>
          <p:nvPr/>
        </p:nvSpPr>
        <p:spPr>
          <a:xfrm>
            <a:off x="6318250" y="3442791"/>
            <a:ext cx="4948428" cy="1031081"/>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Pokazuju da li je greška u funkciji ili u kodu koji je poziva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Posle izmene funkcije ponovo pokrenite testove</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Dokumentuju očekivani izlaz za dati ulaz</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Proveravaju neobične ulaze, npr. baze N</a:t>
            </a:r>
            <a:endParaRPr sz="14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05 · VEŽBA: PROCENAT AMINOKISELINE</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Od konkretnog koda do funkcije</a:t>
            </a:r>
            <a:endParaRPr sz="3200"/>
          </a:p>
        </p:txBody>
      </p:sp>
      <p:sp>
        <p:nvSpPr>
          <p:cNvPr id="4" name="Tekst 1x21.60"/>
          <p:cNvSpPr txBox="1"/>
          <p:nvPr/>
        </p:nvSpPr>
        <p:spPr>
          <a:xfrm>
            <a:off x="812800" y="1650901"/>
            <a:ext cx="461800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Konkretan primer</a:t>
            </a:r>
            <a:endParaRPr sz="1800"/>
          </a:p>
        </p:txBody>
      </p:sp>
      <p:sp>
        <p:nvSpPr>
          <p:cNvPr id="5" name="Rounded Rectangle 4"/>
          <p:cNvSpPr/>
          <p:nvPr/>
        </p:nvSpPr>
        <p:spPr>
          <a:xfrm>
            <a:off x="819150" y="2007691"/>
            <a:ext cx="4514751" cy="1903611"/>
          </a:xfrm>
          <a:prstGeom prst="roundRect">
            <a:avLst>
              <a:gd name="adj" fmla="val 5337"/>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6x20.15"/>
          <p:cNvSpPr txBox="1"/>
          <p:nvPr/>
        </p:nvSpPr>
        <p:spPr>
          <a:xfrm>
            <a:off x="1079500" y="2191841"/>
            <a:ext cx="4073932" cy="153531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protein = </a:t>
            </a:r>
            <a:r>
              <a:rPr sz="1300" b="0" i="0">
                <a:solidFill>
                  <a:srgbClr val="F0A35E"/>
                </a:solidFill>
                <a:latin typeface="Consolas"/>
              </a:rPr>
              <a:t>"MSRSLLLRFLLFLLLLPPLP"</a:t>
            </a:r>
            <a:br/>
            <a:r>
              <a:rPr sz="1300" b="0" i="0">
                <a:solidFill>
                  <a:srgbClr val="E8EEE9"/>
                </a:solidFill>
                <a:latin typeface="Consolas"/>
              </a:rPr>
              <a:t>aa = </a:t>
            </a:r>
            <a:r>
              <a:rPr sz="1300" b="0" i="0">
                <a:solidFill>
                  <a:srgbClr val="F0A35E"/>
                </a:solidFill>
                <a:latin typeface="Consolas"/>
              </a:rPr>
              <a:t>"R"</a:t>
            </a:r>
            <a:br/>
            <a:r>
              <a:rPr sz="1300" b="0" i="0">
                <a:solidFill>
                  <a:srgbClr val="E8EEE9"/>
                </a:solidFill>
                <a:latin typeface="Consolas"/>
              </a:rPr>
              <a:t>aa_count = protein.count(aa)</a:t>
            </a:r>
            <a:br/>
            <a:r>
              <a:rPr sz="1300" b="0" i="0">
                <a:solidFill>
                  <a:srgbClr val="E8EEE9"/>
                </a:solidFill>
                <a:latin typeface="Consolas"/>
              </a:rPr>
              <a:t>protein_length = len(protein)</a:t>
            </a:r>
            <a:br/>
            <a:r>
              <a:rPr sz="1300" b="0" i="0">
                <a:solidFill>
                  <a:srgbClr val="E8EEE9"/>
                </a:solidFill>
                <a:latin typeface="Consolas"/>
              </a:rPr>
              <a:t>percentage = aa_count * 100 / protein_length</a:t>
            </a:r>
            <a:br/>
            <a:r>
              <a:rPr sz="1300" b="0" i="0">
                <a:solidFill>
                  <a:srgbClr val="E8EEE9"/>
                </a:solidFill>
                <a:latin typeface="Consolas"/>
              </a:rPr>
              <a:t>print(percentage)  </a:t>
            </a:r>
            <a:r>
              <a:rPr sz="1300" b="0" i="0">
                <a:solidFill>
                  <a:srgbClr val="8FB3AA"/>
                </a:solidFill>
                <a:latin typeface="Consolas"/>
              </a:rPr>
              <a:t># 10.0</a:t>
            </a:r>
            <a:endParaRPr sz="1300"/>
          </a:p>
        </p:txBody>
      </p:sp>
      <p:sp>
        <p:nvSpPr>
          <p:cNvPr id="7" name="Tekst 1x21.60"/>
          <p:cNvSpPr txBox="1"/>
          <p:nvPr/>
        </p:nvSpPr>
        <p:spPr>
          <a:xfrm>
            <a:off x="5594251" y="1650901"/>
            <a:ext cx="5900648"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Kao funkcija</a:t>
            </a:r>
            <a:endParaRPr sz="1800"/>
          </a:p>
        </p:txBody>
      </p:sp>
      <p:sp>
        <p:nvSpPr>
          <p:cNvPr id="8" name="Rounded Rectangle 7"/>
          <p:cNvSpPr/>
          <p:nvPr/>
        </p:nvSpPr>
        <p:spPr>
          <a:xfrm>
            <a:off x="5600601" y="2007691"/>
            <a:ext cx="5772249" cy="1647726"/>
          </a:xfrm>
          <a:prstGeom prst="roundRect">
            <a:avLst>
              <a:gd name="adj" fmla="val 616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5x20.15"/>
          <p:cNvSpPr txBox="1"/>
          <p:nvPr/>
        </p:nvSpPr>
        <p:spPr>
          <a:xfrm>
            <a:off x="5860951" y="2191841"/>
            <a:ext cx="5356580" cy="127942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def</a:t>
            </a:r>
            <a:r>
              <a:rPr sz="1300" b="0" i="0">
                <a:solidFill>
                  <a:srgbClr val="E8EEE9"/>
                </a:solidFill>
                <a:latin typeface="Consolas"/>
              </a:rPr>
              <a:t> get_aa_percentage(protein, aa):</a:t>
            </a:r>
            <a:br/>
            <a:r>
              <a:rPr sz="1300" b="0" i="0">
                <a:solidFill>
                  <a:srgbClr val="E8EEE9"/>
                </a:solidFill>
                <a:latin typeface="Consolas"/>
              </a:rPr>
              <a:t>    aa_count = protein.count(aa)</a:t>
            </a:r>
            <a:br/>
            <a:r>
              <a:rPr sz="1300" b="0" i="0">
                <a:solidFill>
                  <a:srgbClr val="E8EEE9"/>
                </a:solidFill>
                <a:latin typeface="Consolas"/>
              </a:rPr>
              <a:t>    protein_length = len(protein)</a:t>
            </a:r>
            <a:br/>
            <a:r>
              <a:rPr sz="1300" b="0" i="0">
                <a:solidFill>
                  <a:srgbClr val="E8EEE9"/>
                </a:solidFill>
                <a:latin typeface="Consolas"/>
              </a:rPr>
              <a:t>    percentage = aa_count * 100 / protein_length</a:t>
            </a:r>
            <a:br/>
            <a:r>
              <a:rPr sz="1300" b="0" i="0">
                <a:solidFill>
                  <a:srgbClr val="E8EEE9"/>
                </a:solidFill>
                <a:latin typeface="Consolas"/>
              </a:rPr>
              <a:t>    </a:t>
            </a:r>
            <a:r>
              <a:rPr sz="1300" b="0" i="0">
                <a:solidFill>
                  <a:srgbClr val="6FD3C1"/>
                </a:solidFill>
                <a:latin typeface="Consolas"/>
              </a:rPr>
              <a:t>return</a:t>
            </a:r>
            <a:r>
              <a:rPr sz="1300" b="0" i="0">
                <a:solidFill>
                  <a:srgbClr val="E8EEE9"/>
                </a:solidFill>
                <a:latin typeface="Consolas"/>
              </a:rPr>
              <a:t> percentage</a:t>
            </a:r>
            <a:endParaRPr sz="1300"/>
          </a:p>
        </p:txBody>
      </p:sp>
      <p:sp>
        <p:nvSpPr>
          <p:cNvPr id="10" name="Rounded Rectangle 9"/>
          <p:cNvSpPr/>
          <p:nvPr/>
        </p:nvSpPr>
        <p:spPr>
          <a:xfrm>
            <a:off x="819150" y="4127202"/>
            <a:ext cx="10553700" cy="1391841"/>
          </a:xfrm>
          <a:prstGeom prst="roundRect">
            <a:avLst>
              <a:gd name="adj" fmla="val 7299"/>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4x20.15"/>
          <p:cNvSpPr txBox="1"/>
          <p:nvPr/>
        </p:nvSpPr>
        <p:spPr>
          <a:xfrm>
            <a:off x="1079500" y="4311352"/>
            <a:ext cx="10185400"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assert</a:t>
            </a:r>
            <a:r>
              <a:rPr sz="1300" b="0" i="0">
                <a:solidFill>
                  <a:srgbClr val="E8EEE9"/>
                </a:solidFill>
                <a:latin typeface="Consolas"/>
              </a:rPr>
              <a:t> get_aa_percentage(</a:t>
            </a:r>
            <a:r>
              <a:rPr sz="1300" b="0" i="0">
                <a:solidFill>
                  <a:srgbClr val="F0A35E"/>
                </a:solidFill>
                <a:latin typeface="Consolas"/>
              </a:rPr>
              <a:t>"MSRSLLLRFLLFLLLLPPLP"</a:t>
            </a:r>
            <a:r>
              <a:rPr sz="1300" b="0" i="0">
                <a:solidFill>
                  <a:srgbClr val="E8EEE9"/>
                </a:solidFill>
                <a:latin typeface="Consolas"/>
              </a:rPr>
              <a:t>, </a:t>
            </a:r>
            <a:r>
              <a:rPr sz="1300" b="0" i="0">
                <a:solidFill>
                  <a:srgbClr val="F0A35E"/>
                </a:solidFill>
                <a:latin typeface="Consolas"/>
              </a:rPr>
              <a:t>"M"</a:t>
            </a:r>
            <a:r>
              <a:rPr sz="1300" b="0" i="0">
                <a:solidFill>
                  <a:srgbClr val="E8EEE9"/>
                </a:solidFill>
                <a:latin typeface="Consolas"/>
              </a:rPr>
              <a:t>) == 5</a:t>
            </a:r>
            <a:br/>
            <a:r>
              <a:rPr sz="1300" b="0" i="0">
                <a:solidFill>
                  <a:srgbClr val="6FD3C1"/>
                </a:solidFill>
                <a:latin typeface="Consolas"/>
              </a:rPr>
              <a:t>assert</a:t>
            </a:r>
            <a:r>
              <a:rPr sz="1300" b="0" i="0">
                <a:solidFill>
                  <a:srgbClr val="E8EEE9"/>
                </a:solidFill>
                <a:latin typeface="Consolas"/>
              </a:rPr>
              <a:t> get_aa_percentage(</a:t>
            </a:r>
            <a:r>
              <a:rPr sz="1300" b="0" i="0">
                <a:solidFill>
                  <a:srgbClr val="F0A35E"/>
                </a:solidFill>
                <a:latin typeface="Consolas"/>
              </a:rPr>
              <a:t>"MSRSLLLRFLLFLLLLPPLP"</a:t>
            </a:r>
            <a:r>
              <a:rPr sz="1300" b="0" i="0">
                <a:solidFill>
                  <a:srgbClr val="E8EEE9"/>
                </a:solidFill>
                <a:latin typeface="Consolas"/>
              </a:rPr>
              <a:t>, </a:t>
            </a:r>
            <a:r>
              <a:rPr sz="1300" b="0" i="0">
                <a:solidFill>
                  <a:srgbClr val="F0A35E"/>
                </a:solidFill>
                <a:latin typeface="Consolas"/>
              </a:rPr>
              <a:t>"r"</a:t>
            </a:r>
            <a:r>
              <a:rPr sz="1300" b="0" i="0">
                <a:solidFill>
                  <a:srgbClr val="E8EEE9"/>
                </a:solidFill>
                <a:latin typeface="Consolas"/>
              </a:rPr>
              <a:t>) == 10</a:t>
            </a:r>
            <a:br/>
            <a:r>
              <a:rPr sz="1300" b="0" i="0">
                <a:solidFill>
                  <a:srgbClr val="6FD3C1"/>
                </a:solidFill>
                <a:latin typeface="Consolas"/>
              </a:rPr>
              <a:t>assert</a:t>
            </a:r>
            <a:r>
              <a:rPr sz="1300" b="0" i="0">
                <a:solidFill>
                  <a:srgbClr val="E8EEE9"/>
                </a:solidFill>
                <a:latin typeface="Consolas"/>
              </a:rPr>
              <a:t> get_aa_percentage(</a:t>
            </a:r>
            <a:r>
              <a:rPr sz="1300" b="0" i="0">
                <a:solidFill>
                  <a:srgbClr val="F0A35E"/>
                </a:solidFill>
                <a:latin typeface="Consolas"/>
              </a:rPr>
              <a:t>"msrslllrfllfllllpplp"</a:t>
            </a:r>
            <a:r>
              <a:rPr sz="1300" b="0" i="0">
                <a:solidFill>
                  <a:srgbClr val="E8EEE9"/>
                </a:solidFill>
                <a:latin typeface="Consolas"/>
              </a:rPr>
              <a:t>, </a:t>
            </a:r>
            <a:r>
              <a:rPr sz="1300" b="0" i="0">
                <a:solidFill>
                  <a:srgbClr val="F0A35E"/>
                </a:solidFill>
                <a:latin typeface="Consolas"/>
              </a:rPr>
              <a:t>"L"</a:t>
            </a:r>
            <a:r>
              <a:rPr sz="1300" b="0" i="0">
                <a:solidFill>
                  <a:srgbClr val="E8EEE9"/>
                </a:solidFill>
                <a:latin typeface="Consolas"/>
              </a:rPr>
              <a:t>) == 50</a:t>
            </a:r>
            <a:br/>
            <a:r>
              <a:rPr sz="1300" b="0" i="0">
                <a:solidFill>
                  <a:srgbClr val="6FD3C1"/>
                </a:solidFill>
                <a:latin typeface="Consolas"/>
              </a:rPr>
              <a:t>assert</a:t>
            </a:r>
            <a:r>
              <a:rPr sz="1300" b="0" i="0">
                <a:solidFill>
                  <a:srgbClr val="E8EEE9"/>
                </a:solidFill>
                <a:latin typeface="Consolas"/>
              </a:rPr>
              <a:t> get_aa_percentage(</a:t>
            </a:r>
            <a:r>
              <a:rPr sz="1300" b="0" i="0">
                <a:solidFill>
                  <a:srgbClr val="F0A35E"/>
                </a:solidFill>
                <a:latin typeface="Consolas"/>
              </a:rPr>
              <a:t>"MSRSLLLRFLLFLLLLPPLP"</a:t>
            </a:r>
            <a:r>
              <a:rPr sz="1300" b="0" i="0">
                <a:solidFill>
                  <a:srgbClr val="E8EEE9"/>
                </a:solidFill>
                <a:latin typeface="Consolas"/>
              </a:rPr>
              <a:t>, </a:t>
            </a:r>
            <a:r>
              <a:rPr sz="1300" b="0" i="0">
                <a:solidFill>
                  <a:srgbClr val="F0A35E"/>
                </a:solidFill>
                <a:latin typeface="Consolas"/>
              </a:rPr>
              <a:t>"Y"</a:t>
            </a:r>
            <a:r>
              <a:rPr sz="1300" b="0" i="0">
                <a:solidFill>
                  <a:srgbClr val="E8EEE9"/>
                </a:solidFill>
                <a:latin typeface="Consolas"/>
              </a:rPr>
              <a:t>) == 0</a:t>
            </a:r>
            <a:endParaRPr sz="13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05 · VEŽBA: PROCENAT AMINOKISELINE</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Test pada: velika i mala slova</a:t>
            </a:r>
            <a:endParaRPr sz="3200"/>
          </a:p>
        </p:txBody>
      </p:sp>
      <p:sp>
        <p:nvSpPr>
          <p:cNvPr id="4" name="Rounded Rectangle 3"/>
          <p:cNvSpPr/>
          <p:nvPr/>
        </p:nvSpPr>
        <p:spPr>
          <a:xfrm>
            <a:off x="819150" y="1657251"/>
            <a:ext cx="10553700" cy="880070"/>
          </a:xfrm>
          <a:prstGeom prst="roundRect">
            <a:avLst>
              <a:gd name="adj" fmla="val 11544"/>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2x20.15"/>
          <p:cNvSpPr txBox="1"/>
          <p:nvPr/>
        </p:nvSpPr>
        <p:spPr>
          <a:xfrm>
            <a:off x="1079500" y="1841401"/>
            <a:ext cx="10185400" cy="511770"/>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    assert get_aa_percentage("MSRSLLLRFLLFLLLLPPLP", "r") == 10</a:t>
            </a:r>
            <a:br/>
            <a:r>
              <a:rPr sz="1300" b="0" i="0">
                <a:solidFill>
                  <a:srgbClr val="A8521A"/>
                </a:solidFill>
                <a:latin typeface="Consolas"/>
              </a:rPr>
              <a:t>AssertionError</a:t>
            </a:r>
            <a:endParaRPr sz="1300"/>
          </a:p>
        </p:txBody>
      </p:sp>
      <p:sp>
        <p:nvSpPr>
          <p:cNvPr id="6" name="Rounded Rectangle 5"/>
          <p:cNvSpPr/>
          <p:nvPr/>
        </p:nvSpPr>
        <p:spPr>
          <a:xfrm>
            <a:off x="819150" y="2753221"/>
            <a:ext cx="4877792" cy="2415381"/>
          </a:xfrm>
          <a:prstGeom prst="roundRect">
            <a:avLst>
              <a:gd name="adj" fmla="val 420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8x20.15"/>
          <p:cNvSpPr txBox="1"/>
          <p:nvPr/>
        </p:nvSpPr>
        <p:spPr>
          <a:xfrm>
            <a:off x="1079500" y="2937371"/>
            <a:ext cx="4444234" cy="204708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def</a:t>
            </a:r>
            <a:r>
              <a:rPr sz="1300" b="0" i="0">
                <a:solidFill>
                  <a:srgbClr val="E8EEE9"/>
                </a:solidFill>
                <a:latin typeface="Consolas"/>
              </a:rPr>
              <a:t> get_aa_percentage(protein, aa):</a:t>
            </a:r>
            <a:br/>
            <a:r>
              <a:rPr sz="1300" b="0" i="0">
                <a:solidFill>
                  <a:srgbClr val="E8EEE9"/>
                </a:solidFill>
                <a:latin typeface="Consolas"/>
              </a:rPr>
              <a:t>    </a:t>
            </a:r>
            <a:r>
              <a:rPr sz="1300" b="0" i="0">
                <a:solidFill>
                  <a:srgbClr val="8FB3AA"/>
                </a:solidFill>
                <a:latin typeface="Consolas"/>
              </a:rPr>
              <a:t># oba ulaza u velika slova</a:t>
            </a:r>
            <a:br/>
            <a:r>
              <a:rPr sz="1300" b="0" i="0">
                <a:solidFill>
                  <a:srgbClr val="E8EEE9"/>
                </a:solidFill>
                <a:latin typeface="Consolas"/>
              </a:rPr>
              <a:t>    protein = protein.upper()</a:t>
            </a:r>
            <a:br/>
            <a:r>
              <a:rPr sz="1300" b="0" i="0">
                <a:solidFill>
                  <a:srgbClr val="E8EEE9"/>
                </a:solidFill>
                <a:latin typeface="Consolas"/>
              </a:rPr>
              <a:t>    aa = aa.upper()</a:t>
            </a:r>
            <a:br/>
            <a:r>
              <a:rPr sz="1300" b="0" i="0">
                <a:solidFill>
                  <a:srgbClr val="E8EEE9"/>
                </a:solidFill>
                <a:latin typeface="Consolas"/>
              </a:rPr>
              <a:t>    aa_count = protein.count(aa)</a:t>
            </a:r>
            <a:br/>
            <a:r>
              <a:rPr sz="1300" b="0" i="0">
                <a:solidFill>
                  <a:srgbClr val="E8EEE9"/>
                </a:solidFill>
                <a:latin typeface="Consolas"/>
              </a:rPr>
              <a:t>    protein_length = len(protein)</a:t>
            </a:r>
            <a:br/>
            <a:r>
              <a:rPr sz="1300" b="0" i="0">
                <a:solidFill>
                  <a:srgbClr val="E8EEE9"/>
                </a:solidFill>
                <a:latin typeface="Consolas"/>
              </a:rPr>
              <a:t>    percentage = aa_count * 100 / protein_length</a:t>
            </a:r>
            <a:br/>
            <a:r>
              <a:rPr sz="1300" b="0" i="0">
                <a:solidFill>
                  <a:srgbClr val="E8EEE9"/>
                </a:solidFill>
                <a:latin typeface="Consolas"/>
              </a:rPr>
              <a:t>    </a:t>
            </a:r>
            <a:r>
              <a:rPr sz="1300" b="0" i="0">
                <a:solidFill>
                  <a:srgbClr val="6FD3C1"/>
                </a:solidFill>
                <a:latin typeface="Consolas"/>
              </a:rPr>
              <a:t>return</a:t>
            </a:r>
            <a:r>
              <a:rPr sz="1300" b="0" i="0">
                <a:solidFill>
                  <a:srgbClr val="E8EEE9"/>
                </a:solidFill>
                <a:latin typeface="Consolas"/>
              </a:rPr>
              <a:t> percentage</a:t>
            </a:r>
            <a:endParaRPr sz="1300"/>
          </a:p>
        </p:txBody>
      </p:sp>
      <p:sp>
        <p:nvSpPr>
          <p:cNvPr id="8" name="Rounded Rectangle 7"/>
          <p:cNvSpPr/>
          <p:nvPr/>
        </p:nvSpPr>
        <p:spPr>
          <a:xfrm>
            <a:off x="6011267" y="2750046"/>
            <a:ext cx="5364758" cy="826691"/>
          </a:xfrm>
          <a:prstGeom prst="roundRect">
            <a:avLst>
              <a:gd name="adj" fmla="val 1228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2x20.30"/>
          <p:cNvSpPr txBox="1"/>
          <p:nvPr/>
        </p:nvSpPr>
        <p:spPr>
          <a:xfrm>
            <a:off x="6192242" y="2905621"/>
            <a:ext cx="5102864"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Poruka kaže koji test je pao: protein je velikim, a oznaka malim slovima.</a:t>
            </a:r>
            <a:endParaRPr sz="1400"/>
          </a:p>
        </p:txBody>
      </p:sp>
      <p:sp>
        <p:nvSpPr>
          <p:cNvPr id="10" name="Rounded Rectangle 9"/>
          <p:cNvSpPr/>
          <p:nvPr/>
        </p:nvSpPr>
        <p:spPr>
          <a:xfrm>
            <a:off x="6011267" y="3684687"/>
            <a:ext cx="5364758" cy="826691"/>
          </a:xfrm>
          <a:prstGeom prst="roundRect">
            <a:avLst>
              <a:gd name="adj" fmla="val 1228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2x20.30"/>
          <p:cNvSpPr txBox="1"/>
          <p:nvPr/>
        </p:nvSpPr>
        <p:spPr>
          <a:xfrm>
            <a:off x="6192242" y="3840262"/>
            <a:ext cx="5102864"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Sledeći test, sa proteinom malim slovima, pao bi iz istog razloga.</a:t>
            </a:r>
            <a:endParaRPr sz="1400"/>
          </a:p>
        </p:txBody>
      </p:sp>
      <p:sp>
        <p:nvSpPr>
          <p:cNvPr id="12" name="Rounded Rectangle 11"/>
          <p:cNvSpPr/>
          <p:nvPr/>
        </p:nvSpPr>
        <p:spPr>
          <a:xfrm>
            <a:off x="6008092" y="4616152"/>
            <a:ext cx="5371108" cy="820341"/>
          </a:xfrm>
          <a:prstGeom prst="roundRect">
            <a:avLst>
              <a:gd name="adj" fmla="val 9288"/>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08092" y="4616152"/>
            <a:ext cx="38100" cy="82034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2x20.30"/>
          <p:cNvSpPr txBox="1"/>
          <p:nvPr/>
        </p:nvSpPr>
        <p:spPr>
          <a:xfrm>
            <a:off x="6223992" y="4768552"/>
            <a:ext cx="5076956"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Rezultat </a:t>
            </a:r>
            <a:r>
              <a:rPr sz="1400" b="0" i="0">
                <a:solidFill>
                  <a:srgbClr val="A8521A"/>
                </a:solidFill>
                <a:latin typeface="Arial"/>
              </a:rPr>
              <a:t>upper()</a:t>
            </a:r>
            <a:r>
              <a:rPr sz="1400" b="0" i="0">
                <a:solidFill>
                  <a:srgbClr val="13262B"/>
                </a:solidFill>
                <a:latin typeface="Arial"/>
              </a:rPr>
              <a:t> upisujemo nazad u istu promenljivu. Sada prolaze svi testovi.</a:t>
            </a:r>
            <a:endParaRPr sz="14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05 · VEŽBA: PROCENAT AMINOKISELINA, 2. DEO</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Lista aminokiselina: zbir u petlji</a:t>
            </a:r>
            <a:endParaRPr sz="3200"/>
          </a:p>
        </p:txBody>
      </p:sp>
      <p:sp>
        <p:nvSpPr>
          <p:cNvPr id="4" name="Rounded Rectangle 3"/>
          <p:cNvSpPr/>
          <p:nvPr/>
        </p:nvSpPr>
        <p:spPr>
          <a:xfrm>
            <a:off x="819150" y="1708051"/>
            <a:ext cx="4787205" cy="3183037"/>
          </a:xfrm>
          <a:prstGeom prst="roundRect">
            <a:avLst>
              <a:gd name="adj" fmla="val 3191"/>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1x20.15"/>
          <p:cNvSpPr txBox="1"/>
          <p:nvPr/>
        </p:nvSpPr>
        <p:spPr>
          <a:xfrm>
            <a:off x="1079500" y="1892201"/>
            <a:ext cx="4351836" cy="2814737"/>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protein = </a:t>
            </a:r>
            <a:r>
              <a:rPr sz="1300" b="0" i="0">
                <a:solidFill>
                  <a:srgbClr val="F0A35E"/>
                </a:solidFill>
                <a:latin typeface="Consolas"/>
              </a:rPr>
              <a:t>"MSRSLLLRFLLFLLLLPPLP"</a:t>
            </a:r>
            <a:br/>
            <a:r>
              <a:rPr sz="1300" b="0" i="0">
                <a:solidFill>
                  <a:srgbClr val="E8EEE9"/>
                </a:solidFill>
                <a:latin typeface="Consolas"/>
              </a:rPr>
              <a:t>aa_list = [</a:t>
            </a:r>
            <a:r>
              <a:rPr sz="1300" b="0" i="0">
                <a:solidFill>
                  <a:srgbClr val="F0A35E"/>
                </a:solidFill>
                <a:latin typeface="Consolas"/>
              </a:rPr>
              <a:t>'M'</a:t>
            </a:r>
            <a:r>
              <a:rPr sz="1300" b="0" i="0">
                <a:solidFill>
                  <a:srgbClr val="E8EEE9"/>
                </a:solidFill>
                <a:latin typeface="Consolas"/>
              </a:rPr>
              <a:t>, </a:t>
            </a:r>
            <a:r>
              <a:rPr sz="1300" b="0" i="0">
                <a:solidFill>
                  <a:srgbClr val="F0A35E"/>
                </a:solidFill>
                <a:latin typeface="Consolas"/>
              </a:rPr>
              <a:t>'L'</a:t>
            </a:r>
            <a:r>
              <a:rPr sz="1300" b="0" i="0">
                <a:solidFill>
                  <a:srgbClr val="E8EEE9"/>
                </a:solidFill>
                <a:latin typeface="Consolas"/>
              </a:rPr>
              <a:t>, </a:t>
            </a:r>
            <a:r>
              <a:rPr sz="1300" b="0" i="0">
                <a:solidFill>
                  <a:srgbClr val="F0A35E"/>
                </a:solidFill>
                <a:latin typeface="Consolas"/>
              </a:rPr>
              <a:t>'F'</a:t>
            </a:r>
            <a:r>
              <a:rPr sz="1300" b="0" i="0">
                <a:solidFill>
                  <a:srgbClr val="E8EEE9"/>
                </a:solidFill>
                <a:latin typeface="Consolas"/>
              </a:rPr>
              <a:t>]</a:t>
            </a:r>
            <a:br/>
            <a:r>
              <a:rPr sz="1300" b="0" i="0">
                <a:solidFill>
                  <a:srgbClr val="E8EEE9"/>
                </a:solidFill>
                <a:latin typeface="Consolas"/>
              </a:rPr>
              <a:t>total = 0</a:t>
            </a:r>
            <a:br/>
            <a:r>
              <a:rPr sz="1300" b="0" i="0">
                <a:solidFill>
                  <a:srgbClr val="6FD3C1"/>
                </a:solidFill>
                <a:latin typeface="Consolas"/>
              </a:rPr>
              <a:t>for</a:t>
            </a:r>
            <a:r>
              <a:rPr sz="1300" b="0" i="0">
                <a:solidFill>
                  <a:srgbClr val="E8EEE9"/>
                </a:solidFill>
                <a:latin typeface="Consolas"/>
              </a:rPr>
              <a:t> aa </a:t>
            </a:r>
            <a:r>
              <a:rPr sz="1300" b="0" i="0">
                <a:solidFill>
                  <a:srgbClr val="6FD3C1"/>
                </a:solidFill>
                <a:latin typeface="Consolas"/>
              </a:rPr>
              <a:t>in</a:t>
            </a:r>
            <a:r>
              <a:rPr sz="1300" b="0" i="0">
                <a:solidFill>
                  <a:srgbClr val="E8EEE9"/>
                </a:solidFill>
                <a:latin typeface="Consolas"/>
              </a:rPr>
              <a:t> aa_list:</a:t>
            </a:r>
            <a:br/>
            <a:r>
              <a:rPr sz="1300" b="0" i="0">
                <a:solidFill>
                  <a:srgbClr val="E8EEE9"/>
                </a:solidFill>
                <a:latin typeface="Consolas"/>
              </a:rPr>
              <a:t>    print(</a:t>
            </a:r>
            <a:r>
              <a:rPr sz="1300" b="0" i="0">
                <a:solidFill>
                  <a:srgbClr val="F0A35E"/>
                </a:solidFill>
                <a:latin typeface="Consolas"/>
              </a:rPr>
              <a:t>"counting number of "</a:t>
            </a:r>
            <a:r>
              <a:rPr sz="1300" b="0" i="0">
                <a:solidFill>
                  <a:srgbClr val="E8EEE9"/>
                </a:solidFill>
                <a:latin typeface="Consolas"/>
              </a:rPr>
              <a:t> + aa)</a:t>
            </a:r>
            <a:br/>
            <a:r>
              <a:rPr sz="1300" b="0" i="0">
                <a:solidFill>
                  <a:srgbClr val="E8EEE9"/>
                </a:solidFill>
                <a:latin typeface="Consolas"/>
              </a:rPr>
              <a:t>    aa = aa.upper()</a:t>
            </a:r>
            <a:br/>
            <a:r>
              <a:rPr sz="1300" b="0" i="0">
                <a:solidFill>
                  <a:srgbClr val="E8EEE9"/>
                </a:solidFill>
                <a:latin typeface="Consolas"/>
              </a:rPr>
              <a:t>    aa_count = protein.count(aa)</a:t>
            </a:r>
            <a:br/>
            <a:r>
              <a:rPr sz="1300" b="0" i="0">
                <a:solidFill>
                  <a:srgbClr val="E8EEE9"/>
                </a:solidFill>
                <a:latin typeface="Consolas"/>
              </a:rPr>
              <a:t>    total = total + aa_count</a:t>
            </a:r>
            <a:br/>
            <a:r>
              <a:rPr sz="1300" b="0" i="0">
                <a:solidFill>
                  <a:srgbClr val="E8EEE9"/>
                </a:solidFill>
                <a:latin typeface="Consolas"/>
              </a:rPr>
              <a:t>    print(</a:t>
            </a:r>
            <a:r>
              <a:rPr sz="1300" b="0" i="0">
                <a:solidFill>
                  <a:srgbClr val="F0A35E"/>
                </a:solidFill>
                <a:latin typeface="Consolas"/>
              </a:rPr>
              <a:t>"running total is "</a:t>
            </a:r>
            <a:r>
              <a:rPr sz="1300" b="0" i="0">
                <a:solidFill>
                  <a:srgbClr val="E8EEE9"/>
                </a:solidFill>
                <a:latin typeface="Consolas"/>
              </a:rPr>
              <a:t> + str(total))</a:t>
            </a:r>
            <a:br/>
            <a:r>
              <a:rPr sz="1300" b="0" i="0">
                <a:solidFill>
                  <a:srgbClr val="E8EEE9"/>
                </a:solidFill>
                <a:latin typeface="Consolas"/>
              </a:rPr>
              <a:t>percentage = total * 100 / len(protein)</a:t>
            </a:r>
            <a:br/>
            <a:r>
              <a:rPr sz="1300" b="0" i="0">
                <a:solidFill>
                  <a:srgbClr val="E8EEE9"/>
                </a:solidFill>
                <a:latin typeface="Consolas"/>
              </a:rPr>
              <a:t>print(</a:t>
            </a:r>
            <a:r>
              <a:rPr sz="1300" b="0" i="0">
                <a:solidFill>
                  <a:srgbClr val="F0A35E"/>
                </a:solidFill>
                <a:latin typeface="Consolas"/>
              </a:rPr>
              <a:t>"final percentage is "</a:t>
            </a:r>
            <a:r>
              <a:rPr sz="1300" b="0" i="0">
                <a:solidFill>
                  <a:srgbClr val="E8EEE9"/>
                </a:solidFill>
                <a:latin typeface="Consolas"/>
              </a:rPr>
              <a:t> + str(percentage))</a:t>
            </a:r>
            <a:endParaRPr sz="1300"/>
          </a:p>
        </p:txBody>
      </p:sp>
      <p:sp>
        <p:nvSpPr>
          <p:cNvPr id="6" name="Rounded Rectangle 5"/>
          <p:cNvSpPr/>
          <p:nvPr/>
        </p:nvSpPr>
        <p:spPr>
          <a:xfrm>
            <a:off x="5923855" y="1708051"/>
            <a:ext cx="5448995" cy="2159496"/>
          </a:xfrm>
          <a:prstGeom prst="roundRect">
            <a:avLst>
              <a:gd name="adj" fmla="val 4704"/>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16.80"/>
          <p:cNvSpPr txBox="1"/>
          <p:nvPr/>
        </p:nvSpPr>
        <p:spPr>
          <a:xfrm>
            <a:off x="10325100" y="1765201"/>
            <a:ext cx="9144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IZLAZ</a:t>
            </a:r>
            <a:endParaRPr sz="1200"/>
          </a:p>
        </p:txBody>
      </p:sp>
      <p:sp>
        <p:nvSpPr>
          <p:cNvPr id="8" name="Tekst 7x20.15"/>
          <p:cNvSpPr txBox="1"/>
          <p:nvPr/>
        </p:nvSpPr>
        <p:spPr>
          <a:xfrm>
            <a:off x="6184205" y="1892201"/>
            <a:ext cx="5026860" cy="179119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counting number of M</a:t>
            </a:r>
            <a:br/>
            <a:r>
              <a:rPr sz="1300" b="0" i="0">
                <a:solidFill>
                  <a:srgbClr val="13262B"/>
                </a:solidFill>
                <a:latin typeface="Consolas"/>
              </a:rPr>
              <a:t>running total is 1</a:t>
            </a:r>
            <a:br/>
            <a:r>
              <a:rPr sz="1300" b="0" i="0">
                <a:solidFill>
                  <a:srgbClr val="13262B"/>
                </a:solidFill>
                <a:latin typeface="Consolas"/>
              </a:rPr>
              <a:t>counting number of L</a:t>
            </a:r>
            <a:br/>
            <a:r>
              <a:rPr sz="1300" b="0" i="0">
                <a:solidFill>
                  <a:srgbClr val="13262B"/>
                </a:solidFill>
                <a:latin typeface="Consolas"/>
              </a:rPr>
              <a:t>running total is 11</a:t>
            </a:r>
            <a:br/>
            <a:r>
              <a:rPr sz="1300" b="0" i="0">
                <a:solidFill>
                  <a:srgbClr val="13262B"/>
                </a:solidFill>
                <a:latin typeface="Consolas"/>
              </a:rPr>
              <a:t>counting number of F</a:t>
            </a:r>
            <a:br/>
            <a:r>
              <a:rPr sz="1300" b="0" i="0">
                <a:solidFill>
                  <a:srgbClr val="13262B"/>
                </a:solidFill>
                <a:latin typeface="Consolas"/>
              </a:rPr>
              <a:t>running total is 13</a:t>
            </a:r>
            <a:br/>
            <a:r>
              <a:rPr sz="1300" b="0" i="0">
                <a:solidFill>
                  <a:srgbClr val="13262B"/>
                </a:solidFill>
                <a:latin typeface="Consolas"/>
              </a:rPr>
              <a:t>final percentage is 65.0</a:t>
            </a:r>
            <a:endParaRPr sz="1300"/>
          </a:p>
        </p:txBody>
      </p:sp>
      <p:sp>
        <p:nvSpPr>
          <p:cNvPr id="9" name="Rounded Rectangle 8"/>
          <p:cNvSpPr/>
          <p:nvPr/>
        </p:nvSpPr>
        <p:spPr>
          <a:xfrm>
            <a:off x="5917505" y="4026297"/>
            <a:ext cx="5461695" cy="820341"/>
          </a:xfrm>
          <a:prstGeom prst="roundRect">
            <a:avLst>
              <a:gd name="adj" fmla="val 9288"/>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17505" y="4026297"/>
            <a:ext cx="38100" cy="82034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2x20.30"/>
          <p:cNvSpPr txBox="1"/>
          <p:nvPr/>
        </p:nvSpPr>
        <p:spPr>
          <a:xfrm>
            <a:off x="6158805" y="4178697"/>
            <a:ext cx="5117538"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total</a:t>
            </a:r>
            <a:r>
              <a:rPr sz="1400" b="0" i="0">
                <a:solidFill>
                  <a:srgbClr val="13262B"/>
                </a:solidFill>
                <a:latin typeface="Arial"/>
              </a:rPr>
              <a:t> pravimo pre petlje i povećavamo ga u svakom krugu: zbir koji raste.</a:t>
            </a:r>
            <a:endParaRPr sz="14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05 · VEŽBA: PROCENAT AMINOKISELINA, 2. DEO</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Funkcija sa podrazumevanom listom</a:t>
            </a:r>
            <a:endParaRPr sz="3200"/>
          </a:p>
        </p:txBody>
      </p:sp>
      <p:sp>
        <p:nvSpPr>
          <p:cNvPr id="4" name="Rounded Rectangle 3"/>
          <p:cNvSpPr/>
          <p:nvPr/>
        </p:nvSpPr>
        <p:spPr>
          <a:xfrm>
            <a:off x="819150" y="1657251"/>
            <a:ext cx="10553700" cy="546100"/>
          </a:xfrm>
          <a:prstGeom prst="roundRect">
            <a:avLst>
              <a:gd name="adj" fmla="val 18604"/>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18.00"/>
          <p:cNvSpPr txBox="1"/>
          <p:nvPr/>
        </p:nvSpPr>
        <p:spPr>
          <a:xfrm>
            <a:off x="1079500" y="1816001"/>
            <a:ext cx="10185400" cy="228600"/>
          </a:xfrm>
          <a:prstGeom prst="rect">
            <a:avLst/>
          </a:prstGeom>
          <a:noFill/>
        </p:spPr>
        <p:txBody>
          <a:bodyPr wrap="square" anchor="t" lIns="0" rIns="0" tIns="0" bIns="0">
            <a:noAutofit/>
          </a:bodyPr>
          <a:lstStyle/>
          <a:p>
            <a:pPr algn="l">
              <a:lnSpc>
                <a:spcPts val="1800"/>
              </a:lnSpc>
              <a:spcBef>
                <a:spcPts val="0"/>
              </a:spcBef>
              <a:spcAft>
                <a:spcPts val="0"/>
              </a:spcAft>
            </a:pPr>
            <a:r>
              <a:rPr sz="1200" b="0" i="0">
                <a:solidFill>
                  <a:srgbClr val="A8521A"/>
                </a:solidFill>
                <a:latin typeface="Consolas"/>
              </a:rPr>
              <a:t>TypeError: get_aa_percentage() missing 1 required positional argument: 'aa_list'</a:t>
            </a:r>
            <a:endParaRPr sz="1200"/>
          </a:p>
        </p:txBody>
      </p:sp>
      <p:sp>
        <p:nvSpPr>
          <p:cNvPr id="6" name="Rounded Rectangle 5"/>
          <p:cNvSpPr/>
          <p:nvPr/>
        </p:nvSpPr>
        <p:spPr>
          <a:xfrm>
            <a:off x="819150" y="2419251"/>
            <a:ext cx="7238405" cy="2927152"/>
          </a:xfrm>
          <a:prstGeom prst="roundRect">
            <a:avLst>
              <a:gd name="adj" fmla="val 3470"/>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0x20.15"/>
          <p:cNvSpPr txBox="1"/>
          <p:nvPr/>
        </p:nvSpPr>
        <p:spPr>
          <a:xfrm>
            <a:off x="1079500" y="2603401"/>
            <a:ext cx="6852059" cy="2558852"/>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def</a:t>
            </a:r>
            <a:r>
              <a:rPr sz="1300" b="0" i="0">
                <a:solidFill>
                  <a:srgbClr val="E8EEE9"/>
                </a:solidFill>
                <a:latin typeface="Consolas"/>
              </a:rPr>
              <a:t> get_aa_percentage(protein, aa_list=[</a:t>
            </a:r>
            <a:r>
              <a:rPr sz="1300" b="0" i="0">
                <a:solidFill>
                  <a:srgbClr val="F0A35E"/>
                </a:solidFill>
                <a:latin typeface="Consolas"/>
              </a:rPr>
              <a:t>'A'</a:t>
            </a:r>
            <a:r>
              <a:rPr sz="1300" b="0" i="0">
                <a:solidFill>
                  <a:srgbClr val="E8EEE9"/>
                </a:solidFill>
                <a:latin typeface="Consolas"/>
              </a:rPr>
              <a:t>,</a:t>
            </a:r>
            <a:r>
              <a:rPr sz="1300" b="0" i="0">
                <a:solidFill>
                  <a:srgbClr val="F0A35E"/>
                </a:solidFill>
                <a:latin typeface="Consolas"/>
              </a:rPr>
              <a:t>'I'</a:t>
            </a:r>
            <a:r>
              <a:rPr sz="1300" b="0" i="0">
                <a:solidFill>
                  <a:srgbClr val="E8EEE9"/>
                </a:solidFill>
                <a:latin typeface="Consolas"/>
              </a:rPr>
              <a:t>,</a:t>
            </a:r>
            <a:r>
              <a:rPr sz="1300" b="0" i="0">
                <a:solidFill>
                  <a:srgbClr val="F0A35E"/>
                </a:solidFill>
                <a:latin typeface="Consolas"/>
              </a:rPr>
              <a:t>'L'</a:t>
            </a:r>
            <a:r>
              <a:rPr sz="1300" b="0" i="0">
                <a:solidFill>
                  <a:srgbClr val="E8EEE9"/>
                </a:solidFill>
                <a:latin typeface="Consolas"/>
              </a:rPr>
              <a:t>,</a:t>
            </a:r>
            <a:r>
              <a:rPr sz="1300" b="0" i="0">
                <a:solidFill>
                  <a:srgbClr val="F0A35E"/>
                </a:solidFill>
                <a:latin typeface="Consolas"/>
              </a:rPr>
              <a:t>'M'</a:t>
            </a:r>
            <a:r>
              <a:rPr sz="1300" b="0" i="0">
                <a:solidFill>
                  <a:srgbClr val="E8EEE9"/>
                </a:solidFill>
                <a:latin typeface="Consolas"/>
              </a:rPr>
              <a:t>,</a:t>
            </a:r>
            <a:r>
              <a:rPr sz="1300" b="0" i="0">
                <a:solidFill>
                  <a:srgbClr val="F0A35E"/>
                </a:solidFill>
                <a:latin typeface="Consolas"/>
              </a:rPr>
              <a:t>'F'</a:t>
            </a:r>
            <a:r>
              <a:rPr sz="1300" b="0" i="0">
                <a:solidFill>
                  <a:srgbClr val="E8EEE9"/>
                </a:solidFill>
                <a:latin typeface="Consolas"/>
              </a:rPr>
              <a:t>,</a:t>
            </a:r>
            <a:r>
              <a:rPr sz="1300" b="0" i="0">
                <a:solidFill>
                  <a:srgbClr val="F0A35E"/>
                </a:solidFill>
                <a:latin typeface="Consolas"/>
              </a:rPr>
              <a:t>'W'</a:t>
            </a:r>
            <a:r>
              <a:rPr sz="1300" b="0" i="0">
                <a:solidFill>
                  <a:srgbClr val="E8EEE9"/>
                </a:solidFill>
                <a:latin typeface="Consolas"/>
              </a:rPr>
              <a:t>,</a:t>
            </a:r>
            <a:r>
              <a:rPr sz="1300" b="0" i="0">
                <a:solidFill>
                  <a:srgbClr val="F0A35E"/>
                </a:solidFill>
                <a:latin typeface="Consolas"/>
              </a:rPr>
              <a:t>'Y'</a:t>
            </a:r>
            <a:r>
              <a:rPr sz="1300" b="0" i="0">
                <a:solidFill>
                  <a:srgbClr val="E8EEE9"/>
                </a:solidFill>
                <a:latin typeface="Consolas"/>
              </a:rPr>
              <a:t>,</a:t>
            </a:r>
            <a:r>
              <a:rPr sz="1300" b="0" i="0">
                <a:solidFill>
                  <a:srgbClr val="F0A35E"/>
                </a:solidFill>
                <a:latin typeface="Consolas"/>
              </a:rPr>
              <a:t>'V'</a:t>
            </a:r>
            <a:r>
              <a:rPr sz="1300" b="0" i="0">
                <a:solidFill>
                  <a:srgbClr val="E8EEE9"/>
                </a:solidFill>
                <a:latin typeface="Consolas"/>
              </a:rPr>
              <a:t>]):</a:t>
            </a:r>
            <a:br/>
            <a:r>
              <a:rPr sz="1300" b="0" i="0">
                <a:solidFill>
                  <a:srgbClr val="E8EEE9"/>
                </a:solidFill>
                <a:latin typeface="Consolas"/>
              </a:rPr>
              <a:t>    protein = protein.upper()</a:t>
            </a:r>
            <a:br/>
            <a:r>
              <a:rPr sz="1300" b="0" i="0">
                <a:solidFill>
                  <a:srgbClr val="E8EEE9"/>
                </a:solidFill>
                <a:latin typeface="Consolas"/>
              </a:rPr>
              <a:t>    protein_length = len(protein)</a:t>
            </a:r>
            <a:br/>
            <a:r>
              <a:rPr sz="1300" b="0" i="0">
                <a:solidFill>
                  <a:srgbClr val="E8EEE9"/>
                </a:solidFill>
                <a:latin typeface="Consolas"/>
              </a:rPr>
              <a:t>    total = 0</a:t>
            </a:r>
            <a:br/>
            <a:r>
              <a:rPr sz="1300" b="0" i="0">
                <a:solidFill>
                  <a:srgbClr val="E8EEE9"/>
                </a:solidFill>
                <a:latin typeface="Consolas"/>
              </a:rPr>
              <a:t>    </a:t>
            </a:r>
            <a:r>
              <a:rPr sz="1300" b="0" i="0">
                <a:solidFill>
                  <a:srgbClr val="6FD3C1"/>
                </a:solidFill>
                <a:latin typeface="Consolas"/>
              </a:rPr>
              <a:t>for</a:t>
            </a:r>
            <a:r>
              <a:rPr sz="1300" b="0" i="0">
                <a:solidFill>
                  <a:srgbClr val="E8EEE9"/>
                </a:solidFill>
                <a:latin typeface="Consolas"/>
              </a:rPr>
              <a:t> aa </a:t>
            </a:r>
            <a:r>
              <a:rPr sz="1300" b="0" i="0">
                <a:solidFill>
                  <a:srgbClr val="6FD3C1"/>
                </a:solidFill>
                <a:latin typeface="Consolas"/>
              </a:rPr>
              <a:t>in</a:t>
            </a:r>
            <a:r>
              <a:rPr sz="1300" b="0" i="0">
                <a:solidFill>
                  <a:srgbClr val="E8EEE9"/>
                </a:solidFill>
                <a:latin typeface="Consolas"/>
              </a:rPr>
              <a:t> aa_list:</a:t>
            </a:r>
            <a:br/>
            <a:r>
              <a:rPr sz="1300" b="0" i="0">
                <a:solidFill>
                  <a:srgbClr val="E8EEE9"/>
                </a:solidFill>
                <a:latin typeface="Consolas"/>
              </a:rPr>
              <a:t>        aa = aa.upper()</a:t>
            </a:r>
            <a:br/>
            <a:r>
              <a:rPr sz="1300" b="0" i="0">
                <a:solidFill>
                  <a:srgbClr val="E8EEE9"/>
                </a:solidFill>
                <a:latin typeface="Consolas"/>
              </a:rPr>
              <a:t>        aa_count = protein.count(aa)</a:t>
            </a:r>
            <a:br/>
            <a:r>
              <a:rPr sz="1300" b="0" i="0">
                <a:solidFill>
                  <a:srgbClr val="E8EEE9"/>
                </a:solidFill>
                <a:latin typeface="Consolas"/>
              </a:rPr>
              <a:t>        total = total + aa_count</a:t>
            </a:r>
            <a:br/>
            <a:r>
              <a:rPr sz="1300" b="0" i="0">
                <a:solidFill>
                  <a:srgbClr val="E8EEE9"/>
                </a:solidFill>
                <a:latin typeface="Consolas"/>
              </a:rPr>
              <a:t>    percentage = total * 100 / protein_length</a:t>
            </a:r>
            <a:br/>
            <a:r>
              <a:rPr sz="1300" b="0" i="0">
                <a:solidFill>
                  <a:srgbClr val="E8EEE9"/>
                </a:solidFill>
                <a:latin typeface="Consolas"/>
              </a:rPr>
              <a:t>    </a:t>
            </a:r>
            <a:r>
              <a:rPr sz="1300" b="0" i="0">
                <a:solidFill>
                  <a:srgbClr val="6FD3C1"/>
                </a:solidFill>
                <a:latin typeface="Consolas"/>
              </a:rPr>
              <a:t>return</a:t>
            </a:r>
            <a:r>
              <a:rPr sz="1300" b="0" i="0">
                <a:solidFill>
                  <a:srgbClr val="E8EEE9"/>
                </a:solidFill>
                <a:latin typeface="Consolas"/>
              </a:rPr>
              <a:t> percentage</a:t>
            </a:r>
            <a:endParaRPr sz="1300"/>
          </a:p>
        </p:txBody>
      </p:sp>
      <p:sp>
        <p:nvSpPr>
          <p:cNvPr id="8" name="Tekst 2x20.30"/>
          <p:cNvSpPr txBox="1"/>
          <p:nvPr/>
        </p:nvSpPr>
        <p:spPr>
          <a:xfrm>
            <a:off x="8317905" y="2412901"/>
            <a:ext cx="3122521"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Bez drugog argumenta funkcija nije mogla da se pozove.</a:t>
            </a:r>
            <a:endParaRPr sz="1400"/>
          </a:p>
        </p:txBody>
      </p:sp>
      <p:sp>
        <p:nvSpPr>
          <p:cNvPr id="9" name="Rounded Rectangle 8"/>
          <p:cNvSpPr/>
          <p:nvPr/>
        </p:nvSpPr>
        <p:spPr>
          <a:xfrm>
            <a:off x="8317905" y="3030041"/>
            <a:ext cx="3061295" cy="1027311"/>
          </a:xfrm>
          <a:prstGeom prst="roundRect">
            <a:avLst>
              <a:gd name="adj" fmla="val 7417"/>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17905" y="3030041"/>
            <a:ext cx="38100" cy="102731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3x20.30"/>
          <p:cNvSpPr txBox="1"/>
          <p:nvPr/>
        </p:nvSpPr>
        <p:spPr>
          <a:xfrm>
            <a:off x="8508405" y="3157041"/>
            <a:ext cx="2772763" cy="77331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Podrazumevana vrednost: lista hidrofobnih aminokiselina. Sada svi testovi prolaze.</a:t>
            </a:r>
            <a:endParaRPr sz="14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05 · PISANJE SOPSTVENIH FUNKCIJA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Rezime i vežbe</a:t>
            </a:r>
            <a:endParaRPr sz="3200"/>
          </a:p>
        </p:txBody>
      </p:sp>
      <p:sp>
        <p:nvSpPr>
          <p:cNvPr id="4" name="Rounded Rectangle 3"/>
          <p:cNvSpPr/>
          <p:nvPr/>
        </p:nvSpPr>
        <p:spPr>
          <a:xfrm>
            <a:off x="815975" y="1704876"/>
            <a:ext cx="4081066" cy="2542183"/>
          </a:xfrm>
          <a:prstGeom prst="roundRect">
            <a:avLst>
              <a:gd name="adj" fmla="val 3996"/>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21.60"/>
          <p:cNvSpPr txBox="1"/>
          <p:nvPr/>
        </p:nvSpPr>
        <p:spPr>
          <a:xfrm>
            <a:off x="1022350" y="1885851"/>
            <a:ext cx="3741682"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Šta smo naučili</a:t>
            </a:r>
            <a:endParaRPr sz="1800"/>
          </a:p>
        </p:txBody>
      </p:sp>
      <p:sp>
        <p:nvSpPr>
          <p:cNvPr id="6" name="Tekst 7x20.30"/>
          <p:cNvSpPr txBox="1"/>
          <p:nvPr/>
        </p:nvSpPr>
        <p:spPr>
          <a:xfrm>
            <a:off x="1022350" y="2261691"/>
            <a:ext cx="3741682" cy="1804392"/>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def, argumenti, telo i return</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Definicija nije poziv</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Opseg: promenljive funkcije žive samo u njoj</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Enkapsulacija i „jedan posao”</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Imenovani i podrazumevani argumenti</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Testiranje sa assert</a:t>
            </a:r>
            <a:endParaRPr sz="1400"/>
          </a:p>
        </p:txBody>
      </p:sp>
      <p:sp>
        <p:nvSpPr>
          <p:cNvPr id="7" name="Rounded Rectangle 6"/>
          <p:cNvSpPr/>
          <p:nvPr/>
        </p:nvSpPr>
        <p:spPr>
          <a:xfrm>
            <a:off x="5103416" y="1701701"/>
            <a:ext cx="6275784" cy="3418284"/>
          </a:xfrm>
          <a:prstGeom prst="roundRect">
            <a:avLst>
              <a:gd name="adj" fmla="val 2972"/>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21.60"/>
          <p:cNvSpPr txBox="1"/>
          <p:nvPr/>
        </p:nvSpPr>
        <p:spPr>
          <a:xfrm>
            <a:off x="5306616" y="1879501"/>
            <a:ext cx="5986772"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Vežbe: procenat aminokiselina</a:t>
            </a:r>
            <a:endParaRPr sz="1800"/>
          </a:p>
        </p:txBody>
      </p:sp>
      <p:sp>
        <p:nvSpPr>
          <p:cNvPr id="9" name="Tekst 2x20.30"/>
          <p:cNvSpPr txBox="1"/>
          <p:nvPr/>
        </p:nvSpPr>
        <p:spPr>
          <a:xfrm>
            <a:off x="5306616" y="2229941"/>
            <a:ext cx="5986772"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1. Funkcija prima protein i oznaku aminokiseline i vraća njen procenat u proteinu:</a:t>
            </a:r>
            <a:endParaRPr sz="1400"/>
          </a:p>
        </p:txBody>
      </p:sp>
      <p:sp>
        <p:nvSpPr>
          <p:cNvPr id="10" name="Rounded Rectangle 9"/>
          <p:cNvSpPr/>
          <p:nvPr/>
        </p:nvSpPr>
        <p:spPr>
          <a:xfrm>
            <a:off x="5306616" y="2821682"/>
            <a:ext cx="5869384" cy="726281"/>
          </a:xfrm>
          <a:prstGeom prst="roundRect">
            <a:avLst>
              <a:gd name="adj" fmla="val 10491"/>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2x18.60"/>
          <p:cNvSpPr txBox="1"/>
          <p:nvPr/>
        </p:nvSpPr>
        <p:spPr>
          <a:xfrm>
            <a:off x="5459016" y="2948682"/>
            <a:ext cx="5656024" cy="472281"/>
          </a:xfrm>
          <a:prstGeom prst="rect">
            <a:avLst/>
          </a:prstGeom>
          <a:noFill/>
        </p:spPr>
        <p:txBody>
          <a:bodyPr wrap="none" anchor="t" lIns="0" rIns="0" tIns="0" bIns="0">
            <a:noAutofit/>
          </a:bodyPr>
          <a:lstStyle/>
          <a:p>
            <a:pPr algn="l">
              <a:lnSpc>
                <a:spcPts val="1860"/>
              </a:lnSpc>
              <a:spcBef>
                <a:spcPts val="0"/>
              </a:spcBef>
              <a:spcAft>
                <a:spcPts val="0"/>
              </a:spcAft>
            </a:pPr>
            <a:r>
              <a:rPr sz="1200" b="0" i="0">
                <a:solidFill>
                  <a:srgbClr val="6FD3C1"/>
                </a:solidFill>
                <a:latin typeface="Consolas"/>
              </a:rPr>
              <a:t>assert</a:t>
            </a:r>
            <a:r>
              <a:rPr sz="1200" b="0" i="0">
                <a:solidFill>
                  <a:srgbClr val="E8EEE9"/>
                </a:solidFill>
                <a:latin typeface="Consolas"/>
              </a:rPr>
              <a:t> my_function(</a:t>
            </a:r>
            <a:r>
              <a:rPr sz="1200" b="0" i="0">
                <a:solidFill>
                  <a:srgbClr val="F0A35E"/>
                </a:solidFill>
                <a:latin typeface="Consolas"/>
              </a:rPr>
              <a:t>"MSRSLLLRFLLFLLLLPPLP"</a:t>
            </a:r>
            <a:r>
              <a:rPr sz="1200" b="0" i="0">
                <a:solidFill>
                  <a:srgbClr val="E8EEE9"/>
                </a:solidFill>
                <a:latin typeface="Consolas"/>
              </a:rPr>
              <a:t>, </a:t>
            </a:r>
            <a:r>
              <a:rPr sz="1200" b="0" i="0">
                <a:solidFill>
                  <a:srgbClr val="F0A35E"/>
                </a:solidFill>
                <a:latin typeface="Consolas"/>
              </a:rPr>
              <a:t>"M"</a:t>
            </a:r>
            <a:r>
              <a:rPr sz="1200" b="0" i="0">
                <a:solidFill>
                  <a:srgbClr val="E8EEE9"/>
                </a:solidFill>
                <a:latin typeface="Consolas"/>
              </a:rPr>
              <a:t>) == 5</a:t>
            </a:r>
            <a:br/>
            <a:r>
              <a:rPr sz="1200" b="0" i="0">
                <a:solidFill>
                  <a:srgbClr val="6FD3C1"/>
                </a:solidFill>
                <a:latin typeface="Consolas"/>
              </a:rPr>
              <a:t>assert</a:t>
            </a:r>
            <a:r>
              <a:rPr sz="1200" b="0" i="0">
                <a:solidFill>
                  <a:srgbClr val="E8EEE9"/>
                </a:solidFill>
                <a:latin typeface="Consolas"/>
              </a:rPr>
              <a:t> my_function(</a:t>
            </a:r>
            <a:r>
              <a:rPr sz="1200" b="0" i="0">
                <a:solidFill>
                  <a:srgbClr val="F0A35E"/>
                </a:solidFill>
                <a:latin typeface="Consolas"/>
              </a:rPr>
              <a:t>"MSRSLLLRFLLFLLLLPPLP"</a:t>
            </a:r>
            <a:r>
              <a:rPr sz="1200" b="0" i="0">
                <a:solidFill>
                  <a:srgbClr val="E8EEE9"/>
                </a:solidFill>
                <a:latin typeface="Consolas"/>
              </a:rPr>
              <a:t>, </a:t>
            </a:r>
            <a:r>
              <a:rPr sz="1200" b="0" i="0">
                <a:solidFill>
                  <a:srgbClr val="F0A35E"/>
                </a:solidFill>
                <a:latin typeface="Consolas"/>
              </a:rPr>
              <a:t>"L"</a:t>
            </a:r>
            <a:r>
              <a:rPr sz="1200" b="0" i="0">
                <a:solidFill>
                  <a:srgbClr val="E8EEE9"/>
                </a:solidFill>
                <a:latin typeface="Consolas"/>
              </a:rPr>
              <a:t>) == 50</a:t>
            </a:r>
            <a:endParaRPr sz="1200"/>
          </a:p>
        </p:txBody>
      </p:sp>
      <p:sp>
        <p:nvSpPr>
          <p:cNvPr id="12" name="Tekst 2x20.30"/>
          <p:cNvSpPr txBox="1"/>
          <p:nvPr/>
        </p:nvSpPr>
        <p:spPr>
          <a:xfrm>
            <a:off x="5306616" y="3624163"/>
            <a:ext cx="5986772"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2. Umesto jedne prima listu aminokiselina; bez liste vraća procenat hidrofobnih (A, I, L, M, F, W, Y, V):</a:t>
            </a:r>
            <a:endParaRPr sz="1400"/>
          </a:p>
        </p:txBody>
      </p:sp>
      <p:sp>
        <p:nvSpPr>
          <p:cNvPr id="13" name="Rounded Rectangle 12"/>
          <p:cNvSpPr/>
          <p:nvPr/>
        </p:nvSpPr>
        <p:spPr>
          <a:xfrm>
            <a:off x="5306616" y="4215904"/>
            <a:ext cx="5869384" cy="726281"/>
          </a:xfrm>
          <a:prstGeom prst="roundRect">
            <a:avLst>
              <a:gd name="adj" fmla="val 10491"/>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2x18.60"/>
          <p:cNvSpPr txBox="1"/>
          <p:nvPr/>
        </p:nvSpPr>
        <p:spPr>
          <a:xfrm>
            <a:off x="5459016" y="4342904"/>
            <a:ext cx="5656024" cy="472281"/>
          </a:xfrm>
          <a:prstGeom prst="rect">
            <a:avLst/>
          </a:prstGeom>
          <a:noFill/>
        </p:spPr>
        <p:txBody>
          <a:bodyPr wrap="none" anchor="t" lIns="0" rIns="0" tIns="0" bIns="0">
            <a:noAutofit/>
          </a:bodyPr>
          <a:lstStyle/>
          <a:p>
            <a:pPr algn="l">
              <a:lnSpc>
                <a:spcPts val="1860"/>
              </a:lnSpc>
              <a:spcBef>
                <a:spcPts val="0"/>
              </a:spcBef>
              <a:spcAft>
                <a:spcPts val="0"/>
              </a:spcAft>
            </a:pPr>
            <a:r>
              <a:rPr sz="1200" b="0" i="0">
                <a:solidFill>
                  <a:srgbClr val="6FD3C1"/>
                </a:solidFill>
                <a:latin typeface="Consolas"/>
              </a:rPr>
              <a:t>assert</a:t>
            </a:r>
            <a:r>
              <a:rPr sz="1200" b="0" i="0">
                <a:solidFill>
                  <a:srgbClr val="E8EEE9"/>
                </a:solidFill>
                <a:latin typeface="Consolas"/>
              </a:rPr>
              <a:t> my_function(</a:t>
            </a:r>
            <a:r>
              <a:rPr sz="1200" b="0" i="0">
                <a:solidFill>
                  <a:srgbClr val="F0A35E"/>
                </a:solidFill>
                <a:latin typeface="Consolas"/>
              </a:rPr>
              <a:t>"MSRSLLLRFLLFLLLLPPLP"</a:t>
            </a:r>
            <a:r>
              <a:rPr sz="1200" b="0" i="0">
                <a:solidFill>
                  <a:srgbClr val="E8EEE9"/>
                </a:solidFill>
                <a:latin typeface="Consolas"/>
              </a:rPr>
              <a:t>, [</a:t>
            </a:r>
            <a:r>
              <a:rPr sz="1200" b="0" i="0">
                <a:solidFill>
                  <a:srgbClr val="F0A35E"/>
                </a:solidFill>
                <a:latin typeface="Consolas"/>
              </a:rPr>
              <a:t>'M'</a:t>
            </a:r>
            <a:r>
              <a:rPr sz="1200" b="0" i="0">
                <a:solidFill>
                  <a:srgbClr val="E8EEE9"/>
                </a:solidFill>
                <a:latin typeface="Consolas"/>
              </a:rPr>
              <a:t>, </a:t>
            </a:r>
            <a:r>
              <a:rPr sz="1200" b="0" i="0">
                <a:solidFill>
                  <a:srgbClr val="F0A35E"/>
                </a:solidFill>
                <a:latin typeface="Consolas"/>
              </a:rPr>
              <a:t>'L'</a:t>
            </a:r>
            <a:r>
              <a:rPr sz="1200" b="0" i="0">
                <a:solidFill>
                  <a:srgbClr val="E8EEE9"/>
                </a:solidFill>
                <a:latin typeface="Consolas"/>
              </a:rPr>
              <a:t>]) == 55</a:t>
            </a:r>
            <a:br/>
            <a:r>
              <a:rPr sz="1200" b="0" i="0">
                <a:solidFill>
                  <a:srgbClr val="6FD3C1"/>
                </a:solidFill>
                <a:latin typeface="Consolas"/>
              </a:rPr>
              <a:t>assert</a:t>
            </a:r>
            <a:r>
              <a:rPr sz="1200" b="0" i="0">
                <a:solidFill>
                  <a:srgbClr val="E8EEE9"/>
                </a:solidFill>
                <a:latin typeface="Consolas"/>
              </a:rPr>
              <a:t> my_function(</a:t>
            </a:r>
            <a:r>
              <a:rPr sz="1200" b="0" i="0">
                <a:solidFill>
                  <a:srgbClr val="F0A35E"/>
                </a:solidFill>
                <a:latin typeface="Consolas"/>
              </a:rPr>
              <a:t>"MSRSLLLRFLLFLLLLPPLP"</a:t>
            </a:r>
            <a:r>
              <a:rPr sz="1200" b="0" i="0">
                <a:solidFill>
                  <a:srgbClr val="E8EEE9"/>
                </a:solidFill>
                <a:latin typeface="Consolas"/>
              </a:rPr>
              <a:t>) == 65</a:t>
            </a:r>
            <a:endParaRPr sz="12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za biologe – Lekcija 5: Pisanje sopstvenih funkcija</dc:title>
  <dc:subject>Prema knjizi Martina Jonesa: Python for Biologists</dc:subject>
  <dc:creator>Aleksandar Kartelj</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