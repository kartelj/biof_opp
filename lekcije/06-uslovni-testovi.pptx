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sada smo svaki podatak (sekvencu, bazu, ime vrste, egzon) obrađivali na isti način. Pravi problemi traže odluke: „ispiši ime sekvence ako je duža od 300 baza” ili „grupiši dva uzorka ako su skupljeni na manje od 10 metara jedan od drugog”. Uslovne naredbe prave takve tačke odluke, a da bismo ih koristili, prvo moramo da razumemo uslove.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Uslov je deo koda koji daje odgovor tačno ili netačno. Ono što se ispisuje nisu stringovi "True" i "False", nego posebne vrednosti; print(True) radi, a print(Hello) daje NameError. Česta greška: jedan znak = umesto dva u poređenju. Postoji i operator is (da li su dva objekta isti objekat), ali ga knjiga namerno izbegava.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Obrazac „linija sa dvotačkom, pa uvučeni blok” poznat je iz petlji i funkcija. Drugi primer prolazi kroz listu pristupnih brojeva gena i ispisuje samo one koji počinju slovom a. Ovo su prvi primeri sa više nivoa uvlačenja, što je uobičajeno kad je petlja ili uslov unutar drugog. Python dopušta koliko god nivoa, ali ako vam zatreba više od tri, to je obično znak da deo koda treba izdvojiti u funkciju.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odgovara na pitanje „da ili ne”: da li da ispišemo pristupni broj. Često nam treba izbor između dve akcije, „ili jedno ili drugo”, i tada iza bloka if dodajemo else. U drugom primeru brojevi koji počinju sa a idu u prvi fajl, a svi ostali u drugi. Lista accs je ista kao na prethodnom slajdu.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Zadatak: tri fajla, za brojeve koji počinju sa a, za one koji počinju sa b i za sve ostale. Prvo rešenje stavlja drugi if unutar else prvog; radi, ali svaka dodatna grana traži novi nivo uvlačenja. elif spaja else i if, pa isti program ima samo dva nivoa uvlačenja. Na isti način možemo dodati grane za c, d, e i tako dalje, bez dodatnog uvlačenja. Fajlovi file1, file2 i file3 su otvoreni za pisanje pre petlje.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Obrazac je poznat: reč if, uslov, dvotačka i uvučeni blok. Kod unutar if u petlji uvučen je dvaput, jednom za petlju i jednom za if. Više od tri nivoa uvlačenja obično znači da deo koda treba izdvojiti u funkciju. Bez elif bismo pisali if unutar else, što dodaje po jedan nivo uvlačenja za svaku granu; sa elif možemo imati koliko god grana uz samo jedan dodatni nivo. if i else (i elif) stoje na istom nivou uvlačenja.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Umesto dva ugnežđena if-a (počinje sa a, pa završava sa 3), uslove spajamo sa and: nema dodatnog uvlačenja i uslov se čita prirodno. or je tačan ako je bar jedan deo tačan, a not obrće uslov. Zagrade uklanjaju dvosmislenost kad kombinujemo and i or. Ove tri reči zovu se logički (bulovski) operatori; isti princip koristi i pretraga na internetu, npr. „biology python -snake”. Primer while petlje iz knjige: count = 0; while count &lt; 10: print(count); count = count + 1 (bolje je for sa range).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Uslove možemo koristiti i da odredimo kada petlja treba da se završi. Petlje iz poglavlja 4 prolaze kroz kolekciju (listu, string, fajl). while petlja radi sve dok je uslov tačan; u primeru se brojač povećava za jedan u svakom krugu, a petlja staje kad stigne do 10. Ako se promenljiva u uslovu nikad ne promeni, petlja se nikad ne završava. Knjiga napominje da je isti primer bolje napisati sa range, i dalje se ne bavi while petljom.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True i False su obične ugrađene vrednosti: mogu se čuvati u promenljivama, prosleđivati i vraćati iz funkcija kao brojevi i stringovi. Zato funkcija koja uvek vraća True ili False može da se koristi kao uslov. Granica 0.65 za „bogata sa AT” je izbor iz knjige. Kraća verzija odmah vraća rezultat poređenja; na prvi pogled je neobična, ali je čitljivija kad se naviknete.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Fajl data.csv (folder chapter_6) sadrži izmišljene podatke za nekoliko gena. CSV znači Comma Separated Values; zamislite tabelu u kojoj je linija red, a polje kolona. Ove vežbe kombinuju gradivo iz više poglavlja. Pre nego što nastavite, otvorite fajl u editoru i pogledajte ga. Prvi program još ne radi ništa korisno, ali proverava da li dobro čitamo kolone: rstrip uklanja novi red pre deljenja, a redosled polja znamo iz opisa vežbe.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Prva vežba je odluka tipa „da ili ne”, pa je dovoljan if; uslov je složen, jer vrsta može biti jedna od dve. Uslov u knjizi ne staje u jedan red na strani, ali je u programu jedna linija. Druga vežba ponovo koristi veći deo koda iz prve. Knjiga „između 90 i 110” tumači kao strogo veće od 90 i strogo manje od 110; ako granice treba uključiti, koristite &gt;= i &lt;=.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Vežba traži gene sa AT sadržajem manjim od 0.5 i ekspresijom većom od 200. Umesto da AT sadržaj računamo ispočetka, na početak programa kopiramo funkciju get_at_content iz poglavlja 5 i koristimo njen rezultat u uslovu. Važna razlika u odnosu na knjigu: knjiga poredi expression &gt; 200 bez pretvaranja u broj. U Pythonu 2 takvo poređenje stringa i broja ne prijavljuje grešku, ali daje besmislen rezultat; Python 3 prijavljuje TypeError. Zato je potrebno int(expression).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 ovoj vežbi nema računanja; složenost je u tome što uslov ima tri dela koja treba pravilno spojiti. Bez zagrada bi and imao prednost nad or, pa bi uslov značio nešto drugo: ime počinje sa k, ili (počinje sa h i vrsta nije D. melanogaster). Zahtev „osim D. melanogaster” može se napisati znakom različitosti != ili operatorom not ispred poređenja ==; oba su ispravna.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CSV znači Comma Separated Values: zamislite tabelu iz spreadsheet programa u kojoj je svaka linija red, a svako polje kolona. Ovo je rešenje poslednje vežbe poglavlja (visok, nizak ili srednji AT sadržaj), sa tri grane: if, elif i else. Podaci u data.csv su izmišljeni i dolaze uz materijale knjige (folder chapter_6). Primetite da su sva polja stringovi; ako nam ekspresija treba kao broj, pretvaramo je sa 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 vežbe su složenije od ranijih jer kombinuju čitanje fajla, split, funkcije i uslove. Peta vežba je rešena na prethodnom slajdu. Kod četvrte postoji više načina da se izrazi „osim D. melanogaster”: species != "Drosophila melanogaster" ili not species == "Drosophila melanogaster".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62B"/>
        </a:solidFill>
        <a:effectLst/>
      </p:bgPr>
    </p:bg>
    <p:spTree>
      <p:nvGrpSpPr>
        <p:cNvPr id="1" name=""/>
        <p:cNvGrpSpPr/>
        <p:nvPr/>
      </p:nvGrpSpPr>
      <p:grpSpPr/>
      <p:sp>
        <p:nvSpPr>
          <p:cNvPr id="2" name="Tekst 1x16.80"/>
          <p:cNvSpPr txBox="1"/>
          <p:nvPr/>
        </p:nvSpPr>
        <p:spPr>
          <a:xfrm>
            <a:off x="812800" y="711200"/>
            <a:ext cx="6477000"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6FD3C1"/>
                </a:solidFill>
                <a:latin typeface="Arial"/>
              </a:rPr>
              <a:t>POGLAVLJE 6 OD 9</a:t>
            </a:r>
            <a:endParaRPr sz="1200"/>
          </a:p>
        </p:txBody>
      </p:sp>
      <p:sp>
        <p:nvSpPr>
          <p:cNvPr id="3" name="Tekst 1x100.00"/>
          <p:cNvSpPr txBox="1"/>
          <p:nvPr/>
        </p:nvSpPr>
        <p:spPr>
          <a:xfrm>
            <a:off x="812800" y="3457079"/>
            <a:ext cx="10777728" cy="1270000"/>
          </a:xfrm>
          <a:prstGeom prst="rect">
            <a:avLst/>
          </a:prstGeom>
          <a:noFill/>
        </p:spPr>
        <p:txBody>
          <a:bodyPr wrap="square" anchor="t" lIns="0" rIns="0" tIns="0" bIns="0">
            <a:noAutofit/>
          </a:bodyPr>
          <a:lstStyle/>
          <a:p>
            <a:pPr algn="l">
              <a:lnSpc>
                <a:spcPts val="10000"/>
              </a:lnSpc>
              <a:spcBef>
                <a:spcPts val="0"/>
              </a:spcBef>
              <a:spcAft>
                <a:spcPts val="0"/>
              </a:spcAft>
            </a:pPr>
            <a:r>
              <a:rPr sz="10000" b="1" i="0">
                <a:solidFill>
                  <a:srgbClr val="F0A35E"/>
                </a:solidFill>
                <a:latin typeface="Consolas"/>
              </a:rPr>
              <a:t>06</a:t>
            </a:r>
            <a:endParaRPr sz="10000"/>
          </a:p>
        </p:txBody>
      </p:sp>
      <p:sp>
        <p:nvSpPr>
          <p:cNvPr id="4" name="Tekst 1x54.60"/>
          <p:cNvSpPr txBox="1"/>
          <p:nvPr/>
        </p:nvSpPr>
        <p:spPr>
          <a:xfrm>
            <a:off x="812800" y="4879479"/>
            <a:ext cx="10777728" cy="693341"/>
          </a:xfrm>
          <a:prstGeom prst="rect">
            <a:avLst/>
          </a:prstGeom>
          <a:noFill/>
        </p:spPr>
        <p:txBody>
          <a:bodyPr wrap="square" anchor="t" lIns="0" rIns="0" tIns="0" bIns="0">
            <a:noAutofit/>
          </a:bodyPr>
          <a:lstStyle/>
          <a:p>
            <a:pPr algn="l">
              <a:lnSpc>
                <a:spcPts val="5460"/>
              </a:lnSpc>
              <a:spcBef>
                <a:spcPts val="0"/>
              </a:spcBef>
              <a:spcAft>
                <a:spcPts val="0"/>
              </a:spcAft>
            </a:pPr>
            <a:r>
              <a:rPr sz="5200" b="1" i="0">
                <a:solidFill>
                  <a:srgbClr val="F6F4EE"/>
                </a:solidFill>
                <a:latin typeface="Arial"/>
              </a:rPr>
              <a:t>Uslovni testovi</a:t>
            </a:r>
            <a:endParaRPr sz="5200"/>
          </a:p>
        </p:txBody>
      </p:sp>
      <p:sp>
        <p:nvSpPr>
          <p:cNvPr id="5" name="Tekst 1x25.20"/>
          <p:cNvSpPr txBox="1"/>
          <p:nvPr/>
        </p:nvSpPr>
        <p:spPr>
          <a:xfrm>
            <a:off x="812800" y="5725220"/>
            <a:ext cx="10777728" cy="319980"/>
          </a:xfrm>
          <a:prstGeom prst="rect">
            <a:avLst/>
          </a:prstGeom>
          <a:noFill/>
        </p:spPr>
        <p:txBody>
          <a:bodyPr wrap="square" anchor="t" lIns="0" rIns="0" tIns="0" bIns="0">
            <a:noAutofit/>
          </a:bodyPr>
          <a:lstStyle/>
          <a:p>
            <a:pPr algn="l">
              <a:lnSpc>
                <a:spcPts val="2520"/>
              </a:lnSpc>
              <a:spcBef>
                <a:spcPts val="0"/>
              </a:spcBef>
              <a:spcAft>
                <a:spcPts val="0"/>
              </a:spcAft>
            </a:pPr>
            <a:r>
              <a:rPr sz="1800" b="0" i="0">
                <a:solidFill>
                  <a:srgbClr val="BFD3CD"/>
                </a:solidFill>
                <a:latin typeface="Arial"/>
              </a:rPr>
              <a:t>Programi moraju da donose odluke: šta se dešava sa sekvencom zavisi od njenih osobina</a:t>
            </a:r>
            <a:endParaRPr sz="18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06 · USLOVNI TESTOVI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Uslovi: True ili False</a:t>
            </a:r>
            <a:endParaRPr sz="3200"/>
          </a:p>
        </p:txBody>
      </p:sp>
      <p:sp>
        <p:nvSpPr>
          <p:cNvPr id="4" name="Rounded Rectangle 3"/>
          <p:cNvSpPr/>
          <p:nvPr/>
        </p:nvSpPr>
        <p:spPr>
          <a:xfrm>
            <a:off x="819150" y="1708051"/>
            <a:ext cx="3516412" cy="2927152"/>
          </a:xfrm>
          <a:prstGeom prst="roundRect">
            <a:avLst>
              <a:gd name="adj" fmla="val 3470"/>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0x20.15"/>
          <p:cNvSpPr txBox="1"/>
          <p:nvPr/>
        </p:nvSpPr>
        <p:spPr>
          <a:xfrm>
            <a:off x="1079500" y="1892201"/>
            <a:ext cx="3055626" cy="2558852"/>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print(3 == 5)</a:t>
            </a:r>
            <a:br/>
            <a:r>
              <a:rPr sz="1300" b="0" i="0">
                <a:solidFill>
                  <a:srgbClr val="E8EEE9"/>
                </a:solidFill>
                <a:latin typeface="Consolas"/>
              </a:rPr>
              <a:t>print(3 &gt; 5)</a:t>
            </a:r>
            <a:br/>
            <a:r>
              <a:rPr sz="1300" b="0" i="0">
                <a:solidFill>
                  <a:srgbClr val="E8EEE9"/>
                </a:solidFill>
                <a:latin typeface="Consolas"/>
              </a:rPr>
              <a:t>print(3 &lt;= 5)</a:t>
            </a:r>
            <a:br/>
            <a:r>
              <a:rPr sz="1300" b="0" i="0">
                <a:solidFill>
                  <a:srgbClr val="E8EEE9"/>
                </a:solidFill>
                <a:latin typeface="Consolas"/>
              </a:rPr>
              <a:t>print(len(</a:t>
            </a:r>
            <a:r>
              <a:rPr sz="1300" b="0" i="0">
                <a:solidFill>
                  <a:srgbClr val="F0A35E"/>
                </a:solidFill>
                <a:latin typeface="Consolas"/>
              </a:rPr>
              <a:t>"ATGC"</a:t>
            </a:r>
            <a:r>
              <a:rPr sz="1300" b="0" i="0">
                <a:solidFill>
                  <a:srgbClr val="E8EEE9"/>
                </a:solidFill>
                <a:latin typeface="Consolas"/>
              </a:rPr>
              <a:t>) &gt; 5)</a:t>
            </a:r>
            <a:br/>
            <a:r>
              <a:rPr sz="1300" b="0" i="0">
                <a:solidFill>
                  <a:srgbClr val="E8EEE9"/>
                </a:solidFill>
                <a:latin typeface="Consolas"/>
              </a:rPr>
              <a:t>print(</a:t>
            </a:r>
            <a:r>
              <a:rPr sz="1300" b="0" i="0">
                <a:solidFill>
                  <a:srgbClr val="F0A35E"/>
                </a:solidFill>
                <a:latin typeface="Consolas"/>
              </a:rPr>
              <a:t>"GAATTC"</a:t>
            </a:r>
            <a:r>
              <a:rPr sz="1300" b="0" i="0">
                <a:solidFill>
                  <a:srgbClr val="E8EEE9"/>
                </a:solidFill>
                <a:latin typeface="Consolas"/>
              </a:rPr>
              <a:t>.count(</a:t>
            </a:r>
            <a:r>
              <a:rPr sz="1300" b="0" i="0">
                <a:solidFill>
                  <a:srgbClr val="F0A35E"/>
                </a:solidFill>
                <a:latin typeface="Consolas"/>
              </a:rPr>
              <a:t>"T"</a:t>
            </a:r>
            <a:r>
              <a:rPr sz="1300" b="0" i="0">
                <a:solidFill>
                  <a:srgbClr val="E8EEE9"/>
                </a:solidFill>
                <a:latin typeface="Consolas"/>
              </a:rPr>
              <a:t>) &gt; 1)</a:t>
            </a:r>
            <a:br/>
            <a:r>
              <a:rPr sz="1300" b="0" i="0">
                <a:solidFill>
                  <a:srgbClr val="E8EEE9"/>
                </a:solidFill>
                <a:latin typeface="Consolas"/>
              </a:rPr>
              <a:t>print(</a:t>
            </a:r>
            <a:r>
              <a:rPr sz="1300" b="0" i="0">
                <a:solidFill>
                  <a:srgbClr val="F0A35E"/>
                </a:solidFill>
                <a:latin typeface="Consolas"/>
              </a:rPr>
              <a:t>"ATGCTT"</a:t>
            </a:r>
            <a:r>
              <a:rPr sz="1300" b="0" i="0">
                <a:solidFill>
                  <a:srgbClr val="E8EEE9"/>
                </a:solidFill>
                <a:latin typeface="Consolas"/>
              </a:rPr>
              <a:t>.startswith(</a:t>
            </a:r>
            <a:r>
              <a:rPr sz="1300" b="0" i="0">
                <a:solidFill>
                  <a:srgbClr val="F0A35E"/>
                </a:solidFill>
                <a:latin typeface="Consolas"/>
              </a:rPr>
              <a:t>"ATG"</a:t>
            </a:r>
            <a:r>
              <a:rPr sz="1300" b="0" i="0">
                <a:solidFill>
                  <a:srgbClr val="E8EEE9"/>
                </a:solidFill>
                <a:latin typeface="Consolas"/>
              </a:rPr>
              <a:t>))</a:t>
            </a:r>
            <a:br/>
            <a:r>
              <a:rPr sz="1300" b="0" i="0">
                <a:solidFill>
                  <a:srgbClr val="E8EEE9"/>
                </a:solidFill>
                <a:latin typeface="Consolas"/>
              </a:rPr>
              <a:t>print(</a:t>
            </a:r>
            <a:r>
              <a:rPr sz="1300" b="0" i="0">
                <a:solidFill>
                  <a:srgbClr val="F0A35E"/>
                </a:solidFill>
                <a:latin typeface="Consolas"/>
              </a:rPr>
              <a:t>"ATGCTT"</a:t>
            </a:r>
            <a:r>
              <a:rPr sz="1300" b="0" i="0">
                <a:solidFill>
                  <a:srgbClr val="E8EEE9"/>
                </a:solidFill>
                <a:latin typeface="Consolas"/>
              </a:rPr>
              <a:t>.endswith(</a:t>
            </a:r>
            <a:r>
              <a:rPr sz="1300" b="0" i="0">
                <a:solidFill>
                  <a:srgbClr val="F0A35E"/>
                </a:solidFill>
                <a:latin typeface="Consolas"/>
              </a:rPr>
              <a:t>"TTT"</a:t>
            </a:r>
            <a:r>
              <a:rPr sz="1300" b="0" i="0">
                <a:solidFill>
                  <a:srgbClr val="E8EEE9"/>
                </a:solidFill>
                <a:latin typeface="Consolas"/>
              </a:rPr>
              <a:t>))</a:t>
            </a:r>
            <a:br/>
            <a:r>
              <a:rPr sz="1300" b="0" i="0">
                <a:solidFill>
                  <a:srgbClr val="E8EEE9"/>
                </a:solidFill>
                <a:latin typeface="Consolas"/>
              </a:rPr>
              <a:t>print(</a:t>
            </a:r>
            <a:r>
              <a:rPr sz="1300" b="0" i="0">
                <a:solidFill>
                  <a:srgbClr val="F0A35E"/>
                </a:solidFill>
                <a:latin typeface="Consolas"/>
              </a:rPr>
              <a:t>"ATGCTT"</a:t>
            </a:r>
            <a:r>
              <a:rPr sz="1300" b="0" i="0">
                <a:solidFill>
                  <a:srgbClr val="E8EEE9"/>
                </a:solidFill>
                <a:latin typeface="Consolas"/>
              </a:rPr>
              <a:t>.isupper())</a:t>
            </a:r>
            <a:br/>
            <a:r>
              <a:rPr sz="1300" b="0" i="0">
                <a:solidFill>
                  <a:srgbClr val="E8EEE9"/>
                </a:solidFill>
                <a:latin typeface="Consolas"/>
              </a:rPr>
              <a:t>print(</a:t>
            </a:r>
            <a:r>
              <a:rPr sz="1300" b="0" i="0">
                <a:solidFill>
                  <a:srgbClr val="F0A35E"/>
                </a:solidFill>
                <a:latin typeface="Consolas"/>
              </a:rPr>
              <a:t>"ATGCTT"</a:t>
            </a:r>
            <a:r>
              <a:rPr sz="1300" b="0" i="0">
                <a:solidFill>
                  <a:srgbClr val="E8EEE9"/>
                </a:solidFill>
                <a:latin typeface="Consolas"/>
              </a:rPr>
              <a:t>.islower())</a:t>
            </a:r>
            <a:br/>
            <a:r>
              <a:rPr sz="1300" b="0" i="0">
                <a:solidFill>
                  <a:srgbClr val="E8EEE9"/>
                </a:solidFill>
                <a:latin typeface="Consolas"/>
              </a:rPr>
              <a:t>print(</a:t>
            </a:r>
            <a:r>
              <a:rPr sz="1300" b="0" i="0">
                <a:solidFill>
                  <a:srgbClr val="F0A35E"/>
                </a:solidFill>
                <a:latin typeface="Consolas"/>
              </a:rPr>
              <a:t>"V"</a:t>
            </a:r>
            <a:r>
              <a:rPr sz="1300" b="0" i="0">
                <a:solidFill>
                  <a:srgbClr val="E8EEE9"/>
                </a:solidFill>
                <a:latin typeface="Consolas"/>
              </a:rPr>
              <a:t> </a:t>
            </a:r>
            <a:r>
              <a:rPr sz="1300" b="0" i="0">
                <a:solidFill>
                  <a:srgbClr val="6FD3C1"/>
                </a:solidFill>
                <a:latin typeface="Consolas"/>
              </a:rPr>
              <a:t>in</a:t>
            </a:r>
            <a:r>
              <a:rPr sz="1300" b="0" i="0">
                <a:solidFill>
                  <a:srgbClr val="E8EEE9"/>
                </a:solidFill>
                <a:latin typeface="Consolas"/>
              </a:rPr>
              <a:t> [</a:t>
            </a:r>
            <a:r>
              <a:rPr sz="1300" b="0" i="0">
                <a:solidFill>
                  <a:srgbClr val="F0A35E"/>
                </a:solidFill>
                <a:latin typeface="Consolas"/>
              </a:rPr>
              <a:t>"V"</a:t>
            </a:r>
            <a:r>
              <a:rPr sz="1300" b="0" i="0">
                <a:solidFill>
                  <a:srgbClr val="E8EEE9"/>
                </a:solidFill>
                <a:latin typeface="Consolas"/>
              </a:rPr>
              <a:t>, </a:t>
            </a:r>
            <a:r>
              <a:rPr sz="1300" b="0" i="0">
                <a:solidFill>
                  <a:srgbClr val="F0A35E"/>
                </a:solidFill>
                <a:latin typeface="Consolas"/>
              </a:rPr>
              <a:t>"W"</a:t>
            </a:r>
            <a:r>
              <a:rPr sz="1300" b="0" i="0">
                <a:solidFill>
                  <a:srgbClr val="E8EEE9"/>
                </a:solidFill>
                <a:latin typeface="Consolas"/>
              </a:rPr>
              <a:t>, </a:t>
            </a:r>
            <a:r>
              <a:rPr sz="1300" b="0" i="0">
                <a:solidFill>
                  <a:srgbClr val="F0A35E"/>
                </a:solidFill>
                <a:latin typeface="Consolas"/>
              </a:rPr>
              <a:t>"L"</a:t>
            </a:r>
            <a:r>
              <a:rPr sz="1300" b="0" i="0">
                <a:solidFill>
                  <a:srgbClr val="E8EEE9"/>
                </a:solidFill>
                <a:latin typeface="Consolas"/>
              </a:rPr>
              <a:t>])</a:t>
            </a:r>
            <a:endParaRPr sz="1300"/>
          </a:p>
        </p:txBody>
      </p:sp>
      <p:sp>
        <p:nvSpPr>
          <p:cNvPr id="6" name="Rounded Rectangle 5"/>
          <p:cNvSpPr/>
          <p:nvPr/>
        </p:nvSpPr>
        <p:spPr>
          <a:xfrm>
            <a:off x="4449862" y="1708051"/>
            <a:ext cx="1257300" cy="2927152"/>
          </a:xfrm>
          <a:prstGeom prst="roundRect">
            <a:avLst>
              <a:gd name="adj" fmla="val 8080"/>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0x20.15"/>
          <p:cNvSpPr txBox="1"/>
          <p:nvPr/>
        </p:nvSpPr>
        <p:spPr>
          <a:xfrm>
            <a:off x="4710212" y="1892201"/>
            <a:ext cx="762000" cy="2558852"/>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False</a:t>
            </a:r>
            <a:br/>
            <a:r>
              <a:rPr sz="1300" b="0" i="0">
                <a:solidFill>
                  <a:srgbClr val="13262B"/>
                </a:solidFill>
                <a:latin typeface="Consolas"/>
              </a:rPr>
              <a:t>False</a:t>
            </a:r>
            <a:br/>
            <a:r>
              <a:rPr sz="1300" b="0" i="0">
                <a:solidFill>
                  <a:srgbClr val="13262B"/>
                </a:solidFill>
                <a:latin typeface="Consolas"/>
              </a:rPr>
              <a:t>True</a:t>
            </a:r>
            <a:br/>
            <a:r>
              <a:rPr sz="1300" b="0" i="0">
                <a:solidFill>
                  <a:srgbClr val="13262B"/>
                </a:solidFill>
                <a:latin typeface="Consolas"/>
              </a:rPr>
              <a:t>False</a:t>
            </a:r>
            <a:br/>
            <a:r>
              <a:rPr sz="1300" b="0" i="0">
                <a:solidFill>
                  <a:srgbClr val="13262B"/>
                </a:solidFill>
                <a:latin typeface="Consolas"/>
              </a:rPr>
              <a:t>True</a:t>
            </a:r>
            <a:br/>
            <a:r>
              <a:rPr sz="1300" b="0" i="0">
                <a:solidFill>
                  <a:srgbClr val="13262B"/>
                </a:solidFill>
                <a:latin typeface="Consolas"/>
              </a:rPr>
              <a:t>True</a:t>
            </a:r>
            <a:br/>
            <a:r>
              <a:rPr sz="1300" b="0" i="0">
                <a:solidFill>
                  <a:srgbClr val="13262B"/>
                </a:solidFill>
                <a:latin typeface="Consolas"/>
              </a:rPr>
              <a:t>False</a:t>
            </a:r>
            <a:br/>
            <a:r>
              <a:rPr sz="1300" b="0" i="0">
                <a:solidFill>
                  <a:srgbClr val="13262B"/>
                </a:solidFill>
                <a:latin typeface="Consolas"/>
              </a:rPr>
              <a:t>True</a:t>
            </a:r>
            <a:br/>
            <a:r>
              <a:rPr sz="1300" b="0" i="0">
                <a:solidFill>
                  <a:srgbClr val="13262B"/>
                </a:solidFill>
                <a:latin typeface="Consolas"/>
              </a:rPr>
              <a:t>False</a:t>
            </a:r>
            <a:br/>
            <a:r>
              <a:rPr sz="1300" b="0" i="0">
                <a:solidFill>
                  <a:srgbClr val="13262B"/>
                </a:solidFill>
                <a:latin typeface="Consolas"/>
              </a:rPr>
              <a:t>True</a:t>
            </a:r>
            <a:endParaRPr sz="1300"/>
          </a:p>
        </p:txBody>
      </p:sp>
      <p:sp>
        <p:nvSpPr>
          <p:cNvPr id="8" name="Rectangle 7"/>
          <p:cNvSpPr/>
          <p:nvPr/>
        </p:nvSpPr>
        <p:spPr>
          <a:xfrm>
            <a:off x="6018312" y="1701701"/>
            <a:ext cx="5360888" cy="330795"/>
          </a:xfrm>
          <a:prstGeom prst="rect">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18312" y="2026146"/>
            <a:ext cx="171539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x16.80"/>
          <p:cNvSpPr txBox="1"/>
          <p:nvPr/>
        </p:nvSpPr>
        <p:spPr>
          <a:xfrm>
            <a:off x="6124992" y="1763931"/>
            <a:ext cx="1532074" cy="199985"/>
          </a:xfrm>
          <a:prstGeom prst="rect">
            <a:avLst/>
          </a:prstGeom>
          <a:noFill/>
        </p:spPr>
        <p:txBody>
          <a:bodyPr wrap="square" anchor="t" lIns="0" rIns="0" tIns="0" bIns="0">
            <a:noAutofit/>
          </a:bodyPr>
          <a:lstStyle/>
          <a:p>
            <a:pPr algn="l">
              <a:lnSpc>
                <a:spcPts val="1680"/>
              </a:lnSpc>
              <a:spcBef>
                <a:spcPts val="0"/>
              </a:spcBef>
              <a:spcAft>
                <a:spcPts val="0"/>
              </a:spcAft>
            </a:pPr>
            <a:r>
              <a:rPr sz="1400" b="1" i="0">
                <a:solidFill>
                  <a:srgbClr val="3D4F52"/>
                </a:solidFill>
                <a:latin typeface="Arial"/>
              </a:rPr>
              <a:t>Operator</a:t>
            </a:r>
            <a:endParaRPr sz="1400"/>
          </a:p>
        </p:txBody>
      </p:sp>
      <p:sp>
        <p:nvSpPr>
          <p:cNvPr id="11" name="Rectangle 10"/>
          <p:cNvSpPr/>
          <p:nvPr/>
        </p:nvSpPr>
        <p:spPr>
          <a:xfrm>
            <a:off x="7733705" y="2026146"/>
            <a:ext cx="3645495"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1x16.80"/>
          <p:cNvSpPr txBox="1"/>
          <p:nvPr/>
        </p:nvSpPr>
        <p:spPr>
          <a:xfrm>
            <a:off x="7840385" y="1763931"/>
            <a:ext cx="3500778" cy="199985"/>
          </a:xfrm>
          <a:prstGeom prst="rect">
            <a:avLst/>
          </a:prstGeom>
          <a:noFill/>
        </p:spPr>
        <p:txBody>
          <a:bodyPr wrap="square" anchor="t" lIns="0" rIns="0" tIns="0" bIns="0">
            <a:noAutofit/>
          </a:bodyPr>
          <a:lstStyle/>
          <a:p>
            <a:pPr algn="l">
              <a:lnSpc>
                <a:spcPts val="1680"/>
              </a:lnSpc>
              <a:spcBef>
                <a:spcPts val="0"/>
              </a:spcBef>
              <a:spcAft>
                <a:spcPts val="0"/>
              </a:spcAft>
            </a:pPr>
            <a:r>
              <a:rPr sz="1400" b="1" i="0">
                <a:solidFill>
                  <a:srgbClr val="3D4F52"/>
                </a:solidFill>
                <a:latin typeface="Arial"/>
              </a:rPr>
              <a:t>Značenje</a:t>
            </a:r>
            <a:endParaRPr sz="1400"/>
          </a:p>
        </p:txBody>
      </p:sp>
      <p:sp>
        <p:nvSpPr>
          <p:cNvPr id="13" name="Rectangle 12"/>
          <p:cNvSpPr/>
          <p:nvPr/>
        </p:nvSpPr>
        <p:spPr>
          <a:xfrm>
            <a:off x="6018312" y="2360116"/>
            <a:ext cx="171539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16.80"/>
          <p:cNvSpPr txBox="1"/>
          <p:nvPr/>
        </p:nvSpPr>
        <p:spPr>
          <a:xfrm>
            <a:off x="6124992" y="2094726"/>
            <a:ext cx="1532074"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A8521A"/>
                </a:solidFill>
                <a:latin typeface="Arial"/>
              </a:rPr>
              <a:t>==</a:t>
            </a:r>
            <a:endParaRPr sz="1400"/>
          </a:p>
        </p:txBody>
      </p:sp>
      <p:sp>
        <p:nvSpPr>
          <p:cNvPr id="15" name="Rectangle 14"/>
          <p:cNvSpPr/>
          <p:nvPr/>
        </p:nvSpPr>
        <p:spPr>
          <a:xfrm>
            <a:off x="7733705" y="2360116"/>
            <a:ext cx="3645495"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t 1x16.80"/>
          <p:cNvSpPr txBox="1"/>
          <p:nvPr/>
        </p:nvSpPr>
        <p:spPr>
          <a:xfrm>
            <a:off x="7840385" y="2094726"/>
            <a:ext cx="3500778"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jednako (dva znaka =)</a:t>
            </a:r>
            <a:endParaRPr sz="1400"/>
          </a:p>
        </p:txBody>
      </p:sp>
      <p:sp>
        <p:nvSpPr>
          <p:cNvPr id="17" name="Rectangle 16"/>
          <p:cNvSpPr/>
          <p:nvPr/>
        </p:nvSpPr>
        <p:spPr>
          <a:xfrm>
            <a:off x="6018312" y="2694087"/>
            <a:ext cx="171539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kst 1x16.80"/>
          <p:cNvSpPr txBox="1"/>
          <p:nvPr/>
        </p:nvSpPr>
        <p:spPr>
          <a:xfrm>
            <a:off x="6124992" y="2428696"/>
            <a:ext cx="1532074"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A8521A"/>
                </a:solidFill>
                <a:latin typeface="Arial"/>
              </a:rPr>
              <a:t>!=</a:t>
            </a:r>
            <a:endParaRPr sz="1400"/>
          </a:p>
        </p:txBody>
      </p:sp>
      <p:sp>
        <p:nvSpPr>
          <p:cNvPr id="19" name="Rectangle 18"/>
          <p:cNvSpPr/>
          <p:nvPr/>
        </p:nvSpPr>
        <p:spPr>
          <a:xfrm>
            <a:off x="7733705" y="2694087"/>
            <a:ext cx="3645495"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kst 1x16.80"/>
          <p:cNvSpPr txBox="1"/>
          <p:nvPr/>
        </p:nvSpPr>
        <p:spPr>
          <a:xfrm>
            <a:off x="7840385" y="2428696"/>
            <a:ext cx="3500778"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različito</a:t>
            </a:r>
            <a:endParaRPr sz="1400"/>
          </a:p>
        </p:txBody>
      </p:sp>
      <p:sp>
        <p:nvSpPr>
          <p:cNvPr id="21" name="Rectangle 20"/>
          <p:cNvSpPr/>
          <p:nvPr/>
        </p:nvSpPr>
        <p:spPr>
          <a:xfrm>
            <a:off x="6018312" y="3028057"/>
            <a:ext cx="171539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kst 1x16.80"/>
          <p:cNvSpPr txBox="1"/>
          <p:nvPr/>
        </p:nvSpPr>
        <p:spPr>
          <a:xfrm>
            <a:off x="6124992" y="2762667"/>
            <a:ext cx="1532074"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A8521A"/>
                </a:solidFill>
                <a:latin typeface="Arial"/>
              </a:rPr>
              <a:t>&gt; &lt;</a:t>
            </a:r>
            <a:endParaRPr sz="1400"/>
          </a:p>
        </p:txBody>
      </p:sp>
      <p:sp>
        <p:nvSpPr>
          <p:cNvPr id="23" name="Rectangle 22"/>
          <p:cNvSpPr/>
          <p:nvPr/>
        </p:nvSpPr>
        <p:spPr>
          <a:xfrm>
            <a:off x="7733705" y="3028057"/>
            <a:ext cx="3645495"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kst 1x16.80"/>
          <p:cNvSpPr txBox="1"/>
          <p:nvPr/>
        </p:nvSpPr>
        <p:spPr>
          <a:xfrm>
            <a:off x="7840385" y="2762667"/>
            <a:ext cx="3500778"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veće, manje</a:t>
            </a:r>
            <a:endParaRPr sz="1400"/>
          </a:p>
        </p:txBody>
      </p:sp>
      <p:sp>
        <p:nvSpPr>
          <p:cNvPr id="25" name="Rectangle 24"/>
          <p:cNvSpPr/>
          <p:nvPr/>
        </p:nvSpPr>
        <p:spPr>
          <a:xfrm>
            <a:off x="6018312" y="3362027"/>
            <a:ext cx="171539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kst 1x16.80"/>
          <p:cNvSpPr txBox="1"/>
          <p:nvPr/>
        </p:nvSpPr>
        <p:spPr>
          <a:xfrm>
            <a:off x="6124992" y="3096637"/>
            <a:ext cx="1532074"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A8521A"/>
                </a:solidFill>
                <a:latin typeface="Arial"/>
              </a:rPr>
              <a:t>&gt;= &lt;=</a:t>
            </a:r>
            <a:endParaRPr sz="1400"/>
          </a:p>
        </p:txBody>
      </p:sp>
      <p:sp>
        <p:nvSpPr>
          <p:cNvPr id="27" name="Rectangle 26"/>
          <p:cNvSpPr/>
          <p:nvPr/>
        </p:nvSpPr>
        <p:spPr>
          <a:xfrm>
            <a:off x="7733705" y="3362027"/>
            <a:ext cx="3645495"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kst 1x16.80"/>
          <p:cNvSpPr txBox="1"/>
          <p:nvPr/>
        </p:nvSpPr>
        <p:spPr>
          <a:xfrm>
            <a:off x="7840385" y="3096637"/>
            <a:ext cx="3500778"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veće ili jednako, manje ili jednako</a:t>
            </a:r>
            <a:endParaRPr sz="1400"/>
          </a:p>
        </p:txBody>
      </p:sp>
      <p:sp>
        <p:nvSpPr>
          <p:cNvPr id="29" name="Rectangle 28"/>
          <p:cNvSpPr/>
          <p:nvPr/>
        </p:nvSpPr>
        <p:spPr>
          <a:xfrm>
            <a:off x="6018312" y="3695998"/>
            <a:ext cx="1715393"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kst 1x16.80"/>
          <p:cNvSpPr txBox="1"/>
          <p:nvPr/>
        </p:nvSpPr>
        <p:spPr>
          <a:xfrm>
            <a:off x="6124992" y="3430607"/>
            <a:ext cx="1532074"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A8521A"/>
                </a:solidFill>
                <a:latin typeface="Arial"/>
              </a:rPr>
              <a:t>in</a:t>
            </a:r>
            <a:endParaRPr sz="1400"/>
          </a:p>
        </p:txBody>
      </p:sp>
      <p:sp>
        <p:nvSpPr>
          <p:cNvPr id="31" name="Rectangle 30"/>
          <p:cNvSpPr/>
          <p:nvPr/>
        </p:nvSpPr>
        <p:spPr>
          <a:xfrm>
            <a:off x="7733705" y="3695998"/>
            <a:ext cx="3645495" cy="6350"/>
          </a:xfrm>
          <a:prstGeom prst="rect">
            <a:avLst/>
          </a:prstGeom>
          <a:solidFill>
            <a:srgbClr val="DCD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kst 1x16.80"/>
          <p:cNvSpPr txBox="1"/>
          <p:nvPr/>
        </p:nvSpPr>
        <p:spPr>
          <a:xfrm>
            <a:off x="7840385" y="3430607"/>
            <a:ext cx="3500778" cy="203160"/>
          </a:xfrm>
          <a:prstGeom prst="rect">
            <a:avLst/>
          </a:prstGeom>
          <a:noFill/>
        </p:spPr>
        <p:txBody>
          <a:bodyPr wrap="square" anchor="t" lIns="0" rIns="0" tIns="0" bIns="0">
            <a:noAutofit/>
          </a:bodyPr>
          <a:lstStyle/>
          <a:p>
            <a:pPr algn="l">
              <a:lnSpc>
                <a:spcPts val="1680"/>
              </a:lnSpc>
              <a:spcBef>
                <a:spcPts val="0"/>
              </a:spcBef>
              <a:spcAft>
                <a:spcPts val="0"/>
              </a:spcAft>
            </a:pPr>
            <a:r>
              <a:rPr sz="1400" b="0" i="0">
                <a:solidFill>
                  <a:srgbClr val="3D4F52"/>
                </a:solidFill>
                <a:latin typeface="Arial"/>
              </a:rPr>
              <a:t>vrednost je u listi</a:t>
            </a:r>
            <a:endParaRPr sz="1400"/>
          </a:p>
        </p:txBody>
      </p:sp>
      <p:sp>
        <p:nvSpPr>
          <p:cNvPr id="33" name="Rounded Rectangle 32"/>
          <p:cNvSpPr/>
          <p:nvPr/>
        </p:nvSpPr>
        <p:spPr>
          <a:xfrm>
            <a:off x="6018312" y="3857923"/>
            <a:ext cx="5360888" cy="1078111"/>
          </a:xfrm>
          <a:prstGeom prst="roundRect">
            <a:avLst>
              <a:gd name="adj" fmla="val 7067"/>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18312" y="3857923"/>
            <a:ext cx="38100" cy="107811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kst 3x20.30"/>
          <p:cNvSpPr txBox="1"/>
          <p:nvPr/>
        </p:nvSpPr>
        <p:spPr>
          <a:xfrm>
            <a:off x="6259612" y="4010323"/>
            <a:ext cx="5014716" cy="77331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True</a:t>
            </a:r>
            <a:r>
              <a:rPr sz="1400" b="0" i="0">
                <a:solidFill>
                  <a:srgbClr val="13262B"/>
                </a:solidFill>
                <a:latin typeface="Arial"/>
              </a:rPr>
              <a:t> i </a:t>
            </a:r>
            <a:r>
              <a:rPr sz="1400" b="0" i="0">
                <a:solidFill>
                  <a:srgbClr val="A8521A"/>
                </a:solidFill>
                <a:latin typeface="Arial"/>
              </a:rPr>
              <a:t>False</a:t>
            </a:r>
            <a:r>
              <a:rPr sz="1400" b="0" i="0">
                <a:solidFill>
                  <a:srgbClr val="13262B"/>
                </a:solidFill>
                <a:latin typeface="Arial"/>
              </a:rPr>
              <a:t> su posebne ugrađene vrednosti: velikim početnim slovom i bez navodnika. Mnogi metodi ih vraćaju, npr. </a:t>
            </a:r>
            <a:r>
              <a:rPr sz="1400" b="0" i="0">
                <a:solidFill>
                  <a:srgbClr val="A8521A"/>
                </a:solidFill>
                <a:latin typeface="Arial"/>
              </a:rPr>
              <a:t>startswith</a:t>
            </a:r>
            <a:r>
              <a:rPr sz="1400" b="0" i="0">
                <a:solidFill>
                  <a:srgbClr val="13262B"/>
                </a:solidFill>
                <a:latin typeface="Arial"/>
              </a:rPr>
              <a:t>.</a:t>
            </a:r>
            <a:endParaRPr sz="14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06 · USLOVNI TESTOVI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if: blok se izvršava samo ako je uslov tačan</a:t>
            </a:r>
            <a:endParaRPr sz="3200"/>
          </a:p>
        </p:txBody>
      </p:sp>
      <p:sp>
        <p:nvSpPr>
          <p:cNvPr id="4" name="Rounded Rectangle 3"/>
          <p:cNvSpPr/>
          <p:nvPr/>
        </p:nvSpPr>
        <p:spPr>
          <a:xfrm>
            <a:off x="819150" y="1708051"/>
            <a:ext cx="3879354"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3x20.15"/>
          <p:cNvSpPr txBox="1"/>
          <p:nvPr/>
        </p:nvSpPr>
        <p:spPr>
          <a:xfrm>
            <a:off x="1079500" y="1892201"/>
            <a:ext cx="3425827"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expression_level = 125</a:t>
            </a:r>
            <a:br/>
            <a:r>
              <a:rPr sz="1300" b="0" i="0">
                <a:solidFill>
                  <a:srgbClr val="6FD3C1"/>
                </a:solidFill>
                <a:latin typeface="Consolas"/>
              </a:rPr>
              <a:t>if</a:t>
            </a:r>
            <a:r>
              <a:rPr sz="1300" b="0" i="0">
                <a:solidFill>
                  <a:srgbClr val="E8EEE9"/>
                </a:solidFill>
                <a:latin typeface="Consolas"/>
              </a:rPr>
              <a:t> expression_level &gt; 100:</a:t>
            </a:r>
            <a:br/>
            <a:r>
              <a:rPr sz="1300" b="0" i="0">
                <a:solidFill>
                  <a:srgbClr val="E8EEE9"/>
                </a:solidFill>
                <a:latin typeface="Consolas"/>
              </a:rPr>
              <a:t>    print(</a:t>
            </a:r>
            <a:r>
              <a:rPr sz="1300" b="0" i="0">
                <a:solidFill>
                  <a:srgbClr val="F0A35E"/>
                </a:solidFill>
                <a:latin typeface="Consolas"/>
              </a:rPr>
              <a:t>"gene is highly expressed"</a:t>
            </a:r>
            <a:r>
              <a:rPr sz="1300" b="0" i="0">
                <a:solidFill>
                  <a:srgbClr val="E8EEE9"/>
                </a:solidFill>
                <a:latin typeface="Consolas"/>
              </a:rPr>
              <a:t>)</a:t>
            </a:r>
            <a:endParaRPr sz="1300"/>
          </a:p>
        </p:txBody>
      </p:sp>
      <p:sp>
        <p:nvSpPr>
          <p:cNvPr id="6" name="Tekst 2x20.30"/>
          <p:cNvSpPr txBox="1"/>
          <p:nvPr/>
        </p:nvSpPr>
        <p:spPr>
          <a:xfrm>
            <a:off x="4908054" y="2018209"/>
            <a:ext cx="6600569"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Reč </a:t>
            </a:r>
            <a:r>
              <a:rPr sz="1400" b="0" i="0">
                <a:solidFill>
                  <a:srgbClr val="A8521A"/>
                </a:solidFill>
                <a:latin typeface="Arial"/>
              </a:rPr>
              <a:t>if</a:t>
            </a:r>
            <a:r>
              <a:rPr sz="1400" b="0" i="0">
                <a:solidFill>
                  <a:srgbClr val="3D4F52"/>
                </a:solidFill>
                <a:latin typeface="Arial"/>
              </a:rPr>
              <a:t>, uslov, dvotačka i uvučeni blok. Ovaj primer je beskoristan, jer se vrednost nikad ne menja: uslove pišemo za vrednosti koje ne znamo unapred.</a:t>
            </a:r>
            <a:endParaRPr sz="1400"/>
          </a:p>
        </p:txBody>
      </p:sp>
      <p:sp>
        <p:nvSpPr>
          <p:cNvPr id="7" name="Rounded Rectangle 6"/>
          <p:cNvSpPr/>
          <p:nvPr/>
        </p:nvSpPr>
        <p:spPr>
          <a:xfrm>
            <a:off x="819150" y="3110706"/>
            <a:ext cx="5513784" cy="1391841"/>
          </a:xfrm>
          <a:prstGeom prst="roundRect">
            <a:avLst>
              <a:gd name="adj" fmla="val 729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4x20.15"/>
          <p:cNvSpPr txBox="1"/>
          <p:nvPr/>
        </p:nvSpPr>
        <p:spPr>
          <a:xfrm>
            <a:off x="1079500" y="3294856"/>
            <a:ext cx="5092946"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accs = [</a:t>
            </a:r>
            <a:r>
              <a:rPr sz="1300" b="0" i="0">
                <a:solidFill>
                  <a:srgbClr val="F0A35E"/>
                </a:solidFill>
                <a:latin typeface="Consolas"/>
              </a:rPr>
              <a:t>'ab56'</a:t>
            </a:r>
            <a:r>
              <a:rPr sz="1300" b="0" i="0">
                <a:solidFill>
                  <a:srgbClr val="E8EEE9"/>
                </a:solidFill>
                <a:latin typeface="Consolas"/>
              </a:rPr>
              <a:t>, </a:t>
            </a:r>
            <a:r>
              <a:rPr sz="1300" b="0" i="0">
                <a:solidFill>
                  <a:srgbClr val="F0A35E"/>
                </a:solidFill>
                <a:latin typeface="Consolas"/>
              </a:rPr>
              <a:t>'bh84'</a:t>
            </a:r>
            <a:r>
              <a:rPr sz="1300" b="0" i="0">
                <a:solidFill>
                  <a:srgbClr val="E8EEE9"/>
                </a:solidFill>
                <a:latin typeface="Consolas"/>
              </a:rPr>
              <a:t>, </a:t>
            </a:r>
            <a:r>
              <a:rPr sz="1300" b="0" i="0">
                <a:solidFill>
                  <a:srgbClr val="F0A35E"/>
                </a:solidFill>
                <a:latin typeface="Consolas"/>
              </a:rPr>
              <a:t>'hv76'</a:t>
            </a:r>
            <a:r>
              <a:rPr sz="1300" b="0" i="0">
                <a:solidFill>
                  <a:srgbClr val="E8EEE9"/>
                </a:solidFill>
                <a:latin typeface="Consolas"/>
              </a:rPr>
              <a:t>, </a:t>
            </a:r>
            <a:r>
              <a:rPr sz="1300" b="0" i="0">
                <a:solidFill>
                  <a:srgbClr val="F0A35E"/>
                </a:solidFill>
                <a:latin typeface="Consolas"/>
              </a:rPr>
              <a:t>'ay93'</a:t>
            </a:r>
            <a:r>
              <a:rPr sz="1300" b="0" i="0">
                <a:solidFill>
                  <a:srgbClr val="E8EEE9"/>
                </a:solidFill>
                <a:latin typeface="Consolas"/>
              </a:rPr>
              <a:t>, </a:t>
            </a:r>
            <a:r>
              <a:rPr sz="1300" b="0" i="0">
                <a:solidFill>
                  <a:srgbClr val="F0A35E"/>
                </a:solidFill>
                <a:latin typeface="Consolas"/>
              </a:rPr>
              <a:t>'ap97'</a:t>
            </a:r>
            <a:r>
              <a:rPr sz="1300" b="0" i="0">
                <a:solidFill>
                  <a:srgbClr val="E8EEE9"/>
                </a:solidFill>
                <a:latin typeface="Consolas"/>
              </a:rPr>
              <a:t>, </a:t>
            </a:r>
            <a:r>
              <a:rPr sz="1300" b="0" i="0">
                <a:solidFill>
                  <a:srgbClr val="F0A35E"/>
                </a:solidFill>
                <a:latin typeface="Consolas"/>
              </a:rPr>
              <a:t>'bd72'</a:t>
            </a:r>
            <a:r>
              <a:rPr sz="1300" b="0" i="0">
                <a:solidFill>
                  <a:srgbClr val="E8EEE9"/>
                </a:solidFill>
                <a:latin typeface="Consolas"/>
              </a:rPr>
              <a:t>]</a:t>
            </a:r>
            <a:br/>
            <a:r>
              <a:rPr sz="1300" b="0" i="0">
                <a:solidFill>
                  <a:srgbClr val="6FD3C1"/>
                </a:solidFill>
                <a:latin typeface="Consolas"/>
              </a:rPr>
              <a:t>for</a:t>
            </a:r>
            <a:r>
              <a:rPr sz="1300" b="0" i="0">
                <a:solidFill>
                  <a:srgbClr val="E8EEE9"/>
                </a:solidFill>
                <a:latin typeface="Consolas"/>
              </a:rPr>
              <a:t> accession </a:t>
            </a:r>
            <a:r>
              <a:rPr sz="1300" b="0" i="0">
                <a:solidFill>
                  <a:srgbClr val="6FD3C1"/>
                </a:solidFill>
                <a:latin typeface="Consolas"/>
              </a:rPr>
              <a:t>in</a:t>
            </a:r>
            <a:r>
              <a:rPr sz="1300" b="0" i="0">
                <a:solidFill>
                  <a:srgbClr val="E8EEE9"/>
                </a:solidFill>
                <a:latin typeface="Consolas"/>
              </a:rPr>
              <a:t> accs:</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accession.startswith(</a:t>
            </a:r>
            <a:r>
              <a:rPr sz="1300" b="0" i="0">
                <a:solidFill>
                  <a:srgbClr val="F0A35E"/>
                </a:solidFill>
                <a:latin typeface="Consolas"/>
              </a:rPr>
              <a:t>'a'</a:t>
            </a:r>
            <a:r>
              <a:rPr sz="1300" b="0" i="0">
                <a:solidFill>
                  <a:srgbClr val="E8EEE9"/>
                </a:solidFill>
                <a:latin typeface="Consolas"/>
              </a:rPr>
              <a:t>):</a:t>
            </a:r>
            <a:br/>
            <a:r>
              <a:rPr sz="1300" b="0" i="0">
                <a:solidFill>
                  <a:srgbClr val="E8EEE9"/>
                </a:solidFill>
                <a:latin typeface="Consolas"/>
              </a:rPr>
              <a:t>        print(accession)</a:t>
            </a:r>
            <a:endParaRPr sz="1300"/>
          </a:p>
        </p:txBody>
      </p:sp>
      <p:sp>
        <p:nvSpPr>
          <p:cNvPr id="9" name="Rounded Rectangle 8"/>
          <p:cNvSpPr/>
          <p:nvPr/>
        </p:nvSpPr>
        <p:spPr>
          <a:xfrm>
            <a:off x="6447234" y="3110706"/>
            <a:ext cx="1257300" cy="1391841"/>
          </a:xfrm>
          <a:prstGeom prst="roundRect">
            <a:avLst>
              <a:gd name="adj" fmla="val 8080"/>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3x20.15"/>
          <p:cNvSpPr txBox="1"/>
          <p:nvPr/>
        </p:nvSpPr>
        <p:spPr>
          <a:xfrm>
            <a:off x="6707584" y="3294856"/>
            <a:ext cx="762000"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ab56</a:t>
            </a:r>
            <a:br/>
            <a:r>
              <a:rPr sz="1300" b="0" i="0">
                <a:solidFill>
                  <a:srgbClr val="13262B"/>
                </a:solidFill>
                <a:latin typeface="Consolas"/>
              </a:rPr>
              <a:t>ay93</a:t>
            </a:r>
            <a:br/>
            <a:r>
              <a:rPr sz="1300" b="0" i="0">
                <a:solidFill>
                  <a:srgbClr val="13262B"/>
                </a:solidFill>
                <a:latin typeface="Consolas"/>
              </a:rPr>
              <a:t>ap97</a:t>
            </a:r>
            <a:endParaRPr sz="1300"/>
          </a:p>
        </p:txBody>
      </p:sp>
      <p:sp>
        <p:nvSpPr>
          <p:cNvPr id="11" name="Rounded Rectangle 10"/>
          <p:cNvSpPr/>
          <p:nvPr/>
        </p:nvSpPr>
        <p:spPr>
          <a:xfrm>
            <a:off x="7812484" y="3104356"/>
            <a:ext cx="3566716" cy="1404541"/>
          </a:xfrm>
          <a:prstGeom prst="roundRect">
            <a:avLst>
              <a:gd name="adj" fmla="val 5425"/>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812484" y="3104356"/>
            <a:ext cx="38100" cy="1404541"/>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2x20.30"/>
          <p:cNvSpPr txBox="1"/>
          <p:nvPr/>
        </p:nvSpPr>
        <p:spPr>
          <a:xfrm>
            <a:off x="8028384" y="3548856"/>
            <a:ext cx="3236476"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Linija u if-u unutar petlje uvučena je dvaput: za petlju i za if.</a:t>
            </a:r>
            <a:endParaRPr sz="140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06 · USLOVNI TESTOVI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else: jedno ili drugo</a:t>
            </a:r>
            <a:endParaRPr sz="3200"/>
          </a:p>
        </p:txBody>
      </p:sp>
      <p:sp>
        <p:nvSpPr>
          <p:cNvPr id="4" name="Tekst 1x21.60"/>
          <p:cNvSpPr txBox="1"/>
          <p:nvPr/>
        </p:nvSpPr>
        <p:spPr>
          <a:xfrm>
            <a:off x="812800" y="1650901"/>
            <a:ext cx="523341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Dve grane</a:t>
            </a:r>
            <a:endParaRPr sz="1800"/>
          </a:p>
        </p:txBody>
      </p:sp>
      <p:sp>
        <p:nvSpPr>
          <p:cNvPr id="5" name="Rounded Rectangle 4"/>
          <p:cNvSpPr/>
          <p:nvPr/>
        </p:nvSpPr>
        <p:spPr>
          <a:xfrm>
            <a:off x="819150" y="2033091"/>
            <a:ext cx="5118100" cy="1647726"/>
          </a:xfrm>
          <a:prstGeom prst="roundRect">
            <a:avLst>
              <a:gd name="adj" fmla="val 616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5x20.15"/>
          <p:cNvSpPr txBox="1"/>
          <p:nvPr/>
        </p:nvSpPr>
        <p:spPr>
          <a:xfrm>
            <a:off x="1079500" y="2217241"/>
            <a:ext cx="4689348" cy="127942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expression_level = 125</a:t>
            </a:r>
            <a:br/>
            <a:r>
              <a:rPr sz="1300" b="0" i="0">
                <a:solidFill>
                  <a:srgbClr val="6FD3C1"/>
                </a:solidFill>
                <a:latin typeface="Consolas"/>
              </a:rPr>
              <a:t>if</a:t>
            </a:r>
            <a:r>
              <a:rPr sz="1300" b="0" i="0">
                <a:solidFill>
                  <a:srgbClr val="E8EEE9"/>
                </a:solidFill>
                <a:latin typeface="Consolas"/>
              </a:rPr>
              <a:t> expression_level &gt; 100:</a:t>
            </a:r>
            <a:br/>
            <a:r>
              <a:rPr sz="1300" b="0" i="0">
                <a:solidFill>
                  <a:srgbClr val="E8EEE9"/>
                </a:solidFill>
                <a:latin typeface="Consolas"/>
              </a:rPr>
              <a:t>    print(</a:t>
            </a:r>
            <a:r>
              <a:rPr sz="1300" b="0" i="0">
                <a:solidFill>
                  <a:srgbClr val="F0A35E"/>
                </a:solidFill>
                <a:latin typeface="Consolas"/>
              </a:rPr>
              <a:t>"gene is highly expressed"</a:t>
            </a:r>
            <a:r>
              <a:rPr sz="1300" b="0" i="0">
                <a:solidFill>
                  <a:srgbClr val="E8EEE9"/>
                </a:solidFill>
                <a:latin typeface="Consolas"/>
              </a:rPr>
              <a:t>)</a:t>
            </a:r>
            <a:br/>
            <a:r>
              <a:rPr sz="1300" b="0" i="0">
                <a:solidFill>
                  <a:srgbClr val="6FD3C1"/>
                </a:solidFill>
                <a:latin typeface="Consolas"/>
              </a:rPr>
              <a:t>else</a:t>
            </a:r>
            <a:r>
              <a:rPr sz="1300" b="0" i="0">
                <a:solidFill>
                  <a:srgbClr val="E8EEE9"/>
                </a:solidFill>
                <a:latin typeface="Consolas"/>
              </a:rPr>
              <a:t>:</a:t>
            </a:r>
            <a:br/>
            <a:r>
              <a:rPr sz="1300" b="0" i="0">
                <a:solidFill>
                  <a:srgbClr val="E8EEE9"/>
                </a:solidFill>
                <a:latin typeface="Consolas"/>
              </a:rPr>
              <a:t>    print(</a:t>
            </a:r>
            <a:r>
              <a:rPr sz="1300" b="0" i="0">
                <a:solidFill>
                  <a:srgbClr val="F0A35E"/>
                </a:solidFill>
                <a:latin typeface="Consolas"/>
              </a:rPr>
              <a:t>"gene is lowly expressed"</a:t>
            </a:r>
            <a:r>
              <a:rPr sz="1300" b="0" i="0">
                <a:solidFill>
                  <a:srgbClr val="E8EEE9"/>
                </a:solidFill>
                <a:latin typeface="Consolas"/>
              </a:rPr>
              <a:t>)</a:t>
            </a:r>
            <a:endParaRPr sz="1300"/>
          </a:p>
        </p:txBody>
      </p:sp>
      <p:sp>
        <p:nvSpPr>
          <p:cNvPr id="7" name="Tekst 1x20.30"/>
          <p:cNvSpPr txBox="1"/>
          <p:nvPr/>
        </p:nvSpPr>
        <p:spPr>
          <a:xfrm>
            <a:off x="812800" y="3788767"/>
            <a:ext cx="5233416"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Izvršava se tačno jedna od dve grane; ovde prva.</a:t>
            </a:r>
            <a:endParaRPr sz="1400"/>
          </a:p>
        </p:txBody>
      </p:sp>
      <p:sp>
        <p:nvSpPr>
          <p:cNvPr id="8" name="Tekst 1x21.60"/>
          <p:cNvSpPr txBox="1"/>
          <p:nvPr/>
        </p:nvSpPr>
        <p:spPr>
          <a:xfrm>
            <a:off x="6248400" y="1650901"/>
            <a:ext cx="523341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Podela u dva fajla</a:t>
            </a:r>
            <a:endParaRPr sz="1800"/>
          </a:p>
        </p:txBody>
      </p:sp>
      <p:sp>
        <p:nvSpPr>
          <p:cNvPr id="9" name="Rounded Rectangle 8"/>
          <p:cNvSpPr/>
          <p:nvPr/>
        </p:nvSpPr>
        <p:spPr>
          <a:xfrm>
            <a:off x="6254750" y="2033091"/>
            <a:ext cx="5118100" cy="2159496"/>
          </a:xfrm>
          <a:prstGeom prst="roundRect">
            <a:avLst>
              <a:gd name="adj" fmla="val 470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7x20.15"/>
          <p:cNvSpPr txBox="1"/>
          <p:nvPr/>
        </p:nvSpPr>
        <p:spPr>
          <a:xfrm>
            <a:off x="6515100" y="2217241"/>
            <a:ext cx="4689348" cy="179119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file1 = open(</a:t>
            </a:r>
            <a:r>
              <a:rPr sz="1300" b="0" i="0">
                <a:solidFill>
                  <a:srgbClr val="F0A35E"/>
                </a:solidFill>
                <a:latin typeface="Consolas"/>
              </a:rPr>
              <a:t>"one.txt"</a:t>
            </a:r>
            <a:r>
              <a:rPr sz="1300" b="0" i="0">
                <a:solidFill>
                  <a:srgbClr val="E8EEE9"/>
                </a:solidFill>
                <a:latin typeface="Consolas"/>
              </a:rPr>
              <a:t>, </a:t>
            </a:r>
            <a:r>
              <a:rPr sz="1300" b="0" i="0">
                <a:solidFill>
                  <a:srgbClr val="F0A35E"/>
                </a:solidFill>
                <a:latin typeface="Consolas"/>
              </a:rPr>
              <a:t>"w"</a:t>
            </a:r>
            <a:r>
              <a:rPr sz="1300" b="0" i="0">
                <a:solidFill>
                  <a:srgbClr val="E8EEE9"/>
                </a:solidFill>
                <a:latin typeface="Consolas"/>
              </a:rPr>
              <a:t>)</a:t>
            </a:r>
            <a:br/>
            <a:r>
              <a:rPr sz="1300" b="0" i="0">
                <a:solidFill>
                  <a:srgbClr val="E8EEE9"/>
                </a:solidFill>
                <a:latin typeface="Consolas"/>
              </a:rPr>
              <a:t>file2 = open(</a:t>
            </a:r>
            <a:r>
              <a:rPr sz="1300" b="0" i="0">
                <a:solidFill>
                  <a:srgbClr val="F0A35E"/>
                </a:solidFill>
                <a:latin typeface="Consolas"/>
              </a:rPr>
              <a:t>"two.txt"</a:t>
            </a:r>
            <a:r>
              <a:rPr sz="1300" b="0" i="0">
                <a:solidFill>
                  <a:srgbClr val="E8EEE9"/>
                </a:solidFill>
                <a:latin typeface="Consolas"/>
              </a:rPr>
              <a:t>, </a:t>
            </a:r>
            <a:r>
              <a:rPr sz="1300" b="0" i="0">
                <a:solidFill>
                  <a:srgbClr val="F0A35E"/>
                </a:solidFill>
                <a:latin typeface="Consolas"/>
              </a:rPr>
              <a:t>"w"</a:t>
            </a:r>
            <a:r>
              <a:rPr sz="1300" b="0" i="0">
                <a:solidFill>
                  <a:srgbClr val="E8EEE9"/>
                </a:solidFill>
                <a:latin typeface="Consolas"/>
              </a:rPr>
              <a:t>)</a:t>
            </a:r>
            <a:br/>
            <a:r>
              <a:rPr sz="1300" b="0" i="0">
                <a:solidFill>
                  <a:srgbClr val="6FD3C1"/>
                </a:solidFill>
                <a:latin typeface="Consolas"/>
              </a:rPr>
              <a:t>for</a:t>
            </a:r>
            <a:r>
              <a:rPr sz="1300" b="0" i="0">
                <a:solidFill>
                  <a:srgbClr val="E8EEE9"/>
                </a:solidFill>
                <a:latin typeface="Consolas"/>
              </a:rPr>
              <a:t> accession </a:t>
            </a:r>
            <a:r>
              <a:rPr sz="1300" b="0" i="0">
                <a:solidFill>
                  <a:srgbClr val="6FD3C1"/>
                </a:solidFill>
                <a:latin typeface="Consolas"/>
              </a:rPr>
              <a:t>in</a:t>
            </a:r>
            <a:r>
              <a:rPr sz="1300" b="0" i="0">
                <a:solidFill>
                  <a:srgbClr val="E8EEE9"/>
                </a:solidFill>
                <a:latin typeface="Consolas"/>
              </a:rPr>
              <a:t> accs:</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accession.startswith(</a:t>
            </a:r>
            <a:r>
              <a:rPr sz="1300" b="0" i="0">
                <a:solidFill>
                  <a:srgbClr val="F0A35E"/>
                </a:solidFill>
                <a:latin typeface="Consolas"/>
              </a:rPr>
              <a:t>'a'</a:t>
            </a:r>
            <a:r>
              <a:rPr sz="1300" b="0" i="0">
                <a:solidFill>
                  <a:srgbClr val="E8EEE9"/>
                </a:solidFill>
                <a:latin typeface="Consolas"/>
              </a:rPr>
              <a:t>):</a:t>
            </a:r>
            <a:br/>
            <a:r>
              <a:rPr sz="1300" b="0" i="0">
                <a:solidFill>
                  <a:srgbClr val="E8EEE9"/>
                </a:solidFill>
                <a:latin typeface="Consolas"/>
              </a:rPr>
              <a:t>        file1.write(accession + </a:t>
            </a:r>
            <a:r>
              <a:rPr sz="1300" b="0" i="0">
                <a:solidFill>
                  <a:srgbClr val="F0A35E"/>
                </a:solidFill>
                <a:latin typeface="Consolas"/>
              </a:rPr>
              <a:t>"\n"</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else</a:t>
            </a:r>
            <a:r>
              <a:rPr sz="1300" b="0" i="0">
                <a:solidFill>
                  <a:srgbClr val="E8EEE9"/>
                </a:solidFill>
                <a:latin typeface="Consolas"/>
              </a:rPr>
              <a:t>:</a:t>
            </a:r>
            <a:br/>
            <a:r>
              <a:rPr sz="1300" b="0" i="0">
                <a:solidFill>
                  <a:srgbClr val="E8EEE9"/>
                </a:solidFill>
                <a:latin typeface="Consolas"/>
              </a:rPr>
              <a:t>        file2.write(accession + </a:t>
            </a:r>
            <a:r>
              <a:rPr sz="1300" b="0" i="0">
                <a:solidFill>
                  <a:srgbClr val="F0A35E"/>
                </a:solidFill>
                <a:latin typeface="Consolas"/>
              </a:rPr>
              <a:t>"\n"</a:t>
            </a:r>
            <a:r>
              <a:rPr sz="1300" b="0" i="0">
                <a:solidFill>
                  <a:srgbClr val="E8EEE9"/>
                </a:solidFill>
                <a:latin typeface="Consolas"/>
              </a:rPr>
              <a:t>)</a:t>
            </a:r>
            <a:endParaRPr sz="1300"/>
          </a:p>
        </p:txBody>
      </p:sp>
      <p:sp>
        <p:nvSpPr>
          <p:cNvPr id="11" name="Tekst 1x20.30"/>
          <p:cNvSpPr txBox="1"/>
          <p:nvPr/>
        </p:nvSpPr>
        <p:spPr>
          <a:xfrm>
            <a:off x="6248400" y="4300538"/>
            <a:ext cx="5233416"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one.txt</a:t>
            </a:r>
            <a:r>
              <a:rPr sz="1400" b="0" i="0">
                <a:solidFill>
                  <a:srgbClr val="3D4F52"/>
                </a:solidFill>
                <a:latin typeface="Arial"/>
              </a:rPr>
              <a:t>: ab56, ay93, ap97 · </a:t>
            </a:r>
            <a:r>
              <a:rPr sz="1400" b="0" i="0">
                <a:solidFill>
                  <a:srgbClr val="A8521A"/>
                </a:solidFill>
                <a:latin typeface="Arial"/>
              </a:rPr>
              <a:t>two.txt</a:t>
            </a:r>
            <a:r>
              <a:rPr sz="1400" b="0" i="0">
                <a:solidFill>
                  <a:srgbClr val="3D4F52"/>
                </a:solidFill>
                <a:latin typeface="Arial"/>
              </a:rPr>
              <a:t>: bh84, hv76, bd72</a:t>
            </a:r>
            <a:endParaRPr sz="1400"/>
          </a:p>
        </p:txBody>
      </p:sp>
      <p:sp>
        <p:nvSpPr>
          <p:cNvPr id="12" name="Rounded Rectangle 11"/>
          <p:cNvSpPr/>
          <p:nvPr/>
        </p:nvSpPr>
        <p:spPr>
          <a:xfrm>
            <a:off x="812800" y="4761508"/>
            <a:ext cx="10566400" cy="562570"/>
          </a:xfrm>
          <a:prstGeom prst="roundRect">
            <a:avLst>
              <a:gd name="adj" fmla="val 13544"/>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2800" y="4761508"/>
            <a:ext cx="38100" cy="5625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20.30"/>
          <p:cNvSpPr txBox="1"/>
          <p:nvPr/>
        </p:nvSpPr>
        <p:spPr>
          <a:xfrm>
            <a:off x="1054100" y="4913908"/>
            <a:ext cx="1024382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else</a:t>
            </a:r>
            <a:r>
              <a:rPr sz="1400" b="0" i="0">
                <a:solidFill>
                  <a:srgbClr val="13262B"/>
                </a:solidFill>
                <a:latin typeface="Arial"/>
              </a:rPr>
              <a:t> nema svoj uslov: njegov blok se izvršava kad blok if nije. if i else stoje na istom nivou uvlačenja.</a:t>
            </a:r>
            <a:endParaRPr sz="140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06 · USLOVNI TESTOVI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Tri grane: ugnežđeni if ili elif</a:t>
            </a:r>
            <a:endParaRPr sz="3200"/>
          </a:p>
        </p:txBody>
      </p:sp>
      <p:sp>
        <p:nvSpPr>
          <p:cNvPr id="4" name="Tekst 1x21.60"/>
          <p:cNvSpPr txBox="1"/>
          <p:nvPr/>
        </p:nvSpPr>
        <p:spPr>
          <a:xfrm>
            <a:off x="812800" y="1701701"/>
            <a:ext cx="523341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if unutar else</a:t>
            </a:r>
            <a:endParaRPr sz="1800"/>
          </a:p>
        </p:txBody>
      </p:sp>
      <p:sp>
        <p:nvSpPr>
          <p:cNvPr id="5" name="Rounded Rectangle 4"/>
          <p:cNvSpPr/>
          <p:nvPr/>
        </p:nvSpPr>
        <p:spPr>
          <a:xfrm>
            <a:off x="819150" y="2083891"/>
            <a:ext cx="5118100" cy="2415381"/>
          </a:xfrm>
          <a:prstGeom prst="roundRect">
            <a:avLst>
              <a:gd name="adj" fmla="val 420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8x20.15"/>
          <p:cNvSpPr txBox="1"/>
          <p:nvPr/>
        </p:nvSpPr>
        <p:spPr>
          <a:xfrm>
            <a:off x="1079500" y="2268041"/>
            <a:ext cx="4689348" cy="204708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for</a:t>
            </a:r>
            <a:r>
              <a:rPr sz="1300" b="0" i="0">
                <a:solidFill>
                  <a:srgbClr val="E8EEE9"/>
                </a:solidFill>
                <a:latin typeface="Consolas"/>
              </a:rPr>
              <a:t> accession </a:t>
            </a:r>
            <a:r>
              <a:rPr sz="1300" b="0" i="0">
                <a:solidFill>
                  <a:srgbClr val="6FD3C1"/>
                </a:solidFill>
                <a:latin typeface="Consolas"/>
              </a:rPr>
              <a:t>in</a:t>
            </a:r>
            <a:r>
              <a:rPr sz="1300" b="0" i="0">
                <a:solidFill>
                  <a:srgbClr val="E8EEE9"/>
                </a:solidFill>
                <a:latin typeface="Consolas"/>
              </a:rPr>
              <a:t> accs:</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accession.startswith(</a:t>
            </a:r>
            <a:r>
              <a:rPr sz="1300" b="0" i="0">
                <a:solidFill>
                  <a:srgbClr val="F0A35E"/>
                </a:solidFill>
                <a:latin typeface="Consolas"/>
              </a:rPr>
              <a:t>'a'</a:t>
            </a:r>
            <a:r>
              <a:rPr sz="1300" b="0" i="0">
                <a:solidFill>
                  <a:srgbClr val="E8EEE9"/>
                </a:solidFill>
                <a:latin typeface="Consolas"/>
              </a:rPr>
              <a:t>):</a:t>
            </a:r>
            <a:br/>
            <a:r>
              <a:rPr sz="1300" b="0" i="0">
                <a:solidFill>
                  <a:srgbClr val="E8EEE9"/>
                </a:solidFill>
                <a:latin typeface="Consolas"/>
              </a:rPr>
              <a:t>        file1.write(accession + </a:t>
            </a:r>
            <a:r>
              <a:rPr sz="1300" b="0" i="0">
                <a:solidFill>
                  <a:srgbClr val="F0A35E"/>
                </a:solidFill>
                <a:latin typeface="Consolas"/>
              </a:rPr>
              <a:t>"\n"</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else</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accession.startswith(</a:t>
            </a:r>
            <a:r>
              <a:rPr sz="1300" b="0" i="0">
                <a:solidFill>
                  <a:srgbClr val="F0A35E"/>
                </a:solidFill>
                <a:latin typeface="Consolas"/>
              </a:rPr>
              <a:t>'b'</a:t>
            </a:r>
            <a:r>
              <a:rPr sz="1300" b="0" i="0">
                <a:solidFill>
                  <a:srgbClr val="E8EEE9"/>
                </a:solidFill>
                <a:latin typeface="Consolas"/>
              </a:rPr>
              <a:t>):</a:t>
            </a:r>
            <a:br/>
            <a:r>
              <a:rPr sz="1300" b="0" i="0">
                <a:solidFill>
                  <a:srgbClr val="E8EEE9"/>
                </a:solidFill>
                <a:latin typeface="Consolas"/>
              </a:rPr>
              <a:t>            file2.write(accession + </a:t>
            </a:r>
            <a:r>
              <a:rPr sz="1300" b="0" i="0">
                <a:solidFill>
                  <a:srgbClr val="F0A35E"/>
                </a:solidFill>
                <a:latin typeface="Consolas"/>
              </a:rPr>
              <a:t>"\n"</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else</a:t>
            </a:r>
            <a:r>
              <a:rPr sz="1300" b="0" i="0">
                <a:solidFill>
                  <a:srgbClr val="E8EEE9"/>
                </a:solidFill>
                <a:latin typeface="Consolas"/>
              </a:rPr>
              <a:t>:</a:t>
            </a:r>
            <a:br/>
            <a:r>
              <a:rPr sz="1300" b="0" i="0">
                <a:solidFill>
                  <a:srgbClr val="E8EEE9"/>
                </a:solidFill>
                <a:latin typeface="Consolas"/>
              </a:rPr>
              <a:t>            file3.write(accession + </a:t>
            </a:r>
            <a:r>
              <a:rPr sz="1300" b="0" i="0">
                <a:solidFill>
                  <a:srgbClr val="F0A35E"/>
                </a:solidFill>
                <a:latin typeface="Consolas"/>
              </a:rPr>
              <a:t>"\n"</a:t>
            </a:r>
            <a:r>
              <a:rPr sz="1300" b="0" i="0">
                <a:solidFill>
                  <a:srgbClr val="E8EEE9"/>
                </a:solidFill>
                <a:latin typeface="Consolas"/>
              </a:rPr>
              <a:t>)</a:t>
            </a:r>
            <a:endParaRPr sz="1300"/>
          </a:p>
        </p:txBody>
      </p:sp>
      <p:sp>
        <p:nvSpPr>
          <p:cNvPr id="7" name="Tekst 2x20.30"/>
          <p:cNvSpPr txBox="1"/>
          <p:nvPr/>
        </p:nvSpPr>
        <p:spPr>
          <a:xfrm>
            <a:off x="812800" y="4607223"/>
            <a:ext cx="5233416"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Radi, ali je teško za čitanje: svaka nova grana dodaje još jedan nivo uvlačenja.</a:t>
            </a:r>
            <a:endParaRPr sz="1400"/>
          </a:p>
        </p:txBody>
      </p:sp>
      <p:sp>
        <p:nvSpPr>
          <p:cNvPr id="8" name="Tekst 1x21.60"/>
          <p:cNvSpPr txBox="1"/>
          <p:nvPr/>
        </p:nvSpPr>
        <p:spPr>
          <a:xfrm>
            <a:off x="6248400" y="1701701"/>
            <a:ext cx="5233416"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elif = else + if</a:t>
            </a:r>
            <a:endParaRPr sz="1800"/>
          </a:p>
        </p:txBody>
      </p:sp>
      <p:sp>
        <p:nvSpPr>
          <p:cNvPr id="9" name="Rounded Rectangle 8"/>
          <p:cNvSpPr/>
          <p:nvPr/>
        </p:nvSpPr>
        <p:spPr>
          <a:xfrm>
            <a:off x="6254750" y="2083891"/>
            <a:ext cx="5118100" cy="2415381"/>
          </a:xfrm>
          <a:prstGeom prst="roundRect">
            <a:avLst>
              <a:gd name="adj" fmla="val 420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8x20.15"/>
          <p:cNvSpPr txBox="1"/>
          <p:nvPr/>
        </p:nvSpPr>
        <p:spPr>
          <a:xfrm>
            <a:off x="6515100" y="2268041"/>
            <a:ext cx="4689348" cy="204708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for</a:t>
            </a:r>
            <a:r>
              <a:rPr sz="1300" b="0" i="0">
                <a:solidFill>
                  <a:srgbClr val="E8EEE9"/>
                </a:solidFill>
                <a:latin typeface="Consolas"/>
              </a:rPr>
              <a:t> accession </a:t>
            </a:r>
            <a:r>
              <a:rPr sz="1300" b="0" i="0">
                <a:solidFill>
                  <a:srgbClr val="6FD3C1"/>
                </a:solidFill>
                <a:latin typeface="Consolas"/>
              </a:rPr>
              <a:t>in</a:t>
            </a:r>
            <a:r>
              <a:rPr sz="1300" b="0" i="0">
                <a:solidFill>
                  <a:srgbClr val="E8EEE9"/>
                </a:solidFill>
                <a:latin typeface="Consolas"/>
              </a:rPr>
              <a:t> accs:</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accession.startswith(</a:t>
            </a:r>
            <a:r>
              <a:rPr sz="1300" b="0" i="0">
                <a:solidFill>
                  <a:srgbClr val="F0A35E"/>
                </a:solidFill>
                <a:latin typeface="Consolas"/>
              </a:rPr>
              <a:t>'a'</a:t>
            </a:r>
            <a:r>
              <a:rPr sz="1300" b="0" i="0">
                <a:solidFill>
                  <a:srgbClr val="E8EEE9"/>
                </a:solidFill>
                <a:latin typeface="Consolas"/>
              </a:rPr>
              <a:t>):</a:t>
            </a:r>
            <a:br/>
            <a:r>
              <a:rPr sz="1300" b="0" i="0">
                <a:solidFill>
                  <a:srgbClr val="E8EEE9"/>
                </a:solidFill>
                <a:latin typeface="Consolas"/>
              </a:rPr>
              <a:t>        file1.write(accession + </a:t>
            </a:r>
            <a:r>
              <a:rPr sz="1300" b="0" i="0">
                <a:solidFill>
                  <a:srgbClr val="F0A35E"/>
                </a:solidFill>
                <a:latin typeface="Consolas"/>
              </a:rPr>
              <a:t>"\n"</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elif</a:t>
            </a:r>
            <a:r>
              <a:rPr sz="1300" b="0" i="0">
                <a:solidFill>
                  <a:srgbClr val="E8EEE9"/>
                </a:solidFill>
                <a:latin typeface="Consolas"/>
              </a:rPr>
              <a:t> accession.startswith(</a:t>
            </a:r>
            <a:r>
              <a:rPr sz="1300" b="0" i="0">
                <a:solidFill>
                  <a:srgbClr val="F0A35E"/>
                </a:solidFill>
                <a:latin typeface="Consolas"/>
              </a:rPr>
              <a:t>'b'</a:t>
            </a:r>
            <a:r>
              <a:rPr sz="1300" b="0" i="0">
                <a:solidFill>
                  <a:srgbClr val="E8EEE9"/>
                </a:solidFill>
                <a:latin typeface="Consolas"/>
              </a:rPr>
              <a:t>):</a:t>
            </a:r>
            <a:br/>
            <a:r>
              <a:rPr sz="1300" b="0" i="0">
                <a:solidFill>
                  <a:srgbClr val="E8EEE9"/>
                </a:solidFill>
                <a:latin typeface="Consolas"/>
              </a:rPr>
              <a:t>        file2.write(accession + </a:t>
            </a:r>
            <a:r>
              <a:rPr sz="1300" b="0" i="0">
                <a:solidFill>
                  <a:srgbClr val="F0A35E"/>
                </a:solidFill>
                <a:latin typeface="Consolas"/>
              </a:rPr>
              <a:t>"\n"</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else</a:t>
            </a:r>
            <a:r>
              <a:rPr sz="1300" b="0" i="0">
                <a:solidFill>
                  <a:srgbClr val="E8EEE9"/>
                </a:solidFill>
                <a:latin typeface="Consolas"/>
              </a:rPr>
              <a:t>:</a:t>
            </a:r>
            <a:br/>
            <a:r>
              <a:rPr sz="1300" b="0" i="0">
                <a:solidFill>
                  <a:srgbClr val="E8EEE9"/>
                </a:solidFill>
                <a:latin typeface="Consolas"/>
              </a:rPr>
              <a:t>        file3.write(accession + </a:t>
            </a:r>
            <a:r>
              <a:rPr sz="1300" b="0" i="0">
                <a:solidFill>
                  <a:srgbClr val="F0A35E"/>
                </a:solidFill>
                <a:latin typeface="Consolas"/>
              </a:rPr>
              <a:t>"\n"</a:t>
            </a:r>
            <a:r>
              <a:rPr sz="1300" b="0" i="0">
                <a:solidFill>
                  <a:srgbClr val="E8EEE9"/>
                </a:solidFill>
                <a:latin typeface="Consolas"/>
              </a:rPr>
              <a:t>)</a:t>
            </a:r>
            <a:br/>
            <a:r>
              <a:rPr sz="1300" b="0" i="0">
                <a:solidFill>
                  <a:srgbClr val="E8EEE9"/>
                </a:solidFill>
                <a:latin typeface="Consolas"/>
              </a:rPr>
              <a:t> </a:t>
            </a:r>
            <a:endParaRPr sz="1300"/>
          </a:p>
        </p:txBody>
      </p:sp>
      <p:sp>
        <p:nvSpPr>
          <p:cNvPr id="11" name="Tekst 1x20.30"/>
          <p:cNvSpPr txBox="1"/>
          <p:nvPr/>
        </p:nvSpPr>
        <p:spPr>
          <a:xfrm>
            <a:off x="6248400" y="4607223"/>
            <a:ext cx="5233416"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Koliko god grana, uvek samo jedan dodatni nivo uvlačenja.</a:t>
            </a:r>
            <a:endParaRPr sz="14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06 · USLOVNI TESTOVI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if, elif i else</a:t>
            </a:r>
            <a:endParaRPr sz="3200"/>
          </a:p>
        </p:txBody>
      </p:sp>
      <p:sp>
        <p:nvSpPr>
          <p:cNvPr id="4" name="Rounded Rectangle 3"/>
          <p:cNvSpPr/>
          <p:nvPr/>
        </p:nvSpPr>
        <p:spPr>
          <a:xfrm>
            <a:off x="819150" y="1708051"/>
            <a:ext cx="5513784" cy="2671266"/>
          </a:xfrm>
          <a:prstGeom prst="roundRect">
            <a:avLst>
              <a:gd name="adj" fmla="val 3803"/>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9x20.15"/>
          <p:cNvSpPr txBox="1"/>
          <p:nvPr/>
        </p:nvSpPr>
        <p:spPr>
          <a:xfrm>
            <a:off x="1079500" y="1892201"/>
            <a:ext cx="5092946" cy="230296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8FB3AA"/>
                </a:solidFill>
                <a:latin typeface="Consolas"/>
              </a:rPr>
              <a:t># file1, file2, file3: otvoreni za pisanje</a:t>
            </a:r>
            <a:br/>
            <a:r>
              <a:rPr sz="1300" b="0" i="0">
                <a:solidFill>
                  <a:srgbClr val="E8EEE9"/>
                </a:solidFill>
                <a:latin typeface="Consolas"/>
              </a:rPr>
              <a:t>accs = [</a:t>
            </a:r>
            <a:r>
              <a:rPr sz="1300" b="0" i="0">
                <a:solidFill>
                  <a:srgbClr val="F0A35E"/>
                </a:solidFill>
                <a:latin typeface="Consolas"/>
              </a:rPr>
              <a:t>'ab56'</a:t>
            </a:r>
            <a:r>
              <a:rPr sz="1300" b="0" i="0">
                <a:solidFill>
                  <a:srgbClr val="E8EEE9"/>
                </a:solidFill>
                <a:latin typeface="Consolas"/>
              </a:rPr>
              <a:t>, </a:t>
            </a:r>
            <a:r>
              <a:rPr sz="1300" b="0" i="0">
                <a:solidFill>
                  <a:srgbClr val="F0A35E"/>
                </a:solidFill>
                <a:latin typeface="Consolas"/>
              </a:rPr>
              <a:t>'bh84'</a:t>
            </a:r>
            <a:r>
              <a:rPr sz="1300" b="0" i="0">
                <a:solidFill>
                  <a:srgbClr val="E8EEE9"/>
                </a:solidFill>
                <a:latin typeface="Consolas"/>
              </a:rPr>
              <a:t>, </a:t>
            </a:r>
            <a:r>
              <a:rPr sz="1300" b="0" i="0">
                <a:solidFill>
                  <a:srgbClr val="F0A35E"/>
                </a:solidFill>
                <a:latin typeface="Consolas"/>
              </a:rPr>
              <a:t>'hv76'</a:t>
            </a:r>
            <a:r>
              <a:rPr sz="1300" b="0" i="0">
                <a:solidFill>
                  <a:srgbClr val="E8EEE9"/>
                </a:solidFill>
                <a:latin typeface="Consolas"/>
              </a:rPr>
              <a:t>, </a:t>
            </a:r>
            <a:r>
              <a:rPr sz="1300" b="0" i="0">
                <a:solidFill>
                  <a:srgbClr val="F0A35E"/>
                </a:solidFill>
                <a:latin typeface="Consolas"/>
              </a:rPr>
              <a:t>'ay93'</a:t>
            </a:r>
            <a:r>
              <a:rPr sz="1300" b="0" i="0">
                <a:solidFill>
                  <a:srgbClr val="E8EEE9"/>
                </a:solidFill>
                <a:latin typeface="Consolas"/>
              </a:rPr>
              <a:t>, </a:t>
            </a:r>
            <a:r>
              <a:rPr sz="1300" b="0" i="0">
                <a:solidFill>
                  <a:srgbClr val="F0A35E"/>
                </a:solidFill>
                <a:latin typeface="Consolas"/>
              </a:rPr>
              <a:t>'ap97'</a:t>
            </a:r>
            <a:r>
              <a:rPr sz="1300" b="0" i="0">
                <a:solidFill>
                  <a:srgbClr val="E8EEE9"/>
                </a:solidFill>
                <a:latin typeface="Consolas"/>
              </a:rPr>
              <a:t>, </a:t>
            </a:r>
            <a:r>
              <a:rPr sz="1300" b="0" i="0">
                <a:solidFill>
                  <a:srgbClr val="F0A35E"/>
                </a:solidFill>
                <a:latin typeface="Consolas"/>
              </a:rPr>
              <a:t>'bd72'</a:t>
            </a:r>
            <a:r>
              <a:rPr sz="1300" b="0" i="0">
                <a:solidFill>
                  <a:srgbClr val="E8EEE9"/>
                </a:solidFill>
                <a:latin typeface="Consolas"/>
              </a:rPr>
              <a:t>]</a:t>
            </a:r>
            <a:br/>
            <a:r>
              <a:rPr sz="1300" b="0" i="0">
                <a:solidFill>
                  <a:srgbClr val="6FD3C1"/>
                </a:solidFill>
                <a:latin typeface="Consolas"/>
              </a:rPr>
              <a:t>for</a:t>
            </a:r>
            <a:r>
              <a:rPr sz="1300" b="0" i="0">
                <a:solidFill>
                  <a:srgbClr val="E8EEE9"/>
                </a:solidFill>
                <a:latin typeface="Consolas"/>
              </a:rPr>
              <a:t> accession </a:t>
            </a:r>
            <a:r>
              <a:rPr sz="1300" b="0" i="0">
                <a:solidFill>
                  <a:srgbClr val="6FD3C1"/>
                </a:solidFill>
                <a:latin typeface="Consolas"/>
              </a:rPr>
              <a:t>in</a:t>
            </a:r>
            <a:r>
              <a:rPr sz="1300" b="0" i="0">
                <a:solidFill>
                  <a:srgbClr val="E8EEE9"/>
                </a:solidFill>
                <a:latin typeface="Consolas"/>
              </a:rPr>
              <a:t> accs:</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accession.startswith(</a:t>
            </a:r>
            <a:r>
              <a:rPr sz="1300" b="0" i="0">
                <a:solidFill>
                  <a:srgbClr val="F0A35E"/>
                </a:solidFill>
                <a:latin typeface="Consolas"/>
              </a:rPr>
              <a:t>'a'</a:t>
            </a:r>
            <a:r>
              <a:rPr sz="1300" b="0" i="0">
                <a:solidFill>
                  <a:srgbClr val="E8EEE9"/>
                </a:solidFill>
                <a:latin typeface="Consolas"/>
              </a:rPr>
              <a:t>):</a:t>
            </a:r>
            <a:br/>
            <a:r>
              <a:rPr sz="1300" b="0" i="0">
                <a:solidFill>
                  <a:srgbClr val="E8EEE9"/>
                </a:solidFill>
                <a:latin typeface="Consolas"/>
              </a:rPr>
              <a:t>        file1.write(accession + </a:t>
            </a:r>
            <a:r>
              <a:rPr sz="1300" b="0" i="0">
                <a:solidFill>
                  <a:srgbClr val="F0A35E"/>
                </a:solidFill>
                <a:latin typeface="Consolas"/>
              </a:rPr>
              <a:t>"\n"</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elif</a:t>
            </a:r>
            <a:r>
              <a:rPr sz="1300" b="0" i="0">
                <a:solidFill>
                  <a:srgbClr val="E8EEE9"/>
                </a:solidFill>
                <a:latin typeface="Consolas"/>
              </a:rPr>
              <a:t> accession.startswith(</a:t>
            </a:r>
            <a:r>
              <a:rPr sz="1300" b="0" i="0">
                <a:solidFill>
                  <a:srgbClr val="F0A35E"/>
                </a:solidFill>
                <a:latin typeface="Consolas"/>
              </a:rPr>
              <a:t>'b'</a:t>
            </a:r>
            <a:r>
              <a:rPr sz="1300" b="0" i="0">
                <a:solidFill>
                  <a:srgbClr val="E8EEE9"/>
                </a:solidFill>
                <a:latin typeface="Consolas"/>
              </a:rPr>
              <a:t>):</a:t>
            </a:r>
            <a:br/>
            <a:r>
              <a:rPr sz="1300" b="0" i="0">
                <a:solidFill>
                  <a:srgbClr val="E8EEE9"/>
                </a:solidFill>
                <a:latin typeface="Consolas"/>
              </a:rPr>
              <a:t>        file2.write(accession + </a:t>
            </a:r>
            <a:r>
              <a:rPr sz="1300" b="0" i="0">
                <a:solidFill>
                  <a:srgbClr val="F0A35E"/>
                </a:solidFill>
                <a:latin typeface="Consolas"/>
              </a:rPr>
              <a:t>"\n"</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else</a:t>
            </a:r>
            <a:r>
              <a:rPr sz="1300" b="0" i="0">
                <a:solidFill>
                  <a:srgbClr val="E8EEE9"/>
                </a:solidFill>
                <a:latin typeface="Consolas"/>
              </a:rPr>
              <a:t>:</a:t>
            </a:r>
            <a:br/>
            <a:r>
              <a:rPr sz="1300" b="0" i="0">
                <a:solidFill>
                  <a:srgbClr val="E8EEE9"/>
                </a:solidFill>
                <a:latin typeface="Consolas"/>
              </a:rPr>
              <a:t>        file3.write(accession + </a:t>
            </a:r>
            <a:r>
              <a:rPr sz="1300" b="0" i="0">
                <a:solidFill>
                  <a:srgbClr val="F0A35E"/>
                </a:solidFill>
                <a:latin typeface="Consolas"/>
              </a:rPr>
              <a:t>"\n"</a:t>
            </a:r>
            <a:r>
              <a:rPr sz="1300" b="0" i="0">
                <a:solidFill>
                  <a:srgbClr val="E8EEE9"/>
                </a:solidFill>
                <a:latin typeface="Consolas"/>
              </a:rPr>
              <a:t>)</a:t>
            </a:r>
            <a:endParaRPr sz="1300"/>
          </a:p>
        </p:txBody>
      </p:sp>
      <p:sp>
        <p:nvSpPr>
          <p:cNvPr id="6" name="Rounded Rectangle 5"/>
          <p:cNvSpPr/>
          <p:nvPr/>
        </p:nvSpPr>
        <p:spPr>
          <a:xfrm>
            <a:off x="6647259" y="1704876"/>
            <a:ext cx="4728766" cy="792361"/>
          </a:xfrm>
          <a:prstGeom prst="roundRect">
            <a:avLst>
              <a:gd name="adj" fmla="val 12822"/>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1x19.60"/>
          <p:cNvSpPr txBox="1"/>
          <p:nvPr/>
        </p:nvSpPr>
        <p:spPr>
          <a:xfrm>
            <a:off x="6828234" y="1835051"/>
            <a:ext cx="4454152" cy="248841"/>
          </a:xfrm>
          <a:prstGeom prst="rect">
            <a:avLst/>
          </a:prstGeom>
          <a:noFill/>
        </p:spPr>
        <p:txBody>
          <a:bodyPr wrap="square" anchor="t" lIns="0" rIns="0" tIns="0" bIns="0">
            <a:noAutofit/>
          </a:bodyPr>
          <a:lstStyle/>
          <a:p>
            <a:pPr algn="l">
              <a:lnSpc>
                <a:spcPts val="1960"/>
              </a:lnSpc>
              <a:spcBef>
                <a:spcPts val="0"/>
              </a:spcBef>
              <a:spcAft>
                <a:spcPts val="0"/>
              </a:spcAft>
            </a:pPr>
            <a:r>
              <a:rPr sz="1400" b="1" i="0">
                <a:solidFill>
                  <a:srgbClr val="0F7C6E"/>
                </a:solidFill>
                <a:latin typeface="Consolas"/>
              </a:rPr>
              <a:t>if</a:t>
            </a:r>
            <a:endParaRPr sz="1400"/>
          </a:p>
        </p:txBody>
      </p:sp>
      <p:sp>
        <p:nvSpPr>
          <p:cNvPr id="8" name="Tekst 1x20.30"/>
          <p:cNvSpPr txBox="1"/>
          <p:nvPr/>
        </p:nvSpPr>
        <p:spPr>
          <a:xfrm>
            <a:off x="6828234" y="2109291"/>
            <a:ext cx="4454152"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blok se izvršava samo ako je uslov tačan</a:t>
            </a:r>
            <a:endParaRPr sz="1400"/>
          </a:p>
        </p:txBody>
      </p:sp>
      <p:sp>
        <p:nvSpPr>
          <p:cNvPr id="9" name="Rounded Rectangle 8"/>
          <p:cNvSpPr/>
          <p:nvPr/>
        </p:nvSpPr>
        <p:spPr>
          <a:xfrm>
            <a:off x="6647259" y="2605187"/>
            <a:ext cx="4728766" cy="792361"/>
          </a:xfrm>
          <a:prstGeom prst="roundRect">
            <a:avLst>
              <a:gd name="adj" fmla="val 12822"/>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x19.60"/>
          <p:cNvSpPr txBox="1"/>
          <p:nvPr/>
        </p:nvSpPr>
        <p:spPr>
          <a:xfrm>
            <a:off x="6828234" y="2735362"/>
            <a:ext cx="4454152" cy="248841"/>
          </a:xfrm>
          <a:prstGeom prst="rect">
            <a:avLst/>
          </a:prstGeom>
          <a:noFill/>
        </p:spPr>
        <p:txBody>
          <a:bodyPr wrap="square" anchor="t" lIns="0" rIns="0" tIns="0" bIns="0">
            <a:noAutofit/>
          </a:bodyPr>
          <a:lstStyle/>
          <a:p>
            <a:pPr algn="l">
              <a:lnSpc>
                <a:spcPts val="1960"/>
              </a:lnSpc>
              <a:spcBef>
                <a:spcPts val="0"/>
              </a:spcBef>
              <a:spcAft>
                <a:spcPts val="0"/>
              </a:spcAft>
            </a:pPr>
            <a:r>
              <a:rPr sz="1400" b="1" i="0">
                <a:solidFill>
                  <a:srgbClr val="0F7C6E"/>
                </a:solidFill>
                <a:latin typeface="Consolas"/>
              </a:rPr>
              <a:t>elif</a:t>
            </a:r>
            <a:endParaRPr sz="1400"/>
          </a:p>
        </p:txBody>
      </p:sp>
      <p:sp>
        <p:nvSpPr>
          <p:cNvPr id="11" name="Tekst 1x20.30"/>
          <p:cNvSpPr txBox="1"/>
          <p:nvPr/>
        </p:nvSpPr>
        <p:spPr>
          <a:xfrm>
            <a:off x="6828234" y="3009602"/>
            <a:ext cx="4454152"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nova grana bez novog nivoa uvlačenja</a:t>
            </a:r>
            <a:endParaRPr sz="1400"/>
          </a:p>
        </p:txBody>
      </p:sp>
      <p:sp>
        <p:nvSpPr>
          <p:cNvPr id="12" name="Rounded Rectangle 11"/>
          <p:cNvSpPr/>
          <p:nvPr/>
        </p:nvSpPr>
        <p:spPr>
          <a:xfrm>
            <a:off x="6647259" y="3505498"/>
            <a:ext cx="4728766" cy="1050131"/>
          </a:xfrm>
          <a:prstGeom prst="roundRect">
            <a:avLst>
              <a:gd name="adj" fmla="val 9674"/>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1x19.60"/>
          <p:cNvSpPr txBox="1"/>
          <p:nvPr/>
        </p:nvSpPr>
        <p:spPr>
          <a:xfrm>
            <a:off x="6828234" y="3635673"/>
            <a:ext cx="4454152" cy="248841"/>
          </a:xfrm>
          <a:prstGeom prst="rect">
            <a:avLst/>
          </a:prstGeom>
          <a:noFill/>
        </p:spPr>
        <p:txBody>
          <a:bodyPr wrap="square" anchor="t" lIns="0" rIns="0" tIns="0" bIns="0">
            <a:noAutofit/>
          </a:bodyPr>
          <a:lstStyle/>
          <a:p>
            <a:pPr algn="l">
              <a:lnSpc>
                <a:spcPts val="1960"/>
              </a:lnSpc>
              <a:spcBef>
                <a:spcPts val="0"/>
              </a:spcBef>
              <a:spcAft>
                <a:spcPts val="0"/>
              </a:spcAft>
            </a:pPr>
            <a:r>
              <a:rPr sz="1400" b="1" i="0">
                <a:solidFill>
                  <a:srgbClr val="0F7C6E"/>
                </a:solidFill>
                <a:latin typeface="Consolas"/>
              </a:rPr>
              <a:t>else</a:t>
            </a:r>
            <a:endParaRPr sz="1400"/>
          </a:p>
        </p:txBody>
      </p:sp>
      <p:sp>
        <p:nvSpPr>
          <p:cNvPr id="14" name="Tekst 2x20.30"/>
          <p:cNvSpPr txBox="1"/>
          <p:nvPr/>
        </p:nvSpPr>
        <p:spPr>
          <a:xfrm>
            <a:off x="6828234" y="3909913"/>
            <a:ext cx="4454152"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nema svoj uslov: izvršava se kad nijedna grana iznad nije</a:t>
            </a:r>
            <a:endParaRPr sz="1400"/>
          </a:p>
        </p:txBody>
      </p:sp>
      <p:sp>
        <p:nvSpPr>
          <p:cNvPr id="15" name="Rounded Rectangle 14"/>
          <p:cNvSpPr/>
          <p:nvPr/>
        </p:nvSpPr>
        <p:spPr>
          <a:xfrm>
            <a:off x="6650434" y="4666754"/>
            <a:ext cx="4722416" cy="1135955"/>
          </a:xfrm>
          <a:prstGeom prst="roundRect">
            <a:avLst>
              <a:gd name="adj" fmla="val 894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t 1x16.80"/>
          <p:cNvSpPr txBox="1"/>
          <p:nvPr/>
        </p:nvSpPr>
        <p:spPr>
          <a:xfrm>
            <a:off x="9944100" y="4723904"/>
            <a:ext cx="12954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REZULTAT</a:t>
            </a:r>
            <a:endParaRPr sz="1200"/>
          </a:p>
        </p:txBody>
      </p:sp>
      <p:sp>
        <p:nvSpPr>
          <p:cNvPr id="17" name="Tekst 3x20.15"/>
          <p:cNvSpPr txBox="1"/>
          <p:nvPr/>
        </p:nvSpPr>
        <p:spPr>
          <a:xfrm>
            <a:off x="6910784" y="4850904"/>
            <a:ext cx="4285750"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one.txt:   ab56 ay93 ap97</a:t>
            </a:r>
            <a:br/>
            <a:r>
              <a:rPr sz="1300" b="0" i="0">
                <a:solidFill>
                  <a:srgbClr val="13262B"/>
                </a:solidFill>
                <a:latin typeface="Consolas"/>
              </a:rPr>
              <a:t>two.txt:   bh84 bd72</a:t>
            </a:r>
            <a:br/>
            <a:r>
              <a:rPr sz="1300" b="0" i="0">
                <a:solidFill>
                  <a:srgbClr val="13262B"/>
                </a:solidFill>
                <a:latin typeface="Consolas"/>
              </a:rPr>
              <a:t>three.txt: hv76</a:t>
            </a:r>
            <a:endParaRPr sz="13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06 · USLOVNI TESTOVI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Složeni uslovi: and, or, not</a:t>
            </a:r>
            <a:endParaRPr sz="3200"/>
          </a:p>
        </p:txBody>
      </p:sp>
      <p:sp>
        <p:nvSpPr>
          <p:cNvPr id="4" name="Tekst 1x20.30"/>
          <p:cNvSpPr txBox="1"/>
          <p:nvPr/>
        </p:nvSpPr>
        <p:spPr>
          <a:xfrm>
            <a:off x="812800" y="1650901"/>
            <a:ext cx="10777728"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Za svaki </a:t>
            </a:r>
            <a:r>
              <a:rPr sz="1400" b="0" i="0">
                <a:solidFill>
                  <a:srgbClr val="A8521A"/>
                </a:solidFill>
                <a:latin typeface="Arial"/>
              </a:rPr>
              <a:t>acc</a:t>
            </a:r>
            <a:r>
              <a:rPr sz="1400" b="0" i="0">
                <a:solidFill>
                  <a:srgbClr val="3D4F52"/>
                </a:solidFill>
                <a:latin typeface="Arial"/>
              </a:rPr>
              <a:t> iz liste </a:t>
            </a:r>
            <a:r>
              <a:rPr sz="1400" b="0" i="0">
                <a:solidFill>
                  <a:srgbClr val="A8521A"/>
                </a:solidFill>
                <a:latin typeface="Arial"/>
              </a:rPr>
              <a:t>['ab56', 'bh84', 'hv76', 'ay93', 'ap97', 'bd72']</a:t>
            </a:r>
            <a:r>
              <a:rPr sz="1400" b="0" i="0">
                <a:solidFill>
                  <a:srgbClr val="3D4F52"/>
                </a:solidFill>
                <a:latin typeface="Arial"/>
              </a:rPr>
              <a:t> ispisujemo ga ako važi uslov:</a:t>
            </a:r>
            <a:endParaRPr sz="1400"/>
          </a:p>
        </p:txBody>
      </p:sp>
      <p:sp>
        <p:nvSpPr>
          <p:cNvPr id="5" name="Rounded Rectangle 4"/>
          <p:cNvSpPr/>
          <p:nvPr/>
        </p:nvSpPr>
        <p:spPr>
          <a:xfrm>
            <a:off x="812800" y="2111871"/>
            <a:ext cx="6985000" cy="459085"/>
          </a:xfrm>
          <a:prstGeom prst="roundRect">
            <a:avLst>
              <a:gd name="adj" fmla="val 16598"/>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1x20.15"/>
          <p:cNvSpPr txBox="1"/>
          <p:nvPr/>
        </p:nvSpPr>
        <p:spPr>
          <a:xfrm>
            <a:off x="990600" y="2213471"/>
            <a:ext cx="6736080"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acc.startswith(</a:t>
            </a:r>
            <a:r>
              <a:rPr sz="1300" b="0" i="0">
                <a:solidFill>
                  <a:srgbClr val="F0A35E"/>
                </a:solidFill>
                <a:latin typeface="Consolas"/>
              </a:rPr>
              <a:t>'a'</a:t>
            </a:r>
            <a:r>
              <a:rPr sz="1300" b="0" i="0">
                <a:solidFill>
                  <a:srgbClr val="E8EEE9"/>
                </a:solidFill>
                <a:latin typeface="Consolas"/>
              </a:rPr>
              <a:t>) </a:t>
            </a:r>
            <a:r>
              <a:rPr sz="1300" b="0" i="0">
                <a:solidFill>
                  <a:srgbClr val="6FD3C1"/>
                </a:solidFill>
                <a:latin typeface="Consolas"/>
              </a:rPr>
              <a:t>and</a:t>
            </a:r>
            <a:r>
              <a:rPr sz="1300" b="0" i="0">
                <a:solidFill>
                  <a:srgbClr val="E8EEE9"/>
                </a:solidFill>
                <a:latin typeface="Consolas"/>
              </a:rPr>
              <a:t> acc.endswith(</a:t>
            </a:r>
            <a:r>
              <a:rPr sz="1300" b="0" i="0">
                <a:solidFill>
                  <a:srgbClr val="F0A35E"/>
                </a:solidFill>
                <a:latin typeface="Consolas"/>
              </a:rPr>
              <a:t>'3'</a:t>
            </a:r>
            <a:r>
              <a:rPr sz="1300" b="0" i="0">
                <a:solidFill>
                  <a:srgbClr val="E8EEE9"/>
                </a:solidFill>
                <a:latin typeface="Consolas"/>
              </a:rPr>
              <a:t>)</a:t>
            </a:r>
            <a:endParaRPr sz="1300"/>
          </a:p>
        </p:txBody>
      </p:sp>
      <p:sp>
        <p:nvSpPr>
          <p:cNvPr id="7" name="Tekst 1x18.20"/>
          <p:cNvSpPr txBox="1"/>
          <p:nvPr/>
        </p:nvSpPr>
        <p:spPr>
          <a:xfrm>
            <a:off x="8001000" y="2225873"/>
            <a:ext cx="3445764" cy="231080"/>
          </a:xfrm>
          <a:prstGeom prst="rect">
            <a:avLst/>
          </a:prstGeom>
          <a:noFill/>
        </p:spPr>
        <p:txBody>
          <a:bodyPr wrap="square" anchor="t" lIns="0" rIns="0" tIns="0" bIns="0">
            <a:noAutofit/>
          </a:bodyPr>
          <a:lstStyle/>
          <a:p>
            <a:pPr algn="l">
              <a:lnSpc>
                <a:spcPts val="1820"/>
              </a:lnSpc>
              <a:spcBef>
                <a:spcPts val="0"/>
              </a:spcBef>
              <a:spcAft>
                <a:spcPts val="0"/>
              </a:spcAft>
            </a:pPr>
            <a:r>
              <a:rPr sz="1300" b="0" i="0">
                <a:solidFill>
                  <a:srgbClr val="13262B"/>
                </a:solidFill>
                <a:latin typeface="Consolas"/>
              </a:rPr>
              <a:t>ay93</a:t>
            </a:r>
            <a:endParaRPr sz="1300"/>
          </a:p>
        </p:txBody>
      </p:sp>
      <p:sp>
        <p:nvSpPr>
          <p:cNvPr id="8" name="Rounded Rectangle 7"/>
          <p:cNvSpPr/>
          <p:nvPr/>
        </p:nvSpPr>
        <p:spPr>
          <a:xfrm>
            <a:off x="812800" y="2672556"/>
            <a:ext cx="6985000" cy="459085"/>
          </a:xfrm>
          <a:prstGeom prst="roundRect">
            <a:avLst>
              <a:gd name="adj" fmla="val 16598"/>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20.15"/>
          <p:cNvSpPr txBox="1"/>
          <p:nvPr/>
        </p:nvSpPr>
        <p:spPr>
          <a:xfrm>
            <a:off x="990600" y="2774156"/>
            <a:ext cx="6736080"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acc.startswith(</a:t>
            </a:r>
            <a:r>
              <a:rPr sz="1300" b="0" i="0">
                <a:solidFill>
                  <a:srgbClr val="F0A35E"/>
                </a:solidFill>
                <a:latin typeface="Consolas"/>
              </a:rPr>
              <a:t>'a'</a:t>
            </a:r>
            <a:r>
              <a:rPr sz="1300" b="0" i="0">
                <a:solidFill>
                  <a:srgbClr val="E8EEE9"/>
                </a:solidFill>
                <a:latin typeface="Consolas"/>
              </a:rPr>
              <a:t>) </a:t>
            </a:r>
            <a:r>
              <a:rPr sz="1300" b="0" i="0">
                <a:solidFill>
                  <a:srgbClr val="6FD3C1"/>
                </a:solidFill>
                <a:latin typeface="Consolas"/>
              </a:rPr>
              <a:t>or</a:t>
            </a:r>
            <a:r>
              <a:rPr sz="1300" b="0" i="0">
                <a:solidFill>
                  <a:srgbClr val="E8EEE9"/>
                </a:solidFill>
                <a:latin typeface="Consolas"/>
              </a:rPr>
              <a:t> acc.startswith(</a:t>
            </a:r>
            <a:r>
              <a:rPr sz="1300" b="0" i="0">
                <a:solidFill>
                  <a:srgbClr val="F0A35E"/>
                </a:solidFill>
                <a:latin typeface="Consolas"/>
              </a:rPr>
              <a:t>'b'</a:t>
            </a:r>
            <a:r>
              <a:rPr sz="1300" b="0" i="0">
                <a:solidFill>
                  <a:srgbClr val="E8EEE9"/>
                </a:solidFill>
                <a:latin typeface="Consolas"/>
              </a:rPr>
              <a:t>)</a:t>
            </a:r>
            <a:endParaRPr sz="1300"/>
          </a:p>
        </p:txBody>
      </p:sp>
      <p:sp>
        <p:nvSpPr>
          <p:cNvPr id="10" name="Tekst 1x18.20"/>
          <p:cNvSpPr txBox="1"/>
          <p:nvPr/>
        </p:nvSpPr>
        <p:spPr>
          <a:xfrm>
            <a:off x="8001000" y="2786559"/>
            <a:ext cx="3445764" cy="231080"/>
          </a:xfrm>
          <a:prstGeom prst="rect">
            <a:avLst/>
          </a:prstGeom>
          <a:noFill/>
        </p:spPr>
        <p:txBody>
          <a:bodyPr wrap="square" anchor="t" lIns="0" rIns="0" tIns="0" bIns="0">
            <a:noAutofit/>
          </a:bodyPr>
          <a:lstStyle/>
          <a:p>
            <a:pPr algn="l">
              <a:lnSpc>
                <a:spcPts val="1820"/>
              </a:lnSpc>
              <a:spcBef>
                <a:spcPts val="0"/>
              </a:spcBef>
              <a:spcAft>
                <a:spcPts val="0"/>
              </a:spcAft>
            </a:pPr>
            <a:r>
              <a:rPr sz="1300" b="0" i="0">
                <a:solidFill>
                  <a:srgbClr val="13262B"/>
                </a:solidFill>
                <a:latin typeface="Consolas"/>
              </a:rPr>
              <a:t>ab56 bh84 ay93 ap97 bd72</a:t>
            </a:r>
            <a:endParaRPr sz="1300"/>
          </a:p>
        </p:txBody>
      </p:sp>
      <p:sp>
        <p:nvSpPr>
          <p:cNvPr id="11" name="Rounded Rectangle 10"/>
          <p:cNvSpPr/>
          <p:nvPr/>
        </p:nvSpPr>
        <p:spPr>
          <a:xfrm>
            <a:off x="812800" y="3233241"/>
            <a:ext cx="6985000" cy="459085"/>
          </a:xfrm>
          <a:prstGeom prst="roundRect">
            <a:avLst>
              <a:gd name="adj" fmla="val 16598"/>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1x20.15"/>
          <p:cNvSpPr txBox="1"/>
          <p:nvPr/>
        </p:nvSpPr>
        <p:spPr>
          <a:xfrm>
            <a:off x="990600" y="3334841"/>
            <a:ext cx="6736080"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(acc.startswith(</a:t>
            </a:r>
            <a:r>
              <a:rPr sz="1300" b="0" i="0">
                <a:solidFill>
                  <a:srgbClr val="F0A35E"/>
                </a:solidFill>
                <a:latin typeface="Consolas"/>
              </a:rPr>
              <a:t>'a'</a:t>
            </a:r>
            <a:r>
              <a:rPr sz="1300" b="0" i="0">
                <a:solidFill>
                  <a:srgbClr val="E8EEE9"/>
                </a:solidFill>
                <a:latin typeface="Consolas"/>
              </a:rPr>
              <a:t>) </a:t>
            </a:r>
            <a:r>
              <a:rPr sz="1300" b="0" i="0">
                <a:solidFill>
                  <a:srgbClr val="6FD3C1"/>
                </a:solidFill>
                <a:latin typeface="Consolas"/>
              </a:rPr>
              <a:t>or</a:t>
            </a:r>
            <a:r>
              <a:rPr sz="1300" b="0" i="0">
                <a:solidFill>
                  <a:srgbClr val="E8EEE9"/>
                </a:solidFill>
                <a:latin typeface="Consolas"/>
              </a:rPr>
              <a:t> acc.startswith(</a:t>
            </a:r>
            <a:r>
              <a:rPr sz="1300" b="0" i="0">
                <a:solidFill>
                  <a:srgbClr val="F0A35E"/>
                </a:solidFill>
                <a:latin typeface="Consolas"/>
              </a:rPr>
              <a:t>'b'</a:t>
            </a:r>
            <a:r>
              <a:rPr sz="1300" b="0" i="0">
                <a:solidFill>
                  <a:srgbClr val="E8EEE9"/>
                </a:solidFill>
                <a:latin typeface="Consolas"/>
              </a:rPr>
              <a:t>)) </a:t>
            </a:r>
            <a:r>
              <a:rPr sz="1300" b="0" i="0">
                <a:solidFill>
                  <a:srgbClr val="6FD3C1"/>
                </a:solidFill>
                <a:latin typeface="Consolas"/>
              </a:rPr>
              <a:t>and</a:t>
            </a:r>
            <a:r>
              <a:rPr sz="1300" b="0" i="0">
                <a:solidFill>
                  <a:srgbClr val="E8EEE9"/>
                </a:solidFill>
                <a:latin typeface="Consolas"/>
              </a:rPr>
              <a:t> acc.endswith(</a:t>
            </a:r>
            <a:r>
              <a:rPr sz="1300" b="0" i="0">
                <a:solidFill>
                  <a:srgbClr val="F0A35E"/>
                </a:solidFill>
                <a:latin typeface="Consolas"/>
              </a:rPr>
              <a:t>'4'</a:t>
            </a:r>
            <a:r>
              <a:rPr sz="1300" b="0" i="0">
                <a:solidFill>
                  <a:srgbClr val="E8EEE9"/>
                </a:solidFill>
                <a:latin typeface="Consolas"/>
              </a:rPr>
              <a:t>)</a:t>
            </a:r>
            <a:endParaRPr sz="1300"/>
          </a:p>
        </p:txBody>
      </p:sp>
      <p:sp>
        <p:nvSpPr>
          <p:cNvPr id="13" name="Tekst 1x18.20"/>
          <p:cNvSpPr txBox="1"/>
          <p:nvPr/>
        </p:nvSpPr>
        <p:spPr>
          <a:xfrm>
            <a:off x="8001000" y="3347244"/>
            <a:ext cx="3445764" cy="231080"/>
          </a:xfrm>
          <a:prstGeom prst="rect">
            <a:avLst/>
          </a:prstGeom>
          <a:noFill/>
        </p:spPr>
        <p:txBody>
          <a:bodyPr wrap="square" anchor="t" lIns="0" rIns="0" tIns="0" bIns="0">
            <a:noAutofit/>
          </a:bodyPr>
          <a:lstStyle/>
          <a:p>
            <a:pPr algn="l">
              <a:lnSpc>
                <a:spcPts val="1820"/>
              </a:lnSpc>
              <a:spcBef>
                <a:spcPts val="0"/>
              </a:spcBef>
              <a:spcAft>
                <a:spcPts val="0"/>
              </a:spcAft>
            </a:pPr>
            <a:r>
              <a:rPr sz="1300" b="0" i="0">
                <a:solidFill>
                  <a:srgbClr val="13262B"/>
                </a:solidFill>
                <a:latin typeface="Consolas"/>
              </a:rPr>
              <a:t>bh84</a:t>
            </a:r>
            <a:endParaRPr sz="1300"/>
          </a:p>
        </p:txBody>
      </p:sp>
      <p:sp>
        <p:nvSpPr>
          <p:cNvPr id="14" name="Rounded Rectangle 13"/>
          <p:cNvSpPr/>
          <p:nvPr/>
        </p:nvSpPr>
        <p:spPr>
          <a:xfrm>
            <a:off x="812800" y="3793927"/>
            <a:ext cx="6985000" cy="459085"/>
          </a:xfrm>
          <a:prstGeom prst="roundRect">
            <a:avLst>
              <a:gd name="adj" fmla="val 16598"/>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kst 1x20.15"/>
          <p:cNvSpPr txBox="1"/>
          <p:nvPr/>
        </p:nvSpPr>
        <p:spPr>
          <a:xfrm>
            <a:off x="990600" y="3895527"/>
            <a:ext cx="6736080"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acc.startswith(</a:t>
            </a:r>
            <a:r>
              <a:rPr sz="1300" b="0" i="0">
                <a:solidFill>
                  <a:srgbClr val="F0A35E"/>
                </a:solidFill>
                <a:latin typeface="Consolas"/>
              </a:rPr>
              <a:t>'a'</a:t>
            </a:r>
            <a:r>
              <a:rPr sz="1300" b="0" i="0">
                <a:solidFill>
                  <a:srgbClr val="E8EEE9"/>
                </a:solidFill>
                <a:latin typeface="Consolas"/>
              </a:rPr>
              <a:t>) </a:t>
            </a:r>
            <a:r>
              <a:rPr sz="1300" b="0" i="0">
                <a:solidFill>
                  <a:srgbClr val="6FD3C1"/>
                </a:solidFill>
                <a:latin typeface="Consolas"/>
              </a:rPr>
              <a:t>and not</a:t>
            </a:r>
            <a:r>
              <a:rPr sz="1300" b="0" i="0">
                <a:solidFill>
                  <a:srgbClr val="E8EEE9"/>
                </a:solidFill>
                <a:latin typeface="Consolas"/>
              </a:rPr>
              <a:t> acc.endswith(</a:t>
            </a:r>
            <a:r>
              <a:rPr sz="1300" b="0" i="0">
                <a:solidFill>
                  <a:srgbClr val="F0A35E"/>
                </a:solidFill>
                <a:latin typeface="Consolas"/>
              </a:rPr>
              <a:t>'6'</a:t>
            </a:r>
            <a:r>
              <a:rPr sz="1300" b="0" i="0">
                <a:solidFill>
                  <a:srgbClr val="E8EEE9"/>
                </a:solidFill>
                <a:latin typeface="Consolas"/>
              </a:rPr>
              <a:t>)</a:t>
            </a:r>
            <a:endParaRPr sz="1300"/>
          </a:p>
        </p:txBody>
      </p:sp>
      <p:sp>
        <p:nvSpPr>
          <p:cNvPr id="16" name="Tekst 1x18.20"/>
          <p:cNvSpPr txBox="1"/>
          <p:nvPr/>
        </p:nvSpPr>
        <p:spPr>
          <a:xfrm>
            <a:off x="8001000" y="3907929"/>
            <a:ext cx="3445764" cy="231080"/>
          </a:xfrm>
          <a:prstGeom prst="rect">
            <a:avLst/>
          </a:prstGeom>
          <a:noFill/>
        </p:spPr>
        <p:txBody>
          <a:bodyPr wrap="square" anchor="t" lIns="0" rIns="0" tIns="0" bIns="0">
            <a:noAutofit/>
          </a:bodyPr>
          <a:lstStyle/>
          <a:p>
            <a:pPr algn="l">
              <a:lnSpc>
                <a:spcPts val="1820"/>
              </a:lnSpc>
              <a:spcBef>
                <a:spcPts val="0"/>
              </a:spcBef>
              <a:spcAft>
                <a:spcPts val="0"/>
              </a:spcAft>
            </a:pPr>
            <a:r>
              <a:rPr sz="1300" b="0" i="0">
                <a:solidFill>
                  <a:srgbClr val="13262B"/>
                </a:solidFill>
                <a:latin typeface="Consolas"/>
              </a:rPr>
              <a:t>ay93 ap97</a:t>
            </a:r>
            <a:endParaRPr sz="1300"/>
          </a:p>
        </p:txBody>
      </p:sp>
      <p:sp>
        <p:nvSpPr>
          <p:cNvPr id="17" name="Rounded Rectangle 16"/>
          <p:cNvSpPr/>
          <p:nvPr/>
        </p:nvSpPr>
        <p:spPr>
          <a:xfrm>
            <a:off x="812800" y="4456212"/>
            <a:ext cx="10566400" cy="511770"/>
          </a:xfrm>
          <a:prstGeom prst="roundRect">
            <a:avLst>
              <a:gd name="adj" fmla="val 14889"/>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2800" y="4456212"/>
            <a:ext cx="38100" cy="5117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kst 1x20.30"/>
          <p:cNvSpPr txBox="1"/>
          <p:nvPr/>
        </p:nvSpPr>
        <p:spPr>
          <a:xfrm>
            <a:off x="1054100" y="4583212"/>
            <a:ext cx="1024382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while</a:t>
            </a:r>
            <a:r>
              <a:rPr sz="1400" b="0" i="0">
                <a:solidFill>
                  <a:srgbClr val="13262B"/>
                </a:solidFill>
                <a:latin typeface="Arial"/>
              </a:rPr>
              <a:t> ponavlja blok dok je uslov tačan. Pošto je </a:t>
            </a:r>
            <a:r>
              <a:rPr sz="1400" b="0" i="0">
                <a:solidFill>
                  <a:srgbClr val="A8521A"/>
                </a:solidFill>
                <a:latin typeface="Arial"/>
              </a:rPr>
              <a:t>for</a:t>
            </a:r>
            <a:r>
              <a:rPr sz="1400" b="0" i="0">
                <a:solidFill>
                  <a:srgbClr val="13262B"/>
                </a:solidFill>
                <a:latin typeface="Arial"/>
              </a:rPr>
              <a:t> vrlo moćan, </a:t>
            </a:r>
            <a:r>
              <a:rPr sz="1400" b="0" i="0">
                <a:solidFill>
                  <a:srgbClr val="A8521A"/>
                </a:solidFill>
                <a:latin typeface="Arial"/>
              </a:rPr>
              <a:t>while</a:t>
            </a:r>
            <a:r>
              <a:rPr sz="1400" b="0" i="0">
                <a:solidFill>
                  <a:srgbClr val="13262B"/>
                </a:solidFill>
                <a:latin typeface="Arial"/>
              </a:rPr>
              <a:t> se u Pythonu retko koristi.</a:t>
            </a:r>
            <a:endParaRPr sz="14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06 · USLOVNI TESTOVI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while: ponavljaj dok je uslov tačan</a:t>
            </a:r>
            <a:endParaRPr sz="3200"/>
          </a:p>
        </p:txBody>
      </p:sp>
      <p:sp>
        <p:nvSpPr>
          <p:cNvPr id="4" name="Rounded Rectangle 3"/>
          <p:cNvSpPr/>
          <p:nvPr/>
        </p:nvSpPr>
        <p:spPr>
          <a:xfrm>
            <a:off x="819150" y="1708051"/>
            <a:ext cx="2608659" cy="1391841"/>
          </a:xfrm>
          <a:prstGeom prst="roundRect">
            <a:avLst>
              <a:gd name="adj" fmla="val 729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4x20.15"/>
          <p:cNvSpPr txBox="1"/>
          <p:nvPr/>
        </p:nvSpPr>
        <p:spPr>
          <a:xfrm>
            <a:off x="1079500" y="1892201"/>
            <a:ext cx="2129719"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count = 0</a:t>
            </a:r>
            <a:br/>
            <a:r>
              <a:rPr sz="1300" b="0" i="0">
                <a:solidFill>
                  <a:srgbClr val="6FD3C1"/>
                </a:solidFill>
                <a:latin typeface="Consolas"/>
              </a:rPr>
              <a:t>while</a:t>
            </a:r>
            <a:r>
              <a:rPr sz="1300" b="0" i="0">
                <a:solidFill>
                  <a:srgbClr val="E8EEE9"/>
                </a:solidFill>
                <a:latin typeface="Consolas"/>
              </a:rPr>
              <a:t> count &lt; 10:</a:t>
            </a:r>
            <a:br/>
            <a:r>
              <a:rPr sz="1300" b="0" i="0">
                <a:solidFill>
                  <a:srgbClr val="E8EEE9"/>
                </a:solidFill>
                <a:latin typeface="Consolas"/>
              </a:rPr>
              <a:t>    print(count)</a:t>
            </a:r>
            <a:br/>
            <a:r>
              <a:rPr sz="1300" b="0" i="0">
                <a:solidFill>
                  <a:srgbClr val="E8EEE9"/>
                </a:solidFill>
                <a:latin typeface="Consolas"/>
              </a:rPr>
              <a:t>    count = count + 1</a:t>
            </a:r>
            <a:endParaRPr sz="1300"/>
          </a:p>
        </p:txBody>
      </p:sp>
      <p:sp>
        <p:nvSpPr>
          <p:cNvPr id="6" name="Tekst 1x20.30"/>
          <p:cNvSpPr txBox="1"/>
          <p:nvPr/>
        </p:nvSpPr>
        <p:spPr>
          <a:xfrm>
            <a:off x="812800" y="3207841"/>
            <a:ext cx="2673787"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Isto, kraće, sa petljom for:</a:t>
            </a:r>
            <a:endParaRPr sz="1400"/>
          </a:p>
        </p:txBody>
      </p:sp>
      <p:sp>
        <p:nvSpPr>
          <p:cNvPr id="7" name="Rounded Rectangle 6"/>
          <p:cNvSpPr/>
          <p:nvPr/>
        </p:nvSpPr>
        <p:spPr>
          <a:xfrm>
            <a:off x="819150" y="3573562"/>
            <a:ext cx="2608659" cy="880070"/>
          </a:xfrm>
          <a:prstGeom prst="roundRect">
            <a:avLst>
              <a:gd name="adj" fmla="val 115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2x20.15"/>
          <p:cNvSpPr txBox="1"/>
          <p:nvPr/>
        </p:nvSpPr>
        <p:spPr>
          <a:xfrm>
            <a:off x="1079500" y="3757712"/>
            <a:ext cx="2129719" cy="511770"/>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for</a:t>
            </a:r>
            <a:r>
              <a:rPr sz="1300" b="0" i="0">
                <a:solidFill>
                  <a:srgbClr val="E8EEE9"/>
                </a:solidFill>
                <a:latin typeface="Consolas"/>
              </a:rPr>
              <a:t> count </a:t>
            </a:r>
            <a:r>
              <a:rPr sz="1300" b="0" i="0">
                <a:solidFill>
                  <a:srgbClr val="6FD3C1"/>
                </a:solidFill>
                <a:latin typeface="Consolas"/>
              </a:rPr>
              <a:t>in</a:t>
            </a:r>
            <a:r>
              <a:rPr sz="1300" b="0" i="0">
                <a:solidFill>
                  <a:srgbClr val="E8EEE9"/>
                </a:solidFill>
                <a:latin typeface="Consolas"/>
              </a:rPr>
              <a:t> range(10):</a:t>
            </a:r>
            <a:br/>
            <a:r>
              <a:rPr sz="1300" b="0" i="0">
                <a:solidFill>
                  <a:srgbClr val="E8EEE9"/>
                </a:solidFill>
                <a:latin typeface="Consolas"/>
              </a:rPr>
              <a:t>    print(count)</a:t>
            </a:r>
            <a:endParaRPr sz="1300"/>
          </a:p>
        </p:txBody>
      </p:sp>
      <p:sp>
        <p:nvSpPr>
          <p:cNvPr id="9" name="Rounded Rectangle 8"/>
          <p:cNvSpPr/>
          <p:nvPr/>
        </p:nvSpPr>
        <p:spPr>
          <a:xfrm>
            <a:off x="3592909" y="1708051"/>
            <a:ext cx="1003300" cy="2927152"/>
          </a:xfrm>
          <a:prstGeom prst="roundRect">
            <a:avLst>
              <a:gd name="adj" fmla="val 10126"/>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kst 10x20.15"/>
          <p:cNvSpPr txBox="1"/>
          <p:nvPr/>
        </p:nvSpPr>
        <p:spPr>
          <a:xfrm>
            <a:off x="3853259" y="1892201"/>
            <a:ext cx="508000" cy="2558852"/>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0</a:t>
            </a:r>
            <a:br/>
            <a:r>
              <a:rPr sz="1300" b="0" i="0">
                <a:solidFill>
                  <a:srgbClr val="13262B"/>
                </a:solidFill>
                <a:latin typeface="Consolas"/>
              </a:rPr>
              <a:t>1</a:t>
            </a:r>
            <a:br/>
            <a:r>
              <a:rPr sz="1300" b="0" i="0">
                <a:solidFill>
                  <a:srgbClr val="13262B"/>
                </a:solidFill>
                <a:latin typeface="Consolas"/>
              </a:rPr>
              <a:t>2</a:t>
            </a:r>
            <a:br/>
            <a:r>
              <a:rPr sz="1300" b="0" i="0">
                <a:solidFill>
                  <a:srgbClr val="13262B"/>
                </a:solidFill>
                <a:latin typeface="Consolas"/>
              </a:rPr>
              <a:t>3</a:t>
            </a:r>
            <a:br/>
            <a:r>
              <a:rPr sz="1300" b="0" i="0">
                <a:solidFill>
                  <a:srgbClr val="13262B"/>
                </a:solidFill>
                <a:latin typeface="Consolas"/>
              </a:rPr>
              <a:t>4</a:t>
            </a:r>
            <a:br/>
            <a:r>
              <a:rPr sz="1300" b="0" i="0">
                <a:solidFill>
                  <a:srgbClr val="13262B"/>
                </a:solidFill>
                <a:latin typeface="Consolas"/>
              </a:rPr>
              <a:t>5</a:t>
            </a:r>
            <a:br/>
            <a:r>
              <a:rPr sz="1300" b="0" i="0">
                <a:solidFill>
                  <a:srgbClr val="13262B"/>
                </a:solidFill>
                <a:latin typeface="Consolas"/>
              </a:rPr>
              <a:t>6</a:t>
            </a:r>
            <a:br/>
            <a:r>
              <a:rPr sz="1300" b="0" i="0">
                <a:solidFill>
                  <a:srgbClr val="13262B"/>
                </a:solidFill>
                <a:latin typeface="Consolas"/>
              </a:rPr>
              <a:t>7</a:t>
            </a:r>
            <a:br/>
            <a:r>
              <a:rPr sz="1300" b="0" i="0">
                <a:solidFill>
                  <a:srgbClr val="13262B"/>
                </a:solidFill>
                <a:latin typeface="Consolas"/>
              </a:rPr>
              <a:t>8</a:t>
            </a:r>
            <a:br/>
            <a:r>
              <a:rPr sz="1300" b="0" i="0">
                <a:solidFill>
                  <a:srgbClr val="13262B"/>
                </a:solidFill>
                <a:latin typeface="Consolas"/>
              </a:rPr>
              <a:t>9</a:t>
            </a:r>
            <a:endParaRPr sz="1300"/>
          </a:p>
        </p:txBody>
      </p:sp>
      <p:sp>
        <p:nvSpPr>
          <p:cNvPr id="11" name="Rounded Rectangle 10"/>
          <p:cNvSpPr/>
          <p:nvPr/>
        </p:nvSpPr>
        <p:spPr>
          <a:xfrm>
            <a:off x="4910534" y="1704876"/>
            <a:ext cx="6465491" cy="1227931"/>
          </a:xfrm>
          <a:prstGeom prst="roundRect">
            <a:avLst>
              <a:gd name="adj" fmla="val 8274"/>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1x21.60"/>
          <p:cNvSpPr txBox="1"/>
          <p:nvPr/>
        </p:nvSpPr>
        <p:spPr>
          <a:xfrm>
            <a:off x="5116909" y="1885851"/>
            <a:ext cx="6173795"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for ili while?</a:t>
            </a:r>
            <a:endParaRPr sz="1800"/>
          </a:p>
        </p:txBody>
      </p:sp>
      <p:sp>
        <p:nvSpPr>
          <p:cNvPr id="13" name="Tekst 2x20.30"/>
          <p:cNvSpPr txBox="1"/>
          <p:nvPr/>
        </p:nvSpPr>
        <p:spPr>
          <a:xfrm>
            <a:off x="5116909" y="2236291"/>
            <a:ext cx="6173795"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for se ponavlja jednom za svaki element. while se ponavlja dok uslov ne postane netačan, pa broj krugova ne mora biti poznat unapred.</a:t>
            </a:r>
            <a:endParaRPr sz="1400"/>
          </a:p>
        </p:txBody>
      </p:sp>
      <p:sp>
        <p:nvSpPr>
          <p:cNvPr id="14" name="Rounded Rectangle 13"/>
          <p:cNvSpPr/>
          <p:nvPr/>
        </p:nvSpPr>
        <p:spPr>
          <a:xfrm>
            <a:off x="4907359" y="3088382"/>
            <a:ext cx="6471841" cy="562570"/>
          </a:xfrm>
          <a:prstGeom prst="roundRect">
            <a:avLst>
              <a:gd name="adj" fmla="val 13544"/>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907359" y="3088382"/>
            <a:ext cx="38100" cy="5625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kst 1x20.30"/>
          <p:cNvSpPr txBox="1"/>
          <p:nvPr/>
        </p:nvSpPr>
        <p:spPr>
          <a:xfrm>
            <a:off x="5148659" y="3240782"/>
            <a:ext cx="6147887"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Petlja for je u Pythonu toliko moćna da se while koristi retko.</a:t>
            </a:r>
            <a:endParaRPr sz="14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06 · USLOVNI TESTOVI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Funkcije koje vraćaju True ili False</a:t>
            </a:r>
            <a:endParaRPr sz="3200"/>
          </a:p>
        </p:txBody>
      </p:sp>
      <p:sp>
        <p:nvSpPr>
          <p:cNvPr id="4" name="Tekst 1x21.60"/>
          <p:cNvSpPr txBox="1"/>
          <p:nvPr/>
        </p:nvSpPr>
        <p:spPr>
          <a:xfrm>
            <a:off x="812800" y="1701701"/>
            <a:ext cx="4710601"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Da li je sekvenca bogata sa AT?</a:t>
            </a:r>
            <a:endParaRPr sz="1800"/>
          </a:p>
        </p:txBody>
      </p:sp>
      <p:sp>
        <p:nvSpPr>
          <p:cNvPr id="5" name="Rounded Rectangle 4"/>
          <p:cNvSpPr/>
          <p:nvPr/>
        </p:nvSpPr>
        <p:spPr>
          <a:xfrm>
            <a:off x="819150" y="2083891"/>
            <a:ext cx="4605536" cy="2671266"/>
          </a:xfrm>
          <a:prstGeom prst="roundRect">
            <a:avLst>
              <a:gd name="adj" fmla="val 3803"/>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9x20.15"/>
          <p:cNvSpPr txBox="1"/>
          <p:nvPr/>
        </p:nvSpPr>
        <p:spPr>
          <a:xfrm>
            <a:off x="1079500" y="2268041"/>
            <a:ext cx="4166533" cy="2302966"/>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def</a:t>
            </a:r>
            <a:r>
              <a:rPr sz="1300" b="0" i="0">
                <a:solidFill>
                  <a:srgbClr val="E8EEE9"/>
                </a:solidFill>
                <a:latin typeface="Consolas"/>
              </a:rPr>
              <a:t> is_at_rich(dna):</a:t>
            </a:r>
            <a:br/>
            <a:r>
              <a:rPr sz="1300" b="0" i="0">
                <a:solidFill>
                  <a:srgbClr val="E8EEE9"/>
                </a:solidFill>
                <a:latin typeface="Consolas"/>
              </a:rPr>
              <a:t>    length = len(dna)</a:t>
            </a:r>
            <a:br/>
            <a:r>
              <a:rPr sz="1300" b="0" i="0">
                <a:solidFill>
                  <a:srgbClr val="E8EEE9"/>
                </a:solidFill>
                <a:latin typeface="Consolas"/>
              </a:rPr>
              <a:t>    a_count = dna.upper().count(</a:t>
            </a:r>
            <a:r>
              <a:rPr sz="1300" b="0" i="0">
                <a:solidFill>
                  <a:srgbClr val="F0A35E"/>
                </a:solidFill>
                <a:latin typeface="Consolas"/>
              </a:rPr>
              <a:t>'A'</a:t>
            </a:r>
            <a:r>
              <a:rPr sz="1300" b="0" i="0">
                <a:solidFill>
                  <a:srgbClr val="E8EEE9"/>
                </a:solidFill>
                <a:latin typeface="Consolas"/>
              </a:rPr>
              <a:t>)</a:t>
            </a:r>
            <a:br/>
            <a:r>
              <a:rPr sz="1300" b="0" i="0">
                <a:solidFill>
                  <a:srgbClr val="E8EEE9"/>
                </a:solidFill>
                <a:latin typeface="Consolas"/>
              </a:rPr>
              <a:t>    t_count = dna.upper().count(</a:t>
            </a:r>
            <a:r>
              <a:rPr sz="1300" b="0" i="0">
                <a:solidFill>
                  <a:srgbClr val="F0A35E"/>
                </a:solidFill>
                <a:latin typeface="Consolas"/>
              </a:rPr>
              <a:t>'T'</a:t>
            </a:r>
            <a:r>
              <a:rPr sz="1300" b="0" i="0">
                <a:solidFill>
                  <a:srgbClr val="E8EEE9"/>
                </a:solidFill>
                <a:latin typeface="Consolas"/>
              </a:rPr>
              <a:t>)</a:t>
            </a:r>
            <a:br/>
            <a:r>
              <a:rPr sz="1300" b="0" i="0">
                <a:solidFill>
                  <a:srgbClr val="E8EEE9"/>
                </a:solidFill>
                <a:latin typeface="Consolas"/>
              </a:rPr>
              <a:t>    at_content = (a_count + t_count) / length</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at_content &gt; 0.65:</a:t>
            </a:r>
            <a:br/>
            <a:r>
              <a:rPr sz="1300" b="0" i="0">
                <a:solidFill>
                  <a:srgbClr val="E8EEE9"/>
                </a:solidFill>
                <a:latin typeface="Consolas"/>
              </a:rPr>
              <a:t>        </a:t>
            </a:r>
            <a:r>
              <a:rPr sz="1300" b="0" i="0">
                <a:solidFill>
                  <a:srgbClr val="6FD3C1"/>
                </a:solidFill>
                <a:latin typeface="Consolas"/>
              </a:rPr>
              <a:t>return</a:t>
            </a:r>
            <a:r>
              <a:rPr sz="1300" b="0" i="0">
                <a:solidFill>
                  <a:srgbClr val="E8EEE9"/>
                </a:solidFill>
                <a:latin typeface="Consolas"/>
              </a:rPr>
              <a:t> True</a:t>
            </a:r>
            <a:br/>
            <a:r>
              <a:rPr sz="1300" b="0" i="0">
                <a:solidFill>
                  <a:srgbClr val="E8EEE9"/>
                </a:solidFill>
                <a:latin typeface="Consolas"/>
              </a:rPr>
              <a:t>    </a:t>
            </a:r>
            <a:r>
              <a:rPr sz="1300" b="0" i="0">
                <a:solidFill>
                  <a:srgbClr val="6FD3C1"/>
                </a:solidFill>
                <a:latin typeface="Consolas"/>
              </a:rPr>
              <a:t>else</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return</a:t>
            </a:r>
            <a:r>
              <a:rPr sz="1300" b="0" i="0">
                <a:solidFill>
                  <a:srgbClr val="E8EEE9"/>
                </a:solidFill>
                <a:latin typeface="Consolas"/>
              </a:rPr>
              <a:t> False</a:t>
            </a:r>
            <a:endParaRPr sz="1300"/>
          </a:p>
        </p:txBody>
      </p:sp>
      <p:sp>
        <p:nvSpPr>
          <p:cNvPr id="7" name="Tekst 1x21.60"/>
          <p:cNvSpPr txBox="1"/>
          <p:nvPr/>
        </p:nvSpPr>
        <p:spPr>
          <a:xfrm>
            <a:off x="5735836" y="1701701"/>
            <a:ext cx="5756231"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Kraće: vrati sam uslov</a:t>
            </a:r>
            <a:endParaRPr sz="1800"/>
          </a:p>
        </p:txBody>
      </p:sp>
      <p:sp>
        <p:nvSpPr>
          <p:cNvPr id="8" name="Rounded Rectangle 7"/>
          <p:cNvSpPr/>
          <p:nvPr/>
        </p:nvSpPr>
        <p:spPr>
          <a:xfrm>
            <a:off x="5742186" y="2083891"/>
            <a:ext cx="5630664"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3x20.15"/>
          <p:cNvSpPr txBox="1"/>
          <p:nvPr/>
        </p:nvSpPr>
        <p:spPr>
          <a:xfrm>
            <a:off x="6002536" y="2268041"/>
            <a:ext cx="5212163"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6FD3C1"/>
                </a:solidFill>
                <a:latin typeface="Consolas"/>
              </a:rPr>
              <a:t>def</a:t>
            </a:r>
            <a:r>
              <a:rPr sz="1300" b="0" i="0">
                <a:solidFill>
                  <a:srgbClr val="E8EEE9"/>
                </a:solidFill>
                <a:latin typeface="Consolas"/>
              </a:rPr>
              <a:t> is_at_rich(dna):</a:t>
            </a:r>
            <a:br/>
            <a:r>
              <a:rPr sz="1300" b="0" i="0">
                <a:solidFill>
                  <a:srgbClr val="E8EEE9"/>
                </a:solidFill>
                <a:latin typeface="Consolas"/>
              </a:rPr>
              <a:t>    </a:t>
            </a:r>
            <a:r>
              <a:rPr sz="1300" b="0" i="0">
                <a:solidFill>
                  <a:srgbClr val="8FB3AA"/>
                </a:solidFill>
                <a:latin typeface="Consolas"/>
              </a:rPr>
              <a:t># … računanje kao levo</a:t>
            </a:r>
            <a:br/>
            <a:r>
              <a:rPr sz="1300" b="0" i="0">
                <a:solidFill>
                  <a:srgbClr val="E8EEE9"/>
                </a:solidFill>
                <a:latin typeface="Consolas"/>
              </a:rPr>
              <a:t>    </a:t>
            </a:r>
            <a:r>
              <a:rPr sz="1300" b="0" i="0">
                <a:solidFill>
                  <a:srgbClr val="6FD3C1"/>
                </a:solidFill>
                <a:latin typeface="Consolas"/>
              </a:rPr>
              <a:t>return</a:t>
            </a:r>
            <a:r>
              <a:rPr sz="1300" b="0" i="0">
                <a:solidFill>
                  <a:srgbClr val="E8EEE9"/>
                </a:solidFill>
                <a:latin typeface="Consolas"/>
              </a:rPr>
              <a:t> at_content &gt; 0.65</a:t>
            </a:r>
            <a:endParaRPr sz="1300"/>
          </a:p>
        </p:txBody>
      </p:sp>
      <p:sp>
        <p:nvSpPr>
          <p:cNvPr id="10" name="Rounded Rectangle 9"/>
          <p:cNvSpPr/>
          <p:nvPr/>
        </p:nvSpPr>
        <p:spPr>
          <a:xfrm>
            <a:off x="5742186" y="3334147"/>
            <a:ext cx="3425527" cy="880070"/>
          </a:xfrm>
          <a:prstGeom prst="roundRect">
            <a:avLst>
              <a:gd name="adj" fmla="val 115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2x20.15"/>
          <p:cNvSpPr txBox="1"/>
          <p:nvPr/>
        </p:nvSpPr>
        <p:spPr>
          <a:xfrm>
            <a:off x="6002536" y="3518297"/>
            <a:ext cx="2962924" cy="511770"/>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print(is_at_rich(</a:t>
            </a:r>
            <a:r>
              <a:rPr sz="1300" b="0" i="0">
                <a:solidFill>
                  <a:srgbClr val="F0A35E"/>
                </a:solidFill>
                <a:latin typeface="Consolas"/>
              </a:rPr>
              <a:t>"ATTATCTACTA"</a:t>
            </a:r>
            <a:r>
              <a:rPr sz="1300" b="0" i="0">
                <a:solidFill>
                  <a:srgbClr val="E8EEE9"/>
                </a:solidFill>
                <a:latin typeface="Consolas"/>
              </a:rPr>
              <a:t>))</a:t>
            </a:r>
            <a:br/>
            <a:r>
              <a:rPr sz="1300" b="0" i="0">
                <a:solidFill>
                  <a:srgbClr val="E8EEE9"/>
                </a:solidFill>
                <a:latin typeface="Consolas"/>
              </a:rPr>
              <a:t>print(is_at_rich(</a:t>
            </a:r>
            <a:r>
              <a:rPr sz="1300" b="0" i="0">
                <a:solidFill>
                  <a:srgbClr val="F0A35E"/>
                </a:solidFill>
                <a:latin typeface="Consolas"/>
              </a:rPr>
              <a:t>"CGGCAGCGCT"</a:t>
            </a:r>
            <a:r>
              <a:rPr sz="1300" b="0" i="0">
                <a:solidFill>
                  <a:srgbClr val="E8EEE9"/>
                </a:solidFill>
                <a:latin typeface="Consolas"/>
              </a:rPr>
              <a:t>))</a:t>
            </a:r>
            <a:endParaRPr sz="1300"/>
          </a:p>
        </p:txBody>
      </p:sp>
      <p:sp>
        <p:nvSpPr>
          <p:cNvPr id="12" name="Rounded Rectangle 11"/>
          <p:cNvSpPr/>
          <p:nvPr/>
        </p:nvSpPr>
        <p:spPr>
          <a:xfrm>
            <a:off x="9282013" y="3334147"/>
            <a:ext cx="2090837" cy="880070"/>
          </a:xfrm>
          <a:prstGeom prst="roundRect">
            <a:avLst>
              <a:gd name="adj" fmla="val 1154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kst 2x20.15"/>
          <p:cNvSpPr txBox="1"/>
          <p:nvPr/>
        </p:nvSpPr>
        <p:spPr>
          <a:xfrm>
            <a:off x="9491563" y="3518297"/>
            <a:ext cx="1705171" cy="511770"/>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True</a:t>
            </a:r>
            <a:br/>
            <a:r>
              <a:rPr sz="1300" b="0" i="0">
                <a:solidFill>
                  <a:srgbClr val="13262B"/>
                </a:solidFill>
                <a:latin typeface="Consolas"/>
              </a:rPr>
              <a:t>False</a:t>
            </a:r>
            <a:endParaRPr sz="1300"/>
          </a:p>
        </p:txBody>
      </p:sp>
      <p:sp>
        <p:nvSpPr>
          <p:cNvPr id="14" name="Tekst 1x20.30"/>
          <p:cNvSpPr txBox="1"/>
          <p:nvPr/>
        </p:nvSpPr>
        <p:spPr>
          <a:xfrm>
            <a:off x="5735836" y="4322167"/>
            <a:ext cx="5756231"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Takva funkcija ide direktno u uslov: </a:t>
            </a:r>
            <a:r>
              <a:rPr sz="1400" b="0" i="0">
                <a:solidFill>
                  <a:srgbClr val="A8521A"/>
                </a:solidFill>
                <a:latin typeface="Arial"/>
              </a:rPr>
              <a:t>if is_at_rich(my_dna):</a:t>
            </a:r>
            <a:endParaRPr sz="14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06 · VEŽBE: DATA.CSV</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Korak 1: linija postaje kolone</a:t>
            </a:r>
            <a:endParaRPr sz="3200"/>
          </a:p>
        </p:txBody>
      </p:sp>
      <p:sp>
        <p:nvSpPr>
          <p:cNvPr id="4" name="Tekst 2x20.30"/>
          <p:cNvSpPr txBox="1"/>
          <p:nvPr/>
        </p:nvSpPr>
        <p:spPr>
          <a:xfrm>
            <a:off x="812800" y="1701701"/>
            <a:ext cx="492252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Svaka linija: vrsta, sekvenca, ime gena i nivo ekspresije, razdvojeni zarezima.</a:t>
            </a:r>
            <a:endParaRPr sz="1400"/>
          </a:p>
        </p:txBody>
      </p:sp>
      <p:sp>
        <p:nvSpPr>
          <p:cNvPr id="5" name="Rounded Rectangle 4"/>
          <p:cNvSpPr/>
          <p:nvPr/>
        </p:nvSpPr>
        <p:spPr>
          <a:xfrm>
            <a:off x="819150" y="2325191"/>
            <a:ext cx="4813300" cy="2415381"/>
          </a:xfrm>
          <a:prstGeom prst="roundRect">
            <a:avLst>
              <a:gd name="adj" fmla="val 4206"/>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8x20.15"/>
          <p:cNvSpPr txBox="1"/>
          <p:nvPr/>
        </p:nvSpPr>
        <p:spPr>
          <a:xfrm>
            <a:off x="1079500" y="2509341"/>
            <a:ext cx="4378452" cy="204708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data = open(</a:t>
            </a:r>
            <a:r>
              <a:rPr sz="1300" b="0" i="0">
                <a:solidFill>
                  <a:srgbClr val="F0A35E"/>
                </a:solidFill>
                <a:latin typeface="Consolas"/>
              </a:rPr>
              <a:t>"data.csv"</a:t>
            </a:r>
            <a:r>
              <a:rPr sz="1300" b="0" i="0">
                <a:solidFill>
                  <a:srgbClr val="E8EEE9"/>
                </a:solidFill>
                <a:latin typeface="Consolas"/>
              </a:rPr>
              <a:t>)</a:t>
            </a:r>
            <a:br/>
            <a:r>
              <a:rPr sz="1300" b="0" i="0">
                <a:solidFill>
                  <a:srgbClr val="6FD3C1"/>
                </a:solidFill>
                <a:latin typeface="Consolas"/>
              </a:rPr>
              <a:t>for</a:t>
            </a:r>
            <a:r>
              <a:rPr sz="1300" b="0" i="0">
                <a:solidFill>
                  <a:srgbClr val="E8EEE9"/>
                </a:solidFill>
                <a:latin typeface="Consolas"/>
              </a:rPr>
              <a:t> line </a:t>
            </a:r>
            <a:r>
              <a:rPr sz="1300" b="0" i="0">
                <a:solidFill>
                  <a:srgbClr val="6FD3C1"/>
                </a:solidFill>
                <a:latin typeface="Consolas"/>
              </a:rPr>
              <a:t>in</a:t>
            </a:r>
            <a:r>
              <a:rPr sz="1300" b="0" i="0">
                <a:solidFill>
                  <a:srgbClr val="E8EEE9"/>
                </a:solidFill>
                <a:latin typeface="Consolas"/>
              </a:rPr>
              <a:t> data:</a:t>
            </a:r>
            <a:br/>
            <a:r>
              <a:rPr sz="1300" b="0" i="0">
                <a:solidFill>
                  <a:srgbClr val="E8EEE9"/>
                </a:solidFill>
                <a:latin typeface="Consolas"/>
              </a:rPr>
              <a:t>    columns = line.rstrip(</a:t>
            </a:r>
            <a:r>
              <a:rPr sz="1300" b="0" i="0">
                <a:solidFill>
                  <a:srgbClr val="F0A35E"/>
                </a:solidFill>
                <a:latin typeface="Consolas"/>
              </a:rPr>
              <a:t>"\n"</a:t>
            </a:r>
            <a:r>
              <a:rPr sz="1300" b="0" i="0">
                <a:solidFill>
                  <a:srgbClr val="E8EEE9"/>
                </a:solidFill>
                <a:latin typeface="Consolas"/>
              </a:rPr>
              <a:t>).split(</a:t>
            </a:r>
            <a:r>
              <a:rPr sz="1300" b="0" i="0">
                <a:solidFill>
                  <a:srgbClr val="F0A35E"/>
                </a:solidFill>
                <a:latin typeface="Consolas"/>
              </a:rPr>
              <a:t>","</a:t>
            </a:r>
            <a:r>
              <a:rPr sz="1300" b="0" i="0">
                <a:solidFill>
                  <a:srgbClr val="E8EEE9"/>
                </a:solidFill>
                <a:latin typeface="Consolas"/>
              </a:rPr>
              <a:t>)</a:t>
            </a:r>
            <a:br/>
            <a:r>
              <a:rPr sz="1300" b="0" i="0">
                <a:solidFill>
                  <a:srgbClr val="E8EEE9"/>
                </a:solidFill>
                <a:latin typeface="Consolas"/>
              </a:rPr>
              <a:t>    species = columns[0]</a:t>
            </a:r>
            <a:br/>
            <a:r>
              <a:rPr sz="1300" b="0" i="0">
                <a:solidFill>
                  <a:srgbClr val="E8EEE9"/>
                </a:solidFill>
                <a:latin typeface="Consolas"/>
              </a:rPr>
              <a:t>    sequence = columns[1]</a:t>
            </a:r>
            <a:br/>
            <a:r>
              <a:rPr sz="1300" b="0" i="0">
                <a:solidFill>
                  <a:srgbClr val="E8EEE9"/>
                </a:solidFill>
                <a:latin typeface="Consolas"/>
              </a:rPr>
              <a:t>    name = columns[2]</a:t>
            </a:r>
            <a:br/>
            <a:r>
              <a:rPr sz="1300" b="0" i="0">
                <a:solidFill>
                  <a:srgbClr val="E8EEE9"/>
                </a:solidFill>
                <a:latin typeface="Consolas"/>
              </a:rPr>
              <a:t>    expression = columns[3]</a:t>
            </a:r>
            <a:br/>
            <a:r>
              <a:rPr sz="1300" b="0" i="0">
                <a:solidFill>
                  <a:srgbClr val="E8EEE9"/>
                </a:solidFill>
                <a:latin typeface="Consolas"/>
              </a:rPr>
              <a:t>    print(name)</a:t>
            </a:r>
            <a:endParaRPr sz="1300"/>
          </a:p>
        </p:txBody>
      </p:sp>
      <p:sp>
        <p:nvSpPr>
          <p:cNvPr id="7" name="Tekst 1x20.15"/>
          <p:cNvSpPr txBox="1"/>
          <p:nvPr/>
        </p:nvSpPr>
        <p:spPr>
          <a:xfrm>
            <a:off x="5943600" y="1701701"/>
            <a:ext cx="977900" cy="257770"/>
          </a:xfrm>
          <a:prstGeom prst="rect">
            <a:avLst/>
          </a:prstGeom>
          <a:noFill/>
        </p:spPr>
        <p:txBody>
          <a:bodyPr wrap="square" anchor="t" lIns="0" rIns="0" tIns="0" bIns="0">
            <a:noAutofit/>
          </a:bodyPr>
          <a:lstStyle/>
          <a:p>
            <a:pPr algn="l">
              <a:lnSpc>
                <a:spcPts val="2014"/>
              </a:lnSpc>
              <a:spcBef>
                <a:spcPts val="0"/>
              </a:spcBef>
              <a:spcAft>
                <a:spcPts val="0"/>
              </a:spcAft>
            </a:pPr>
            <a:r>
              <a:rPr sz="1300" b="0" i="0">
                <a:solidFill>
                  <a:srgbClr val="A8521A"/>
                </a:solidFill>
                <a:latin typeface="Consolas"/>
              </a:rPr>
              <a:t>pogl. 3</a:t>
            </a:r>
            <a:endParaRPr sz="1300"/>
          </a:p>
        </p:txBody>
      </p:sp>
      <p:sp>
        <p:nvSpPr>
          <p:cNvPr id="8" name="Tekst 1x20.30"/>
          <p:cNvSpPr txBox="1"/>
          <p:nvPr/>
        </p:nvSpPr>
        <p:spPr>
          <a:xfrm>
            <a:off x="7023100" y="1701701"/>
            <a:ext cx="4443222"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otvaranje fajla</a:t>
            </a:r>
            <a:endParaRPr sz="1400"/>
          </a:p>
        </p:txBody>
      </p:sp>
      <p:sp>
        <p:nvSpPr>
          <p:cNvPr id="9" name="Tekst 1x20.15"/>
          <p:cNvSpPr txBox="1"/>
          <p:nvPr/>
        </p:nvSpPr>
        <p:spPr>
          <a:xfrm>
            <a:off x="5943600" y="2035671"/>
            <a:ext cx="977900" cy="257770"/>
          </a:xfrm>
          <a:prstGeom prst="rect">
            <a:avLst/>
          </a:prstGeom>
          <a:noFill/>
        </p:spPr>
        <p:txBody>
          <a:bodyPr wrap="square" anchor="t" lIns="0" rIns="0" tIns="0" bIns="0">
            <a:noAutofit/>
          </a:bodyPr>
          <a:lstStyle/>
          <a:p>
            <a:pPr algn="l">
              <a:lnSpc>
                <a:spcPts val="2014"/>
              </a:lnSpc>
              <a:spcBef>
                <a:spcPts val="0"/>
              </a:spcBef>
              <a:spcAft>
                <a:spcPts val="0"/>
              </a:spcAft>
            </a:pPr>
            <a:r>
              <a:rPr sz="1300" b="0" i="0">
                <a:solidFill>
                  <a:srgbClr val="A8521A"/>
                </a:solidFill>
                <a:latin typeface="Consolas"/>
              </a:rPr>
              <a:t>pogl. 4</a:t>
            </a:r>
            <a:endParaRPr sz="1300"/>
          </a:p>
        </p:txBody>
      </p:sp>
      <p:sp>
        <p:nvSpPr>
          <p:cNvPr id="10" name="Tekst 1x20.30"/>
          <p:cNvSpPr txBox="1"/>
          <p:nvPr/>
        </p:nvSpPr>
        <p:spPr>
          <a:xfrm>
            <a:off x="7023100" y="2035671"/>
            <a:ext cx="4443222"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linija po linija; split u kolone</a:t>
            </a:r>
            <a:endParaRPr sz="1400"/>
          </a:p>
        </p:txBody>
      </p:sp>
      <p:sp>
        <p:nvSpPr>
          <p:cNvPr id="11" name="Tekst 1x20.15"/>
          <p:cNvSpPr txBox="1"/>
          <p:nvPr/>
        </p:nvSpPr>
        <p:spPr>
          <a:xfrm>
            <a:off x="5943600" y="2369641"/>
            <a:ext cx="977900" cy="257770"/>
          </a:xfrm>
          <a:prstGeom prst="rect">
            <a:avLst/>
          </a:prstGeom>
          <a:noFill/>
        </p:spPr>
        <p:txBody>
          <a:bodyPr wrap="square" anchor="t" lIns="0" rIns="0" tIns="0" bIns="0">
            <a:noAutofit/>
          </a:bodyPr>
          <a:lstStyle/>
          <a:p>
            <a:pPr algn="l">
              <a:lnSpc>
                <a:spcPts val="2014"/>
              </a:lnSpc>
              <a:spcBef>
                <a:spcPts val="0"/>
              </a:spcBef>
              <a:spcAft>
                <a:spcPts val="0"/>
              </a:spcAft>
            </a:pPr>
            <a:r>
              <a:rPr sz="1300" b="0" i="0">
                <a:solidFill>
                  <a:srgbClr val="A8521A"/>
                </a:solidFill>
                <a:latin typeface="Consolas"/>
              </a:rPr>
              <a:t>pogl. 6</a:t>
            </a:r>
            <a:endParaRPr sz="1300"/>
          </a:p>
        </p:txBody>
      </p:sp>
      <p:sp>
        <p:nvSpPr>
          <p:cNvPr id="12" name="Tekst 1x20.30"/>
          <p:cNvSpPr txBox="1"/>
          <p:nvPr/>
        </p:nvSpPr>
        <p:spPr>
          <a:xfrm>
            <a:off x="7023100" y="2369641"/>
            <a:ext cx="4443222"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uslov: ispisati ili ne</a:t>
            </a:r>
            <a:endParaRPr sz="1400"/>
          </a:p>
        </p:txBody>
      </p:sp>
      <p:sp>
        <p:nvSpPr>
          <p:cNvPr id="13" name="Rounded Rectangle 12"/>
          <p:cNvSpPr/>
          <p:nvPr/>
        </p:nvSpPr>
        <p:spPr>
          <a:xfrm>
            <a:off x="5949950" y="2786162"/>
            <a:ext cx="5422900" cy="1903611"/>
          </a:xfrm>
          <a:prstGeom prst="roundRect">
            <a:avLst>
              <a:gd name="adj" fmla="val 5337"/>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16.80"/>
          <p:cNvSpPr txBox="1"/>
          <p:nvPr/>
        </p:nvSpPr>
        <p:spPr>
          <a:xfrm>
            <a:off x="10325100" y="2843312"/>
            <a:ext cx="9144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IZLAZ</a:t>
            </a:r>
            <a:endParaRPr sz="1200"/>
          </a:p>
        </p:txBody>
      </p:sp>
      <p:sp>
        <p:nvSpPr>
          <p:cNvPr id="15" name="Tekst 6x20.15"/>
          <p:cNvSpPr txBox="1"/>
          <p:nvPr/>
        </p:nvSpPr>
        <p:spPr>
          <a:xfrm>
            <a:off x="6210300" y="2970312"/>
            <a:ext cx="5000244" cy="153531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kdy647</a:t>
            </a:r>
            <a:br/>
            <a:r>
              <a:rPr sz="1300" b="0" i="0">
                <a:solidFill>
                  <a:srgbClr val="13262B"/>
                </a:solidFill>
                <a:latin typeface="Consolas"/>
              </a:rPr>
              <a:t>jdg766</a:t>
            </a:r>
            <a:br/>
            <a:r>
              <a:rPr sz="1300" b="0" i="0">
                <a:solidFill>
                  <a:srgbClr val="13262B"/>
                </a:solidFill>
                <a:latin typeface="Consolas"/>
              </a:rPr>
              <a:t>kdy533</a:t>
            </a:r>
            <a:br/>
            <a:r>
              <a:rPr sz="1300" b="0" i="0">
                <a:solidFill>
                  <a:srgbClr val="13262B"/>
                </a:solidFill>
                <a:latin typeface="Consolas"/>
              </a:rPr>
              <a:t>hdt739</a:t>
            </a:r>
            <a:br/>
            <a:r>
              <a:rPr sz="1300" b="0" i="0">
                <a:solidFill>
                  <a:srgbClr val="13262B"/>
                </a:solidFill>
                <a:latin typeface="Consolas"/>
              </a:rPr>
              <a:t>hdu045</a:t>
            </a:r>
            <a:br/>
            <a:r>
              <a:rPr sz="1300" b="0" i="0">
                <a:solidFill>
                  <a:srgbClr val="13262B"/>
                </a:solidFill>
                <a:latin typeface="Consolas"/>
              </a:rPr>
              <a:t>teg436</a:t>
            </a:r>
            <a:endParaRPr sz="13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06 · VEŽBE: DATA.CSV</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Vrsta i dužina sekvence</a:t>
            </a:r>
            <a:endParaRPr sz="3200"/>
          </a:p>
        </p:txBody>
      </p:sp>
      <p:sp>
        <p:nvSpPr>
          <p:cNvPr id="4" name="Tekst 1x21.60"/>
          <p:cNvSpPr txBox="1"/>
          <p:nvPr/>
        </p:nvSpPr>
        <p:spPr>
          <a:xfrm>
            <a:off x="812800" y="1650901"/>
            <a:ext cx="10777728"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Geni iz D. melanogaster ili D. simulans</a:t>
            </a:r>
            <a:endParaRPr sz="1800"/>
          </a:p>
        </p:txBody>
      </p:sp>
      <p:sp>
        <p:nvSpPr>
          <p:cNvPr id="5" name="Rounded Rectangle 4"/>
          <p:cNvSpPr/>
          <p:nvPr/>
        </p:nvSpPr>
        <p:spPr>
          <a:xfrm>
            <a:off x="819150" y="2007691"/>
            <a:ext cx="7782818"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kst 3x20.15"/>
          <p:cNvSpPr txBox="1"/>
          <p:nvPr/>
        </p:nvSpPr>
        <p:spPr>
          <a:xfrm>
            <a:off x="1079500" y="2191841"/>
            <a:ext cx="7407360"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8FB3AA"/>
                </a:solidFill>
                <a:latin typeface="Consolas"/>
              </a:rPr>
              <a:t># … čitanje kolona kao u koraku 1, pa:</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species == </a:t>
            </a:r>
            <a:r>
              <a:rPr sz="1300" b="0" i="0">
                <a:solidFill>
                  <a:srgbClr val="F0A35E"/>
                </a:solidFill>
                <a:latin typeface="Consolas"/>
              </a:rPr>
              <a:t>"Drosophila melanogaster"</a:t>
            </a:r>
            <a:r>
              <a:rPr sz="1300" b="0" i="0">
                <a:solidFill>
                  <a:srgbClr val="E8EEE9"/>
                </a:solidFill>
                <a:latin typeface="Consolas"/>
              </a:rPr>
              <a:t> </a:t>
            </a:r>
            <a:r>
              <a:rPr sz="1300" b="0" i="0">
                <a:solidFill>
                  <a:srgbClr val="6FD3C1"/>
                </a:solidFill>
                <a:latin typeface="Consolas"/>
              </a:rPr>
              <a:t>or</a:t>
            </a:r>
            <a:r>
              <a:rPr sz="1300" b="0" i="0">
                <a:solidFill>
                  <a:srgbClr val="E8EEE9"/>
                </a:solidFill>
                <a:latin typeface="Consolas"/>
              </a:rPr>
              <a:t> species == </a:t>
            </a:r>
            <a:r>
              <a:rPr sz="1300" b="0" i="0">
                <a:solidFill>
                  <a:srgbClr val="F0A35E"/>
                </a:solidFill>
                <a:latin typeface="Consolas"/>
              </a:rPr>
              <a:t>"Drosophila simulans"</a:t>
            </a:r>
            <a:r>
              <a:rPr sz="1300" b="0" i="0">
                <a:solidFill>
                  <a:srgbClr val="E8EEE9"/>
                </a:solidFill>
                <a:latin typeface="Consolas"/>
              </a:rPr>
              <a:t>:</a:t>
            </a:r>
            <a:br/>
            <a:r>
              <a:rPr sz="1300" b="0" i="0">
                <a:solidFill>
                  <a:srgbClr val="E8EEE9"/>
                </a:solidFill>
                <a:latin typeface="Consolas"/>
              </a:rPr>
              <a:t>        print(name)</a:t>
            </a:r>
            <a:endParaRPr sz="1300"/>
          </a:p>
        </p:txBody>
      </p:sp>
      <p:sp>
        <p:nvSpPr>
          <p:cNvPr id="7" name="Rounded Rectangle 6"/>
          <p:cNvSpPr/>
          <p:nvPr/>
        </p:nvSpPr>
        <p:spPr>
          <a:xfrm>
            <a:off x="8716268" y="2007691"/>
            <a:ext cx="2656582" cy="1135955"/>
          </a:xfrm>
          <a:prstGeom prst="roundRect">
            <a:avLst>
              <a:gd name="adj" fmla="val 8944"/>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3x20.15"/>
          <p:cNvSpPr txBox="1"/>
          <p:nvPr/>
        </p:nvSpPr>
        <p:spPr>
          <a:xfrm>
            <a:off x="8951218" y="2191841"/>
            <a:ext cx="2230416"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kdy647</a:t>
            </a:r>
            <a:br/>
            <a:r>
              <a:rPr sz="1300" b="0" i="0">
                <a:solidFill>
                  <a:srgbClr val="13262B"/>
                </a:solidFill>
                <a:latin typeface="Consolas"/>
              </a:rPr>
              <a:t>jdg766</a:t>
            </a:r>
            <a:br/>
            <a:r>
              <a:rPr sz="1300" b="0" i="0">
                <a:solidFill>
                  <a:srgbClr val="13262B"/>
                </a:solidFill>
                <a:latin typeface="Consolas"/>
              </a:rPr>
              <a:t>kdy533</a:t>
            </a:r>
            <a:endParaRPr sz="1300"/>
          </a:p>
        </p:txBody>
      </p:sp>
      <p:sp>
        <p:nvSpPr>
          <p:cNvPr id="9" name="Tekst 1x21.60"/>
          <p:cNvSpPr txBox="1"/>
          <p:nvPr/>
        </p:nvSpPr>
        <p:spPr>
          <a:xfrm>
            <a:off x="812800" y="3353197"/>
            <a:ext cx="10777728"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Geni dužine između 90 i 110 baza</a:t>
            </a:r>
            <a:endParaRPr sz="1800"/>
          </a:p>
        </p:txBody>
      </p:sp>
      <p:sp>
        <p:nvSpPr>
          <p:cNvPr id="10" name="Rounded Rectangle 9"/>
          <p:cNvSpPr/>
          <p:nvPr/>
        </p:nvSpPr>
        <p:spPr>
          <a:xfrm>
            <a:off x="819150" y="3709988"/>
            <a:ext cx="5059561"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3x20.15"/>
          <p:cNvSpPr txBox="1"/>
          <p:nvPr/>
        </p:nvSpPr>
        <p:spPr>
          <a:xfrm>
            <a:off x="1079500" y="3894138"/>
            <a:ext cx="4629638"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8FB3AA"/>
                </a:solidFill>
                <a:latin typeface="Consolas"/>
              </a:rPr>
              <a:t># … čitanje kolona kao u koraku 1, pa:</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len(sequence) &gt; 90 </a:t>
            </a:r>
            <a:r>
              <a:rPr sz="1300" b="0" i="0">
                <a:solidFill>
                  <a:srgbClr val="6FD3C1"/>
                </a:solidFill>
                <a:latin typeface="Consolas"/>
              </a:rPr>
              <a:t>and</a:t>
            </a:r>
            <a:r>
              <a:rPr sz="1300" b="0" i="0">
                <a:solidFill>
                  <a:srgbClr val="E8EEE9"/>
                </a:solidFill>
                <a:latin typeface="Consolas"/>
              </a:rPr>
              <a:t> len(sequence) &lt; 110:</a:t>
            </a:r>
            <a:br/>
            <a:r>
              <a:rPr sz="1300" b="0" i="0">
                <a:solidFill>
                  <a:srgbClr val="E8EEE9"/>
                </a:solidFill>
                <a:latin typeface="Consolas"/>
              </a:rPr>
              <a:t>        print(name)</a:t>
            </a:r>
            <a:endParaRPr sz="1300"/>
          </a:p>
        </p:txBody>
      </p:sp>
      <p:sp>
        <p:nvSpPr>
          <p:cNvPr id="12" name="Rounded Rectangle 11"/>
          <p:cNvSpPr/>
          <p:nvPr/>
        </p:nvSpPr>
        <p:spPr>
          <a:xfrm>
            <a:off x="6088261" y="3703638"/>
            <a:ext cx="5290939" cy="1148655"/>
          </a:xfrm>
          <a:prstGeom prst="roundRect">
            <a:avLst>
              <a:gd name="adj" fmla="val 6633"/>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88261" y="3703638"/>
            <a:ext cx="38100" cy="1148655"/>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2x20.30"/>
          <p:cNvSpPr txBox="1"/>
          <p:nvPr/>
        </p:nvSpPr>
        <p:spPr>
          <a:xfrm>
            <a:off x="6304161" y="4020145"/>
            <a:ext cx="4995184"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Dužinu računamo sa </a:t>
            </a:r>
            <a:r>
              <a:rPr sz="1400" b="0" i="0">
                <a:solidFill>
                  <a:srgbClr val="A8521A"/>
                </a:solidFill>
                <a:latin typeface="Arial"/>
              </a:rPr>
              <a:t>len</a:t>
            </a:r>
            <a:r>
              <a:rPr sz="1400" b="0" i="0">
                <a:solidFill>
                  <a:srgbClr val="13262B"/>
                </a:solidFill>
                <a:latin typeface="Arial"/>
              </a:rPr>
              <a:t>; oba dela uslova moraju da važe, pa ih spajamo sa </a:t>
            </a:r>
            <a:r>
              <a:rPr sz="1400" b="0" i="0">
                <a:solidFill>
                  <a:srgbClr val="A8521A"/>
                </a:solidFill>
                <a:latin typeface="Arial"/>
              </a:rPr>
              <a:t>and</a:t>
            </a:r>
            <a:r>
              <a:rPr sz="1400" b="0" i="0">
                <a:solidFill>
                  <a:srgbClr val="13262B"/>
                </a:solidFill>
                <a:latin typeface="Arial"/>
              </a:rPr>
              <a:t>.</a:t>
            </a:r>
            <a:endParaRPr sz="14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06 · VEŽBE: DATA.CSV</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AT sadržaj i ekspresija: pazite na tip</a:t>
            </a:r>
            <a:endParaRPr sz="3200"/>
          </a:p>
        </p:txBody>
      </p:sp>
      <p:sp>
        <p:nvSpPr>
          <p:cNvPr id="4" name="Rounded Rectangle 3"/>
          <p:cNvSpPr/>
          <p:nvPr/>
        </p:nvSpPr>
        <p:spPr>
          <a:xfrm>
            <a:off x="819150" y="1657251"/>
            <a:ext cx="10553700" cy="1391841"/>
          </a:xfrm>
          <a:prstGeom prst="roundRect">
            <a:avLst>
              <a:gd name="adj" fmla="val 729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4x20.15"/>
          <p:cNvSpPr txBox="1"/>
          <p:nvPr/>
        </p:nvSpPr>
        <p:spPr>
          <a:xfrm>
            <a:off x="1079500" y="1841401"/>
            <a:ext cx="10185400" cy="102354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8FB3AA"/>
                </a:solidFill>
                <a:latin typeface="Consolas"/>
              </a:rPr>
              <a:t># get_at_content iz poglavlja 5, na početku programa</a:t>
            </a:r>
            <a:br/>
            <a:r>
              <a:rPr sz="1300" b="0" i="0">
                <a:solidFill>
                  <a:srgbClr val="8FB3AA"/>
                </a:solidFill>
                <a:latin typeface="Consolas"/>
              </a:rPr>
              <a:t># … čitanje kolona kao u koraku 1, pa:</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get_at_content(sequence) &lt; 0.5 </a:t>
            </a:r>
            <a:r>
              <a:rPr sz="1300" b="0" i="0">
                <a:solidFill>
                  <a:srgbClr val="6FD3C1"/>
                </a:solidFill>
                <a:latin typeface="Consolas"/>
              </a:rPr>
              <a:t>and</a:t>
            </a:r>
            <a:r>
              <a:rPr sz="1300" b="0" i="0">
                <a:solidFill>
                  <a:srgbClr val="E8EEE9"/>
                </a:solidFill>
                <a:latin typeface="Consolas"/>
              </a:rPr>
              <a:t> expression &gt; 200:</a:t>
            </a:r>
            <a:br/>
            <a:r>
              <a:rPr sz="1300" b="0" i="0">
                <a:solidFill>
                  <a:srgbClr val="E8EEE9"/>
                </a:solidFill>
                <a:latin typeface="Consolas"/>
              </a:rPr>
              <a:t>        print(name)</a:t>
            </a:r>
            <a:endParaRPr sz="1300"/>
          </a:p>
        </p:txBody>
      </p:sp>
      <p:sp>
        <p:nvSpPr>
          <p:cNvPr id="6" name="Rounded Rectangle 5"/>
          <p:cNvSpPr/>
          <p:nvPr/>
        </p:nvSpPr>
        <p:spPr>
          <a:xfrm>
            <a:off x="819150" y="3264991"/>
            <a:ext cx="3486348" cy="820341"/>
          </a:xfrm>
          <a:prstGeom prst="roundRect">
            <a:avLst>
              <a:gd name="adj" fmla="val 12385"/>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kst 2x18.00"/>
          <p:cNvSpPr txBox="1"/>
          <p:nvPr/>
        </p:nvSpPr>
        <p:spPr>
          <a:xfrm>
            <a:off x="1054100" y="3446562"/>
            <a:ext cx="3076777" cy="457200"/>
          </a:xfrm>
          <a:prstGeom prst="rect">
            <a:avLst/>
          </a:prstGeom>
          <a:noFill/>
        </p:spPr>
        <p:txBody>
          <a:bodyPr wrap="none" anchor="t" lIns="0" rIns="0" tIns="0" bIns="0">
            <a:noAutofit/>
          </a:bodyPr>
          <a:lstStyle/>
          <a:p>
            <a:pPr algn="l">
              <a:lnSpc>
                <a:spcPts val="1800"/>
              </a:lnSpc>
              <a:spcBef>
                <a:spcPts val="0"/>
              </a:spcBef>
              <a:spcAft>
                <a:spcPts val="0"/>
              </a:spcAft>
            </a:pPr>
            <a:r>
              <a:rPr sz="1200" b="0" i="0">
                <a:solidFill>
                  <a:srgbClr val="A8521A"/>
                </a:solidFill>
                <a:latin typeface="Consolas"/>
              </a:rPr>
              <a:t>TypeError: '&gt;' not supported between</a:t>
            </a:r>
            <a:br/>
            <a:r>
              <a:rPr sz="1200" b="0" i="0">
                <a:solidFill>
                  <a:srgbClr val="A8521A"/>
                </a:solidFill>
                <a:latin typeface="Consolas"/>
              </a:rPr>
              <a:t>instances of 'str' and 'int'</a:t>
            </a:r>
            <a:endParaRPr sz="1200"/>
          </a:p>
        </p:txBody>
      </p:sp>
      <p:sp>
        <p:nvSpPr>
          <p:cNvPr id="8" name="Rounded Rectangle 7"/>
          <p:cNvSpPr/>
          <p:nvPr/>
        </p:nvSpPr>
        <p:spPr>
          <a:xfrm>
            <a:off x="4518223" y="3261816"/>
            <a:ext cx="6857802" cy="826691"/>
          </a:xfrm>
          <a:prstGeom prst="roundRect">
            <a:avLst>
              <a:gd name="adj" fmla="val 12289"/>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2x20.30"/>
          <p:cNvSpPr txBox="1"/>
          <p:nvPr/>
        </p:nvSpPr>
        <p:spPr>
          <a:xfrm>
            <a:off x="4699198" y="3417391"/>
            <a:ext cx="6602532"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Sve kolone pročitane iz fajla su stringovi, pa i </a:t>
            </a:r>
            <a:r>
              <a:rPr sz="1400" b="0" i="0">
                <a:solidFill>
                  <a:srgbClr val="A8521A"/>
                </a:solidFill>
                <a:latin typeface="Arial"/>
              </a:rPr>
              <a:t>expression</a:t>
            </a:r>
            <a:r>
              <a:rPr sz="1400" b="0" i="0">
                <a:solidFill>
                  <a:srgbClr val="3D4F52"/>
                </a:solidFill>
                <a:latin typeface="Arial"/>
              </a:rPr>
              <a:t>. String ne može da se poredi sa brojem 200.</a:t>
            </a:r>
            <a:endParaRPr sz="1400"/>
          </a:p>
        </p:txBody>
      </p:sp>
      <p:sp>
        <p:nvSpPr>
          <p:cNvPr id="10" name="Rounded Rectangle 9"/>
          <p:cNvSpPr/>
          <p:nvPr/>
        </p:nvSpPr>
        <p:spPr>
          <a:xfrm>
            <a:off x="819150" y="4301232"/>
            <a:ext cx="6330355" cy="880070"/>
          </a:xfrm>
          <a:prstGeom prst="roundRect">
            <a:avLst>
              <a:gd name="adj" fmla="val 115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kst 2x20.15"/>
          <p:cNvSpPr txBox="1"/>
          <p:nvPr/>
        </p:nvSpPr>
        <p:spPr>
          <a:xfrm>
            <a:off x="1079500" y="4485382"/>
            <a:ext cx="5925848" cy="511770"/>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get_at_content(sequence) &lt; 0.5 </a:t>
            </a:r>
            <a:r>
              <a:rPr sz="1300" b="0" i="0">
                <a:solidFill>
                  <a:srgbClr val="6FD3C1"/>
                </a:solidFill>
                <a:latin typeface="Consolas"/>
              </a:rPr>
              <a:t>and</a:t>
            </a:r>
            <a:r>
              <a:rPr sz="1300" b="0" i="0">
                <a:solidFill>
                  <a:srgbClr val="E8EEE9"/>
                </a:solidFill>
                <a:latin typeface="Consolas"/>
              </a:rPr>
              <a:t> int(expression) &gt; 200:</a:t>
            </a:r>
            <a:br/>
            <a:r>
              <a:rPr sz="1300" b="0" i="0">
                <a:solidFill>
                  <a:srgbClr val="E8EEE9"/>
                </a:solidFill>
                <a:latin typeface="Consolas"/>
              </a:rPr>
              <a:t>        print(name)</a:t>
            </a:r>
            <a:endParaRPr sz="1300"/>
          </a:p>
        </p:txBody>
      </p:sp>
      <p:sp>
        <p:nvSpPr>
          <p:cNvPr id="12" name="Rounded Rectangle 11"/>
          <p:cNvSpPr/>
          <p:nvPr/>
        </p:nvSpPr>
        <p:spPr>
          <a:xfrm>
            <a:off x="7359055" y="4294882"/>
            <a:ext cx="4020145" cy="892770"/>
          </a:xfrm>
          <a:prstGeom prst="roundRect">
            <a:avLst>
              <a:gd name="adj" fmla="val 8535"/>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59055" y="4294882"/>
            <a:ext cx="38100" cy="8927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kst 1x20.30"/>
          <p:cNvSpPr txBox="1"/>
          <p:nvPr/>
        </p:nvSpPr>
        <p:spPr>
          <a:xfrm>
            <a:off x="7574955" y="4612382"/>
            <a:ext cx="3698974"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Rešenje: </a:t>
            </a:r>
            <a:r>
              <a:rPr sz="1400" b="0" i="0">
                <a:solidFill>
                  <a:srgbClr val="A8521A"/>
                </a:solidFill>
                <a:latin typeface="Arial"/>
              </a:rPr>
              <a:t>int(expression)</a:t>
            </a:r>
            <a:r>
              <a:rPr sz="1400" b="0" i="0">
                <a:solidFill>
                  <a:srgbClr val="13262B"/>
                </a:solidFill>
                <a:latin typeface="Arial"/>
              </a:rPr>
              <a:t>.</a:t>
            </a:r>
            <a:endParaRPr sz="14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06 · VEŽBE: DATA.CSV</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Složen uslov iz tri dela</a:t>
            </a:r>
            <a:endParaRPr sz="3200"/>
          </a:p>
        </p:txBody>
      </p:sp>
      <p:sp>
        <p:nvSpPr>
          <p:cNvPr id="4" name="Rounded Rectangle 3"/>
          <p:cNvSpPr/>
          <p:nvPr/>
        </p:nvSpPr>
        <p:spPr>
          <a:xfrm>
            <a:off x="812800" y="1701701"/>
            <a:ext cx="4480520" cy="509885"/>
          </a:xfrm>
          <a:prstGeom prst="roundRect">
            <a:avLst>
              <a:gd name="adj" fmla="val 14944"/>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20.15"/>
          <p:cNvSpPr txBox="1"/>
          <p:nvPr/>
        </p:nvSpPr>
        <p:spPr>
          <a:xfrm>
            <a:off x="965200" y="1828701"/>
            <a:ext cx="4259235"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(name.startswith(</a:t>
            </a:r>
            <a:r>
              <a:rPr sz="1300" b="0" i="0">
                <a:solidFill>
                  <a:srgbClr val="F0A35E"/>
                </a:solidFill>
                <a:latin typeface="Consolas"/>
              </a:rPr>
              <a:t>'k'</a:t>
            </a:r>
            <a:r>
              <a:rPr sz="1300" b="0" i="0">
                <a:solidFill>
                  <a:srgbClr val="E8EEE9"/>
                </a:solidFill>
                <a:latin typeface="Consolas"/>
              </a:rPr>
              <a:t>) </a:t>
            </a:r>
            <a:r>
              <a:rPr sz="1300" b="0" i="0">
                <a:solidFill>
                  <a:srgbClr val="6FD3C1"/>
                </a:solidFill>
                <a:latin typeface="Consolas"/>
              </a:rPr>
              <a:t>or</a:t>
            </a:r>
            <a:r>
              <a:rPr sz="1300" b="0" i="0">
                <a:solidFill>
                  <a:srgbClr val="E8EEE9"/>
                </a:solidFill>
                <a:latin typeface="Consolas"/>
              </a:rPr>
              <a:t> name.startswith(</a:t>
            </a:r>
            <a:r>
              <a:rPr sz="1300" b="0" i="0">
                <a:solidFill>
                  <a:srgbClr val="F0A35E"/>
                </a:solidFill>
                <a:latin typeface="Consolas"/>
              </a:rPr>
              <a:t>'h'</a:t>
            </a:r>
            <a:r>
              <a:rPr sz="1300" b="0" i="0">
                <a:solidFill>
                  <a:srgbClr val="E8EEE9"/>
                </a:solidFill>
                <a:latin typeface="Consolas"/>
              </a:rPr>
              <a:t>))</a:t>
            </a:r>
            <a:endParaRPr sz="1300"/>
          </a:p>
        </p:txBody>
      </p:sp>
      <p:sp>
        <p:nvSpPr>
          <p:cNvPr id="6" name="Tekst 1x20.30"/>
          <p:cNvSpPr txBox="1"/>
          <p:nvPr/>
        </p:nvSpPr>
        <p:spPr>
          <a:xfrm>
            <a:off x="812800" y="2287786"/>
            <a:ext cx="4570131"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ime počinje sa k ili sa h</a:t>
            </a:r>
            <a:endParaRPr sz="1400"/>
          </a:p>
        </p:txBody>
      </p:sp>
      <p:sp>
        <p:nvSpPr>
          <p:cNvPr id="7" name="Tekst 1x36.00"/>
          <p:cNvSpPr txBox="1"/>
          <p:nvPr/>
        </p:nvSpPr>
        <p:spPr>
          <a:xfrm>
            <a:off x="5445720" y="1701701"/>
            <a:ext cx="402530" cy="457200"/>
          </a:xfrm>
          <a:prstGeom prst="rect">
            <a:avLst/>
          </a:prstGeom>
          <a:noFill/>
        </p:spPr>
        <p:txBody>
          <a:bodyPr wrap="square" anchor="t" lIns="0" rIns="0" tIns="0" bIns="0">
            <a:noAutofit/>
          </a:bodyPr>
          <a:lstStyle/>
          <a:p>
            <a:pPr algn="l">
              <a:lnSpc>
                <a:spcPts val="3600"/>
              </a:lnSpc>
              <a:spcBef>
                <a:spcPts val="0"/>
              </a:spcBef>
              <a:spcAft>
                <a:spcPts val="0"/>
              </a:spcAft>
            </a:pPr>
            <a:r>
              <a:rPr sz="1800" b="1" i="0">
                <a:solidFill>
                  <a:srgbClr val="0F7C6E"/>
                </a:solidFill>
                <a:latin typeface="Consolas"/>
              </a:rPr>
              <a:t>and</a:t>
            </a:r>
            <a:endParaRPr sz="1800"/>
          </a:p>
        </p:txBody>
      </p:sp>
      <p:sp>
        <p:nvSpPr>
          <p:cNvPr id="8" name="Rounded Rectangle 7"/>
          <p:cNvSpPr/>
          <p:nvPr/>
        </p:nvSpPr>
        <p:spPr>
          <a:xfrm>
            <a:off x="5975251" y="1701701"/>
            <a:ext cx="5403949" cy="509885"/>
          </a:xfrm>
          <a:prstGeom prst="roundRect">
            <a:avLst>
              <a:gd name="adj" fmla="val 14944"/>
            </a:avLst>
          </a:prstGeom>
          <a:solidFill>
            <a:srgbClr val="132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kst 1x20.15"/>
          <p:cNvSpPr txBox="1"/>
          <p:nvPr/>
        </p:nvSpPr>
        <p:spPr>
          <a:xfrm>
            <a:off x="6127651" y="1828701"/>
            <a:ext cx="5190589" cy="25588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species != </a:t>
            </a:r>
            <a:r>
              <a:rPr sz="1300" b="0" i="0">
                <a:solidFill>
                  <a:srgbClr val="F0A35E"/>
                </a:solidFill>
                <a:latin typeface="Consolas"/>
              </a:rPr>
              <a:t>"Drosophila melanogaster"</a:t>
            </a:r>
            <a:endParaRPr sz="1300"/>
          </a:p>
        </p:txBody>
      </p:sp>
      <p:sp>
        <p:nvSpPr>
          <p:cNvPr id="10" name="Tekst 1x20.30"/>
          <p:cNvSpPr txBox="1"/>
          <p:nvPr/>
        </p:nvSpPr>
        <p:spPr>
          <a:xfrm>
            <a:off x="5975251" y="2287786"/>
            <a:ext cx="5512028"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3D4F52"/>
                </a:solidFill>
                <a:latin typeface="Arial"/>
              </a:rPr>
              <a:t>vrsta nije D. melanogaster</a:t>
            </a:r>
            <a:endParaRPr sz="1400"/>
          </a:p>
        </p:txBody>
      </p:sp>
      <p:sp>
        <p:nvSpPr>
          <p:cNvPr id="11" name="Rounded Rectangle 10"/>
          <p:cNvSpPr/>
          <p:nvPr/>
        </p:nvSpPr>
        <p:spPr>
          <a:xfrm>
            <a:off x="819150" y="2805906"/>
            <a:ext cx="10553700" cy="1135955"/>
          </a:xfrm>
          <a:prstGeom prst="roundRect">
            <a:avLst>
              <a:gd name="adj" fmla="val 8944"/>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kst 3x20.15"/>
          <p:cNvSpPr txBox="1"/>
          <p:nvPr/>
        </p:nvSpPr>
        <p:spPr>
          <a:xfrm>
            <a:off x="1079500" y="2990056"/>
            <a:ext cx="10185400" cy="767655"/>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8FB3AA"/>
                </a:solidFill>
                <a:latin typeface="Consolas"/>
              </a:rPr>
              <a:t># … čitanje kolona kao u koraku 1, pa:</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(name.startswith(</a:t>
            </a:r>
            <a:r>
              <a:rPr sz="1300" b="0" i="0">
                <a:solidFill>
                  <a:srgbClr val="F0A35E"/>
                </a:solidFill>
                <a:latin typeface="Consolas"/>
              </a:rPr>
              <a:t>'k'</a:t>
            </a:r>
            <a:r>
              <a:rPr sz="1300" b="0" i="0">
                <a:solidFill>
                  <a:srgbClr val="E8EEE9"/>
                </a:solidFill>
                <a:latin typeface="Consolas"/>
              </a:rPr>
              <a:t>) </a:t>
            </a:r>
            <a:r>
              <a:rPr sz="1300" b="0" i="0">
                <a:solidFill>
                  <a:srgbClr val="6FD3C1"/>
                </a:solidFill>
                <a:latin typeface="Consolas"/>
              </a:rPr>
              <a:t>or</a:t>
            </a:r>
            <a:r>
              <a:rPr sz="1300" b="0" i="0">
                <a:solidFill>
                  <a:srgbClr val="E8EEE9"/>
                </a:solidFill>
                <a:latin typeface="Consolas"/>
              </a:rPr>
              <a:t> name.startswith(</a:t>
            </a:r>
            <a:r>
              <a:rPr sz="1300" b="0" i="0">
                <a:solidFill>
                  <a:srgbClr val="F0A35E"/>
                </a:solidFill>
                <a:latin typeface="Consolas"/>
              </a:rPr>
              <a:t>'h'</a:t>
            </a:r>
            <a:r>
              <a:rPr sz="1300" b="0" i="0">
                <a:solidFill>
                  <a:srgbClr val="E8EEE9"/>
                </a:solidFill>
                <a:latin typeface="Consolas"/>
              </a:rPr>
              <a:t>)) </a:t>
            </a:r>
            <a:r>
              <a:rPr sz="1300" b="0" i="0">
                <a:solidFill>
                  <a:srgbClr val="6FD3C1"/>
                </a:solidFill>
                <a:latin typeface="Consolas"/>
              </a:rPr>
              <a:t>and</a:t>
            </a:r>
            <a:r>
              <a:rPr sz="1300" b="0" i="0">
                <a:solidFill>
                  <a:srgbClr val="E8EEE9"/>
                </a:solidFill>
                <a:latin typeface="Consolas"/>
              </a:rPr>
              <a:t> species != </a:t>
            </a:r>
            <a:r>
              <a:rPr sz="1300" b="0" i="0">
                <a:solidFill>
                  <a:srgbClr val="F0A35E"/>
                </a:solidFill>
                <a:latin typeface="Consolas"/>
              </a:rPr>
              <a:t>"Drosophila melanogaster"</a:t>
            </a:r>
            <a:r>
              <a:rPr sz="1300" b="0" i="0">
                <a:solidFill>
                  <a:srgbClr val="E8EEE9"/>
                </a:solidFill>
                <a:latin typeface="Consolas"/>
              </a:rPr>
              <a:t>:</a:t>
            </a:r>
            <a:br/>
            <a:r>
              <a:rPr sz="1300" b="0" i="0">
                <a:solidFill>
                  <a:srgbClr val="E8EEE9"/>
                </a:solidFill>
                <a:latin typeface="Consolas"/>
              </a:rPr>
              <a:t>        print(name)</a:t>
            </a:r>
            <a:endParaRPr sz="1300"/>
          </a:p>
        </p:txBody>
      </p:sp>
      <p:sp>
        <p:nvSpPr>
          <p:cNvPr id="13" name="Rounded Rectangle 12"/>
          <p:cNvSpPr/>
          <p:nvPr/>
        </p:nvSpPr>
        <p:spPr>
          <a:xfrm>
            <a:off x="812800" y="4202212"/>
            <a:ext cx="10566400" cy="562570"/>
          </a:xfrm>
          <a:prstGeom prst="roundRect">
            <a:avLst>
              <a:gd name="adj" fmla="val 13544"/>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2800" y="4202212"/>
            <a:ext cx="38100" cy="562570"/>
          </a:xfrm>
          <a:prstGeom prst="rect">
            <a:avLst/>
          </a:prstGeom>
          <a:solidFill>
            <a:srgbClr val="0F7C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kst 1x20.30"/>
          <p:cNvSpPr txBox="1"/>
          <p:nvPr/>
        </p:nvSpPr>
        <p:spPr>
          <a:xfrm>
            <a:off x="1054100" y="4354612"/>
            <a:ext cx="10243820" cy="257770"/>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13262B"/>
                </a:solidFill>
                <a:latin typeface="Arial"/>
              </a:rPr>
              <a:t>Isti uslov piše se i sa </a:t>
            </a:r>
            <a:r>
              <a:rPr sz="1400" b="0" i="0">
                <a:solidFill>
                  <a:srgbClr val="A8521A"/>
                </a:solidFill>
                <a:latin typeface="Arial"/>
              </a:rPr>
              <a:t>not</a:t>
            </a:r>
            <a:r>
              <a:rPr sz="1400" b="0" i="0">
                <a:solidFill>
                  <a:srgbClr val="13262B"/>
                </a:solidFill>
                <a:latin typeface="Arial"/>
              </a:rPr>
              <a:t>: </a:t>
            </a:r>
            <a:r>
              <a:rPr sz="1400" b="0" i="0">
                <a:solidFill>
                  <a:srgbClr val="A8521A"/>
                </a:solidFill>
                <a:latin typeface="Arial"/>
              </a:rPr>
              <a:t>and not species == "Drosophila melanogaster"</a:t>
            </a:r>
            <a:r>
              <a:rPr sz="1400" b="0" i="0">
                <a:solidFill>
                  <a:srgbClr val="13262B"/>
                </a:solidFill>
                <a:latin typeface="Arial"/>
              </a:rPr>
              <a:t>. Zagrade oko dela sa or su obavezne.</a:t>
            </a:r>
            <a:endParaRPr sz="14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06 · VEŽBE: DATA.CSV</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Visok, nizak ili srednji AT sadržaj</a:t>
            </a:r>
            <a:endParaRPr sz="3200"/>
          </a:p>
        </p:txBody>
      </p:sp>
      <p:sp>
        <p:nvSpPr>
          <p:cNvPr id="4" name="Rounded Rectangle 3"/>
          <p:cNvSpPr/>
          <p:nvPr/>
        </p:nvSpPr>
        <p:spPr>
          <a:xfrm>
            <a:off x="819150" y="1708051"/>
            <a:ext cx="4696321" cy="3694807"/>
          </a:xfrm>
          <a:prstGeom prst="roundRect">
            <a:avLst>
              <a:gd name="adj" fmla="val 2749"/>
            </a:avLst>
          </a:prstGeom>
          <a:solidFill>
            <a:srgbClr val="13262B"/>
          </a:solidFill>
          <a:ln w="12700">
            <a:solidFill>
              <a:srgbClr val="1326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3x20.15"/>
          <p:cNvSpPr txBox="1"/>
          <p:nvPr/>
        </p:nvSpPr>
        <p:spPr>
          <a:xfrm>
            <a:off x="1079500" y="1892201"/>
            <a:ext cx="4259134" cy="3326507"/>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E8EEE9"/>
                </a:solidFill>
                <a:latin typeface="Consolas"/>
              </a:rPr>
              <a:t>data = open(</a:t>
            </a:r>
            <a:r>
              <a:rPr sz="1300" b="0" i="0">
                <a:solidFill>
                  <a:srgbClr val="F0A35E"/>
                </a:solidFill>
                <a:latin typeface="Consolas"/>
              </a:rPr>
              <a:t>"data.csv"</a:t>
            </a:r>
            <a:r>
              <a:rPr sz="1300" b="0" i="0">
                <a:solidFill>
                  <a:srgbClr val="E8EEE9"/>
                </a:solidFill>
                <a:latin typeface="Consolas"/>
              </a:rPr>
              <a:t>)</a:t>
            </a:r>
            <a:br/>
            <a:r>
              <a:rPr sz="1300" b="0" i="0">
                <a:solidFill>
                  <a:srgbClr val="6FD3C1"/>
                </a:solidFill>
                <a:latin typeface="Consolas"/>
              </a:rPr>
              <a:t>for</a:t>
            </a:r>
            <a:r>
              <a:rPr sz="1300" b="0" i="0">
                <a:solidFill>
                  <a:srgbClr val="E8EEE9"/>
                </a:solidFill>
                <a:latin typeface="Consolas"/>
              </a:rPr>
              <a:t> line </a:t>
            </a:r>
            <a:r>
              <a:rPr sz="1300" b="0" i="0">
                <a:solidFill>
                  <a:srgbClr val="6FD3C1"/>
                </a:solidFill>
                <a:latin typeface="Consolas"/>
              </a:rPr>
              <a:t>in</a:t>
            </a:r>
            <a:r>
              <a:rPr sz="1300" b="0" i="0">
                <a:solidFill>
                  <a:srgbClr val="E8EEE9"/>
                </a:solidFill>
                <a:latin typeface="Consolas"/>
              </a:rPr>
              <a:t> data:</a:t>
            </a:r>
            <a:br/>
            <a:r>
              <a:rPr sz="1300" b="0" i="0">
                <a:solidFill>
                  <a:srgbClr val="E8EEE9"/>
                </a:solidFill>
                <a:latin typeface="Consolas"/>
              </a:rPr>
              <a:t>    columns = line.rstrip(</a:t>
            </a:r>
            <a:r>
              <a:rPr sz="1300" b="0" i="0">
                <a:solidFill>
                  <a:srgbClr val="F0A35E"/>
                </a:solidFill>
                <a:latin typeface="Consolas"/>
              </a:rPr>
              <a:t>"\n"</a:t>
            </a:r>
            <a:r>
              <a:rPr sz="1300" b="0" i="0">
                <a:solidFill>
                  <a:srgbClr val="E8EEE9"/>
                </a:solidFill>
                <a:latin typeface="Consolas"/>
              </a:rPr>
              <a:t>).split(</a:t>
            </a:r>
            <a:r>
              <a:rPr sz="1300" b="0" i="0">
                <a:solidFill>
                  <a:srgbClr val="F0A35E"/>
                </a:solidFill>
                <a:latin typeface="Consolas"/>
              </a:rPr>
              <a:t>","</a:t>
            </a:r>
            <a:r>
              <a:rPr sz="1300" b="0" i="0">
                <a:solidFill>
                  <a:srgbClr val="E8EEE9"/>
                </a:solidFill>
                <a:latin typeface="Consolas"/>
              </a:rPr>
              <a:t>)</a:t>
            </a:r>
            <a:br/>
            <a:r>
              <a:rPr sz="1300" b="0" i="0">
                <a:solidFill>
                  <a:srgbClr val="E8EEE9"/>
                </a:solidFill>
                <a:latin typeface="Consolas"/>
              </a:rPr>
              <a:t>    species = columns[0]</a:t>
            </a:r>
            <a:br/>
            <a:r>
              <a:rPr sz="1300" b="0" i="0">
                <a:solidFill>
                  <a:srgbClr val="E8EEE9"/>
                </a:solidFill>
                <a:latin typeface="Consolas"/>
              </a:rPr>
              <a:t>    sequence = columns[1]</a:t>
            </a:r>
            <a:br/>
            <a:r>
              <a:rPr sz="1300" b="0" i="0">
                <a:solidFill>
                  <a:srgbClr val="E8EEE9"/>
                </a:solidFill>
                <a:latin typeface="Consolas"/>
              </a:rPr>
              <a:t>    name = columns[2]</a:t>
            </a:r>
            <a:br/>
            <a:r>
              <a:rPr sz="1300" b="0" i="0">
                <a:solidFill>
                  <a:srgbClr val="E8EEE9"/>
                </a:solidFill>
                <a:latin typeface="Consolas"/>
              </a:rPr>
              <a:t>    expression = columns[3]</a:t>
            </a:r>
            <a:br/>
            <a:r>
              <a:rPr sz="1300" b="0" i="0">
                <a:solidFill>
                  <a:srgbClr val="E8EEE9"/>
                </a:solidFill>
                <a:latin typeface="Consolas"/>
              </a:rPr>
              <a:t>    </a:t>
            </a:r>
            <a:r>
              <a:rPr sz="1300" b="0" i="0">
                <a:solidFill>
                  <a:srgbClr val="6FD3C1"/>
                </a:solidFill>
                <a:latin typeface="Consolas"/>
              </a:rPr>
              <a:t>if</a:t>
            </a:r>
            <a:r>
              <a:rPr sz="1300" b="0" i="0">
                <a:solidFill>
                  <a:srgbClr val="E8EEE9"/>
                </a:solidFill>
                <a:latin typeface="Consolas"/>
              </a:rPr>
              <a:t> get_at_content(sequence) &gt; 0.65:</a:t>
            </a:r>
            <a:br/>
            <a:r>
              <a:rPr sz="1300" b="0" i="0">
                <a:solidFill>
                  <a:srgbClr val="E8EEE9"/>
                </a:solidFill>
                <a:latin typeface="Consolas"/>
              </a:rPr>
              <a:t>        print(name + </a:t>
            </a:r>
            <a:r>
              <a:rPr sz="1300" b="0" i="0">
                <a:solidFill>
                  <a:srgbClr val="F0A35E"/>
                </a:solidFill>
                <a:latin typeface="Consolas"/>
              </a:rPr>
              <a:t>" has high AT content"</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elif</a:t>
            </a:r>
            <a:r>
              <a:rPr sz="1300" b="0" i="0">
                <a:solidFill>
                  <a:srgbClr val="E8EEE9"/>
                </a:solidFill>
                <a:latin typeface="Consolas"/>
              </a:rPr>
              <a:t> get_at_content(sequence) &lt; 0.45:</a:t>
            </a:r>
            <a:br/>
            <a:r>
              <a:rPr sz="1300" b="0" i="0">
                <a:solidFill>
                  <a:srgbClr val="E8EEE9"/>
                </a:solidFill>
                <a:latin typeface="Consolas"/>
              </a:rPr>
              <a:t>        print(name + </a:t>
            </a:r>
            <a:r>
              <a:rPr sz="1300" b="0" i="0">
                <a:solidFill>
                  <a:srgbClr val="F0A35E"/>
                </a:solidFill>
                <a:latin typeface="Consolas"/>
              </a:rPr>
              <a:t>" has low AT content"</a:t>
            </a:r>
            <a:r>
              <a:rPr sz="1300" b="0" i="0">
                <a:solidFill>
                  <a:srgbClr val="E8EEE9"/>
                </a:solidFill>
                <a:latin typeface="Consolas"/>
              </a:rPr>
              <a:t>)</a:t>
            </a:r>
            <a:br/>
            <a:r>
              <a:rPr sz="1300" b="0" i="0">
                <a:solidFill>
                  <a:srgbClr val="E8EEE9"/>
                </a:solidFill>
                <a:latin typeface="Consolas"/>
              </a:rPr>
              <a:t>    </a:t>
            </a:r>
            <a:r>
              <a:rPr sz="1300" b="0" i="0">
                <a:solidFill>
                  <a:srgbClr val="6FD3C1"/>
                </a:solidFill>
                <a:latin typeface="Consolas"/>
              </a:rPr>
              <a:t>else</a:t>
            </a:r>
            <a:r>
              <a:rPr sz="1300" b="0" i="0">
                <a:solidFill>
                  <a:srgbClr val="E8EEE9"/>
                </a:solidFill>
                <a:latin typeface="Consolas"/>
              </a:rPr>
              <a:t>:</a:t>
            </a:r>
            <a:br/>
            <a:r>
              <a:rPr sz="1300" b="0" i="0">
                <a:solidFill>
                  <a:srgbClr val="E8EEE9"/>
                </a:solidFill>
                <a:latin typeface="Consolas"/>
              </a:rPr>
              <a:t>        print(name + </a:t>
            </a:r>
            <a:r>
              <a:rPr sz="1300" b="0" i="0">
                <a:solidFill>
                  <a:srgbClr val="F0A35E"/>
                </a:solidFill>
                <a:latin typeface="Consolas"/>
              </a:rPr>
              <a:t>" has medium AT content"</a:t>
            </a:r>
            <a:r>
              <a:rPr sz="1300" b="0" i="0">
                <a:solidFill>
                  <a:srgbClr val="E8EEE9"/>
                </a:solidFill>
                <a:latin typeface="Consolas"/>
              </a:rPr>
              <a:t>)</a:t>
            </a:r>
            <a:endParaRPr sz="1300"/>
          </a:p>
        </p:txBody>
      </p:sp>
      <p:sp>
        <p:nvSpPr>
          <p:cNvPr id="6" name="Tekst 2x20.30"/>
          <p:cNvSpPr txBox="1"/>
          <p:nvPr/>
        </p:nvSpPr>
        <p:spPr>
          <a:xfrm>
            <a:off x="5826621" y="1701701"/>
            <a:ext cx="566363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data.csv</a:t>
            </a:r>
            <a:r>
              <a:rPr sz="1400" b="0" i="0">
                <a:solidFill>
                  <a:srgbClr val="13262B"/>
                </a:solidFill>
                <a:latin typeface="Arial"/>
              </a:rPr>
              <a:t>: jedan gen po liniji, a polja su razdvojena zarezima: vrsta, sekvenca, ime gena, nivo ekspresije.</a:t>
            </a:r>
            <a:endParaRPr sz="1400"/>
          </a:p>
        </p:txBody>
      </p:sp>
      <p:sp>
        <p:nvSpPr>
          <p:cNvPr id="7" name="Rounded Rectangle 6"/>
          <p:cNvSpPr/>
          <p:nvPr/>
        </p:nvSpPr>
        <p:spPr>
          <a:xfrm>
            <a:off x="5832971" y="2375991"/>
            <a:ext cx="5539879" cy="1903611"/>
          </a:xfrm>
          <a:prstGeom prst="roundRect">
            <a:avLst>
              <a:gd name="adj" fmla="val 5337"/>
            </a:avLst>
          </a:prstGeom>
          <a:solidFill>
            <a:srgbClr val="FCFBF7"/>
          </a:solidFill>
          <a:ln w="12700">
            <a:solidFill>
              <a:srgbClr val="9AAA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16.80"/>
          <p:cNvSpPr txBox="1"/>
          <p:nvPr/>
        </p:nvSpPr>
        <p:spPr>
          <a:xfrm>
            <a:off x="10325100" y="2433141"/>
            <a:ext cx="914400" cy="213320"/>
          </a:xfrm>
          <a:prstGeom prst="rect">
            <a:avLst/>
          </a:prstGeom>
          <a:noFill/>
        </p:spPr>
        <p:txBody>
          <a:bodyPr wrap="square" anchor="t" lIns="0" rIns="0" tIns="0" bIns="0">
            <a:noAutofit/>
          </a:bodyPr>
          <a:lstStyle/>
          <a:p>
            <a:pPr algn="r">
              <a:lnSpc>
                <a:spcPts val="1680"/>
              </a:lnSpc>
              <a:spcBef>
                <a:spcPts val="0"/>
              </a:spcBef>
              <a:spcAft>
                <a:spcPts val="0"/>
              </a:spcAft>
            </a:pPr>
            <a:r>
              <a:rPr sz="1200" b="1" i="0" spc="100">
                <a:solidFill>
                  <a:srgbClr val="5F6F70"/>
                </a:solidFill>
                <a:latin typeface="Arial"/>
              </a:rPr>
              <a:t>IZLAZ</a:t>
            </a:r>
            <a:endParaRPr sz="1200"/>
          </a:p>
        </p:txBody>
      </p:sp>
      <p:sp>
        <p:nvSpPr>
          <p:cNvPr id="9" name="Tekst 6x20.15"/>
          <p:cNvSpPr txBox="1"/>
          <p:nvPr/>
        </p:nvSpPr>
        <p:spPr>
          <a:xfrm>
            <a:off x="6093321" y="2560141"/>
            <a:ext cx="5119562" cy="1535311"/>
          </a:xfrm>
          <a:prstGeom prst="rect">
            <a:avLst/>
          </a:prstGeom>
          <a:noFill/>
        </p:spPr>
        <p:txBody>
          <a:bodyPr wrap="none" anchor="t" lIns="0" rIns="0" tIns="0" bIns="0">
            <a:noAutofit/>
          </a:bodyPr>
          <a:lstStyle/>
          <a:p>
            <a:pPr algn="l">
              <a:lnSpc>
                <a:spcPts val="2014"/>
              </a:lnSpc>
              <a:spcBef>
                <a:spcPts val="0"/>
              </a:spcBef>
              <a:spcAft>
                <a:spcPts val="0"/>
              </a:spcAft>
            </a:pPr>
            <a:r>
              <a:rPr sz="1300" b="0" i="0">
                <a:solidFill>
                  <a:srgbClr val="13262B"/>
                </a:solidFill>
                <a:latin typeface="Consolas"/>
              </a:rPr>
              <a:t>kdy647 has high AT content</a:t>
            </a:r>
            <a:br/>
            <a:r>
              <a:rPr sz="1300" b="0" i="0">
                <a:solidFill>
                  <a:srgbClr val="13262B"/>
                </a:solidFill>
                <a:latin typeface="Consolas"/>
              </a:rPr>
              <a:t>jdg766 has medium AT content</a:t>
            </a:r>
            <a:br/>
            <a:r>
              <a:rPr sz="1300" b="0" i="0">
                <a:solidFill>
                  <a:srgbClr val="13262B"/>
                </a:solidFill>
                <a:latin typeface="Consolas"/>
              </a:rPr>
              <a:t>kdy533 has medium AT content</a:t>
            </a:r>
            <a:br/>
            <a:r>
              <a:rPr sz="1300" b="0" i="0">
                <a:solidFill>
                  <a:srgbClr val="13262B"/>
                </a:solidFill>
                <a:latin typeface="Consolas"/>
              </a:rPr>
              <a:t>hdt739 has low AT content</a:t>
            </a:r>
            <a:br/>
            <a:r>
              <a:rPr sz="1300" b="0" i="0">
                <a:solidFill>
                  <a:srgbClr val="13262B"/>
                </a:solidFill>
                <a:latin typeface="Consolas"/>
              </a:rPr>
              <a:t>hdu045 has medium AT content</a:t>
            </a:r>
            <a:br/>
            <a:r>
              <a:rPr sz="1300" b="0" i="0">
                <a:solidFill>
                  <a:srgbClr val="13262B"/>
                </a:solidFill>
                <a:latin typeface="Consolas"/>
              </a:rPr>
              <a:t>teg436 has medium AT content</a:t>
            </a:r>
            <a:endParaRPr sz="1300"/>
          </a:p>
        </p:txBody>
      </p:sp>
      <p:sp>
        <p:nvSpPr>
          <p:cNvPr id="10" name="Tekst 2x20.30"/>
          <p:cNvSpPr txBox="1"/>
          <p:nvPr/>
        </p:nvSpPr>
        <p:spPr>
          <a:xfrm>
            <a:off x="5826621" y="4438352"/>
            <a:ext cx="5663630" cy="515541"/>
          </a:xfrm>
          <a:prstGeom prst="rect">
            <a:avLst/>
          </a:prstGeom>
          <a:noFill/>
        </p:spPr>
        <p:txBody>
          <a:bodyPr wrap="square" anchor="t" lIns="0" rIns="0" tIns="0" bIns="0">
            <a:noAutofit/>
          </a:bodyPr>
          <a:lstStyle/>
          <a:p>
            <a:pPr algn="l">
              <a:lnSpc>
                <a:spcPts val="2030"/>
              </a:lnSpc>
              <a:spcBef>
                <a:spcPts val="0"/>
              </a:spcBef>
              <a:spcAft>
                <a:spcPts val="0"/>
              </a:spcAft>
            </a:pPr>
            <a:r>
              <a:rPr sz="1400" b="0" i="0">
                <a:solidFill>
                  <a:srgbClr val="A8521A"/>
                </a:solidFill>
                <a:latin typeface="Arial"/>
              </a:rPr>
              <a:t>get_at_content</a:t>
            </a:r>
            <a:r>
              <a:rPr sz="1400" b="0" i="0">
                <a:solidFill>
                  <a:srgbClr val="3D4F52"/>
                </a:solidFill>
                <a:latin typeface="Arial"/>
              </a:rPr>
              <a:t> je funkcija iz poglavlja 5. Linija iz fajla postaje lista kolona: </a:t>
            </a:r>
            <a:r>
              <a:rPr sz="1400" b="0" i="0">
                <a:solidFill>
                  <a:srgbClr val="A8521A"/>
                </a:solidFill>
                <a:latin typeface="Arial"/>
              </a:rPr>
              <a:t>rstrip</a:t>
            </a:r>
            <a:r>
              <a:rPr sz="1400" b="0" i="0">
                <a:solidFill>
                  <a:srgbClr val="3D4F52"/>
                </a:solidFill>
                <a:latin typeface="Arial"/>
              </a:rPr>
              <a:t> pa </a:t>
            </a:r>
            <a:r>
              <a:rPr sz="1400" b="0" i="0">
                <a:solidFill>
                  <a:srgbClr val="A8521A"/>
                </a:solidFill>
                <a:latin typeface="Arial"/>
              </a:rPr>
              <a:t>split</a:t>
            </a:r>
            <a:r>
              <a:rPr sz="1400" b="0" i="0">
                <a:solidFill>
                  <a:srgbClr val="3D4F52"/>
                </a:solidFill>
                <a:latin typeface="Arial"/>
              </a:rPr>
              <a:t>.</a:t>
            </a:r>
            <a:endParaRPr sz="14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6F4EE"/>
        </a:solidFill>
        <a:effectLst/>
      </p:bgPr>
    </p:bg>
    <p:spTree>
      <p:nvGrpSpPr>
        <p:cNvPr id="1" name=""/>
        <p:cNvGrpSpPr/>
        <p:nvPr/>
      </p:nvGrpSpPr>
      <p:grpSpPr/>
      <p:sp>
        <p:nvSpPr>
          <p:cNvPr id="2" name="Tekst 1x16.80"/>
          <p:cNvSpPr txBox="1"/>
          <p:nvPr/>
        </p:nvSpPr>
        <p:spPr>
          <a:xfrm>
            <a:off x="812800" y="711200"/>
            <a:ext cx="10777728" cy="213320"/>
          </a:xfrm>
          <a:prstGeom prst="rect">
            <a:avLst/>
          </a:prstGeom>
          <a:noFill/>
        </p:spPr>
        <p:txBody>
          <a:bodyPr wrap="square" anchor="t" lIns="0" rIns="0" tIns="0" bIns="0">
            <a:noAutofit/>
          </a:bodyPr>
          <a:lstStyle/>
          <a:p>
            <a:pPr algn="l">
              <a:lnSpc>
                <a:spcPts val="1680"/>
              </a:lnSpc>
              <a:spcBef>
                <a:spcPts val="0"/>
              </a:spcBef>
              <a:spcAft>
                <a:spcPts val="0"/>
              </a:spcAft>
            </a:pPr>
            <a:r>
              <a:rPr sz="1200" b="1" i="0" spc="150">
                <a:solidFill>
                  <a:srgbClr val="0F7C6E"/>
                </a:solidFill>
                <a:latin typeface="Arial"/>
              </a:rPr>
              <a:t>06 · USLOVNI TESTOVI</a:t>
            </a:r>
            <a:endParaRPr sz="1200"/>
          </a:p>
        </p:txBody>
      </p:sp>
      <p:sp>
        <p:nvSpPr>
          <p:cNvPr id="3" name="Tekst 1x35.20"/>
          <p:cNvSpPr txBox="1"/>
          <p:nvPr/>
        </p:nvSpPr>
        <p:spPr>
          <a:xfrm>
            <a:off x="812800" y="1000720"/>
            <a:ext cx="10777728" cy="446980"/>
          </a:xfrm>
          <a:prstGeom prst="rect">
            <a:avLst/>
          </a:prstGeom>
          <a:noFill/>
        </p:spPr>
        <p:txBody>
          <a:bodyPr wrap="square" anchor="t" lIns="0" rIns="0" tIns="0" bIns="0">
            <a:noAutofit/>
          </a:bodyPr>
          <a:lstStyle/>
          <a:p>
            <a:pPr algn="l">
              <a:lnSpc>
                <a:spcPts val="3520"/>
              </a:lnSpc>
              <a:spcBef>
                <a:spcPts val="0"/>
              </a:spcBef>
              <a:spcAft>
                <a:spcPts val="0"/>
              </a:spcAft>
            </a:pPr>
            <a:r>
              <a:rPr sz="3200" b="1" i="0">
                <a:solidFill>
                  <a:srgbClr val="13262B"/>
                </a:solidFill>
                <a:latin typeface="Arial"/>
              </a:rPr>
              <a:t>Rezime i vežbe</a:t>
            </a:r>
            <a:endParaRPr sz="3200"/>
          </a:p>
        </p:txBody>
      </p:sp>
      <p:sp>
        <p:nvSpPr>
          <p:cNvPr id="4" name="Rounded Rectangle 3"/>
          <p:cNvSpPr/>
          <p:nvPr/>
        </p:nvSpPr>
        <p:spPr>
          <a:xfrm>
            <a:off x="815975" y="1704876"/>
            <a:ext cx="4559598" cy="2026642"/>
          </a:xfrm>
          <a:prstGeom prst="roundRect">
            <a:avLst>
              <a:gd name="adj" fmla="val 5013"/>
            </a:avLst>
          </a:prstGeom>
          <a:solidFill>
            <a:srgbClr val="FCFBF7"/>
          </a:solidFill>
          <a:ln w="6350">
            <a:solidFill>
              <a:srgbClr val="DCDD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kst 1x21.60"/>
          <p:cNvSpPr txBox="1"/>
          <p:nvPr/>
        </p:nvSpPr>
        <p:spPr>
          <a:xfrm>
            <a:off x="1022350" y="1885851"/>
            <a:ext cx="4229785"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Šta smo naučili</a:t>
            </a:r>
            <a:endParaRPr sz="1800"/>
          </a:p>
        </p:txBody>
      </p:sp>
      <p:sp>
        <p:nvSpPr>
          <p:cNvPr id="6" name="Tekst 5x20.30"/>
          <p:cNvSpPr txBox="1"/>
          <p:nvPr/>
        </p:nvSpPr>
        <p:spPr>
          <a:xfrm>
            <a:off x="1022350" y="2261691"/>
            <a:ext cx="4229785" cy="1288852"/>
          </a:xfrm>
          <a:prstGeom prst="rect">
            <a:avLst/>
          </a:prstGeom>
          <a:noFill/>
        </p:spPr>
        <p:txBody>
          <a:bodyPr wrap="square" anchor="t" lIns="0" rIns="0" tIns="0" bIns="0">
            <a:noAutofit/>
          </a:bodyPr>
          <a:lstStyle/>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Uslovi daju True ili False</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Operatori ==, !=, &lt;, &gt;, &lt;=, &gt;= i in</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if i else često, elif ponekad, while retko</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and, or, not i zagrade</a:t>
            </a:r>
            <a:endParaRPr sz="1400"/>
          </a:p>
          <a:p>
            <a:pPr algn="l" marL="228600" indent="-171450">
              <a:lnSpc>
                <a:spcPts val="2030"/>
              </a:lnSpc>
              <a:spcBef>
                <a:spcPts val="0"/>
              </a:spcBef>
              <a:spcAft>
                <a:spcPts val="0"/>
              </a:spcAft>
              <a:buClr>
                <a:srgbClr val="3D4F52"/>
              </a:buClr>
              <a:buFont typeface="Arial"/>
              <a:buChar char="•"/>
            </a:pPr>
            <a:r>
              <a:rPr sz="1400" b="0" i="0">
                <a:solidFill>
                  <a:srgbClr val="3D4F52"/>
                </a:solidFill>
                <a:latin typeface="Arial"/>
              </a:rPr>
              <a:t>Funkcije koje vraćaju True ili False</a:t>
            </a:r>
            <a:endParaRPr sz="1400"/>
          </a:p>
        </p:txBody>
      </p:sp>
      <p:sp>
        <p:nvSpPr>
          <p:cNvPr id="7" name="Rounded Rectangle 6"/>
          <p:cNvSpPr/>
          <p:nvPr/>
        </p:nvSpPr>
        <p:spPr>
          <a:xfrm>
            <a:off x="5581948" y="1701701"/>
            <a:ext cx="5797252" cy="2278062"/>
          </a:xfrm>
          <a:prstGeom prst="roundRect">
            <a:avLst>
              <a:gd name="adj" fmla="val 4459"/>
            </a:avLst>
          </a:prstGeom>
          <a:solidFill>
            <a:srgbClr val="E3EE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kst 1x21.60"/>
          <p:cNvSpPr txBox="1"/>
          <p:nvPr/>
        </p:nvSpPr>
        <p:spPr>
          <a:xfrm>
            <a:off x="5785148" y="1879501"/>
            <a:ext cx="5498669" cy="274241"/>
          </a:xfrm>
          <a:prstGeom prst="rect">
            <a:avLst/>
          </a:prstGeom>
          <a:noFill/>
        </p:spPr>
        <p:txBody>
          <a:bodyPr wrap="square" anchor="t" lIns="0" rIns="0" tIns="0" bIns="0">
            <a:noAutofit/>
          </a:bodyPr>
          <a:lstStyle/>
          <a:p>
            <a:pPr algn="l">
              <a:lnSpc>
                <a:spcPts val="2160"/>
              </a:lnSpc>
              <a:spcBef>
                <a:spcPts val="0"/>
              </a:spcBef>
              <a:spcAft>
                <a:spcPts val="0"/>
              </a:spcAft>
            </a:pPr>
            <a:r>
              <a:rPr sz="1800" b="1" i="0">
                <a:solidFill>
                  <a:srgbClr val="13262B"/>
                </a:solidFill>
                <a:latin typeface="Arial"/>
              </a:rPr>
              <a:t>Vežbe: imena gena iz data.csv</a:t>
            </a:r>
            <a:endParaRPr sz="1800"/>
          </a:p>
        </p:txBody>
      </p:sp>
      <p:sp>
        <p:nvSpPr>
          <p:cNvPr id="9" name="Tekst 6x20.30"/>
          <p:cNvSpPr txBox="1"/>
          <p:nvPr/>
        </p:nvSpPr>
        <p:spPr>
          <a:xfrm>
            <a:off x="5785148" y="2255341"/>
            <a:ext cx="5498669" cy="1546622"/>
          </a:xfrm>
          <a:prstGeom prst="rect">
            <a:avLst/>
          </a:prstGeom>
          <a:noFill/>
        </p:spPr>
        <p:txBody>
          <a:bodyPr wrap="square" anchor="t" lIns="0" rIns="0" tIns="0" bIns="0">
            <a:noAutofit/>
          </a:bodyPr>
          <a:lstStyle/>
          <a:p>
            <a:pPr algn="l" marL="254000" indent="-254000">
              <a:lnSpc>
                <a:spcPts val="2030"/>
              </a:lnSpc>
              <a:spcBef>
                <a:spcPts val="0"/>
              </a:spcBef>
              <a:spcAft>
                <a:spcPts val="0"/>
              </a:spcAft>
              <a:buClr>
                <a:srgbClr val="13262B"/>
              </a:buClr>
              <a:buFont typeface="+mj-lt"/>
              <a:buAutoNum type="arabicPeriod"/>
            </a:pPr>
            <a:r>
              <a:rPr sz="1400" b="0" i="0">
                <a:solidFill>
                  <a:srgbClr val="13262B"/>
                </a:solidFill>
                <a:latin typeface="Arial"/>
              </a:rPr>
              <a:t>iz vrsta Drosophila melanogaster ili Drosophila simulans</a:t>
            </a:r>
            <a:endParaRPr sz="1400"/>
          </a:p>
          <a:p>
            <a:pPr algn="l" marL="254000" indent="-254000">
              <a:lnSpc>
                <a:spcPts val="2030"/>
              </a:lnSpc>
              <a:spcBef>
                <a:spcPts val="0"/>
              </a:spcBef>
              <a:spcAft>
                <a:spcPts val="0"/>
              </a:spcAft>
              <a:buClr>
                <a:srgbClr val="13262B"/>
              </a:buClr>
              <a:buFont typeface="+mj-lt"/>
              <a:buAutoNum type="arabicPeriod"/>
            </a:pPr>
            <a:r>
              <a:rPr sz="1400" b="0" i="0">
                <a:solidFill>
                  <a:srgbClr val="13262B"/>
                </a:solidFill>
                <a:latin typeface="Arial"/>
              </a:rPr>
              <a:t>dužine između 90 i 110 baza</a:t>
            </a:r>
            <a:endParaRPr sz="1400"/>
          </a:p>
          <a:p>
            <a:pPr algn="l" marL="254000" indent="-254000">
              <a:lnSpc>
                <a:spcPts val="2030"/>
              </a:lnSpc>
              <a:spcBef>
                <a:spcPts val="0"/>
              </a:spcBef>
              <a:spcAft>
                <a:spcPts val="0"/>
              </a:spcAft>
              <a:buClr>
                <a:srgbClr val="13262B"/>
              </a:buClr>
              <a:buFont typeface="+mj-lt"/>
              <a:buAutoNum type="arabicPeriod"/>
            </a:pPr>
            <a:r>
              <a:rPr sz="1400" b="0" i="0">
                <a:solidFill>
                  <a:srgbClr val="13262B"/>
                </a:solidFill>
                <a:latin typeface="Arial"/>
              </a:rPr>
              <a:t>sa AT sadržajem manjim od 0.5 i ekspresijom većom od 200</a:t>
            </a:r>
            <a:endParaRPr sz="1400"/>
          </a:p>
          <a:p>
            <a:pPr algn="l" marL="254000" indent="-254000">
              <a:lnSpc>
                <a:spcPts val="2030"/>
              </a:lnSpc>
              <a:spcBef>
                <a:spcPts val="0"/>
              </a:spcBef>
              <a:spcAft>
                <a:spcPts val="0"/>
              </a:spcAft>
              <a:buClr>
                <a:srgbClr val="13262B"/>
              </a:buClr>
              <a:buFont typeface="+mj-lt"/>
              <a:buAutoNum type="arabicPeriod"/>
            </a:pPr>
            <a:r>
              <a:rPr sz="1400" b="0" i="0">
                <a:solidFill>
                  <a:srgbClr val="13262B"/>
                </a:solidFill>
                <a:latin typeface="Arial"/>
              </a:rPr>
              <a:t>koja počinju sa k ili h, osim gena iz D. melanogaster</a:t>
            </a:r>
            <a:endParaRPr sz="1400"/>
          </a:p>
          <a:p>
            <a:pPr algn="l" marL="254000" indent="-254000">
              <a:lnSpc>
                <a:spcPts val="2030"/>
              </a:lnSpc>
              <a:spcBef>
                <a:spcPts val="0"/>
              </a:spcBef>
              <a:spcAft>
                <a:spcPts val="0"/>
              </a:spcAft>
              <a:buClr>
                <a:srgbClr val="13262B"/>
              </a:buClr>
              <a:buFont typeface="+mj-lt"/>
              <a:buAutoNum type="arabicPeriod"/>
            </a:pPr>
            <a:r>
              <a:rPr sz="1400" b="0" i="0">
                <a:solidFill>
                  <a:srgbClr val="13262B"/>
                </a:solidFill>
                <a:latin typeface="Arial"/>
              </a:rPr>
              <a:t>uz poruku da li je AT sadržaj visok (&gt; 0.65), nizak (&lt; 0.45) ili srednji</a:t>
            </a:r>
            <a:endParaRPr sz="1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za biologe – Lekcija 6: Uslovni testovi</dc:title>
  <dc:subject>Prema knjizi Martina Jonesa: Python for Biologists</dc:subject>
  <dc:creator>Aleksandar Kartelj</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