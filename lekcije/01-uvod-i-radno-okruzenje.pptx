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Slajdovi prate redosled poglavlja knjige Python for Biologists (Martin Jones). Knjiga je pisana dok je Python 2 još bio u upotrebi; primeri na slajdovima su provereni u Pythonu 3, a razlike u odnosu na knjigu navedene su u beleškama uz odgovarajuće slajdove. Sekvenca na vrhu slajda sadrži EcoRI mesto (GAATTC), koje se kasnije pojavljuje u vežbama.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Knjiga je tutorijal, ne priručnik: poglavlja se čitaju redom jer kasniji primeri koriste ranije uvedene alate. Svako poglavlje počinje motivacijom (zašto nam alat treba u biologiji), zatim sledi glavni deo, rezime i vežbe sa rešenjima. Rešenja u knjizi pokazuju postupak razmišljanja korak po korak, pa ih vredi pročitati i kada sami rešite zadatak.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Knjiga za biologe koristi biološke primere, pa motivacija dolazi iz stvarnih problema, a rešenja vežbi postaju biblioteka korisnih delova koda. Fokus je na alatima koji su biolozima posebno važni: rad sa tekstom (sekvencama), regularni izrazi i pokretanje drugih programa. Već posle prva dva poglavlja mogu se pisati mali, ali korisni programi.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Autor je naučio programiranje (Perl) tokom doktorata iz evolucione biologije i godinama predaje uvodno programiranje biolozima, od studenata do rukovodilaca laboratorija. Filozofija knjige: kurs mora biti prijateljski, pristupačan i praktičan. Opšta knjiga mora da bira teme za prosečnog programera; ova bira one koje su važne biolozima.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 razloga zašto izbor jezika nije presudan: (1) ko god programira duže, završi koristeći više jezika; (2) prvi jezik nosi najveći deo učenja, jer se uči način razmišljanja, razlaganje problema na manje korake; (3) biološki problemi se mogu rešiti u bilo kom jeziku. Python vs. Perl: oba su dobra za biologiju i vrlo slični po mogućnostima, ali je Python dosledniji i čitljiviji, pa se lakše uči. Prelazak sa Pythona na Perl je kasnije lak.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Početnici previše brinu o izboru jezika jer je to prvo veliko pitanje na koje nailaze i lako je naći ljude sa jakim mišljenjem. Izbor „pogrešnog” jezika gotovo nikad nije razlika između uspeha i neuspeha u učenju. Ako posle nekoliko meseci Pythona zatreba C, vreme nije izgubljeno: drugi jezik se uči mnogo brže.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Zadaci su formulisani kao zahtevi u stvarnom programiranju: kratko i ne do kraja precizno, pa detalji zavise od vas. Rešenja nisu samo gotov kod; knjiga pokazuje kako se do rešenja dolazi. Zato ovi slajdovi prate i rešenja vežbi korak po korak. Kada vas zanima da li je neka varijacija problema rešiva, ili prepoznate sličan problem iz sopstvenog rada, pokušajte da ga rešite.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Linuxu i macOS-u komanda je često python3 umesto python. Knjiga je pisana dok se prelazilo sa Pythona 2 na 3: svi primeri rade u obe verzije, ali u Pythonu 2 treba na početak programa dodati from __future__ import division (zbog celobrojnog deljenja). Knjiga savetuje početnicima jednostavan editor (Notepad++, gedit i sl.) umesto IDE okruženja, jer IDE na početku samo komplikuje stvari.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Knjiga je pisana 2013, usred prelaska sa Pythona 2 na 3. Autor savetuje Python 3, a svi primeri rade u obe verzije. Python 2 je u međuvremenu zvanično ugašen (2020), pa su primeri na slajdovima provereni u Pythonu 3. Prelazak je veliki problem samo za velike postojeće projekte; za učenje i pisanje novog koda razlike su sitne, kao u tabeli. Kada se rezultat na slajdu razlikuje od knjige, objašnjenje je u beleškama.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21.00"/>
          <p:cNvSpPr txBox="1"/>
          <p:nvPr/>
        </p:nvSpPr>
        <p:spPr>
          <a:xfrm>
            <a:off x="812800" y="812800"/>
            <a:ext cx="10777728" cy="2667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400">
                <a:solidFill>
                  <a:srgbClr val="6FD3C1"/>
                </a:solidFill>
                <a:latin typeface="Consolas"/>
              </a:rPr>
              <a:t>ATGGCGTAC</a:t>
            </a:r>
            <a:r>
              <a:rPr sz="1500" b="0" i="0" spc="400">
                <a:solidFill>
                  <a:srgbClr val="F0A35E"/>
                </a:solidFill>
                <a:latin typeface="Consolas"/>
              </a:rPr>
              <a:t>GAATTC</a:t>
            </a:r>
            <a:r>
              <a:rPr sz="1500" b="0" i="0" spc="400">
                <a:solidFill>
                  <a:srgbClr val="6FD3C1"/>
                </a:solidFill>
                <a:latin typeface="Consolas"/>
              </a:rPr>
              <a:t>GGATCCTAGCATGCAAGCTT</a:t>
            </a:r>
            <a:endParaRPr sz="1500"/>
          </a:p>
        </p:txBody>
      </p:sp>
      <p:sp>
        <p:nvSpPr>
          <p:cNvPr id="3" name="Tekst 1x63.00"/>
          <p:cNvSpPr txBox="1"/>
          <p:nvPr/>
        </p:nvSpPr>
        <p:spPr>
          <a:xfrm>
            <a:off x="812800" y="2642989"/>
            <a:ext cx="10777728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6F4EE"/>
                </a:solidFill>
                <a:latin typeface="Arial"/>
              </a:rPr>
              <a:t>Python za biologe</a:t>
            </a:r>
            <a:endParaRPr sz="6000"/>
          </a:p>
        </p:txBody>
      </p:sp>
      <p:sp>
        <p:nvSpPr>
          <p:cNvPr id="4" name="Tekst 1x25.20"/>
          <p:cNvSpPr txBox="1"/>
          <p:nvPr/>
        </p:nvSpPr>
        <p:spPr>
          <a:xfrm>
            <a:off x="812800" y="3646289"/>
            <a:ext cx="10777728" cy="319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D3CD"/>
                </a:solidFill>
                <a:latin typeface="Arial"/>
              </a:rPr>
              <a:t>Programiranje kroz biološke primere: od prve naredbe do analize sekvenci</a:t>
            </a:r>
            <a:endParaRPr sz="1800"/>
          </a:p>
        </p:txBody>
      </p:sp>
      <p:sp>
        <p:nvSpPr>
          <p:cNvPr id="5" name="Tekst 2x20.30"/>
          <p:cNvSpPr txBox="1"/>
          <p:nvPr/>
        </p:nvSpPr>
        <p:spPr>
          <a:xfrm>
            <a:off x="812800" y="5529659"/>
            <a:ext cx="2691295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EE9"/>
                </a:solidFill>
                <a:latin typeface="Arial"/>
              </a:rPr>
              <a:t>Prema knjizi </a:t>
            </a:r>
            <a:r>
              <a:rPr sz="1400" b="0" i="1">
                <a:solidFill>
                  <a:srgbClr val="E8EEE9"/>
                </a:solidFill>
                <a:latin typeface="Arial"/>
              </a:rPr>
              <a:t>Python for Biologists</a:t>
            </a:r>
            <a:br/>
            <a:r>
              <a:rPr sz="1400" b="0" i="0">
                <a:solidFill>
                  <a:srgbClr val="E8EEE9"/>
                </a:solidFill>
                <a:latin typeface="Arial"/>
              </a:rPr>
              <a:t>Martin Jones, 2013</a:t>
            </a:r>
            <a:endParaRPr sz="1400"/>
          </a:p>
        </p:txBody>
      </p:sp>
      <p:sp>
        <p:nvSpPr>
          <p:cNvPr id="6" name="Tekst 1x16.80"/>
          <p:cNvSpPr txBox="1"/>
          <p:nvPr/>
        </p:nvSpPr>
        <p:spPr>
          <a:xfrm>
            <a:off x="9060738" y="5831880"/>
            <a:ext cx="2318462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B3AA"/>
                </a:solidFill>
                <a:latin typeface="Arial"/>
              </a:rPr>
              <a:t>Licenca knjige: CC BY-NC-SA 3.0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PREGLED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Devet poglavlja knjige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5975" y="1755676"/>
            <a:ext cx="3414117" cy="836811"/>
          </a:xfrm>
          <a:prstGeom prst="roundRect">
            <a:avLst>
              <a:gd name="adj" fmla="val 12141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21.60"/>
          <p:cNvSpPr txBox="1"/>
          <p:nvPr/>
        </p:nvSpPr>
        <p:spPr>
          <a:xfrm>
            <a:off x="1022350" y="1936651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01</a:t>
            </a:r>
            <a:endParaRPr sz="1800"/>
          </a:p>
        </p:txBody>
      </p:sp>
      <p:sp>
        <p:nvSpPr>
          <p:cNvPr id="6" name="Tekst 1x18.20"/>
          <p:cNvSpPr txBox="1"/>
          <p:nvPr/>
        </p:nvSpPr>
        <p:spPr>
          <a:xfrm>
            <a:off x="1426170" y="1936651"/>
            <a:ext cx="2186291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Uvod i radno okruženje</a:t>
            </a:r>
            <a:endParaRPr sz="1400"/>
          </a:p>
        </p:txBody>
      </p:sp>
      <p:sp>
        <p:nvSpPr>
          <p:cNvPr id="7" name="Tekst 1x16.20"/>
          <p:cNvSpPr txBox="1"/>
          <p:nvPr/>
        </p:nvSpPr>
        <p:spPr>
          <a:xfrm>
            <a:off x="1426170" y="2205831"/>
            <a:ext cx="2186291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zašto Python, pokretanje, editor</a:t>
            </a:r>
            <a:endParaRPr sz="1200"/>
          </a:p>
        </p:txBody>
      </p:sp>
      <p:sp>
        <p:nvSpPr>
          <p:cNvPr id="8" name="Rounded Rectangle 7"/>
          <p:cNvSpPr/>
          <p:nvPr/>
        </p:nvSpPr>
        <p:spPr>
          <a:xfrm>
            <a:off x="4388842" y="1755676"/>
            <a:ext cx="3414216" cy="836811"/>
          </a:xfrm>
          <a:prstGeom prst="roundRect">
            <a:avLst>
              <a:gd name="adj" fmla="val 12141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1x21.60"/>
          <p:cNvSpPr txBox="1"/>
          <p:nvPr/>
        </p:nvSpPr>
        <p:spPr>
          <a:xfrm>
            <a:off x="4595217" y="1936651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02</a:t>
            </a:r>
            <a:endParaRPr sz="1800"/>
          </a:p>
        </p:txBody>
      </p:sp>
      <p:sp>
        <p:nvSpPr>
          <p:cNvPr id="10" name="Tekst 1x18.20"/>
          <p:cNvSpPr txBox="1"/>
          <p:nvPr/>
        </p:nvSpPr>
        <p:spPr>
          <a:xfrm>
            <a:off x="4999038" y="1936651"/>
            <a:ext cx="2348419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Štampanje i rad sa tekstom</a:t>
            </a:r>
            <a:endParaRPr sz="1400"/>
          </a:p>
        </p:txBody>
      </p:sp>
      <p:sp>
        <p:nvSpPr>
          <p:cNvPr id="11" name="Tekst 1x16.20"/>
          <p:cNvSpPr txBox="1"/>
          <p:nvPr/>
        </p:nvSpPr>
        <p:spPr>
          <a:xfrm>
            <a:off x="4999038" y="2205831"/>
            <a:ext cx="2348419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print, promenljive, tipovi, metode</a:t>
            </a:r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7961809" y="1755676"/>
            <a:ext cx="3414216" cy="836811"/>
          </a:xfrm>
          <a:prstGeom prst="roundRect">
            <a:avLst>
              <a:gd name="adj" fmla="val 12141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1x21.60"/>
          <p:cNvSpPr txBox="1"/>
          <p:nvPr/>
        </p:nvSpPr>
        <p:spPr>
          <a:xfrm>
            <a:off x="8168184" y="1936651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03</a:t>
            </a:r>
            <a:endParaRPr sz="1800"/>
          </a:p>
        </p:txBody>
      </p:sp>
      <p:sp>
        <p:nvSpPr>
          <p:cNvPr id="14" name="Tekst 1x18.20"/>
          <p:cNvSpPr txBox="1"/>
          <p:nvPr/>
        </p:nvSpPr>
        <p:spPr>
          <a:xfrm>
            <a:off x="8572004" y="1936651"/>
            <a:ext cx="2005644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Čitanje i pisanje fajlova</a:t>
            </a:r>
            <a:endParaRPr sz="1400"/>
          </a:p>
        </p:txBody>
      </p:sp>
      <p:sp>
        <p:nvSpPr>
          <p:cNvPr id="15" name="Tekst 1x16.20"/>
          <p:cNvSpPr txBox="1"/>
          <p:nvPr/>
        </p:nvSpPr>
        <p:spPr>
          <a:xfrm>
            <a:off x="8572004" y="2205831"/>
            <a:ext cx="2005644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open, read, write, close</a:t>
            </a:r>
            <a:endParaRPr sz="1200"/>
          </a:p>
        </p:txBody>
      </p:sp>
      <p:sp>
        <p:nvSpPr>
          <p:cNvPr id="16" name="Rounded Rectangle 15"/>
          <p:cNvSpPr/>
          <p:nvPr/>
        </p:nvSpPr>
        <p:spPr>
          <a:xfrm>
            <a:off x="815975" y="2751237"/>
            <a:ext cx="3414117" cy="836811"/>
          </a:xfrm>
          <a:prstGeom prst="roundRect">
            <a:avLst>
              <a:gd name="adj" fmla="val 12141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 1x21.60"/>
          <p:cNvSpPr txBox="1"/>
          <p:nvPr/>
        </p:nvSpPr>
        <p:spPr>
          <a:xfrm>
            <a:off x="1022350" y="2932212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04</a:t>
            </a:r>
            <a:endParaRPr sz="1800"/>
          </a:p>
        </p:txBody>
      </p:sp>
      <p:sp>
        <p:nvSpPr>
          <p:cNvPr id="18" name="Tekst 1x18.20"/>
          <p:cNvSpPr txBox="1"/>
          <p:nvPr/>
        </p:nvSpPr>
        <p:spPr>
          <a:xfrm>
            <a:off x="1426170" y="2932212"/>
            <a:ext cx="138243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Liste i petlje</a:t>
            </a:r>
            <a:endParaRPr sz="1400"/>
          </a:p>
        </p:txBody>
      </p:sp>
      <p:sp>
        <p:nvSpPr>
          <p:cNvPr id="19" name="Tekst 1x16.20"/>
          <p:cNvSpPr txBox="1"/>
          <p:nvPr/>
        </p:nvSpPr>
        <p:spPr>
          <a:xfrm>
            <a:off x="1426170" y="3201392"/>
            <a:ext cx="1382435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liste, for, range, split</a:t>
            </a:r>
            <a:endParaRPr sz="1200"/>
          </a:p>
        </p:txBody>
      </p:sp>
      <p:sp>
        <p:nvSpPr>
          <p:cNvPr id="20" name="Rounded Rectangle 19"/>
          <p:cNvSpPr/>
          <p:nvPr/>
        </p:nvSpPr>
        <p:spPr>
          <a:xfrm>
            <a:off x="4388842" y="2751237"/>
            <a:ext cx="3414216" cy="836811"/>
          </a:xfrm>
          <a:prstGeom prst="roundRect">
            <a:avLst>
              <a:gd name="adj" fmla="val 12141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kst 1x21.60"/>
          <p:cNvSpPr txBox="1"/>
          <p:nvPr/>
        </p:nvSpPr>
        <p:spPr>
          <a:xfrm>
            <a:off x="4595217" y="2932212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05</a:t>
            </a:r>
            <a:endParaRPr sz="1800"/>
          </a:p>
        </p:txBody>
      </p:sp>
      <p:sp>
        <p:nvSpPr>
          <p:cNvPr id="22" name="Tekst 1x18.20"/>
          <p:cNvSpPr txBox="1"/>
          <p:nvPr/>
        </p:nvSpPr>
        <p:spPr>
          <a:xfrm>
            <a:off x="4999038" y="2932212"/>
            <a:ext cx="2378577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Pisanje sopstvenih funkcija</a:t>
            </a:r>
            <a:endParaRPr sz="1400"/>
          </a:p>
        </p:txBody>
      </p:sp>
      <p:sp>
        <p:nvSpPr>
          <p:cNvPr id="23" name="Tekst 1x16.20"/>
          <p:cNvSpPr txBox="1"/>
          <p:nvPr/>
        </p:nvSpPr>
        <p:spPr>
          <a:xfrm>
            <a:off x="4999038" y="3201392"/>
            <a:ext cx="2378577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def, return, argumenti, assert</a:t>
            </a:r>
            <a:endParaRPr sz="1200"/>
          </a:p>
        </p:txBody>
      </p:sp>
      <p:sp>
        <p:nvSpPr>
          <p:cNvPr id="24" name="Rounded Rectangle 23"/>
          <p:cNvSpPr/>
          <p:nvPr/>
        </p:nvSpPr>
        <p:spPr>
          <a:xfrm>
            <a:off x="7961809" y="2751237"/>
            <a:ext cx="3414216" cy="836811"/>
          </a:xfrm>
          <a:prstGeom prst="roundRect">
            <a:avLst>
              <a:gd name="adj" fmla="val 12141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kst 1x21.60"/>
          <p:cNvSpPr txBox="1"/>
          <p:nvPr/>
        </p:nvSpPr>
        <p:spPr>
          <a:xfrm>
            <a:off x="8168184" y="2932212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06</a:t>
            </a:r>
            <a:endParaRPr sz="1800"/>
          </a:p>
        </p:txBody>
      </p:sp>
      <p:sp>
        <p:nvSpPr>
          <p:cNvPr id="26" name="Tekst 1x18.20"/>
          <p:cNvSpPr txBox="1"/>
          <p:nvPr/>
        </p:nvSpPr>
        <p:spPr>
          <a:xfrm>
            <a:off x="8572004" y="2932212"/>
            <a:ext cx="2257943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Uslovni testovi</a:t>
            </a:r>
            <a:endParaRPr sz="1400"/>
          </a:p>
        </p:txBody>
      </p:sp>
      <p:sp>
        <p:nvSpPr>
          <p:cNvPr id="27" name="Tekst 1x16.20"/>
          <p:cNvSpPr txBox="1"/>
          <p:nvPr/>
        </p:nvSpPr>
        <p:spPr>
          <a:xfrm>
            <a:off x="8572004" y="3201392"/>
            <a:ext cx="2257943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True/False, if/elif/else, and/or/not</a:t>
            </a:r>
            <a:endParaRPr sz="1200"/>
          </a:p>
        </p:txBody>
      </p:sp>
      <p:sp>
        <p:nvSpPr>
          <p:cNvPr id="28" name="Rounded Rectangle 27"/>
          <p:cNvSpPr/>
          <p:nvPr/>
        </p:nvSpPr>
        <p:spPr>
          <a:xfrm>
            <a:off x="815975" y="3746798"/>
            <a:ext cx="3414117" cy="1067891"/>
          </a:xfrm>
          <a:prstGeom prst="roundRect">
            <a:avLst>
              <a:gd name="adj" fmla="val 951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kst 1x21.60"/>
          <p:cNvSpPr txBox="1"/>
          <p:nvPr/>
        </p:nvSpPr>
        <p:spPr>
          <a:xfrm>
            <a:off x="1022350" y="3927773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07</a:t>
            </a:r>
            <a:endParaRPr sz="1800"/>
          </a:p>
        </p:txBody>
      </p:sp>
      <p:sp>
        <p:nvSpPr>
          <p:cNvPr id="30" name="Tekst 1x18.20"/>
          <p:cNvSpPr txBox="1"/>
          <p:nvPr/>
        </p:nvSpPr>
        <p:spPr>
          <a:xfrm>
            <a:off x="1426170" y="3927773"/>
            <a:ext cx="1667726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Regularni izrazi</a:t>
            </a:r>
            <a:endParaRPr sz="1400"/>
          </a:p>
        </p:txBody>
      </p:sp>
      <p:sp>
        <p:nvSpPr>
          <p:cNvPr id="31" name="Tekst 1x16.20"/>
          <p:cNvSpPr txBox="1"/>
          <p:nvPr/>
        </p:nvSpPr>
        <p:spPr>
          <a:xfrm>
            <a:off x="1426170" y="4196953"/>
            <a:ext cx="1667726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modul re, šabloni, grupe</a:t>
            </a:r>
            <a:endParaRPr sz="1200"/>
          </a:p>
        </p:txBody>
      </p:sp>
      <p:sp>
        <p:nvSpPr>
          <p:cNvPr id="32" name="Rounded Rectangle 31"/>
          <p:cNvSpPr/>
          <p:nvPr/>
        </p:nvSpPr>
        <p:spPr>
          <a:xfrm>
            <a:off x="4388842" y="3746798"/>
            <a:ext cx="3414216" cy="1067891"/>
          </a:xfrm>
          <a:prstGeom prst="roundRect">
            <a:avLst>
              <a:gd name="adj" fmla="val 951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kst 1x21.60"/>
          <p:cNvSpPr txBox="1"/>
          <p:nvPr/>
        </p:nvSpPr>
        <p:spPr>
          <a:xfrm>
            <a:off x="4595217" y="3927773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08</a:t>
            </a:r>
            <a:endParaRPr sz="1800"/>
          </a:p>
        </p:txBody>
      </p:sp>
      <p:sp>
        <p:nvSpPr>
          <p:cNvPr id="34" name="Tekst 1x18.20"/>
          <p:cNvSpPr txBox="1"/>
          <p:nvPr/>
        </p:nvSpPr>
        <p:spPr>
          <a:xfrm>
            <a:off x="4999038" y="3927773"/>
            <a:ext cx="1788360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Rečnici</a:t>
            </a:r>
            <a:endParaRPr sz="1400"/>
          </a:p>
        </p:txBody>
      </p:sp>
      <p:sp>
        <p:nvSpPr>
          <p:cNvPr id="35" name="Tekst 1x16.20"/>
          <p:cNvSpPr txBox="1"/>
          <p:nvPr/>
        </p:nvSpPr>
        <p:spPr>
          <a:xfrm>
            <a:off x="4999038" y="4196953"/>
            <a:ext cx="1788360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ključ i vrednost, get, items</a:t>
            </a:r>
            <a:endParaRPr sz="1200"/>
          </a:p>
        </p:txBody>
      </p:sp>
      <p:sp>
        <p:nvSpPr>
          <p:cNvPr id="36" name="Rounded Rectangle 35"/>
          <p:cNvSpPr/>
          <p:nvPr/>
        </p:nvSpPr>
        <p:spPr>
          <a:xfrm>
            <a:off x="7961809" y="3746798"/>
            <a:ext cx="3414216" cy="1067891"/>
          </a:xfrm>
          <a:prstGeom prst="roundRect">
            <a:avLst>
              <a:gd name="adj" fmla="val 951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kst 1x21.60"/>
          <p:cNvSpPr txBox="1"/>
          <p:nvPr/>
        </p:nvSpPr>
        <p:spPr>
          <a:xfrm>
            <a:off x="8168184" y="3927773"/>
            <a:ext cx="27682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8521A"/>
                </a:solidFill>
                <a:latin typeface="Consolas"/>
              </a:rPr>
              <a:t>09</a:t>
            </a:r>
            <a:endParaRPr sz="1800"/>
          </a:p>
        </p:txBody>
      </p:sp>
      <p:sp>
        <p:nvSpPr>
          <p:cNvPr id="38" name="Tekst 2x18.20"/>
          <p:cNvSpPr txBox="1"/>
          <p:nvPr/>
        </p:nvSpPr>
        <p:spPr>
          <a:xfrm>
            <a:off x="8572004" y="3927773"/>
            <a:ext cx="2649599" cy="4621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62B"/>
                </a:solidFill>
                <a:latin typeface="Arial"/>
              </a:rPr>
              <a:t>Fajlovi, programi i korisnički unos</a:t>
            </a:r>
            <a:endParaRPr sz="1400"/>
          </a:p>
        </p:txBody>
      </p:sp>
      <p:sp>
        <p:nvSpPr>
          <p:cNvPr id="39" name="Tekst 1x16.20"/>
          <p:cNvSpPr txBox="1"/>
          <p:nvPr/>
        </p:nvSpPr>
        <p:spPr>
          <a:xfrm>
            <a:off x="8572004" y="4428034"/>
            <a:ext cx="2649599" cy="20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os, shutil, subprocess, sys.argv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64770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6FD3C1"/>
                </a:solidFill>
                <a:latin typeface="Arial"/>
              </a:rPr>
              <a:t>POGLAVLJE 1 OD 9</a:t>
            </a:r>
            <a:endParaRPr sz="1200"/>
          </a:p>
        </p:txBody>
      </p:sp>
      <p:sp>
        <p:nvSpPr>
          <p:cNvPr id="3" name="Tekst 1x100.00"/>
          <p:cNvSpPr txBox="1"/>
          <p:nvPr/>
        </p:nvSpPr>
        <p:spPr>
          <a:xfrm>
            <a:off x="812800" y="3457079"/>
            <a:ext cx="10777728" cy="12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 i="0">
                <a:solidFill>
                  <a:srgbClr val="F0A35E"/>
                </a:solidFill>
                <a:latin typeface="Consolas"/>
              </a:rPr>
              <a:t>01</a:t>
            </a:r>
            <a:endParaRPr sz="10000"/>
          </a:p>
        </p:txBody>
      </p:sp>
      <p:sp>
        <p:nvSpPr>
          <p:cNvPr id="4" name="Tekst 1x54.60"/>
          <p:cNvSpPr txBox="1"/>
          <p:nvPr/>
        </p:nvSpPr>
        <p:spPr>
          <a:xfrm>
            <a:off x="812800" y="4879479"/>
            <a:ext cx="10777728" cy="693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6F4EE"/>
                </a:solidFill>
                <a:latin typeface="Arial"/>
              </a:rPr>
              <a:t>Uvod i radno okruženje</a:t>
            </a:r>
            <a:endParaRPr sz="5200"/>
          </a:p>
        </p:txBody>
      </p:sp>
      <p:sp>
        <p:nvSpPr>
          <p:cNvPr id="5" name="Tekst 1x25.20"/>
          <p:cNvSpPr txBox="1"/>
          <p:nvPr/>
        </p:nvSpPr>
        <p:spPr>
          <a:xfrm>
            <a:off x="812800" y="5725220"/>
            <a:ext cx="10777728" cy="319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D3CD"/>
                </a:solidFill>
                <a:latin typeface="Arial"/>
              </a:rPr>
              <a:t>Zašto knjiga o programiranju baš za biologe, i šta nam treba pre prvog programa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01 · UVOD I RADNO OKRUŽENJE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Zašto knjiga baš za biologe?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5975" y="1704876"/>
            <a:ext cx="3380284" cy="2276872"/>
          </a:xfrm>
          <a:prstGeom prst="roundRect">
            <a:avLst>
              <a:gd name="adj" fmla="val 4462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.ikona-zasto-za-biologe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" y="1911251"/>
            <a:ext cx="355600" cy="355600"/>
          </a:xfrm>
          <a:prstGeom prst="rect">
            <a:avLst/>
          </a:prstGeom>
        </p:spPr>
      </p:pic>
      <p:sp>
        <p:nvSpPr>
          <p:cNvPr id="6" name="Tekst 1x21.60"/>
          <p:cNvSpPr txBox="1"/>
          <p:nvPr/>
        </p:nvSpPr>
        <p:spPr>
          <a:xfrm>
            <a:off x="1022350" y="2368451"/>
            <a:ext cx="3026884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Biološki primeri</a:t>
            </a:r>
            <a:endParaRPr sz="1800"/>
          </a:p>
        </p:txBody>
      </p:sp>
      <p:sp>
        <p:nvSpPr>
          <p:cNvPr id="7" name="Tekst 4x20.30"/>
          <p:cNvSpPr txBox="1"/>
          <p:nvPr/>
        </p:nvSpPr>
        <p:spPr>
          <a:xfrm>
            <a:off x="1022350" y="2744291"/>
            <a:ext cx="3026884" cy="10310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Motivišu, jer se odmah vidi kako program olakšava posao. Rešenja vežbi postaju zbirka koda za stvarne probleme.</a:t>
            </a:r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4405809" y="1704876"/>
            <a:ext cx="3380383" cy="2276872"/>
          </a:xfrm>
          <a:prstGeom prst="roundRect">
            <a:avLst>
              <a:gd name="adj" fmla="val 4462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.ikona-zasto-za-biolog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184" y="1911251"/>
            <a:ext cx="355600" cy="355600"/>
          </a:xfrm>
          <a:prstGeom prst="rect">
            <a:avLst/>
          </a:prstGeom>
        </p:spPr>
      </p:pic>
      <p:sp>
        <p:nvSpPr>
          <p:cNvPr id="10" name="Tekst 1x21.60"/>
          <p:cNvSpPr txBox="1"/>
          <p:nvPr/>
        </p:nvSpPr>
        <p:spPr>
          <a:xfrm>
            <a:off x="4612184" y="2368451"/>
            <a:ext cx="3026985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Pravi alati</a:t>
            </a:r>
            <a:endParaRPr sz="1800"/>
          </a:p>
        </p:txBody>
      </p:sp>
      <p:sp>
        <p:nvSpPr>
          <p:cNvPr id="11" name="Tekst 4x20.30"/>
          <p:cNvSpPr txBox="1"/>
          <p:nvPr/>
        </p:nvSpPr>
        <p:spPr>
          <a:xfrm>
            <a:off x="4612184" y="2744291"/>
            <a:ext cx="3026985" cy="10310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Više rada sa tekstom, tj. sekvencama, i alati koje opšte knjige preskaču: regularni izrazi i pokretanje drugih programa.</a:t>
            </a:r>
            <a:endParaRPr sz="1400"/>
          </a:p>
        </p:txBody>
      </p:sp>
      <p:sp>
        <p:nvSpPr>
          <p:cNvPr id="12" name="Rounded Rectangle 11"/>
          <p:cNvSpPr/>
          <p:nvPr/>
        </p:nvSpPr>
        <p:spPr>
          <a:xfrm>
            <a:off x="7995741" y="1704876"/>
            <a:ext cx="3380284" cy="2276872"/>
          </a:xfrm>
          <a:prstGeom prst="roundRect">
            <a:avLst>
              <a:gd name="adj" fmla="val 4462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.ikona-zasto-za-biolog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16" y="1911251"/>
            <a:ext cx="355600" cy="355600"/>
          </a:xfrm>
          <a:prstGeom prst="rect">
            <a:avLst/>
          </a:prstGeom>
        </p:spPr>
      </p:pic>
      <p:sp>
        <p:nvSpPr>
          <p:cNvPr id="14" name="Tekst 1x21.60"/>
          <p:cNvSpPr txBox="1"/>
          <p:nvPr/>
        </p:nvSpPr>
        <p:spPr>
          <a:xfrm>
            <a:off x="8202116" y="2368451"/>
            <a:ext cx="3026884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Korisno odmah</a:t>
            </a:r>
            <a:endParaRPr sz="1800"/>
          </a:p>
        </p:txBody>
      </p:sp>
      <p:sp>
        <p:nvSpPr>
          <p:cNvPr id="15" name="Tekst 4x20.30"/>
          <p:cNvSpPr txBox="1"/>
          <p:nvPr/>
        </p:nvSpPr>
        <p:spPr>
          <a:xfrm>
            <a:off x="8202116" y="2744291"/>
            <a:ext cx="3026884" cy="10310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Teme prate probleme koji se u biologiji stalno ponavljaju. Mali korisni programi mogu se pisati već posle prva dva poglavlja.</a:t>
            </a:r>
            <a:endParaRPr sz="1400"/>
          </a:p>
        </p:txBody>
      </p:sp>
      <p:sp>
        <p:nvSpPr>
          <p:cNvPr id="16" name="Rounded Rectangle 15"/>
          <p:cNvSpPr/>
          <p:nvPr/>
        </p:nvSpPr>
        <p:spPr>
          <a:xfrm>
            <a:off x="812800" y="4238923"/>
            <a:ext cx="10566400" cy="562570"/>
          </a:xfrm>
          <a:prstGeom prst="roundRect">
            <a:avLst>
              <a:gd name="adj" fmla="val 13544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" y="4238923"/>
            <a:ext cx="38100" cy="562570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kst 1x20.30"/>
          <p:cNvSpPr txBox="1"/>
          <p:nvPr/>
        </p:nvSpPr>
        <p:spPr>
          <a:xfrm>
            <a:off x="1054100" y="4391323"/>
            <a:ext cx="1024382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U biologiji se isti problemi javljaju iznova, pa je zbirka rešenih primera korisna referenca i posle kursa.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01 · UVOD I RADNO OKRUŽENJE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Zašto Python?</a:t>
            </a:r>
            <a:endParaRPr sz="3200"/>
          </a:p>
        </p:txBody>
      </p:sp>
      <p:sp>
        <p:nvSpPr>
          <p:cNvPr id="4" name="Tekst 2x24.30"/>
          <p:cNvSpPr txBox="1"/>
          <p:nvPr/>
        </p:nvSpPr>
        <p:spPr>
          <a:xfrm>
            <a:off x="812800" y="1701701"/>
            <a:ext cx="10777728" cy="6171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262B"/>
                </a:solidFill>
                <a:latin typeface="Arial"/>
              </a:rPr>
              <a:t>Izbor jezika je manje važan nego što početnici misle: prvi jezik vas dovodi </a:t>
            </a:r>
            <a:r>
              <a:rPr sz="1800" b="0" i="0">
                <a:solidFill>
                  <a:srgbClr val="A8521A"/>
                </a:solidFill>
                <a:latin typeface="Arial"/>
              </a:rPr>
              <a:t>90% puta</a:t>
            </a:r>
            <a:r>
              <a:rPr sz="1800" b="0" i="0">
                <a:solidFill>
                  <a:srgbClr val="13262B"/>
                </a:solidFill>
                <a:latin typeface="Arial"/>
              </a:rPr>
              <a:t> do drugog, trećeg i četvrtog.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815975" y="2576016"/>
            <a:ext cx="5175250" cy="2284412"/>
          </a:xfrm>
          <a:prstGeom prst="roundRect">
            <a:avLst>
              <a:gd name="adj" fmla="val 4447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kst 1x21.60"/>
          <p:cNvSpPr txBox="1"/>
          <p:nvPr/>
        </p:nvSpPr>
        <p:spPr>
          <a:xfrm>
            <a:off x="1022350" y="2756991"/>
            <a:ext cx="485775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Dobar prvi jezik</a:t>
            </a:r>
            <a:endParaRPr sz="1800"/>
          </a:p>
        </p:txBody>
      </p:sp>
      <p:sp>
        <p:nvSpPr>
          <p:cNvPr id="7" name="Tekst 6x20.30"/>
          <p:cNvSpPr txBox="1"/>
          <p:nvPr/>
        </p:nvSpPr>
        <p:spPr>
          <a:xfrm>
            <a:off x="1022350" y="3132832"/>
            <a:ext cx="4857750" cy="15466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Uglavnom dosledna sintaksa: jedan način, mnogo primena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Korisne ugrađene biblioteke za česte zadatke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Za većinu stvari postoji jedan očigledan način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Široko rasprostranjen: mnogo dokumentacije i pomoći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Obavezno uvlačenje koda nameće čitljivost</a:t>
            </a:r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6200775" y="2576016"/>
            <a:ext cx="5175250" cy="2284412"/>
          </a:xfrm>
          <a:prstGeom prst="roundRect">
            <a:avLst>
              <a:gd name="adj" fmla="val 4447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1x21.60"/>
          <p:cNvSpPr txBox="1"/>
          <p:nvPr/>
        </p:nvSpPr>
        <p:spPr>
          <a:xfrm>
            <a:off x="6407150" y="2756991"/>
            <a:ext cx="485775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Posebno dobar za biologe</a:t>
            </a:r>
            <a:endParaRPr sz="1800"/>
          </a:p>
        </p:txBody>
      </p:sp>
      <p:sp>
        <p:nvSpPr>
          <p:cNvPr id="10" name="Tekst 5x20.30"/>
          <p:cNvSpPr txBox="1"/>
          <p:nvPr/>
        </p:nvSpPr>
        <p:spPr>
          <a:xfrm>
            <a:off x="6407150" y="3132832"/>
            <a:ext cx="4857750" cy="12888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Široko korišćen u naučnoj zajednici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Odlične biblioteke za naučna izračunavanja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Lako se povezuje sa postojećim alatima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Jednostavan rad sa tekstom, a DNK i proteinske sekvence su upravo tekst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01 · UVOD I RADNO OKRUŽENJE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Koji jezik učiti? Python ili Perl?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5975" y="1704876"/>
            <a:ext cx="5402064" cy="2026642"/>
          </a:xfrm>
          <a:prstGeom prst="roundRect">
            <a:avLst>
              <a:gd name="adj" fmla="val 5013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21.60"/>
          <p:cNvSpPr txBox="1"/>
          <p:nvPr/>
        </p:nvSpPr>
        <p:spPr>
          <a:xfrm>
            <a:off x="1022350" y="1885851"/>
            <a:ext cx="508910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Izbor jezika nije presudan</a:t>
            </a:r>
            <a:endParaRPr sz="1800"/>
          </a:p>
        </p:txBody>
      </p:sp>
      <p:sp>
        <p:nvSpPr>
          <p:cNvPr id="6" name="Tekst 5x20.30"/>
          <p:cNvSpPr txBox="1"/>
          <p:nvPr/>
        </p:nvSpPr>
        <p:spPr>
          <a:xfrm>
            <a:off x="1022350" y="2261691"/>
            <a:ext cx="5089100" cy="12888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+mj-lt"/>
              <a:buAutoNum type="arabicPeriod"/>
            </a:pPr>
            <a:r>
              <a:rPr sz="1400" b="0" i="0">
                <a:solidFill>
                  <a:srgbClr val="3D4F52"/>
                </a:solidFill>
                <a:latin typeface="Arial"/>
              </a:rPr>
              <a:t>Ko programira duže, koristi više jezika: JavaScript za veb, Java za grafičke interfejse, C za algoritme niskog nivoa</a:t>
            </a:r>
            <a:endParaRPr sz="1400"/>
          </a:p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+mj-lt"/>
              <a:buAutoNum type="arabicPeriod"/>
            </a:pPr>
            <a:r>
              <a:rPr sz="1400" b="0" i="0">
                <a:solidFill>
                  <a:srgbClr val="3D4F52"/>
                </a:solidFill>
                <a:latin typeface="Arial"/>
              </a:rPr>
              <a:t>Prvi jezik nosi najveći deo učenja: razlaganje problema na jednostavne korake</a:t>
            </a:r>
            <a:endParaRPr sz="1400"/>
          </a:p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+mj-lt"/>
              <a:buAutoNum type="arabicPeriod"/>
            </a:pPr>
            <a:r>
              <a:rPr sz="1400" b="0" i="0">
                <a:solidFill>
                  <a:srgbClr val="3D4F52"/>
                </a:solidFill>
                <a:latin typeface="Arial"/>
              </a:rPr>
              <a:t>Biološki problemi se mogu rešiti u bilo kom jeziku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6427589" y="1704876"/>
            <a:ext cx="4948436" cy="2128242"/>
          </a:xfrm>
          <a:prstGeom prst="roundRect">
            <a:avLst>
              <a:gd name="adj" fmla="val 4773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1x21.60"/>
          <p:cNvSpPr txBox="1"/>
          <p:nvPr/>
        </p:nvSpPr>
        <p:spPr>
          <a:xfrm>
            <a:off x="6633964" y="1885851"/>
            <a:ext cx="462640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Python ili Perl</a:t>
            </a:r>
            <a:endParaRPr sz="1800"/>
          </a:p>
        </p:txBody>
      </p:sp>
      <p:sp>
        <p:nvSpPr>
          <p:cNvPr id="9" name="Tekst 3x20.30"/>
          <p:cNvSpPr txBox="1"/>
          <p:nvPr/>
        </p:nvSpPr>
        <p:spPr>
          <a:xfrm>
            <a:off x="6633964" y="2261691"/>
            <a:ext cx="4626400" cy="77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Oba su dobra za biologiju i vrlo su slična, iako izgledaju različito. Iz iskustva u nastavi: Python se lakše uči jer je dosledniji i čitljiviji.</a:t>
            </a:r>
            <a:endParaRPr sz="1400"/>
          </a:p>
        </p:txBody>
      </p:sp>
      <p:sp>
        <p:nvSpPr>
          <p:cNvPr id="10" name="Tekst 2x20.30"/>
          <p:cNvSpPr txBox="1"/>
          <p:nvPr/>
        </p:nvSpPr>
        <p:spPr>
          <a:xfrm>
            <a:off x="6633964" y="3136602"/>
            <a:ext cx="4626400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Mnoge mogućnosti se preslikavaju jedna na jednu, pa je kasniji prelazak na Perl lak.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812800" y="4090293"/>
            <a:ext cx="10566400" cy="562570"/>
          </a:xfrm>
          <a:prstGeom prst="roundRect">
            <a:avLst>
              <a:gd name="adj" fmla="val 13544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4090293"/>
            <a:ext cx="38100" cy="562570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1x20.30"/>
          <p:cNvSpPr txBox="1"/>
          <p:nvPr/>
        </p:nvSpPr>
        <p:spPr>
          <a:xfrm>
            <a:off x="1054100" y="4242693"/>
            <a:ext cx="1024382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Važniji od jezika su motivacija, vreme za učenje i kolege koji pomažu.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01 · UVOD I RADNO OKRUŽENJE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Kako je organizovano svako poglavlje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2800" y="1808361"/>
            <a:ext cx="1706860" cy="1031081"/>
          </a:xfrm>
          <a:prstGeom prst="roundRect">
            <a:avLst>
              <a:gd name="adj" fmla="val 9853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19.60"/>
          <p:cNvSpPr txBox="1"/>
          <p:nvPr/>
        </p:nvSpPr>
        <p:spPr>
          <a:xfrm>
            <a:off x="965200" y="1960761"/>
            <a:ext cx="1430101" cy="248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6F4EE"/>
                </a:solidFill>
                <a:latin typeface="Arial"/>
              </a:rPr>
              <a:t>Motivacija</a:t>
            </a:r>
            <a:endParaRPr sz="1400"/>
          </a:p>
        </p:txBody>
      </p:sp>
      <p:sp>
        <p:nvSpPr>
          <p:cNvPr id="6" name="Tekst 2x16.80"/>
          <p:cNvSpPr txBox="1"/>
          <p:nvPr/>
        </p:nvSpPr>
        <p:spPr>
          <a:xfrm>
            <a:off x="965200" y="2260402"/>
            <a:ext cx="1430101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3CD"/>
                </a:solidFill>
                <a:latin typeface="Arial"/>
              </a:rPr>
              <a:t>zašto alat postoji i čemu služi u biologiji</a:t>
            </a:r>
            <a:endParaRPr sz="1200"/>
          </a:p>
        </p:txBody>
      </p:sp>
      <p:sp>
        <p:nvSpPr>
          <p:cNvPr id="7" name="Right Arrow 6"/>
          <p:cNvSpPr/>
          <p:nvPr/>
        </p:nvSpPr>
        <p:spPr>
          <a:xfrm>
            <a:off x="2595860" y="2235002"/>
            <a:ext cx="355600" cy="177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27660" y="1808361"/>
            <a:ext cx="1706959" cy="1031081"/>
          </a:xfrm>
          <a:prstGeom prst="roundRect">
            <a:avLst>
              <a:gd name="adj" fmla="val 9853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1x19.60"/>
          <p:cNvSpPr txBox="1"/>
          <p:nvPr/>
        </p:nvSpPr>
        <p:spPr>
          <a:xfrm>
            <a:off x="3180060" y="1960761"/>
            <a:ext cx="1430203" cy="248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6F4EE"/>
                </a:solidFill>
                <a:latin typeface="Arial"/>
              </a:rPr>
              <a:t>Glavni deo</a:t>
            </a:r>
            <a:endParaRPr sz="1400"/>
          </a:p>
        </p:txBody>
      </p:sp>
      <p:sp>
        <p:nvSpPr>
          <p:cNvPr id="10" name="Tekst 2x16.80"/>
          <p:cNvSpPr txBox="1"/>
          <p:nvPr/>
        </p:nvSpPr>
        <p:spPr>
          <a:xfrm>
            <a:off x="3180060" y="2260402"/>
            <a:ext cx="1430203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3CD"/>
                </a:solidFill>
                <a:latin typeface="Arial"/>
              </a:rPr>
              <a:t>mogućnosti jezika i kako ih koristiti</a:t>
            </a:r>
            <a:endParaRPr sz="1200"/>
          </a:p>
        </p:txBody>
      </p:sp>
      <p:sp>
        <p:nvSpPr>
          <p:cNvPr id="11" name="Right Arrow 10"/>
          <p:cNvSpPr/>
          <p:nvPr/>
        </p:nvSpPr>
        <p:spPr>
          <a:xfrm>
            <a:off x="4810820" y="2235002"/>
            <a:ext cx="355600" cy="177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42620" y="1808361"/>
            <a:ext cx="1706860" cy="1031081"/>
          </a:xfrm>
          <a:prstGeom prst="roundRect">
            <a:avLst>
              <a:gd name="adj" fmla="val 9853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1x19.60"/>
          <p:cNvSpPr txBox="1"/>
          <p:nvPr/>
        </p:nvSpPr>
        <p:spPr>
          <a:xfrm>
            <a:off x="5395020" y="1960761"/>
            <a:ext cx="1430101" cy="248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6F4EE"/>
                </a:solidFill>
                <a:latin typeface="Arial"/>
              </a:rPr>
              <a:t>Rezime</a:t>
            </a:r>
            <a:endParaRPr sz="1400"/>
          </a:p>
        </p:txBody>
      </p:sp>
      <p:sp>
        <p:nvSpPr>
          <p:cNvPr id="14" name="Tekst 2x16.80"/>
          <p:cNvSpPr txBox="1"/>
          <p:nvPr/>
        </p:nvSpPr>
        <p:spPr>
          <a:xfrm>
            <a:off x="5395020" y="2260402"/>
            <a:ext cx="1430101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3CD"/>
                </a:solidFill>
                <a:latin typeface="Arial"/>
              </a:rPr>
              <a:t>kratak pregled naučenog</a:t>
            </a:r>
            <a:endParaRPr sz="1200"/>
          </a:p>
        </p:txBody>
      </p:sp>
      <p:sp>
        <p:nvSpPr>
          <p:cNvPr id="15" name="Right Arrow 14"/>
          <p:cNvSpPr/>
          <p:nvPr/>
        </p:nvSpPr>
        <p:spPr>
          <a:xfrm>
            <a:off x="7025680" y="2235002"/>
            <a:ext cx="355600" cy="177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57480" y="1808361"/>
            <a:ext cx="1706860" cy="1031081"/>
          </a:xfrm>
          <a:prstGeom prst="roundRect">
            <a:avLst>
              <a:gd name="adj" fmla="val 9853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 1x19.60"/>
          <p:cNvSpPr txBox="1"/>
          <p:nvPr/>
        </p:nvSpPr>
        <p:spPr>
          <a:xfrm>
            <a:off x="7609880" y="1960761"/>
            <a:ext cx="1430101" cy="248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6F4EE"/>
                </a:solidFill>
                <a:latin typeface="Arial"/>
              </a:rPr>
              <a:t>Vežbe</a:t>
            </a:r>
            <a:endParaRPr sz="1400"/>
          </a:p>
        </p:txBody>
      </p:sp>
      <p:sp>
        <p:nvSpPr>
          <p:cNvPr id="18" name="Tekst 2x16.80"/>
          <p:cNvSpPr txBox="1"/>
          <p:nvPr/>
        </p:nvSpPr>
        <p:spPr>
          <a:xfrm>
            <a:off x="7609880" y="2260402"/>
            <a:ext cx="1430101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3CD"/>
                </a:solidFill>
                <a:latin typeface="Arial"/>
              </a:rPr>
              <a:t>namerno kratke i pomalo neodređene</a:t>
            </a:r>
            <a:endParaRPr sz="1200"/>
          </a:p>
        </p:txBody>
      </p:sp>
      <p:sp>
        <p:nvSpPr>
          <p:cNvPr id="19" name="Right Arrow 18"/>
          <p:cNvSpPr/>
          <p:nvPr/>
        </p:nvSpPr>
        <p:spPr>
          <a:xfrm>
            <a:off x="9240540" y="2235002"/>
            <a:ext cx="355600" cy="177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72340" y="1701701"/>
            <a:ext cx="1706860" cy="1244402"/>
          </a:xfrm>
          <a:prstGeom prst="roundRect">
            <a:avLst>
              <a:gd name="adj" fmla="val 8164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kst 1x19.60"/>
          <p:cNvSpPr txBox="1"/>
          <p:nvPr/>
        </p:nvSpPr>
        <p:spPr>
          <a:xfrm>
            <a:off x="9824740" y="1854101"/>
            <a:ext cx="1430101" cy="248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6F4EE"/>
                </a:solidFill>
                <a:latin typeface="Arial"/>
              </a:rPr>
              <a:t>Rešenja</a:t>
            </a:r>
            <a:endParaRPr sz="1400"/>
          </a:p>
        </p:txBody>
      </p:sp>
      <p:sp>
        <p:nvSpPr>
          <p:cNvPr id="22" name="Tekst 3x16.80"/>
          <p:cNvSpPr txBox="1"/>
          <p:nvPr/>
        </p:nvSpPr>
        <p:spPr>
          <a:xfrm>
            <a:off x="9824740" y="2153741"/>
            <a:ext cx="1430101" cy="639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3CD"/>
                </a:solidFill>
                <a:latin typeface="Arial"/>
              </a:rPr>
              <a:t>postupak razmišljanja korak po korak</a:t>
            </a:r>
            <a:endParaRPr sz="1200"/>
          </a:p>
        </p:txBody>
      </p:sp>
      <p:sp>
        <p:nvSpPr>
          <p:cNvPr id="23" name="Rounded Rectangle 22"/>
          <p:cNvSpPr/>
          <p:nvPr/>
        </p:nvSpPr>
        <p:spPr>
          <a:xfrm>
            <a:off x="815975" y="3203277"/>
            <a:ext cx="5175250" cy="1485702"/>
          </a:xfrm>
          <a:prstGeom prst="roundRect">
            <a:avLst>
              <a:gd name="adj" fmla="val 6838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kst 1x21.60"/>
          <p:cNvSpPr txBox="1"/>
          <p:nvPr/>
        </p:nvSpPr>
        <p:spPr>
          <a:xfrm>
            <a:off x="1022350" y="3384252"/>
            <a:ext cx="485775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Tutorijal, ne priručnik</a:t>
            </a:r>
            <a:endParaRPr sz="1800"/>
          </a:p>
        </p:txBody>
      </p:sp>
      <p:sp>
        <p:nvSpPr>
          <p:cNvPr id="25" name="Tekst 3x20.30"/>
          <p:cNvSpPr txBox="1"/>
          <p:nvPr/>
        </p:nvSpPr>
        <p:spPr>
          <a:xfrm>
            <a:off x="1022350" y="3734693"/>
            <a:ext cx="4857750" cy="77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Poglavlja se čitaju redom, jer kasniji primeri koriste ranije alate. Pojmovi se uvode kad zatrebaju, pa su prva poglavlja duža.</a:t>
            </a:r>
            <a:endParaRPr sz="1400"/>
          </a:p>
        </p:txBody>
      </p:sp>
      <p:sp>
        <p:nvSpPr>
          <p:cNvPr id="26" name="Rounded Rectangle 25"/>
          <p:cNvSpPr/>
          <p:nvPr/>
        </p:nvSpPr>
        <p:spPr>
          <a:xfrm>
            <a:off x="6200775" y="3203277"/>
            <a:ext cx="5175250" cy="1485702"/>
          </a:xfrm>
          <a:prstGeom prst="roundRect">
            <a:avLst>
              <a:gd name="adj" fmla="val 6838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kst 1x21.60"/>
          <p:cNvSpPr txBox="1"/>
          <p:nvPr/>
        </p:nvSpPr>
        <p:spPr>
          <a:xfrm>
            <a:off x="6407150" y="3384252"/>
            <a:ext cx="485775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Kako raditi vežbe</a:t>
            </a:r>
            <a:endParaRPr sz="1800"/>
          </a:p>
        </p:txBody>
      </p:sp>
      <p:sp>
        <p:nvSpPr>
          <p:cNvPr id="28" name="Tekst 3x20.30"/>
          <p:cNvSpPr txBox="1"/>
          <p:nvPr/>
        </p:nvSpPr>
        <p:spPr>
          <a:xfrm>
            <a:off x="6407150" y="3734693"/>
            <a:ext cx="4857750" cy="77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Prvo pokušajte sami, pa pročitajte rešenje: ono ponekad pokazuje pristup koji nije očigledan. Isprobavajte varijacije zadataka.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01 · UVOD I RADNO OKRUŽENJE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Radno okruženje</a:t>
            </a:r>
            <a:endParaRPr sz="3200"/>
          </a:p>
        </p:txBody>
      </p:sp>
      <p:sp>
        <p:nvSpPr>
          <p:cNvPr id="4" name="Tekst 1x21.60"/>
          <p:cNvSpPr txBox="1"/>
          <p:nvPr/>
        </p:nvSpPr>
        <p:spPr>
          <a:xfrm>
            <a:off x="812800" y="1701701"/>
            <a:ext cx="523341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Pokretanje programa</a:t>
            </a:r>
            <a:endParaRPr sz="1800"/>
          </a:p>
        </p:txBody>
      </p:sp>
      <p:sp>
        <p:nvSpPr>
          <p:cNvPr id="5" name="Tekst 2x20.30"/>
          <p:cNvSpPr txBox="1"/>
          <p:nvPr/>
        </p:nvSpPr>
        <p:spPr>
          <a:xfrm>
            <a:off x="812800" y="2102941"/>
            <a:ext cx="5233416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Program je običan tekstualni fajl sa ekstenzijom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.py</a:t>
            </a:r>
            <a:r>
              <a:rPr sz="1400" b="0" i="0">
                <a:solidFill>
                  <a:srgbClr val="3D4F52"/>
                </a:solidFill>
                <a:latin typeface="Arial"/>
              </a:rPr>
              <a:t>. Pokrećemo ga iz terminala (na Windowsu: Command Prompt).</a:t>
            </a:r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819150" y="2751832"/>
            <a:ext cx="5118100" cy="1954411"/>
          </a:xfrm>
          <a:prstGeom prst="roundRect">
            <a:avLst>
              <a:gd name="adj" fmla="val 5198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6x20.15"/>
          <p:cNvSpPr txBox="1"/>
          <p:nvPr/>
        </p:nvSpPr>
        <p:spPr>
          <a:xfrm>
            <a:off x="1079500" y="2961382"/>
            <a:ext cx="4689348" cy="15353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B3AA"/>
                </a:solidFill>
                <a:latin typeface="Consolas"/>
              </a:rPr>
              <a:t># pokretanje programa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$ python test.py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interaktivni režim (shell)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$ python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pokreni program, pa ostani u shell-u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$ python -i test.py</a:t>
            </a:r>
            <a:endParaRPr sz="1300"/>
          </a:p>
        </p:txBody>
      </p:sp>
      <p:sp>
        <p:nvSpPr>
          <p:cNvPr id="8" name="Rounded Rectangle 7"/>
          <p:cNvSpPr/>
          <p:nvPr/>
        </p:nvSpPr>
        <p:spPr>
          <a:xfrm>
            <a:off x="6251575" y="1704876"/>
            <a:ext cx="5124450" cy="2001242"/>
          </a:xfrm>
          <a:prstGeom prst="roundRect">
            <a:avLst>
              <a:gd name="adj" fmla="val 5076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1x21.60"/>
          <p:cNvSpPr txBox="1"/>
          <p:nvPr/>
        </p:nvSpPr>
        <p:spPr>
          <a:xfrm>
            <a:off x="6457950" y="1885851"/>
            <a:ext cx="4805934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Editor</a:t>
            </a:r>
            <a:endParaRPr sz="1800"/>
          </a:p>
        </p:txBody>
      </p:sp>
      <p:sp>
        <p:nvSpPr>
          <p:cNvPr id="10" name="Tekst 5x20.30"/>
          <p:cNvSpPr txBox="1"/>
          <p:nvPr/>
        </p:nvSpPr>
        <p:spPr>
          <a:xfrm>
            <a:off x="6457950" y="2236291"/>
            <a:ext cx="4805934" cy="12888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Tab emulacija: tab postaje 4 razmaka, jer Python razlikuje tabove i razmake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Isticanje sintakse pomaže da uočite greške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Nikako Word i slični programi: ubacuju formatiranje koje Python ne razume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6251575" y="3864868"/>
            <a:ext cx="5124450" cy="1227931"/>
          </a:xfrm>
          <a:prstGeom prst="roundRect">
            <a:avLst>
              <a:gd name="adj" fmla="val 827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kst 1x21.60"/>
          <p:cNvSpPr txBox="1"/>
          <p:nvPr/>
        </p:nvSpPr>
        <p:spPr>
          <a:xfrm>
            <a:off x="6457950" y="4045843"/>
            <a:ext cx="4805934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Verzija i dokumentacija</a:t>
            </a:r>
            <a:endParaRPr sz="1800"/>
          </a:p>
        </p:txBody>
      </p:sp>
      <p:sp>
        <p:nvSpPr>
          <p:cNvPr id="13" name="Tekst 2x20.30"/>
          <p:cNvSpPr txBox="1"/>
          <p:nvPr/>
        </p:nvSpPr>
        <p:spPr>
          <a:xfrm>
            <a:off x="6457950" y="4396284"/>
            <a:ext cx="4805934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Instalirajte Python 3. Potpun spisak mogućnosti je u zvaničnoj dokumentaciji: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docs.python.org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01 · UVOD I RADNO OKRUŽENJE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Python 3 i ova knjiga</a:t>
            </a:r>
            <a:endParaRPr sz="3200"/>
          </a:p>
        </p:txBody>
      </p:sp>
      <p:sp>
        <p:nvSpPr>
          <p:cNvPr id="4" name="Rectangle 3"/>
          <p:cNvSpPr/>
          <p:nvPr/>
        </p:nvSpPr>
        <p:spPr>
          <a:xfrm>
            <a:off x="812800" y="1701701"/>
            <a:ext cx="10566400" cy="287536"/>
          </a:xfrm>
          <a:prstGeom prst="rect">
            <a:avLst/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1982887"/>
            <a:ext cx="2747169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kst 1x14.40"/>
          <p:cNvSpPr txBox="1"/>
          <p:nvPr/>
        </p:nvSpPr>
        <p:spPr>
          <a:xfrm>
            <a:off x="904240" y="1755041"/>
            <a:ext cx="2615575" cy="1745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4F52"/>
                </a:solidFill>
                <a:latin typeface="Arial"/>
              </a:rPr>
              <a:t>Tema</a:t>
            </a:r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3559969" y="1982887"/>
            <a:ext cx="3909516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1x14.40"/>
          <p:cNvSpPr txBox="1"/>
          <p:nvPr/>
        </p:nvSpPr>
        <p:spPr>
          <a:xfrm>
            <a:off x="3651409" y="1755041"/>
            <a:ext cx="3801169" cy="1745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4F52"/>
                </a:solidFill>
                <a:latin typeface="Arial"/>
              </a:rPr>
              <a:t>Python 2 (vreme knjige)</a:t>
            </a: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7469485" y="1982887"/>
            <a:ext cx="3909715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1x14.40"/>
          <p:cNvSpPr txBox="1"/>
          <p:nvPr/>
        </p:nvSpPr>
        <p:spPr>
          <a:xfrm>
            <a:off x="7560925" y="1755041"/>
            <a:ext cx="3801372" cy="1745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4F52"/>
                </a:solidFill>
                <a:latin typeface="Arial"/>
              </a:rPr>
              <a:t>Python 3 (na slajdovima)</a:t>
            </a: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812800" y="2273598"/>
            <a:ext cx="2747169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kst 1x14.40"/>
          <p:cNvSpPr txBox="1"/>
          <p:nvPr/>
        </p:nvSpPr>
        <p:spPr>
          <a:xfrm>
            <a:off x="904240" y="2042577"/>
            <a:ext cx="2615575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Deljenje celih brojeva</a:t>
            </a:r>
            <a:endParaRPr sz="1200"/>
          </a:p>
        </p:txBody>
      </p:sp>
      <p:sp>
        <p:nvSpPr>
          <p:cNvPr id="13" name="Rectangle 12"/>
          <p:cNvSpPr/>
          <p:nvPr/>
        </p:nvSpPr>
        <p:spPr>
          <a:xfrm>
            <a:off x="3559969" y="2273598"/>
            <a:ext cx="3909516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kst 1x14.40"/>
          <p:cNvSpPr txBox="1"/>
          <p:nvPr/>
        </p:nvSpPr>
        <p:spPr>
          <a:xfrm>
            <a:off x="3651409" y="2042577"/>
            <a:ext cx="3801169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7 / 2 daje 3, osim uz from __future__ import division</a:t>
            </a:r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7469485" y="2273598"/>
            <a:ext cx="3909715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kst 1x14.40"/>
          <p:cNvSpPr txBox="1"/>
          <p:nvPr/>
        </p:nvSpPr>
        <p:spPr>
          <a:xfrm>
            <a:off x="7560925" y="2042577"/>
            <a:ext cx="3801372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Arial"/>
              </a:rPr>
              <a:t>7 / 2 daje 3.5</a:t>
            </a:r>
            <a:endParaRPr sz="1200"/>
          </a:p>
        </p:txBody>
      </p:sp>
      <p:sp>
        <p:nvSpPr>
          <p:cNvPr id="17" name="Rectangle 16"/>
          <p:cNvSpPr/>
          <p:nvPr/>
        </p:nvSpPr>
        <p:spPr>
          <a:xfrm>
            <a:off x="812800" y="2564309"/>
            <a:ext cx="2747169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kst 1x14.40"/>
          <p:cNvSpPr txBox="1"/>
          <p:nvPr/>
        </p:nvSpPr>
        <p:spPr>
          <a:xfrm>
            <a:off x="904240" y="2333288"/>
            <a:ext cx="2615575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Poruke o greškama</a:t>
            </a:r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3559969" y="2564309"/>
            <a:ext cx="3909516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kst 1x14.40"/>
          <p:cNvSpPr txBox="1"/>
          <p:nvPr/>
        </p:nvSpPr>
        <p:spPr>
          <a:xfrm>
            <a:off x="3651409" y="2333288"/>
            <a:ext cx="3801169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cannot concatenate 'str' and 'int' objects</a:t>
            </a:r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7469485" y="2564309"/>
            <a:ext cx="3909715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kst 1x14.40"/>
          <p:cNvSpPr txBox="1"/>
          <p:nvPr/>
        </p:nvSpPr>
        <p:spPr>
          <a:xfrm>
            <a:off x="7560925" y="2333288"/>
            <a:ext cx="3801372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Arial"/>
              </a:rPr>
              <a:t>can only concatenate str (not "int") to str</a:t>
            </a:r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812800" y="2855020"/>
            <a:ext cx="2747169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kst 1x14.40"/>
          <p:cNvSpPr txBox="1"/>
          <p:nvPr/>
        </p:nvSpPr>
        <p:spPr>
          <a:xfrm>
            <a:off x="904240" y="2623999"/>
            <a:ext cx="2615575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Nepostojeći fajl</a:t>
            </a:r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3559969" y="2855020"/>
            <a:ext cx="3909516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kst 1x14.40"/>
          <p:cNvSpPr txBox="1"/>
          <p:nvPr/>
        </p:nvSpPr>
        <p:spPr>
          <a:xfrm>
            <a:off x="3651409" y="2623999"/>
            <a:ext cx="3801169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IOError</a:t>
            </a:r>
            <a:endParaRPr sz="1200"/>
          </a:p>
        </p:txBody>
      </p:sp>
      <p:sp>
        <p:nvSpPr>
          <p:cNvPr id="27" name="Rectangle 26"/>
          <p:cNvSpPr/>
          <p:nvPr/>
        </p:nvSpPr>
        <p:spPr>
          <a:xfrm>
            <a:off x="7469485" y="2855020"/>
            <a:ext cx="3909715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kst 1x14.40"/>
          <p:cNvSpPr txBox="1"/>
          <p:nvPr/>
        </p:nvSpPr>
        <p:spPr>
          <a:xfrm>
            <a:off x="7560925" y="2623999"/>
            <a:ext cx="3801372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Arial"/>
              </a:rPr>
              <a:t>FileNotFoundError</a:t>
            </a:r>
            <a:endParaRPr sz="1200"/>
          </a:p>
        </p:txBody>
      </p:sp>
      <p:sp>
        <p:nvSpPr>
          <p:cNvPr id="29" name="Rectangle 28"/>
          <p:cNvSpPr/>
          <p:nvPr/>
        </p:nvSpPr>
        <p:spPr>
          <a:xfrm>
            <a:off x="812800" y="3145730"/>
            <a:ext cx="2747169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kst 1x14.40"/>
          <p:cNvSpPr txBox="1"/>
          <p:nvPr/>
        </p:nvSpPr>
        <p:spPr>
          <a:xfrm>
            <a:off x="904240" y="2914710"/>
            <a:ext cx="2615575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Unos sa tastature</a:t>
            </a:r>
            <a:endParaRPr sz="1200"/>
          </a:p>
        </p:txBody>
      </p:sp>
      <p:sp>
        <p:nvSpPr>
          <p:cNvPr id="31" name="Rectangle 30"/>
          <p:cNvSpPr/>
          <p:nvPr/>
        </p:nvSpPr>
        <p:spPr>
          <a:xfrm>
            <a:off x="3559969" y="3145730"/>
            <a:ext cx="3909516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kst 1x14.40"/>
          <p:cNvSpPr txBox="1"/>
          <p:nvPr/>
        </p:nvSpPr>
        <p:spPr>
          <a:xfrm>
            <a:off x="3651409" y="2914710"/>
            <a:ext cx="3801169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raw_input; input izvršava unos kao kod</a:t>
            </a:r>
            <a:endParaRPr sz="1200"/>
          </a:p>
        </p:txBody>
      </p:sp>
      <p:sp>
        <p:nvSpPr>
          <p:cNvPr id="33" name="Rectangle 32"/>
          <p:cNvSpPr/>
          <p:nvPr/>
        </p:nvSpPr>
        <p:spPr>
          <a:xfrm>
            <a:off x="7469485" y="3145730"/>
            <a:ext cx="3909715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kst 1x14.40"/>
          <p:cNvSpPr txBox="1"/>
          <p:nvPr/>
        </p:nvSpPr>
        <p:spPr>
          <a:xfrm>
            <a:off x="7560925" y="2914710"/>
            <a:ext cx="3801372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Arial"/>
              </a:rPr>
              <a:t>input, uvek vraća string</a:t>
            </a:r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812800" y="3436441"/>
            <a:ext cx="2747169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kst 1x14.40"/>
          <p:cNvSpPr txBox="1"/>
          <p:nvPr/>
        </p:nvSpPr>
        <p:spPr>
          <a:xfrm>
            <a:off x="904240" y="3205420"/>
            <a:ext cx="2615575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print sa više vrednosti</a:t>
            </a:r>
            <a:endParaRPr sz="1200"/>
          </a:p>
        </p:txBody>
      </p:sp>
      <p:sp>
        <p:nvSpPr>
          <p:cNvPr id="37" name="Rectangle 36"/>
          <p:cNvSpPr/>
          <p:nvPr/>
        </p:nvSpPr>
        <p:spPr>
          <a:xfrm>
            <a:off x="3559969" y="3436441"/>
            <a:ext cx="3909516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kst 1x14.40"/>
          <p:cNvSpPr txBox="1"/>
          <p:nvPr/>
        </p:nvSpPr>
        <p:spPr>
          <a:xfrm>
            <a:off x="3651409" y="3205420"/>
            <a:ext cx="3801169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ispisuje n-torku: ('ATG', 'TTC')</a:t>
            </a:r>
            <a:endParaRPr sz="1200"/>
          </a:p>
        </p:txBody>
      </p:sp>
      <p:sp>
        <p:nvSpPr>
          <p:cNvPr id="39" name="Rectangle 38"/>
          <p:cNvSpPr/>
          <p:nvPr/>
        </p:nvSpPr>
        <p:spPr>
          <a:xfrm>
            <a:off x="7469485" y="3436441"/>
            <a:ext cx="3909715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kst 1x14.40"/>
          <p:cNvSpPr txBox="1"/>
          <p:nvPr/>
        </p:nvSpPr>
        <p:spPr>
          <a:xfrm>
            <a:off x="7560925" y="3205420"/>
            <a:ext cx="3801372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Arial"/>
              </a:rPr>
              <a:t>razdvaja razmakom: ATG TTC</a:t>
            </a:r>
            <a:endParaRPr sz="1200"/>
          </a:p>
        </p:txBody>
      </p:sp>
      <p:sp>
        <p:nvSpPr>
          <p:cNvPr id="41" name="Rectangle 40"/>
          <p:cNvSpPr/>
          <p:nvPr/>
        </p:nvSpPr>
        <p:spPr>
          <a:xfrm>
            <a:off x="812800" y="3727152"/>
            <a:ext cx="2747169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kst 1x14.40"/>
          <p:cNvSpPr txBox="1"/>
          <p:nvPr/>
        </p:nvSpPr>
        <p:spPr>
          <a:xfrm>
            <a:off x="904240" y="3496131"/>
            <a:ext cx="2615575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Redosled ključeva rečnika</a:t>
            </a:r>
            <a:endParaRPr sz="1200"/>
          </a:p>
        </p:txBody>
      </p:sp>
      <p:sp>
        <p:nvSpPr>
          <p:cNvPr id="43" name="Rectangle 42"/>
          <p:cNvSpPr/>
          <p:nvPr/>
        </p:nvSpPr>
        <p:spPr>
          <a:xfrm>
            <a:off x="3559969" y="3727152"/>
            <a:ext cx="3909516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kst 1x14.40"/>
          <p:cNvSpPr txBox="1"/>
          <p:nvPr/>
        </p:nvSpPr>
        <p:spPr>
          <a:xfrm>
            <a:off x="3651409" y="3496131"/>
            <a:ext cx="3801169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nije zagarantovan</a:t>
            </a:r>
            <a:endParaRPr sz="1200"/>
          </a:p>
        </p:txBody>
      </p:sp>
      <p:sp>
        <p:nvSpPr>
          <p:cNvPr id="45" name="Rectangle 44"/>
          <p:cNvSpPr/>
          <p:nvPr/>
        </p:nvSpPr>
        <p:spPr>
          <a:xfrm>
            <a:off x="7469485" y="3727152"/>
            <a:ext cx="3909715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kst 1x14.40"/>
          <p:cNvSpPr txBox="1"/>
          <p:nvPr/>
        </p:nvSpPr>
        <p:spPr>
          <a:xfrm>
            <a:off x="7560925" y="3496131"/>
            <a:ext cx="3801372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Arial"/>
              </a:rPr>
              <a:t>redosled dodavanja (od verzije 3.7)</a:t>
            </a:r>
            <a:endParaRPr sz="1200"/>
          </a:p>
        </p:txBody>
      </p:sp>
      <p:sp>
        <p:nvSpPr>
          <p:cNvPr id="47" name="Rectangle 46"/>
          <p:cNvSpPr/>
          <p:nvPr/>
        </p:nvSpPr>
        <p:spPr>
          <a:xfrm>
            <a:off x="812800" y="4017863"/>
            <a:ext cx="2747169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kst 1x14.40"/>
          <p:cNvSpPr txBox="1"/>
          <p:nvPr/>
        </p:nvSpPr>
        <p:spPr>
          <a:xfrm>
            <a:off x="904240" y="3786842"/>
            <a:ext cx="2615575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subprocess.check_output</a:t>
            </a:r>
            <a:endParaRPr sz="1200"/>
          </a:p>
        </p:txBody>
      </p:sp>
      <p:sp>
        <p:nvSpPr>
          <p:cNvPr id="49" name="Rectangle 48"/>
          <p:cNvSpPr/>
          <p:nvPr/>
        </p:nvSpPr>
        <p:spPr>
          <a:xfrm>
            <a:off x="3559969" y="4017863"/>
            <a:ext cx="3909516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kst 1x14.40"/>
          <p:cNvSpPr txBox="1"/>
          <p:nvPr/>
        </p:nvSpPr>
        <p:spPr>
          <a:xfrm>
            <a:off x="3651409" y="3786842"/>
            <a:ext cx="3801169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4F52"/>
                </a:solidFill>
                <a:latin typeface="Arial"/>
              </a:rPr>
              <a:t>vraća string</a:t>
            </a:r>
            <a:endParaRPr sz="1200"/>
          </a:p>
        </p:txBody>
      </p:sp>
      <p:sp>
        <p:nvSpPr>
          <p:cNvPr id="51" name="Rectangle 50"/>
          <p:cNvSpPr/>
          <p:nvPr/>
        </p:nvSpPr>
        <p:spPr>
          <a:xfrm>
            <a:off x="7469485" y="4017863"/>
            <a:ext cx="3909715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kst 1x14.40"/>
          <p:cNvSpPr txBox="1"/>
          <p:nvPr/>
        </p:nvSpPr>
        <p:spPr>
          <a:xfrm>
            <a:off x="7560925" y="3786842"/>
            <a:ext cx="3801372" cy="177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Arial"/>
              </a:rPr>
              <a:t>vraća bajtove; text=True daje string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za biologe – Lekcija 1: Uvod i radno okruženje</dc:title>
  <dc:subject>Prema knjizi Martina Jonesa: Python for Biologists</dc:subject>
  <dc:creator>Aleksandar Kartelj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