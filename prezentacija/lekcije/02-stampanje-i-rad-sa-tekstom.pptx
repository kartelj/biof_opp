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Zašto počinjemo tekstom, a ne brojevima? Biolozi rade sa sekvencama, a programi često moraju da razumeju izlaz drugih programa (parsiranje) ili da prave izlaz koji drugi alati razumeju. Terminologija: reč string koristimo za tekst u programu, a reč sekvenca za biološke DNK i proteinske sekvence.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Većina knjiga o programiranju počinje brojevima, jer je s njima malo operacija i primeri su jednostavni, a prosečan čitalac uglavnom računa. Biolozi rade sa tekstom: sekvencama, ali i izlazima drugih programa. Računar brojeve i tekst tretira različito; na to se vraćamo uskoro, kod tipova.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Konvencija na slajdovima, kao u knjizi: kod je u tamnom okviru, a ono što program ispiše (izlaz) u svetlom okviru sa isprekidanom ivicom. Ukucajte liniju u editor, sačuvajte fajl i pokrenite ga; dobićete jednu liniju izlaza. Knjiga razlikuje tri vrste zagrada: obične (), uglaste [] i vitičaste {}. Iza imena funkcije uvek idu obične zagrade, sa argumentima unutar njih.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 običnom pisanju navodnike koristimo kad neko nešto kaže; u Pythonu su stringovi uvek pod navodnicima, i tako Python zna šta je podatak, a šta instrukcija. Ako nam navodnici trebaju u samom tekstu, najlakše je string okružiti drugom vrstom navodnika. Alternativa je obrnuta kosa crta ispred navodnika (escape), kao u poslednjem primeru. Pri čitanju i pisanju koda sa navodnicima pazite da se početak i kraj stringa slažu.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Navika iz knjige: kratak komentar iznad svake linije koja radi nešto zanimljivo. Komentari nisu samo za druge; brzo zaboravimo zašto smo nešto napisali. Poruke o greškama su prikazane kako ih ispisuje Python 3; knjiga za treći slučaj navodi stariju poruku EOL while scanning string literal (EOL = kraj linije). Rešenje za ispis u dva reda je specijalni karakter \n, sledeći slajd.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Primer iz knjige: pogrešno napisano ime funkcije (prin umesto print) daje NameError, a poruka je prilično jasna: kaže tačno koju reč Python ne razume. Kod NameError Python ne pokazuje mesto u liniji, nego celu liniju. Kod SyntaxError (npr. zaboravljeni navodnici) Python ne razume kod jer krši pravila jezika. Izlaz se može malo razlikovati u zavisnosti od operativnog sistema i verzije Pythona.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Programski jezici, za razliku od prirodnih, imaju stroga pravila. Kad se pravilo prekrši, računar ne nagađa namere programera, nego staje i ispisuje poruku. Takve poruke viđaćete stalno, pa je dobro da se na njih naviknete što pre.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 ispisu promenljive ne pišemo navodnike: navodnici su deo zapisa stringa, već "ugrađeni" u vrednost. Imena promenljivih su proizvoljna: ta ideja se provlači kroz celu knjigu. Ne dajte se zavarati imenom kao my_file = "my_file.txt": ime promenljive i string su dve odvojene stvari. Iako je tehnički dozvoljeno koristiti my_dna i My_DNA kao različite promenljive, to vodi u zabunu.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Ideja da su imena proizvoljna provlači se kroz celu knjigu, pa je važno da je zapamtite. Dobro ime nagoveštava šta promenljiva sadrži; kroz primere u knjizi steći ćete osećaj za dobra i loša imena. Knjiga kaže da se ne smeju koristiti ugrađene reči poput print. Preciznije, u Pythonu 3 ključne reči (for, if, def…) zaista nisu dozvoljene, dok se ugrađene funkcije poput print mogu „prepisati”, što skoro uvek dovodi do grešaka. Iako je dozvoljeno imati my_dna, MY_DNA i My_Dna kao različite promenljive, to veoma zbunjuje.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 (skraćeno od length) prima jedan argument, kao print, ali se ponaša drugačije: umesto da ispiše tekst, vraća vrednost. Program sa samo len("ATGC") se izvrši, ali ne vidimo ništa. Da bismo vrednost iskoristili, čuvamo je u promenljivoj ili je odmah prosledimo drugoj funkciji.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len, kao i print, prima jedan argument, ali ništa ne ispisuje: vraća vrednost (povratnu vrednost) koju treba sačuvati ili iskoristiti. Formalno: str je funkcija koja prima jedan argument tipa broj i vraća vrednost tipa string koja ga predstavlja. Razumevanje tipova sprečava veliki deo frustracija početnika. U Pythonu 2 poruka glasi cannot concatenate 'str' and 'int' objects. Broj se može ispisati i direktno, print(dna_length), samo ne može da se spoji sa stringom bez str.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Knjiga daje formalni opis funkcije str, sa tehničkim pojmovima istaknutim kurzivom: funkcija, argument, tip, povratna vrednost. Ako neki od pojmova nije jasan, vratite se na prethodne slajdove; razumevanje tipova sprečava mnogo frustracija. Upotreba jednog alata unutar drugog je u Pythonu uobičajena. str zapravo prima vrednost bilo kog tipa, ne samo broj, ali to dolazi kasnije.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prima dva stringa i vraća kopiju u kojoj je svako pojavljivanje prvog zamenjeno drugim. Metod koji pripada stringovima ne postoji za brojeve: my_number.lower() daje AttributeError: 'int' object has no attribute 'lower'. To je još jedan primer zašto su tipovi važni. Moćnije alate za zamenu upoznaćemo u poglavlju 7 (regularni izrazi).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Metod je kao funkcija, ali ne pripada jeziku uopšte, nego određenom tipu. lower pripada stringovima; poziva se tako što posle promenljive pišemo tačku, ime metoda i zagrade (ovde prazne, jer nema argumenata). lower ne menja promenljivu, nego vraća kopiju malim slovima, što ispis pre i posle dokazuje. Postoji i upper, koji pravi velika slova. Poruka AttributeError je pomalo kriptična, ali smisao je jasan: celi broj nema atribut lower.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Uzimanje dela stringa zove se podstring (substring). Brojanje od nule u početku deluje nezgodno, ali kasnije se vidi zašto je praktično. Ista notacija sa uglastim zagradama radi i za liste (poglavlje 4). Pitanje kako podeliti sekvencu na više delova rešavamo u poglavlju 4 (split, petlje).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Brojanje motiva u sekvenci je jedan od najčešćih zadataka u biologiji; u programerskim terminima to je brojanje pojavljivanja podstringa u stringu. U knjizi se brojevi pretvaraju sa str pre ispisa, jer se spajaju sa tekstom; ovde ih ispisujemo direktno. Napomena: knjiga u ovom primeru greškom ispisuje „leucines” za brojanje podstringa lsp.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Postavka vežbe: ispisati AT sadržaj zadate DNK sekvence. Formula je (A + T) / dužina, pa trebaju tri broja: dužina (len), broj A i broj T (count). Umesto da odmah računamo, prvo ispisujemo međurezultate i proveravamo ih. Ključna ideja iz knjige: ostanite na kratkoj test sekvenci dok ceo program ne bude napisan i proveren, jer bismo inače dobili odgovor za koji ne znamo da li je tačan. Napomena: brojeve pretvaramo sa str da bismo ih spojili sa tekstom.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Postupak iz rešenja u knjizi: ne računati odmah, nego prvo ispisati međurezultate (dužinu, broj A, broj T) i proveriti ih na kratkoj test sekvenci čiji rezultat lako izračunamo napamet. Tek kad test prođe, kod puštamo na pravu sekvencu. Aritmetika u Pythonu koristi uobičajene simbole + - * / i zagrade. U Pythonu 2 deljenje dva cela broja daje ceo broj, pa je potreban from __future__ import division.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Ulaz je ista sekvenca kao u primeru za AT sadržaj. Kako se dolazi do greške: ispisati sve međurezultate (replacement1 do replacement4) i videti posle kog koraka rezultat postaje pogrešan. To je opšta tehnika traženja grešaka. Jedno rešenje su privremeni znakovi (npr. H, J, K, L), ali je trik sa malim slovima kraći: posle zamena svi karakteri su mala slova, pa upper() daje komplement.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Prva zamena radi ispravno: prvi znak je u originalu A, a posle zamene T. Druga zamena menja sva T u A, uključujući i ona koja su upravo nastala od A, pa se prvi znak vraća u A. Isto se dešava sa C i G, pa na kraju ostaju samo A i C. Ispisivanje svih međukoraka je opšta tehnika traženja grešaka: vidimo tačno posle kog koraka rezultat postaje pogrešan.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Prvo rešenje koristi privremenu „azbuku” od četiri slova: A prvo postaje H, a tek kasnije H postaje T, pa se zamene ne mešaju. Drugo rešenje je elegantnije: koristi to što replace razlikuje velika i mala slova. Desno je izlaz programa koji posle svake od četiri zamene ispisuje međurezultat, a na kraju i rezultat velikim slovima (prikazano je prvih 36 baza). Oba rešenja daju TGACTAGCTAATGCATATCATAAACGATAGTATGTATATATAGCTACGCAAGTA.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Postupak iz knjige: prvo rešiti ručno, pa pretočiti logiku u program. find daje početak motiva GAATTC (indeks 21); pošto enzim seče posle G, a brojanje kreće od nule, prvi fragment ima find + 1 baza. Drugi fragment je ostatak sekvence. Za drugi enzim morali bismo da promenimo i motiv i broj koji dodajemo, zavisno od mesta sečenja. Program podrazumeva da sekvenca sadrži mesto sečenja; ako ga nema, rezultat nije baš pogrešan, ali zavarava.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Program radi posao spliceozoma: deli sekvencu na tri dela i spaja spoljna dva (kao konceptualni model). Broj 10000 je namerno prevelik: kraj iza kraja stringa znači „do kraja”, pa ne moramo da računamo dužinu. Napomena uz knjigu: u rešenju knjiga koristi my_dna[0:62] i intron [62:90], čime 63. baza završava u intronu. Pošto egzon ide do 63. baze uključno, ispravno je [0:63], a intron je [63:90]. Na ostalim slajdovima koristimo ispravljene granice, pa se procenat razlikuje od knjige (78.0 umesto 77.2).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Vežba traži procenat, a prvi rezultat je udeo (broj između 0 i 1), pa ga množimo sa 100. Mogli smo i da izračunamo dužinu kodirajućeg dela iz koordinata egzona, ali pošto već imamo kod koji pravi kodirajuću sekvencu, jednostavnije je izmeriti njenu dužinu. U Pythonu 2 bez from __future__ import division deljenje dva cela broja dalo bi 0. Knjiga, sa granicom [0:62], dobija 77.23577235772358.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Treći deo vežbe zvuči teško, ali je težak deo već urađen: izdvajamo i intron, pretvaramo ga u mala slova i spajamo sva tri dela, čime dobijamo originalnu genomsku sekvencu sa egzonima velikim i intronom malim slovima. Kada na tekst primenjujemo više transformacija, obično postoji više načina da se program napiše; poslednji je najkraći, ali i najteže čitljiv. Kako vežbe postaju duže, vaša rešenja mogu izgledati vrlo drugačije od rešenja u knjizi, i to je u redu.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Zadaci su namerno kratko i pomalo neodređeno formulisani, kao zahtevi u stvarnom programiranju. Savet iz knjige: prvo pokušajte sami, pa onda pročitajte rešenje, jer rešenja pokazuju postupak razmišljanja i ponekad pristup koji nije očigledan. Kod introna pazite na dve stvari: brojanje kreće od nule, a kraj isečka nije uključen. Zbog toga se pozicije iz postavke ne prepisuju direktno u uglaste zagrade.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6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64770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6FD3C1"/>
                </a:solidFill>
                <a:latin typeface="Arial"/>
              </a:rPr>
              <a:t>POGLAVLJE 2 OD 9</a:t>
            </a:r>
            <a:endParaRPr sz="1200"/>
          </a:p>
        </p:txBody>
      </p:sp>
      <p:sp>
        <p:nvSpPr>
          <p:cNvPr id="3" name="Tekst 1x100.00"/>
          <p:cNvSpPr txBox="1"/>
          <p:nvPr/>
        </p:nvSpPr>
        <p:spPr>
          <a:xfrm>
            <a:off x="812800" y="3137098"/>
            <a:ext cx="10777728" cy="1270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0000"/>
              </a:lnSpc>
              <a:spcBef>
                <a:spcPts val="0"/>
              </a:spcBef>
              <a:spcAft>
                <a:spcPts val="0"/>
              </a:spcAft>
            </a:pPr>
            <a:r>
              <a:rPr sz="10000" b="1" i="0">
                <a:solidFill>
                  <a:srgbClr val="F0A35E"/>
                </a:solidFill>
                <a:latin typeface="Consolas"/>
              </a:rPr>
              <a:t>02</a:t>
            </a:r>
            <a:endParaRPr sz="10000"/>
          </a:p>
        </p:txBody>
      </p:sp>
      <p:sp>
        <p:nvSpPr>
          <p:cNvPr id="4" name="Tekst 1x54.60"/>
          <p:cNvSpPr txBox="1"/>
          <p:nvPr/>
        </p:nvSpPr>
        <p:spPr>
          <a:xfrm>
            <a:off x="812800" y="4559498"/>
            <a:ext cx="10777728" cy="6933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6F4EE"/>
                </a:solidFill>
                <a:latin typeface="Arial"/>
              </a:rPr>
              <a:t>Štampanje i rad sa tekstom</a:t>
            </a:r>
            <a:endParaRPr sz="5200"/>
          </a:p>
        </p:txBody>
      </p:sp>
      <p:sp>
        <p:nvSpPr>
          <p:cNvPr id="5" name="Tekst 2x25.20"/>
          <p:cNvSpPr txBox="1"/>
          <p:nvPr/>
        </p:nvSpPr>
        <p:spPr>
          <a:xfrm>
            <a:off x="812800" y="5405239"/>
            <a:ext cx="10777728" cy="6399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BFD3CD"/>
                </a:solidFill>
                <a:latin typeface="Arial"/>
              </a:rPr>
              <a:t>Biološki podaci su tekst: DNK i proteinske sekvence u programu čuvamo kao stringove, nizove karaktera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Zašto počinjemo tekstom, a ne brojevima?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14401"/>
            <a:ext cx="59690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1x33.60"/>
          <p:cNvSpPr txBox="1"/>
          <p:nvPr/>
        </p:nvSpPr>
        <p:spPr>
          <a:xfrm>
            <a:off x="825500" y="1796951"/>
            <a:ext cx="58420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A</a:t>
            </a:r>
            <a:endParaRPr sz="2800"/>
          </a:p>
        </p:txBody>
      </p:sp>
      <p:sp>
        <p:nvSpPr>
          <p:cNvPr id="6" name="Rounded Rectangle 5"/>
          <p:cNvSpPr/>
          <p:nvPr/>
        </p:nvSpPr>
        <p:spPr>
          <a:xfrm>
            <a:off x="1504950" y="1714401"/>
            <a:ext cx="59690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1x33.60"/>
          <p:cNvSpPr txBox="1"/>
          <p:nvPr/>
        </p:nvSpPr>
        <p:spPr>
          <a:xfrm>
            <a:off x="1511300" y="1796951"/>
            <a:ext cx="58420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T</a:t>
            </a:r>
            <a:endParaRPr sz="2800"/>
          </a:p>
        </p:txBody>
      </p:sp>
      <p:sp>
        <p:nvSpPr>
          <p:cNvPr id="8" name="Rounded Rectangle 7"/>
          <p:cNvSpPr/>
          <p:nvPr/>
        </p:nvSpPr>
        <p:spPr>
          <a:xfrm>
            <a:off x="2190750" y="1714401"/>
            <a:ext cx="59690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kst 1x33.60"/>
          <p:cNvSpPr txBox="1"/>
          <p:nvPr/>
        </p:nvSpPr>
        <p:spPr>
          <a:xfrm>
            <a:off x="2197100" y="1796951"/>
            <a:ext cx="58420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G</a:t>
            </a:r>
            <a:endParaRPr sz="2800"/>
          </a:p>
        </p:txBody>
      </p:sp>
      <p:sp>
        <p:nvSpPr>
          <p:cNvPr id="10" name="Rounded Rectangle 9"/>
          <p:cNvSpPr/>
          <p:nvPr/>
        </p:nvSpPr>
        <p:spPr>
          <a:xfrm>
            <a:off x="2876550" y="1714401"/>
            <a:ext cx="59690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kst 1x33.60"/>
          <p:cNvSpPr txBox="1"/>
          <p:nvPr/>
        </p:nvSpPr>
        <p:spPr>
          <a:xfrm>
            <a:off x="2882900" y="1796951"/>
            <a:ext cx="58420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C</a:t>
            </a:r>
            <a:endParaRPr sz="2800"/>
          </a:p>
        </p:txBody>
      </p:sp>
      <p:sp>
        <p:nvSpPr>
          <p:cNvPr id="12" name="Rounded Rectangle 11"/>
          <p:cNvSpPr/>
          <p:nvPr/>
        </p:nvSpPr>
        <p:spPr>
          <a:xfrm>
            <a:off x="3562350" y="1714401"/>
            <a:ext cx="59690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kst 1x33.60"/>
          <p:cNvSpPr txBox="1"/>
          <p:nvPr/>
        </p:nvSpPr>
        <p:spPr>
          <a:xfrm>
            <a:off x="3568700" y="1796951"/>
            <a:ext cx="58420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G</a:t>
            </a:r>
            <a:endParaRPr sz="2800"/>
          </a:p>
        </p:txBody>
      </p:sp>
      <p:sp>
        <p:nvSpPr>
          <p:cNvPr id="14" name="Rounded Rectangle 13"/>
          <p:cNvSpPr/>
          <p:nvPr/>
        </p:nvSpPr>
        <p:spPr>
          <a:xfrm>
            <a:off x="4248150" y="1714401"/>
            <a:ext cx="59690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kst 1x33.60"/>
          <p:cNvSpPr txBox="1"/>
          <p:nvPr/>
        </p:nvSpPr>
        <p:spPr>
          <a:xfrm>
            <a:off x="4254500" y="1796951"/>
            <a:ext cx="58420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T</a:t>
            </a:r>
            <a:endParaRPr sz="2800"/>
          </a:p>
        </p:txBody>
      </p:sp>
      <p:sp>
        <p:nvSpPr>
          <p:cNvPr id="16" name="Rounded Rectangle 15"/>
          <p:cNvSpPr/>
          <p:nvPr/>
        </p:nvSpPr>
        <p:spPr>
          <a:xfrm>
            <a:off x="4933950" y="1714401"/>
            <a:ext cx="59690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kst 1x33.60"/>
          <p:cNvSpPr txBox="1"/>
          <p:nvPr/>
        </p:nvSpPr>
        <p:spPr>
          <a:xfrm>
            <a:off x="4940300" y="1796951"/>
            <a:ext cx="58420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A</a:t>
            </a:r>
            <a:endParaRPr sz="2800"/>
          </a:p>
        </p:txBody>
      </p:sp>
      <p:sp>
        <p:nvSpPr>
          <p:cNvPr id="18" name="Tekst 2x24.30"/>
          <p:cNvSpPr txBox="1"/>
          <p:nvPr/>
        </p:nvSpPr>
        <p:spPr>
          <a:xfrm>
            <a:off x="5842000" y="1701701"/>
            <a:ext cx="5647944" cy="6171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43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3262B"/>
                </a:solidFill>
                <a:latin typeface="Arial"/>
              </a:rPr>
              <a:t>String je niz karaktera. U kodu kažemo </a:t>
            </a:r>
            <a:r>
              <a:rPr sz="1800" b="0" i="0">
                <a:solidFill>
                  <a:srgbClr val="A8521A"/>
                </a:solidFill>
                <a:latin typeface="Arial"/>
              </a:rPr>
              <a:t>string</a:t>
            </a:r>
            <a:r>
              <a:rPr sz="1800" b="0" i="0">
                <a:solidFill>
                  <a:srgbClr val="13262B"/>
                </a:solidFill>
                <a:latin typeface="Arial"/>
              </a:rPr>
              <a:t>, a za DNK i proteine </a:t>
            </a:r>
            <a:r>
              <a:rPr sz="1800" b="0" i="0">
                <a:solidFill>
                  <a:srgbClr val="A8521A"/>
                </a:solidFill>
                <a:latin typeface="Arial"/>
              </a:rPr>
              <a:t>sekvenca</a:t>
            </a:r>
            <a:r>
              <a:rPr sz="1800" b="0" i="0">
                <a:solidFill>
                  <a:srgbClr val="13262B"/>
                </a:solidFill>
                <a:latin typeface="Arial"/>
              </a:rPr>
              <a:t>.</a:t>
            </a:r>
            <a:endParaRPr sz="1800"/>
          </a:p>
        </p:txBody>
      </p:sp>
      <p:sp>
        <p:nvSpPr>
          <p:cNvPr id="19" name="Rounded Rectangle 18"/>
          <p:cNvSpPr/>
          <p:nvPr/>
        </p:nvSpPr>
        <p:spPr>
          <a:xfrm>
            <a:off x="815975" y="2576016"/>
            <a:ext cx="3380284" cy="1227931"/>
          </a:xfrm>
          <a:prstGeom prst="roundRect">
            <a:avLst>
              <a:gd name="adj" fmla="val 8274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kst 1x21.60"/>
          <p:cNvSpPr txBox="1"/>
          <p:nvPr/>
        </p:nvSpPr>
        <p:spPr>
          <a:xfrm>
            <a:off x="1022350" y="2756991"/>
            <a:ext cx="3026884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Sekvence</a:t>
            </a:r>
            <a:endParaRPr sz="1800"/>
          </a:p>
        </p:txBody>
      </p:sp>
      <p:sp>
        <p:nvSpPr>
          <p:cNvPr id="21" name="Tekst 2x20.30"/>
          <p:cNvSpPr txBox="1"/>
          <p:nvPr/>
        </p:nvSpPr>
        <p:spPr>
          <a:xfrm>
            <a:off x="1022350" y="3107432"/>
            <a:ext cx="3026884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DNK i proteinske sekvence su nizovi slova, dakle tekst.</a:t>
            </a:r>
            <a:endParaRPr sz="1400"/>
          </a:p>
        </p:txBody>
      </p:sp>
      <p:sp>
        <p:nvSpPr>
          <p:cNvPr id="22" name="Rounded Rectangle 21"/>
          <p:cNvSpPr/>
          <p:nvPr/>
        </p:nvSpPr>
        <p:spPr>
          <a:xfrm>
            <a:off x="4405809" y="2576016"/>
            <a:ext cx="3380383" cy="1227931"/>
          </a:xfrm>
          <a:prstGeom prst="roundRect">
            <a:avLst>
              <a:gd name="adj" fmla="val 8274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kst 1x21.60"/>
          <p:cNvSpPr txBox="1"/>
          <p:nvPr/>
        </p:nvSpPr>
        <p:spPr>
          <a:xfrm>
            <a:off x="4612184" y="2756991"/>
            <a:ext cx="3026985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Parsiranje</a:t>
            </a:r>
            <a:endParaRPr sz="1800"/>
          </a:p>
        </p:txBody>
      </p:sp>
      <p:sp>
        <p:nvSpPr>
          <p:cNvPr id="24" name="Tekst 2x20.30"/>
          <p:cNvSpPr txBox="1"/>
          <p:nvPr/>
        </p:nvSpPr>
        <p:spPr>
          <a:xfrm>
            <a:off x="4612184" y="3107432"/>
            <a:ext cx="3026985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U lancu alata (pipeline) naš program čita izlaz drugih programa.</a:t>
            </a:r>
            <a:endParaRPr sz="1400"/>
          </a:p>
        </p:txBody>
      </p:sp>
      <p:sp>
        <p:nvSpPr>
          <p:cNvPr id="25" name="Rounded Rectangle 24"/>
          <p:cNvSpPr/>
          <p:nvPr/>
        </p:nvSpPr>
        <p:spPr>
          <a:xfrm>
            <a:off x="7995741" y="2576016"/>
            <a:ext cx="3380284" cy="1227931"/>
          </a:xfrm>
          <a:prstGeom prst="roundRect">
            <a:avLst>
              <a:gd name="adj" fmla="val 8274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kst 1x21.60"/>
          <p:cNvSpPr txBox="1"/>
          <p:nvPr/>
        </p:nvSpPr>
        <p:spPr>
          <a:xfrm>
            <a:off x="8202116" y="2756991"/>
            <a:ext cx="3026884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Izlaz za druge</a:t>
            </a:r>
            <a:endParaRPr sz="1800"/>
          </a:p>
        </p:txBody>
      </p:sp>
      <p:sp>
        <p:nvSpPr>
          <p:cNvPr id="27" name="Tekst 2x20.30"/>
          <p:cNvSpPr txBox="1"/>
          <p:nvPr/>
        </p:nvSpPr>
        <p:spPr>
          <a:xfrm>
            <a:off x="8202116" y="3107432"/>
            <a:ext cx="3026884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I pravi izlaz u formatu koji sledeći program razume.</a:t>
            </a:r>
            <a:endParaRPr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Prva naredba: print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2800" y="1701701"/>
            <a:ext cx="10566400" cy="954980"/>
          </a:xfrm>
          <a:prstGeom prst="roundRect">
            <a:avLst>
              <a:gd name="adj" fmla="val 10638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1x43.20"/>
          <p:cNvSpPr txBox="1"/>
          <p:nvPr/>
        </p:nvSpPr>
        <p:spPr>
          <a:xfrm>
            <a:off x="3582194" y="1904901"/>
            <a:ext cx="5128165" cy="54858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4320"/>
              </a:lnSpc>
              <a:spcBef>
                <a:spcPts val="0"/>
              </a:spcBef>
              <a:spcAft>
                <a:spcPts val="0"/>
              </a:spcAft>
            </a:pPr>
            <a:r>
              <a:rPr sz="3600" b="0" i="0">
                <a:solidFill>
                  <a:srgbClr val="6FD3C1"/>
                </a:solidFill>
                <a:latin typeface="Consolas"/>
              </a:rPr>
              <a:t>print</a:t>
            </a:r>
            <a:r>
              <a:rPr sz="3600" b="0" i="0">
                <a:solidFill>
                  <a:srgbClr val="E8EEE9"/>
                </a:solidFill>
                <a:latin typeface="Consolas"/>
              </a:rPr>
              <a:t>(</a:t>
            </a:r>
            <a:r>
              <a:rPr sz="3600" b="0" i="0">
                <a:solidFill>
                  <a:srgbClr val="F0A35E"/>
                </a:solidFill>
                <a:latin typeface="Consolas"/>
              </a:rPr>
              <a:t>"Hello world"</a:t>
            </a:r>
            <a:r>
              <a:rPr sz="3600" b="0" i="0">
                <a:solidFill>
                  <a:srgbClr val="E8EEE9"/>
                </a:solidFill>
                <a:latin typeface="Consolas"/>
              </a:rPr>
              <a:t>)</a:t>
            </a:r>
            <a:endParaRPr sz="3600"/>
          </a:p>
        </p:txBody>
      </p:sp>
      <p:sp>
        <p:nvSpPr>
          <p:cNvPr id="6" name="Rounded Rectangle 5"/>
          <p:cNvSpPr/>
          <p:nvPr/>
        </p:nvSpPr>
        <p:spPr>
          <a:xfrm>
            <a:off x="812800" y="2910681"/>
            <a:ext cx="3420467" cy="1183481"/>
          </a:xfrm>
          <a:prstGeom prst="roundRect">
            <a:avLst>
              <a:gd name="adj" fmla="val 6438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2800" y="2910681"/>
            <a:ext cx="3420467" cy="38100"/>
          </a:xfrm>
          <a:prstGeom prst="rect">
            <a:avLst/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kst 1x21.60"/>
          <p:cNvSpPr txBox="1"/>
          <p:nvPr/>
        </p:nvSpPr>
        <p:spPr>
          <a:xfrm>
            <a:off x="1016000" y="3101181"/>
            <a:ext cx="3074349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Naredba</a:t>
            </a:r>
            <a:endParaRPr sz="1800"/>
          </a:p>
        </p:txBody>
      </p:sp>
      <p:sp>
        <p:nvSpPr>
          <p:cNvPr id="9" name="Tekst 2x20.30"/>
          <p:cNvSpPr txBox="1"/>
          <p:nvPr/>
        </p:nvSpPr>
        <p:spPr>
          <a:xfrm>
            <a:off x="1016000" y="3426222"/>
            <a:ext cx="3074349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Cela linija je jedna naredba (statement).</a:t>
            </a:r>
            <a:endParaRPr sz="1400"/>
          </a:p>
        </p:txBody>
      </p:sp>
      <p:sp>
        <p:nvSpPr>
          <p:cNvPr id="10" name="Rounded Rectangle 9"/>
          <p:cNvSpPr/>
          <p:nvPr/>
        </p:nvSpPr>
        <p:spPr>
          <a:xfrm>
            <a:off x="4385667" y="2910681"/>
            <a:ext cx="3420566" cy="1183481"/>
          </a:xfrm>
          <a:prstGeom prst="roundRect">
            <a:avLst>
              <a:gd name="adj" fmla="val 6438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5667" y="2910681"/>
            <a:ext cx="3420566" cy="38100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kst 1x21.60"/>
          <p:cNvSpPr txBox="1"/>
          <p:nvPr/>
        </p:nvSpPr>
        <p:spPr>
          <a:xfrm>
            <a:off x="4588867" y="3101181"/>
            <a:ext cx="307445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Funkcija: print</a:t>
            </a:r>
            <a:endParaRPr sz="1800"/>
          </a:p>
        </p:txBody>
      </p:sp>
      <p:sp>
        <p:nvSpPr>
          <p:cNvPr id="13" name="Tekst 2x20.30"/>
          <p:cNvSpPr txBox="1"/>
          <p:nvPr/>
        </p:nvSpPr>
        <p:spPr>
          <a:xfrm>
            <a:off x="4588867" y="3426222"/>
            <a:ext cx="3074450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Kaže šta radimo. Iza imena uvek idu zagrade.</a:t>
            </a:r>
            <a:endParaRPr sz="1400"/>
          </a:p>
        </p:txBody>
      </p:sp>
      <p:sp>
        <p:nvSpPr>
          <p:cNvPr id="14" name="Rounded Rectangle 13"/>
          <p:cNvSpPr/>
          <p:nvPr/>
        </p:nvSpPr>
        <p:spPr>
          <a:xfrm>
            <a:off x="7958634" y="2910681"/>
            <a:ext cx="3420566" cy="1183481"/>
          </a:xfrm>
          <a:prstGeom prst="roundRect">
            <a:avLst>
              <a:gd name="adj" fmla="val 6438"/>
            </a:avLst>
          </a:prstGeom>
          <a:solidFill>
            <a:srgbClr val="FC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8634" y="2910681"/>
            <a:ext cx="3420566" cy="38100"/>
          </a:xfrm>
          <a:prstGeom prst="rect">
            <a:avLst/>
          </a:prstGeom>
          <a:solidFill>
            <a:srgbClr val="F0A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kst 1x21.60"/>
          <p:cNvSpPr txBox="1"/>
          <p:nvPr/>
        </p:nvSpPr>
        <p:spPr>
          <a:xfrm>
            <a:off x="8161834" y="3101181"/>
            <a:ext cx="307445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Argument</a:t>
            </a:r>
            <a:endParaRPr sz="1800"/>
          </a:p>
        </p:txBody>
      </p:sp>
      <p:sp>
        <p:nvSpPr>
          <p:cNvPr id="17" name="Tekst 1x20.30"/>
          <p:cNvSpPr txBox="1"/>
          <p:nvPr/>
        </p:nvSpPr>
        <p:spPr>
          <a:xfrm>
            <a:off x="8161834" y="3426222"/>
            <a:ext cx="307445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Kaže tačno šta: tekst koji se ispisuje.</a:t>
            </a:r>
            <a:endParaRPr sz="1400"/>
          </a:p>
        </p:txBody>
      </p:sp>
      <p:sp>
        <p:nvSpPr>
          <p:cNvPr id="18" name="Rounded Rectangle 17"/>
          <p:cNvSpPr/>
          <p:nvPr/>
        </p:nvSpPr>
        <p:spPr>
          <a:xfrm>
            <a:off x="819150" y="4354512"/>
            <a:ext cx="3035300" cy="807641"/>
          </a:xfrm>
          <a:prstGeom prst="roundRect">
            <a:avLst>
              <a:gd name="adj" fmla="val 12579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kst 1x16.80"/>
          <p:cNvSpPr txBox="1"/>
          <p:nvPr/>
        </p:nvSpPr>
        <p:spPr>
          <a:xfrm>
            <a:off x="2806700" y="4411662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20" name="Tekst 1x20.15"/>
          <p:cNvSpPr txBox="1"/>
          <p:nvPr/>
        </p:nvSpPr>
        <p:spPr>
          <a:xfrm>
            <a:off x="1079500" y="4630341"/>
            <a:ext cx="2564892" cy="2558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Hello world</a:t>
            </a:r>
            <a:endParaRPr sz="1300"/>
          </a:p>
        </p:txBody>
      </p:sp>
      <p:sp>
        <p:nvSpPr>
          <p:cNvPr id="21" name="Rounded Rectangle 20"/>
          <p:cNvSpPr/>
          <p:nvPr/>
        </p:nvSpPr>
        <p:spPr>
          <a:xfrm>
            <a:off x="4064000" y="4348162"/>
            <a:ext cx="7315200" cy="820341"/>
          </a:xfrm>
          <a:prstGeom prst="roundRect">
            <a:avLst>
              <a:gd name="adj" fmla="val 9288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64000" y="4348162"/>
            <a:ext cx="38100" cy="820341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kst 2x20.30"/>
          <p:cNvSpPr txBox="1"/>
          <p:nvPr/>
        </p:nvSpPr>
        <p:spPr>
          <a:xfrm>
            <a:off x="4305300" y="4500562"/>
            <a:ext cx="6992620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„Štampanje” u programiranju znači ispis teksta na ekran, u terminal, a ne štampanje na papiru. Više argumenata se razdvaja zarezima.</a:t>
            </a:r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Navodnici su bitni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3425527" cy="2159496"/>
          </a:xfrm>
          <a:prstGeom prst="roundRect">
            <a:avLst>
              <a:gd name="adj" fmla="val 4704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7x20.15"/>
          <p:cNvSpPr txBox="1"/>
          <p:nvPr/>
        </p:nvSpPr>
        <p:spPr>
          <a:xfrm>
            <a:off x="1079500" y="1892201"/>
            <a:ext cx="2962924" cy="17911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"Hello world"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'Hello world'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navodnici unutar stringa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"She said, 'Hello world'"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'He said, "Hello world"'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ili obrnuta kosa crta (escape)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'It\'s a gene'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4358977" y="1708051"/>
            <a:ext cx="2608560" cy="2159496"/>
          </a:xfrm>
          <a:prstGeom prst="roundRect">
            <a:avLst>
              <a:gd name="adj" fmla="val 4704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1x16.80"/>
          <p:cNvSpPr txBox="1"/>
          <p:nvPr/>
        </p:nvSpPr>
        <p:spPr>
          <a:xfrm>
            <a:off x="5919788" y="1765201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8" name="Tekst 7x20.15"/>
          <p:cNvSpPr txBox="1"/>
          <p:nvPr/>
        </p:nvSpPr>
        <p:spPr>
          <a:xfrm>
            <a:off x="4619327" y="1892201"/>
            <a:ext cx="2129617" cy="17911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Hello world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Hello world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She said, 'Hello world'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He said, "Hello world"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It's a gene</a:t>
            </a:r>
            <a:endParaRPr sz="1300"/>
          </a:p>
        </p:txBody>
      </p:sp>
      <p:sp>
        <p:nvSpPr>
          <p:cNvPr id="9" name="Rounded Rectangle 8"/>
          <p:cNvSpPr/>
          <p:nvPr/>
        </p:nvSpPr>
        <p:spPr>
          <a:xfrm>
            <a:off x="7075488" y="1701701"/>
            <a:ext cx="4303712" cy="562570"/>
          </a:xfrm>
          <a:prstGeom prst="roundRect">
            <a:avLst>
              <a:gd name="adj" fmla="val 13544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075488" y="1701701"/>
            <a:ext cx="38100" cy="562570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kst 1x20.30"/>
          <p:cNvSpPr txBox="1"/>
          <p:nvPr/>
        </p:nvSpPr>
        <p:spPr>
          <a:xfrm>
            <a:off x="7291388" y="1854101"/>
            <a:ext cx="3988213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Navodnici nisu deo stringa: u izlazu ih nema.</a:t>
            </a:r>
            <a:endParaRPr sz="1400"/>
          </a:p>
        </p:txBody>
      </p:sp>
      <p:sp>
        <p:nvSpPr>
          <p:cNvPr id="12" name="Rounded Rectangle 11"/>
          <p:cNvSpPr/>
          <p:nvPr/>
        </p:nvSpPr>
        <p:spPr>
          <a:xfrm>
            <a:off x="815975" y="4131072"/>
            <a:ext cx="3414117" cy="826691"/>
          </a:xfrm>
          <a:prstGeom prst="roundRect">
            <a:avLst>
              <a:gd name="adj" fmla="val 12289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kst 2x20.30"/>
          <p:cNvSpPr txBox="1"/>
          <p:nvPr/>
        </p:nvSpPr>
        <p:spPr>
          <a:xfrm>
            <a:off x="996950" y="4286647"/>
            <a:ext cx="3113211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Navodnici odvajaju podatke od instrukcija, npr. od imena funkcije.</a:t>
            </a:r>
            <a:endParaRPr sz="1400"/>
          </a:p>
        </p:txBody>
      </p:sp>
      <p:sp>
        <p:nvSpPr>
          <p:cNvPr id="14" name="Rounded Rectangle 13"/>
          <p:cNvSpPr/>
          <p:nvPr/>
        </p:nvSpPr>
        <p:spPr>
          <a:xfrm>
            <a:off x="4388842" y="4131072"/>
            <a:ext cx="3414216" cy="826691"/>
          </a:xfrm>
          <a:prstGeom prst="roundRect">
            <a:avLst>
              <a:gd name="adj" fmla="val 12289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kst 2x20.30"/>
          <p:cNvSpPr txBox="1"/>
          <p:nvPr/>
        </p:nvSpPr>
        <p:spPr>
          <a:xfrm>
            <a:off x="4569817" y="4286647"/>
            <a:ext cx="3113312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Jednostruki i dvostruki navodnici su potpuno ravnopravni.</a:t>
            </a:r>
            <a:endParaRPr sz="1400"/>
          </a:p>
        </p:txBody>
      </p:sp>
      <p:sp>
        <p:nvSpPr>
          <p:cNvPr id="16" name="Rounded Rectangle 15"/>
          <p:cNvSpPr/>
          <p:nvPr/>
        </p:nvSpPr>
        <p:spPr>
          <a:xfrm>
            <a:off x="7961809" y="4131072"/>
            <a:ext cx="3414216" cy="826691"/>
          </a:xfrm>
          <a:prstGeom prst="roundRect">
            <a:avLst>
              <a:gd name="adj" fmla="val 12289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kst 2x20.30"/>
          <p:cNvSpPr txBox="1"/>
          <p:nvPr/>
        </p:nvSpPr>
        <p:spPr>
          <a:xfrm>
            <a:off x="8142784" y="4286647"/>
            <a:ext cx="3113312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Početni i krajnji navodnik moraju da se slože.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Komentari i poruke o greškama</a:t>
            </a:r>
            <a:endParaRPr sz="3200"/>
          </a:p>
        </p:txBody>
      </p:sp>
      <p:sp>
        <p:nvSpPr>
          <p:cNvPr id="4" name="Tekst 1x21.60"/>
          <p:cNvSpPr txBox="1"/>
          <p:nvPr/>
        </p:nvSpPr>
        <p:spPr>
          <a:xfrm>
            <a:off x="812800" y="1701701"/>
            <a:ext cx="388620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Komentari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819150" y="2083891"/>
            <a:ext cx="3797300" cy="880070"/>
          </a:xfrm>
          <a:prstGeom prst="roundRect">
            <a:avLst>
              <a:gd name="adj" fmla="val 11544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kst 2x20.15"/>
          <p:cNvSpPr txBox="1"/>
          <p:nvPr/>
        </p:nvSpPr>
        <p:spPr>
          <a:xfrm>
            <a:off x="1079500" y="2268041"/>
            <a:ext cx="3342132" cy="5117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B3AA"/>
                </a:solidFill>
                <a:latin typeface="Consolas"/>
              </a:rPr>
              <a:t># odštampaj prijateljski pozdrav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"Hello world"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endParaRPr sz="1300"/>
          </a:p>
        </p:txBody>
      </p:sp>
      <p:sp>
        <p:nvSpPr>
          <p:cNvPr id="7" name="Tekst 4x20.30"/>
          <p:cNvSpPr txBox="1"/>
          <p:nvPr/>
        </p:nvSpPr>
        <p:spPr>
          <a:xfrm>
            <a:off x="812800" y="3071912"/>
            <a:ext cx="3886200" cy="10310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Sve od znaka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#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do kraja linije Python ignoriše. Komentar je dokumentacija koja se ne odvaja od koda i podsetnik za vas same kad se vratite kodu posle vikenda.</a:t>
            </a:r>
            <a:endParaRPr sz="1400"/>
          </a:p>
        </p:txBody>
      </p:sp>
      <p:sp>
        <p:nvSpPr>
          <p:cNvPr id="8" name="Tekst 1x21.60"/>
          <p:cNvSpPr txBox="1"/>
          <p:nvPr/>
        </p:nvSpPr>
        <p:spPr>
          <a:xfrm>
            <a:off x="4978400" y="1701701"/>
            <a:ext cx="652881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Tri česte greške</a:t>
            </a:r>
            <a:endParaRPr sz="1800"/>
          </a:p>
        </p:txBody>
      </p:sp>
      <p:sp>
        <p:nvSpPr>
          <p:cNvPr id="9" name="Rounded Rectangle 8"/>
          <p:cNvSpPr/>
          <p:nvPr/>
        </p:nvSpPr>
        <p:spPr>
          <a:xfrm>
            <a:off x="4978400" y="2077541"/>
            <a:ext cx="2667000" cy="501650"/>
          </a:xfrm>
          <a:prstGeom prst="roundRect">
            <a:avLst>
              <a:gd name="adj" fmla="val 15189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kst 1x19.50"/>
          <p:cNvSpPr txBox="1"/>
          <p:nvPr/>
        </p:nvSpPr>
        <p:spPr>
          <a:xfrm>
            <a:off x="5156200" y="2204541"/>
            <a:ext cx="2357628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print(Hello world)</a:t>
            </a:r>
            <a:endParaRPr sz="1300"/>
          </a:p>
        </p:txBody>
      </p:sp>
      <p:sp>
        <p:nvSpPr>
          <p:cNvPr id="11" name="Tekst 1x16.80"/>
          <p:cNvSpPr txBox="1"/>
          <p:nvPr/>
        </p:nvSpPr>
        <p:spPr>
          <a:xfrm>
            <a:off x="7797800" y="2084586"/>
            <a:ext cx="36530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Consolas"/>
              </a:rPr>
              <a:t>SyntaxError: invalid syntax</a:t>
            </a:r>
            <a:endParaRPr sz="1200"/>
          </a:p>
        </p:txBody>
      </p:sp>
      <p:sp>
        <p:nvSpPr>
          <p:cNvPr id="12" name="Tekst 1x19.60"/>
          <p:cNvSpPr txBox="1"/>
          <p:nvPr/>
        </p:nvSpPr>
        <p:spPr>
          <a:xfrm>
            <a:off x="7797800" y="2323306"/>
            <a:ext cx="3653028" cy="248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zaboravljeni navodnici</a:t>
            </a:r>
            <a:endParaRPr sz="1400"/>
          </a:p>
        </p:txBody>
      </p:sp>
      <p:sp>
        <p:nvSpPr>
          <p:cNvPr id="13" name="Rounded Rectangle 12"/>
          <p:cNvSpPr/>
          <p:nvPr/>
        </p:nvSpPr>
        <p:spPr>
          <a:xfrm>
            <a:off x="4978400" y="2680791"/>
            <a:ext cx="2667000" cy="501650"/>
          </a:xfrm>
          <a:prstGeom prst="roundRect">
            <a:avLst>
              <a:gd name="adj" fmla="val 15189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kst 1x19.50"/>
          <p:cNvSpPr txBox="1"/>
          <p:nvPr/>
        </p:nvSpPr>
        <p:spPr>
          <a:xfrm>
            <a:off x="5156200" y="2807791"/>
            <a:ext cx="2357628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prin(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"Hello world"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endParaRPr sz="1300"/>
          </a:p>
        </p:txBody>
      </p:sp>
      <p:sp>
        <p:nvSpPr>
          <p:cNvPr id="15" name="Tekst 1x16.80"/>
          <p:cNvSpPr txBox="1"/>
          <p:nvPr/>
        </p:nvSpPr>
        <p:spPr>
          <a:xfrm>
            <a:off x="7797800" y="2687836"/>
            <a:ext cx="36530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Consolas"/>
              </a:rPr>
              <a:t>NameError: name 'prin' is not defined</a:t>
            </a:r>
            <a:endParaRPr sz="1200"/>
          </a:p>
        </p:txBody>
      </p:sp>
      <p:sp>
        <p:nvSpPr>
          <p:cNvPr id="16" name="Tekst 1x19.60"/>
          <p:cNvSpPr txBox="1"/>
          <p:nvPr/>
        </p:nvSpPr>
        <p:spPr>
          <a:xfrm>
            <a:off x="7797800" y="2926556"/>
            <a:ext cx="3653028" cy="248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pogrešno napisano ime funkcije</a:t>
            </a:r>
            <a:endParaRPr sz="1400"/>
          </a:p>
        </p:txBody>
      </p:sp>
      <p:sp>
        <p:nvSpPr>
          <p:cNvPr id="17" name="Rounded Rectangle 16"/>
          <p:cNvSpPr/>
          <p:nvPr/>
        </p:nvSpPr>
        <p:spPr>
          <a:xfrm>
            <a:off x="4978400" y="3284041"/>
            <a:ext cx="2667000" cy="749300"/>
          </a:xfrm>
          <a:prstGeom prst="roundRect">
            <a:avLst>
              <a:gd name="adj" fmla="val 10169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kst 2x19.50"/>
          <p:cNvSpPr txBox="1"/>
          <p:nvPr/>
        </p:nvSpPr>
        <p:spPr>
          <a:xfrm>
            <a:off x="5156200" y="3411041"/>
            <a:ext cx="2357628" cy="495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"Hello</a:t>
            </a:r>
            <a:br/>
            <a:r>
              <a:rPr sz="1300" b="0" i="0">
                <a:solidFill>
                  <a:srgbClr val="F0A35E"/>
                </a:solidFill>
                <a:latin typeface="Consolas"/>
              </a:rPr>
              <a:t>World"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endParaRPr sz="1300"/>
          </a:p>
        </p:txBody>
      </p:sp>
      <p:sp>
        <p:nvSpPr>
          <p:cNvPr id="19" name="Tekst 1x16.80"/>
          <p:cNvSpPr txBox="1"/>
          <p:nvPr/>
        </p:nvSpPr>
        <p:spPr>
          <a:xfrm>
            <a:off x="7797800" y="3414911"/>
            <a:ext cx="36530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Consolas"/>
              </a:rPr>
              <a:t>SyntaxError: unterminated string literal</a:t>
            </a:r>
            <a:endParaRPr sz="1200"/>
          </a:p>
        </p:txBody>
      </p:sp>
      <p:sp>
        <p:nvSpPr>
          <p:cNvPr id="20" name="Tekst 1x19.60"/>
          <p:cNvSpPr txBox="1"/>
          <p:nvPr/>
        </p:nvSpPr>
        <p:spPr>
          <a:xfrm>
            <a:off x="7797800" y="3653631"/>
            <a:ext cx="3653028" cy="2488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96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string ne sme da pređe u novi red</a:t>
            </a:r>
            <a:endParaRPr sz="1400"/>
          </a:p>
        </p:txBody>
      </p:sp>
      <p:sp>
        <p:nvSpPr>
          <p:cNvPr id="21" name="Rounded Rectangle 20"/>
          <p:cNvSpPr/>
          <p:nvPr/>
        </p:nvSpPr>
        <p:spPr>
          <a:xfrm>
            <a:off x="812800" y="4356993"/>
            <a:ext cx="10566400" cy="562570"/>
          </a:xfrm>
          <a:prstGeom prst="roundRect">
            <a:avLst>
              <a:gd name="adj" fmla="val 13544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2800" y="4356993"/>
            <a:ext cx="38100" cy="562570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kst 1x20.30"/>
          <p:cNvSpPr txBox="1"/>
          <p:nvPr/>
        </p:nvSpPr>
        <p:spPr>
          <a:xfrm>
            <a:off x="1054100" y="4509393"/>
            <a:ext cx="1024382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Poruka kaže fajl, liniju i tip greške. Procena tačnog mesta (znak ^) ume da promaši, pa se na nju ne oslanjajte previše.</a:t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Kako se čita poruka o grešci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4213324" cy="1647726"/>
          </a:xfrm>
          <a:prstGeom prst="roundRect">
            <a:avLst>
              <a:gd name="adj" fmla="val 6166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5x20.15"/>
          <p:cNvSpPr txBox="1"/>
          <p:nvPr/>
        </p:nvSpPr>
        <p:spPr>
          <a:xfrm>
            <a:off x="1079500" y="1892201"/>
            <a:ext cx="116185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521A"/>
                </a:solidFill>
                <a:latin typeface="Consolas"/>
              </a:rPr>
              <a:t>1</a:t>
            </a:r>
            <a:br/>
            <a:r>
              <a:rPr sz="1300" b="0" i="0">
                <a:solidFill>
                  <a:srgbClr val="A8521A"/>
                </a:solidFill>
                <a:latin typeface="Consolas"/>
              </a:rPr>
              <a:t>2</a:t>
            </a:r>
            <a:br/>
            <a:r>
              <a:rPr sz="1300" b="0" i="0">
                <a:solidFill>
                  <a:srgbClr val="A8521A"/>
                </a:solidFill>
                <a:latin typeface="Consolas"/>
              </a:rPr>
              <a:t>3</a:t>
            </a:r>
            <a:br/>
            <a:r>
              <a:rPr sz="1300" b="0" i="0">
                <a:solidFill>
                  <a:srgbClr val="A8521A"/>
                </a:solidFill>
                <a:latin typeface="Consolas"/>
              </a:rPr>
              <a:t>4</a:t>
            </a:r>
            <a:br/>
            <a:r>
              <a:rPr sz="1300" b="0" i="0">
                <a:solidFill>
                  <a:srgbClr val="A8521A"/>
                </a:solidFill>
                <a:latin typeface="Consolas"/>
              </a:rPr>
              <a:t>5</a:t>
            </a:r>
            <a:endParaRPr sz="1300"/>
          </a:p>
        </p:txBody>
      </p:sp>
      <p:sp>
        <p:nvSpPr>
          <p:cNvPr id="6" name="Tekst 5x20.15"/>
          <p:cNvSpPr txBox="1"/>
          <p:nvPr/>
        </p:nvSpPr>
        <p:spPr>
          <a:xfrm>
            <a:off x="1322685" y="1892201"/>
            <a:ext cx="3518428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$ python error.py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Traceback (most recent call last):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  File "error.py", line 1, in &lt;module&gt;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    prin("Hello world")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NameError: name 'prin' is not defined</a:t>
            </a:r>
            <a:endParaRPr sz="1300"/>
          </a:p>
        </p:txBody>
      </p:sp>
      <p:sp>
        <p:nvSpPr>
          <p:cNvPr id="7" name="Tekst 1x20.30"/>
          <p:cNvSpPr txBox="1"/>
          <p:nvPr/>
        </p:nvSpPr>
        <p:spPr>
          <a:xfrm>
            <a:off x="5343624" y="1701701"/>
            <a:ext cx="27940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521A"/>
                </a:solidFill>
                <a:latin typeface="Consolas"/>
              </a:rPr>
              <a:t>1</a:t>
            </a:r>
            <a:endParaRPr sz="1400"/>
          </a:p>
        </p:txBody>
      </p:sp>
      <p:sp>
        <p:nvSpPr>
          <p:cNvPr id="8" name="Tekst 1x20.30"/>
          <p:cNvSpPr txBox="1"/>
          <p:nvPr/>
        </p:nvSpPr>
        <p:spPr>
          <a:xfrm>
            <a:off x="5724624" y="1701701"/>
            <a:ext cx="5767667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komanda kojom smo pokrenuli program</a:t>
            </a:r>
            <a:endParaRPr sz="1400"/>
          </a:p>
        </p:txBody>
      </p:sp>
      <p:sp>
        <p:nvSpPr>
          <p:cNvPr id="9" name="Tekst 1x20.30"/>
          <p:cNvSpPr txBox="1"/>
          <p:nvPr/>
        </p:nvSpPr>
        <p:spPr>
          <a:xfrm>
            <a:off x="5343624" y="2061071"/>
            <a:ext cx="27940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521A"/>
                </a:solidFill>
                <a:latin typeface="Consolas"/>
              </a:rPr>
              <a:t>2</a:t>
            </a:r>
            <a:endParaRPr sz="1400"/>
          </a:p>
        </p:txBody>
      </p:sp>
      <p:sp>
        <p:nvSpPr>
          <p:cNvPr id="10" name="Tekst 1x20.30"/>
          <p:cNvSpPr txBox="1"/>
          <p:nvPr/>
        </p:nvSpPr>
        <p:spPr>
          <a:xfrm>
            <a:off x="5724624" y="2061071"/>
            <a:ext cx="5767667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početak izveštaja o grešci</a:t>
            </a:r>
            <a:endParaRPr sz="1400"/>
          </a:p>
        </p:txBody>
      </p:sp>
      <p:sp>
        <p:nvSpPr>
          <p:cNvPr id="11" name="Tekst 1x20.30"/>
          <p:cNvSpPr txBox="1"/>
          <p:nvPr/>
        </p:nvSpPr>
        <p:spPr>
          <a:xfrm>
            <a:off x="5343624" y="2420441"/>
            <a:ext cx="27940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521A"/>
                </a:solidFill>
                <a:latin typeface="Consolas"/>
              </a:rPr>
              <a:t>3</a:t>
            </a:r>
            <a:endParaRPr sz="1400"/>
          </a:p>
        </p:txBody>
      </p:sp>
      <p:sp>
        <p:nvSpPr>
          <p:cNvPr id="12" name="Tekst 1x20.30"/>
          <p:cNvSpPr txBox="1"/>
          <p:nvPr/>
        </p:nvSpPr>
        <p:spPr>
          <a:xfrm>
            <a:off x="5724624" y="2420441"/>
            <a:ext cx="5767667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fajl i broj linije u kojoj je greška</a:t>
            </a:r>
            <a:endParaRPr sz="1400"/>
          </a:p>
        </p:txBody>
      </p:sp>
      <p:sp>
        <p:nvSpPr>
          <p:cNvPr id="13" name="Tekst 1x20.30"/>
          <p:cNvSpPr txBox="1"/>
          <p:nvPr/>
        </p:nvSpPr>
        <p:spPr>
          <a:xfrm>
            <a:off x="5343624" y="2779812"/>
            <a:ext cx="27940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521A"/>
                </a:solidFill>
                <a:latin typeface="Consolas"/>
              </a:rPr>
              <a:t>4</a:t>
            </a:r>
            <a:endParaRPr sz="1400"/>
          </a:p>
        </p:txBody>
      </p:sp>
      <p:sp>
        <p:nvSpPr>
          <p:cNvPr id="14" name="Tekst 1x20.30"/>
          <p:cNvSpPr txBox="1"/>
          <p:nvPr/>
        </p:nvSpPr>
        <p:spPr>
          <a:xfrm>
            <a:off x="5724624" y="2779812"/>
            <a:ext cx="5767667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sama linija koda</a:t>
            </a:r>
            <a:endParaRPr sz="1400"/>
          </a:p>
        </p:txBody>
      </p:sp>
      <p:sp>
        <p:nvSpPr>
          <p:cNvPr id="15" name="Tekst 1x20.30"/>
          <p:cNvSpPr txBox="1"/>
          <p:nvPr/>
        </p:nvSpPr>
        <p:spPr>
          <a:xfrm>
            <a:off x="5343624" y="3139182"/>
            <a:ext cx="27940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A8521A"/>
                </a:solidFill>
                <a:latin typeface="Consolas"/>
              </a:rPr>
              <a:t>5</a:t>
            </a:r>
            <a:endParaRPr sz="1400"/>
          </a:p>
        </p:txBody>
      </p:sp>
      <p:sp>
        <p:nvSpPr>
          <p:cNvPr id="16" name="Tekst 1x20.30"/>
          <p:cNvSpPr txBox="1"/>
          <p:nvPr/>
        </p:nvSpPr>
        <p:spPr>
          <a:xfrm>
            <a:off x="5724624" y="3139182"/>
            <a:ext cx="5767667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tip greške i opis: ime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prin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ne postoji</a:t>
            </a:r>
            <a:endParaRPr sz="1400"/>
          </a:p>
        </p:txBody>
      </p:sp>
      <p:sp>
        <p:nvSpPr>
          <p:cNvPr id="17" name="Rounded Rectangle 16"/>
          <p:cNvSpPr/>
          <p:nvPr/>
        </p:nvSpPr>
        <p:spPr>
          <a:xfrm>
            <a:off x="812800" y="3650952"/>
            <a:ext cx="10566400" cy="820341"/>
          </a:xfrm>
          <a:prstGeom prst="roundRect">
            <a:avLst>
              <a:gd name="adj" fmla="val 9288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2800" y="3650952"/>
            <a:ext cx="38100" cy="820341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kst 2x20.30"/>
          <p:cNvSpPr txBox="1"/>
          <p:nvPr/>
        </p:nvSpPr>
        <p:spPr>
          <a:xfrm>
            <a:off x="1054100" y="3803352"/>
            <a:ext cx="10243820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Kod greške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SyntaxError</a:t>
            </a:r>
            <a:r>
              <a:rPr sz="1400" b="0" i="0">
                <a:solidFill>
                  <a:srgbClr val="13262B"/>
                </a:solidFill>
                <a:latin typeface="Arial"/>
              </a:rPr>
              <a:t> Python ispod linije stavlja znak ^ tamo gde je primetio problem. Ta procena ume dosta da promaši, pa se na nju ne oslanjajte previše.</a:t>
            </a:r>
            <a:endParaRPr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7C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2055019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F6F4E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2x54.60"/>
          <p:cNvSpPr txBox="1"/>
          <p:nvPr/>
        </p:nvSpPr>
        <p:spPr>
          <a:xfrm>
            <a:off x="812800" y="2522339"/>
            <a:ext cx="10777728" cy="13866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5460"/>
              </a:lnSpc>
              <a:spcBef>
                <a:spcPts val="0"/>
              </a:spcBef>
              <a:spcAft>
                <a:spcPts val="0"/>
              </a:spcAft>
            </a:pPr>
            <a:r>
              <a:rPr sz="5200" b="1" i="0">
                <a:solidFill>
                  <a:srgbClr val="F6F4EE"/>
                </a:solidFill>
                <a:latin typeface="Arial"/>
              </a:rPr>
              <a:t>Programi skoro nikad ne rade</a:t>
            </a:r>
            <a:br/>
            <a:r>
              <a:rPr sz="5200" b="1" i="0">
                <a:solidFill>
                  <a:srgbClr val="F6F4EE"/>
                </a:solidFill>
                <a:latin typeface="Arial"/>
              </a:rPr>
              <a:t>ispravno iz prvog pokušaja.</a:t>
            </a:r>
            <a:endParaRPr sz="5200"/>
          </a:p>
        </p:txBody>
      </p:sp>
      <p:sp>
        <p:nvSpPr>
          <p:cNvPr id="4" name="Tekst 2x25.20"/>
          <p:cNvSpPr txBox="1"/>
          <p:nvPr/>
        </p:nvSpPr>
        <p:spPr>
          <a:xfrm>
            <a:off x="812800" y="4163020"/>
            <a:ext cx="10777728" cy="63996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52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6F4EE"/>
                </a:solidFill>
                <a:latin typeface="Arial"/>
              </a:rPr>
              <a:t>Python ne pogađa šta ste mislili: zaustavlja se i prijavljuje grešku. Zato je čitanje poruka o greškama osnovna veština.</a:t>
            </a:r>
            <a:endParaRPr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Specijalni karakteri i promenljive</a:t>
            </a:r>
            <a:endParaRPr sz="3200"/>
          </a:p>
        </p:txBody>
      </p:sp>
      <p:sp>
        <p:nvSpPr>
          <p:cNvPr id="4" name="Tekst 1x21.60"/>
          <p:cNvSpPr txBox="1"/>
          <p:nvPr/>
        </p:nvSpPr>
        <p:spPr>
          <a:xfrm>
            <a:off x="812800" y="1701701"/>
            <a:ext cx="4734080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Specijalni karakteri</a:t>
            </a:r>
            <a:endParaRPr sz="1800"/>
          </a:p>
        </p:txBody>
      </p:sp>
      <p:sp>
        <p:nvSpPr>
          <p:cNvPr id="5" name="Tekst 1x20.30"/>
          <p:cNvSpPr txBox="1"/>
          <p:nvPr/>
        </p:nvSpPr>
        <p:spPr>
          <a:xfrm>
            <a:off x="812800" y="2077541"/>
            <a:ext cx="63500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521A"/>
                </a:solidFill>
                <a:latin typeface="Consolas"/>
              </a:rPr>
              <a:t>\n</a:t>
            </a:r>
            <a:endParaRPr sz="1400"/>
          </a:p>
        </p:txBody>
      </p:sp>
      <p:sp>
        <p:nvSpPr>
          <p:cNvPr id="6" name="Tekst 1x20.30"/>
          <p:cNvSpPr txBox="1"/>
          <p:nvPr/>
        </p:nvSpPr>
        <p:spPr>
          <a:xfrm>
            <a:off x="1574800" y="2077541"/>
            <a:ext cx="395684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novi red</a:t>
            </a:r>
            <a:endParaRPr sz="1400"/>
          </a:p>
        </p:txBody>
      </p:sp>
      <p:sp>
        <p:nvSpPr>
          <p:cNvPr id="7" name="Tekst 1x20.30"/>
          <p:cNvSpPr txBox="1"/>
          <p:nvPr/>
        </p:nvSpPr>
        <p:spPr>
          <a:xfrm>
            <a:off x="812800" y="2386112"/>
            <a:ext cx="63500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521A"/>
                </a:solidFill>
                <a:latin typeface="Consolas"/>
              </a:rPr>
              <a:t>\t</a:t>
            </a:r>
            <a:endParaRPr sz="1400"/>
          </a:p>
        </p:txBody>
      </p:sp>
      <p:sp>
        <p:nvSpPr>
          <p:cNvPr id="8" name="Tekst 1x20.30"/>
          <p:cNvSpPr txBox="1"/>
          <p:nvPr/>
        </p:nvSpPr>
        <p:spPr>
          <a:xfrm>
            <a:off x="1574800" y="2386112"/>
            <a:ext cx="395684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tab</a:t>
            </a:r>
            <a:endParaRPr sz="1400"/>
          </a:p>
        </p:txBody>
      </p:sp>
      <p:sp>
        <p:nvSpPr>
          <p:cNvPr id="9" name="Tekst 1x20.30"/>
          <p:cNvSpPr txBox="1"/>
          <p:nvPr/>
        </p:nvSpPr>
        <p:spPr>
          <a:xfrm>
            <a:off x="812800" y="2694682"/>
            <a:ext cx="63500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521A"/>
                </a:solidFill>
                <a:latin typeface="Consolas"/>
              </a:rPr>
              <a:t>\r</a:t>
            </a:r>
            <a:endParaRPr sz="1400"/>
          </a:p>
        </p:txBody>
      </p:sp>
      <p:sp>
        <p:nvSpPr>
          <p:cNvPr id="10" name="Tekst 1x20.30"/>
          <p:cNvSpPr txBox="1"/>
          <p:nvPr/>
        </p:nvSpPr>
        <p:spPr>
          <a:xfrm>
            <a:off x="1574800" y="2694682"/>
            <a:ext cx="395684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povratak na početak reda, bez novog reda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819150" y="3060402"/>
            <a:ext cx="4628555" cy="624185"/>
          </a:xfrm>
          <a:prstGeom prst="roundRect">
            <a:avLst>
              <a:gd name="adj" fmla="val 16277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kst 1x20.15"/>
          <p:cNvSpPr txBox="1"/>
          <p:nvPr/>
        </p:nvSpPr>
        <p:spPr>
          <a:xfrm>
            <a:off x="1079500" y="3244552"/>
            <a:ext cx="4190012" cy="2558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"Hello\nworld"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endParaRPr sz="1300"/>
          </a:p>
        </p:txBody>
      </p:sp>
      <p:sp>
        <p:nvSpPr>
          <p:cNvPr id="13" name="Rounded Rectangle 12"/>
          <p:cNvSpPr/>
          <p:nvPr/>
        </p:nvSpPr>
        <p:spPr>
          <a:xfrm>
            <a:off x="819150" y="3798888"/>
            <a:ext cx="4628555" cy="880070"/>
          </a:xfrm>
          <a:prstGeom prst="roundRect">
            <a:avLst>
              <a:gd name="adj" fmla="val 11544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kst 1x16.80"/>
          <p:cNvSpPr txBox="1"/>
          <p:nvPr/>
        </p:nvSpPr>
        <p:spPr>
          <a:xfrm>
            <a:off x="4399955" y="3856038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15" name="Tekst 2x20.15"/>
          <p:cNvSpPr txBox="1"/>
          <p:nvPr/>
        </p:nvSpPr>
        <p:spPr>
          <a:xfrm>
            <a:off x="1079500" y="3983038"/>
            <a:ext cx="4190012" cy="5117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Hello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world</a:t>
            </a:r>
            <a:endParaRPr sz="1300"/>
          </a:p>
        </p:txBody>
      </p:sp>
      <p:sp>
        <p:nvSpPr>
          <p:cNvPr id="16" name="Tekst 1x21.60"/>
          <p:cNvSpPr txBox="1"/>
          <p:nvPr/>
        </p:nvSpPr>
        <p:spPr>
          <a:xfrm>
            <a:off x="5809655" y="1701701"/>
            <a:ext cx="568093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Promenljive</a:t>
            </a:r>
            <a:endParaRPr sz="1800"/>
          </a:p>
        </p:txBody>
      </p:sp>
      <p:sp>
        <p:nvSpPr>
          <p:cNvPr id="17" name="Rounded Rectangle 16"/>
          <p:cNvSpPr/>
          <p:nvPr/>
        </p:nvSpPr>
        <p:spPr>
          <a:xfrm>
            <a:off x="5816005" y="2083891"/>
            <a:ext cx="5556845" cy="1647726"/>
          </a:xfrm>
          <a:prstGeom prst="roundRect">
            <a:avLst>
              <a:gd name="adj" fmla="val 6166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kst 5x20.15"/>
          <p:cNvSpPr txBox="1"/>
          <p:nvPr/>
        </p:nvSpPr>
        <p:spPr>
          <a:xfrm>
            <a:off x="6076355" y="2268041"/>
            <a:ext cx="5136868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B3AA"/>
                </a:solidFill>
                <a:latin typeface="Consolas"/>
              </a:rPr>
              <a:t># DNK sekvenca u promenljivoj my_dna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my_dna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"ATGCGTA"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print(my_dna)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nova vrednost iste promenljive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my_dna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"TGGTCCA"</a:t>
            </a:r>
            <a:endParaRPr sz="1300"/>
          </a:p>
        </p:txBody>
      </p:sp>
      <p:sp>
        <p:nvSpPr>
          <p:cNvPr id="19" name="Tekst 6x20.30"/>
          <p:cNvSpPr txBox="1"/>
          <p:nvPr/>
        </p:nvSpPr>
        <p:spPr>
          <a:xfrm>
            <a:off x="5809655" y="3839567"/>
            <a:ext cx="5680936" cy="154662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Ime je proizvoljno, ali neka opisuje sadržaj: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my_dna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je dobro ime,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banana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loše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Samo slova, cifre i _, a ime ne počinje cifrom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Ne koristite ugrađene reči, npr.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print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Velika i mala slova se razlikuju: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my_dna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i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MY_DNA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su dve promenljive</a:t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Imena promenljivih su proizvoljna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4051300" cy="1647726"/>
          </a:xfrm>
          <a:prstGeom prst="roundRect">
            <a:avLst>
              <a:gd name="adj" fmla="val 6166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5x20.15"/>
          <p:cNvSpPr txBox="1"/>
          <p:nvPr/>
        </p:nvSpPr>
        <p:spPr>
          <a:xfrm>
            <a:off x="1079500" y="1892201"/>
            <a:ext cx="3601212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B3AA"/>
                </a:solidFill>
                <a:latin typeface="Consolas"/>
              </a:rPr>
              <a:t># radi isto i sa imenom banana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banana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"ATGCGTA"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print(banana)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ime ne mora da odgovara vrednosti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my_file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"my_file.txt"</a:t>
            </a:r>
            <a:endParaRPr sz="1300"/>
          </a:p>
        </p:txBody>
      </p:sp>
      <p:sp>
        <p:nvSpPr>
          <p:cNvPr id="6" name="Tekst 3x20.30"/>
          <p:cNvSpPr txBox="1"/>
          <p:nvPr/>
        </p:nvSpPr>
        <p:spPr>
          <a:xfrm>
            <a:off x="812800" y="3514527"/>
            <a:ext cx="4145280" cy="77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Računaru je ime svejedno, ljudima nije: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my_dna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kaže šta je unutra,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banana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ne kaže ništa. Ime promenljive i string su dve odvojene stvari.</a:t>
            </a:r>
            <a:endParaRPr sz="1400"/>
          </a:p>
        </p:txBody>
      </p:sp>
      <p:sp>
        <p:nvSpPr>
          <p:cNvPr id="7" name="Rectangle 6"/>
          <p:cNvSpPr/>
          <p:nvPr/>
        </p:nvSpPr>
        <p:spPr>
          <a:xfrm>
            <a:off x="5181600" y="1978521"/>
            <a:ext cx="1524000" cy="12700"/>
          </a:xfrm>
          <a:prstGeom prst="rect">
            <a:avLst/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kst 1x16.80"/>
          <p:cNvSpPr txBox="1"/>
          <p:nvPr/>
        </p:nvSpPr>
        <p:spPr>
          <a:xfrm>
            <a:off x="5181600" y="1701701"/>
            <a:ext cx="155448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IME</a:t>
            </a:r>
            <a:endParaRPr sz="1200"/>
          </a:p>
        </p:txBody>
      </p:sp>
      <p:sp>
        <p:nvSpPr>
          <p:cNvPr id="9" name="Rectangle 8"/>
          <p:cNvSpPr/>
          <p:nvPr/>
        </p:nvSpPr>
        <p:spPr>
          <a:xfrm>
            <a:off x="6858000" y="1978521"/>
            <a:ext cx="4521200" cy="12700"/>
          </a:xfrm>
          <a:prstGeom prst="rect">
            <a:avLst/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kst 1x16.80"/>
          <p:cNvSpPr txBox="1"/>
          <p:nvPr/>
        </p:nvSpPr>
        <p:spPr>
          <a:xfrm>
            <a:off x="6858000" y="1701701"/>
            <a:ext cx="4611624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MOŽE?</a:t>
            </a:r>
            <a:endParaRPr sz="1200"/>
          </a:p>
        </p:txBody>
      </p:sp>
      <p:sp>
        <p:nvSpPr>
          <p:cNvPr id="11" name="Rectangle 10"/>
          <p:cNvSpPr/>
          <p:nvPr/>
        </p:nvSpPr>
        <p:spPr>
          <a:xfrm>
            <a:off x="5181600" y="2384921"/>
            <a:ext cx="15240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kst 1x20.80"/>
          <p:cNvSpPr txBox="1"/>
          <p:nvPr/>
        </p:nvSpPr>
        <p:spPr>
          <a:xfrm>
            <a:off x="5181600" y="2054721"/>
            <a:ext cx="155448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my_dna, dna_2</a:t>
            </a:r>
            <a:endParaRPr sz="1300"/>
          </a:p>
        </p:txBody>
      </p:sp>
      <p:sp>
        <p:nvSpPr>
          <p:cNvPr id="13" name="Rectangle 12"/>
          <p:cNvSpPr/>
          <p:nvPr/>
        </p:nvSpPr>
        <p:spPr>
          <a:xfrm>
            <a:off x="6858000" y="2384921"/>
            <a:ext cx="45212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kst 1x21.00"/>
          <p:cNvSpPr txBox="1"/>
          <p:nvPr/>
        </p:nvSpPr>
        <p:spPr>
          <a:xfrm>
            <a:off x="6858000" y="2054721"/>
            <a:ext cx="4611624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da</a:t>
            </a:r>
            <a:endParaRPr sz="1400"/>
          </a:p>
        </p:txBody>
      </p:sp>
      <p:sp>
        <p:nvSpPr>
          <p:cNvPr id="15" name="Rectangle 14"/>
          <p:cNvSpPr/>
          <p:nvPr/>
        </p:nvSpPr>
        <p:spPr>
          <a:xfrm>
            <a:off x="5181600" y="2784971"/>
            <a:ext cx="15240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kst 1x20.80"/>
          <p:cNvSpPr txBox="1"/>
          <p:nvPr/>
        </p:nvSpPr>
        <p:spPr>
          <a:xfrm>
            <a:off x="5181600" y="2454771"/>
            <a:ext cx="155448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2dna</a:t>
            </a:r>
            <a:endParaRPr sz="1300"/>
          </a:p>
        </p:txBody>
      </p:sp>
      <p:sp>
        <p:nvSpPr>
          <p:cNvPr id="17" name="Rectangle 16"/>
          <p:cNvSpPr/>
          <p:nvPr/>
        </p:nvSpPr>
        <p:spPr>
          <a:xfrm>
            <a:off x="6858000" y="2784971"/>
            <a:ext cx="45212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kst 1x21.00"/>
          <p:cNvSpPr txBox="1"/>
          <p:nvPr/>
        </p:nvSpPr>
        <p:spPr>
          <a:xfrm>
            <a:off x="6858000" y="2454771"/>
            <a:ext cx="4611624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ne: počinje cifrom</a:t>
            </a:r>
            <a:endParaRPr sz="1400"/>
          </a:p>
        </p:txBody>
      </p:sp>
      <p:sp>
        <p:nvSpPr>
          <p:cNvPr id="19" name="Rectangle 18"/>
          <p:cNvSpPr/>
          <p:nvPr/>
        </p:nvSpPr>
        <p:spPr>
          <a:xfrm>
            <a:off x="5181600" y="3185021"/>
            <a:ext cx="15240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kst 1x20.80"/>
          <p:cNvSpPr txBox="1"/>
          <p:nvPr/>
        </p:nvSpPr>
        <p:spPr>
          <a:xfrm>
            <a:off x="5181600" y="2854821"/>
            <a:ext cx="155448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my-dna, dna%</a:t>
            </a:r>
            <a:endParaRPr sz="1300"/>
          </a:p>
        </p:txBody>
      </p:sp>
      <p:sp>
        <p:nvSpPr>
          <p:cNvPr id="21" name="Rectangle 20"/>
          <p:cNvSpPr/>
          <p:nvPr/>
        </p:nvSpPr>
        <p:spPr>
          <a:xfrm>
            <a:off x="6858000" y="3185021"/>
            <a:ext cx="45212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kst 1x21.00"/>
          <p:cNvSpPr txBox="1"/>
          <p:nvPr/>
        </p:nvSpPr>
        <p:spPr>
          <a:xfrm>
            <a:off x="6858000" y="2854821"/>
            <a:ext cx="4611624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ne: dozvoljena su samo slova, cifre i _</a:t>
            </a:r>
            <a:endParaRPr sz="1400"/>
          </a:p>
        </p:txBody>
      </p:sp>
      <p:sp>
        <p:nvSpPr>
          <p:cNvPr id="23" name="Rectangle 22"/>
          <p:cNvSpPr/>
          <p:nvPr/>
        </p:nvSpPr>
        <p:spPr>
          <a:xfrm>
            <a:off x="5181600" y="3585071"/>
            <a:ext cx="15240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kst 1x20.80"/>
          <p:cNvSpPr txBox="1"/>
          <p:nvPr/>
        </p:nvSpPr>
        <p:spPr>
          <a:xfrm>
            <a:off x="5181600" y="3254871"/>
            <a:ext cx="155448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for, if, def</a:t>
            </a:r>
            <a:endParaRPr sz="1300"/>
          </a:p>
        </p:txBody>
      </p:sp>
      <p:sp>
        <p:nvSpPr>
          <p:cNvPr id="25" name="Rectangle 24"/>
          <p:cNvSpPr/>
          <p:nvPr/>
        </p:nvSpPr>
        <p:spPr>
          <a:xfrm>
            <a:off x="6858000" y="3585071"/>
            <a:ext cx="45212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kst 1x21.00"/>
          <p:cNvSpPr txBox="1"/>
          <p:nvPr/>
        </p:nvSpPr>
        <p:spPr>
          <a:xfrm>
            <a:off x="6858000" y="3254871"/>
            <a:ext cx="4611624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ne: ključne reči jezika</a:t>
            </a:r>
            <a:endParaRPr sz="1400"/>
          </a:p>
        </p:txBody>
      </p:sp>
      <p:sp>
        <p:nvSpPr>
          <p:cNvPr id="27" name="Rectangle 26"/>
          <p:cNvSpPr/>
          <p:nvPr/>
        </p:nvSpPr>
        <p:spPr>
          <a:xfrm>
            <a:off x="5181600" y="3985121"/>
            <a:ext cx="15240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kst 1x20.80"/>
          <p:cNvSpPr txBox="1"/>
          <p:nvPr/>
        </p:nvSpPr>
        <p:spPr>
          <a:xfrm>
            <a:off x="5181600" y="3654921"/>
            <a:ext cx="155448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print</a:t>
            </a:r>
            <a:endParaRPr sz="1300"/>
          </a:p>
        </p:txBody>
      </p:sp>
      <p:sp>
        <p:nvSpPr>
          <p:cNvPr id="29" name="Rectangle 28"/>
          <p:cNvSpPr/>
          <p:nvPr/>
        </p:nvSpPr>
        <p:spPr>
          <a:xfrm>
            <a:off x="6858000" y="3985121"/>
            <a:ext cx="45212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kst 1x21.00"/>
          <p:cNvSpPr txBox="1"/>
          <p:nvPr/>
        </p:nvSpPr>
        <p:spPr>
          <a:xfrm>
            <a:off x="6858000" y="3654921"/>
            <a:ext cx="4611624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tehnički da, ali onda print više ne radi</a:t>
            </a:r>
            <a:endParaRPr sz="1400"/>
          </a:p>
        </p:txBody>
      </p:sp>
      <p:sp>
        <p:nvSpPr>
          <p:cNvPr id="31" name="Rectangle 30"/>
          <p:cNvSpPr/>
          <p:nvPr/>
        </p:nvSpPr>
        <p:spPr>
          <a:xfrm>
            <a:off x="5181600" y="4385171"/>
            <a:ext cx="15240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kst 1x20.80"/>
          <p:cNvSpPr txBox="1"/>
          <p:nvPr/>
        </p:nvSpPr>
        <p:spPr>
          <a:xfrm>
            <a:off x="5181600" y="4054971"/>
            <a:ext cx="155448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MY_DNA</a:t>
            </a:r>
            <a:endParaRPr sz="1300"/>
          </a:p>
        </p:txBody>
      </p:sp>
      <p:sp>
        <p:nvSpPr>
          <p:cNvPr id="33" name="Rectangle 32"/>
          <p:cNvSpPr/>
          <p:nvPr/>
        </p:nvSpPr>
        <p:spPr>
          <a:xfrm>
            <a:off x="6858000" y="4385171"/>
            <a:ext cx="45212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kst 1x21.00"/>
          <p:cNvSpPr txBox="1"/>
          <p:nvPr/>
        </p:nvSpPr>
        <p:spPr>
          <a:xfrm>
            <a:off x="6858000" y="4054971"/>
            <a:ext cx="4611624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da, ali je to druga promenljiva od my_dna</a:t>
            </a:r>
            <a:endParaRPr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Povratna vrednost: len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1892300" cy="571500"/>
          </a:xfrm>
          <a:prstGeom prst="roundRect">
            <a:avLst>
              <a:gd name="adj" fmla="val 177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1x24.00"/>
          <p:cNvSpPr txBox="1"/>
          <p:nvPr/>
        </p:nvSpPr>
        <p:spPr>
          <a:xfrm>
            <a:off x="825500" y="1841401"/>
            <a:ext cx="18796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262B"/>
                </a:solidFill>
                <a:latin typeface="Consolas"/>
              </a:rPr>
              <a:t>"ATGC"</a:t>
            </a:r>
            <a:endParaRPr sz="2000"/>
          </a:p>
        </p:txBody>
      </p:sp>
      <p:sp>
        <p:nvSpPr>
          <p:cNvPr id="6" name="Tekst 1x16.80"/>
          <p:cNvSpPr txBox="1"/>
          <p:nvPr/>
        </p:nvSpPr>
        <p:spPr>
          <a:xfrm>
            <a:off x="1214636" y="2362101"/>
            <a:ext cx="1126629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argument: string</a:t>
            </a:r>
            <a:endParaRPr sz="1200"/>
          </a:p>
        </p:txBody>
      </p:sp>
      <p:sp>
        <p:nvSpPr>
          <p:cNvPr id="7" name="Right Arrow 6"/>
          <p:cNvSpPr/>
          <p:nvPr/>
        </p:nvSpPr>
        <p:spPr>
          <a:xfrm>
            <a:off x="2870200" y="1701701"/>
            <a:ext cx="609600" cy="279400"/>
          </a:xfrm>
          <a:prstGeom prst="rightArrow">
            <a:avLst>
              <a:gd name="adj1" fmla="val 40000"/>
              <a:gd name="adj2" fmla="val 87272"/>
            </a:avLst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638550" y="1708051"/>
            <a:ext cx="1892300" cy="571500"/>
          </a:xfrm>
          <a:prstGeom prst="roundRect">
            <a:avLst>
              <a:gd name="adj" fmla="val 17777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kst 1x24.00"/>
          <p:cNvSpPr txBox="1"/>
          <p:nvPr/>
        </p:nvSpPr>
        <p:spPr>
          <a:xfrm>
            <a:off x="3644900" y="1841401"/>
            <a:ext cx="18796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6FD3C1"/>
                </a:solidFill>
                <a:latin typeface="Consolas"/>
              </a:rPr>
              <a:t>len</a:t>
            </a:r>
            <a:endParaRPr sz="2000"/>
          </a:p>
        </p:txBody>
      </p:sp>
      <p:sp>
        <p:nvSpPr>
          <p:cNvPr id="10" name="Tekst 1x16.80"/>
          <p:cNvSpPr txBox="1"/>
          <p:nvPr/>
        </p:nvSpPr>
        <p:spPr>
          <a:xfrm>
            <a:off x="4326334" y="2362101"/>
            <a:ext cx="542131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funkcija</a:t>
            </a:r>
            <a:endParaRPr sz="1200"/>
          </a:p>
        </p:txBody>
      </p:sp>
      <p:sp>
        <p:nvSpPr>
          <p:cNvPr id="11" name="Right Arrow 10"/>
          <p:cNvSpPr/>
          <p:nvPr/>
        </p:nvSpPr>
        <p:spPr>
          <a:xfrm>
            <a:off x="5689600" y="1701701"/>
            <a:ext cx="609600" cy="279400"/>
          </a:xfrm>
          <a:prstGeom prst="rightArrow">
            <a:avLst>
              <a:gd name="adj1" fmla="val 40000"/>
              <a:gd name="adj2" fmla="val 87272"/>
            </a:avLst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57950" y="1708051"/>
            <a:ext cx="1892300" cy="571500"/>
          </a:xfrm>
          <a:prstGeom prst="roundRect">
            <a:avLst>
              <a:gd name="adj" fmla="val 17777"/>
            </a:avLst>
          </a:prstGeom>
          <a:solidFill>
            <a:srgbClr val="FCFBF7"/>
          </a:solidFill>
          <a:ln w="12700">
            <a:solidFill>
              <a:srgbClr val="A85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kst 1x24.00"/>
          <p:cNvSpPr txBox="1"/>
          <p:nvPr/>
        </p:nvSpPr>
        <p:spPr>
          <a:xfrm>
            <a:off x="6464300" y="1841401"/>
            <a:ext cx="1879600" cy="304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3262B"/>
                </a:solidFill>
                <a:latin typeface="Consolas"/>
              </a:rPr>
              <a:t>4</a:t>
            </a:r>
            <a:endParaRPr sz="2000"/>
          </a:p>
        </p:txBody>
      </p:sp>
      <p:sp>
        <p:nvSpPr>
          <p:cNvPr id="14" name="Tekst 1x16.80"/>
          <p:cNvSpPr txBox="1"/>
          <p:nvPr/>
        </p:nvSpPr>
        <p:spPr>
          <a:xfrm>
            <a:off x="6624638" y="2362101"/>
            <a:ext cx="1590002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F6F70"/>
                </a:solidFill>
                <a:latin typeface="Arial"/>
              </a:rPr>
              <a:t>povratna vrednost: broj</a:t>
            </a:r>
            <a:endParaRPr sz="1200"/>
          </a:p>
        </p:txBody>
      </p:sp>
      <p:sp>
        <p:nvSpPr>
          <p:cNvPr id="15" name="Rounded Rectangle 14"/>
          <p:cNvSpPr/>
          <p:nvPr/>
        </p:nvSpPr>
        <p:spPr>
          <a:xfrm>
            <a:off x="819150" y="2835771"/>
            <a:ext cx="3697784" cy="1903611"/>
          </a:xfrm>
          <a:prstGeom prst="roundRect">
            <a:avLst>
              <a:gd name="adj" fmla="val 5337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kst 6x20.15"/>
          <p:cNvSpPr txBox="1"/>
          <p:nvPr/>
        </p:nvSpPr>
        <p:spPr>
          <a:xfrm>
            <a:off x="1079500" y="3019921"/>
            <a:ext cx="3240625" cy="15353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B3AA"/>
                </a:solidFill>
                <a:latin typeface="Consolas"/>
              </a:rPr>
              <a:t># ova linija ne ispisuje ništa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len(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"ATGC"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vrednost sačuvamo u promenljivoj…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dna_length = len(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"AGTC"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…pa je iskoristimo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print(dna_length)</a:t>
            </a:r>
            <a:endParaRPr sz="1300"/>
          </a:p>
        </p:txBody>
      </p:sp>
      <p:sp>
        <p:nvSpPr>
          <p:cNvPr id="17" name="Rounded Rectangle 16"/>
          <p:cNvSpPr/>
          <p:nvPr/>
        </p:nvSpPr>
        <p:spPr>
          <a:xfrm>
            <a:off x="4831259" y="2832596"/>
            <a:ext cx="6544766" cy="877491"/>
          </a:xfrm>
          <a:prstGeom prst="roundRect">
            <a:avLst>
              <a:gd name="adj" fmla="val 11578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kst 2x20.30"/>
          <p:cNvSpPr txBox="1"/>
          <p:nvPr/>
        </p:nvSpPr>
        <p:spPr>
          <a:xfrm>
            <a:off x="5037634" y="3013571"/>
            <a:ext cx="6253936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521A"/>
                </a:solidFill>
                <a:latin typeface="Arial"/>
              </a:rPr>
              <a:t>print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ispisuje tekst na ekran, a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len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vraća vrednost koju možemo da sačuvamo i dalje koristimo.</a:t>
            </a:r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4828084" y="3865662"/>
            <a:ext cx="6551116" cy="562570"/>
          </a:xfrm>
          <a:prstGeom prst="roundRect">
            <a:avLst>
              <a:gd name="adj" fmla="val 13544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28084" y="3865662"/>
            <a:ext cx="38100" cy="562570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kst 1x20.30"/>
          <p:cNvSpPr txBox="1"/>
          <p:nvPr/>
        </p:nvSpPr>
        <p:spPr>
          <a:xfrm>
            <a:off x="5069384" y="4018062"/>
            <a:ext cx="6228536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Rezultat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len</a:t>
            </a:r>
            <a:r>
              <a:rPr sz="1400" b="0" i="0">
                <a:solidFill>
                  <a:srgbClr val="13262B"/>
                </a:solidFill>
                <a:latin typeface="Arial"/>
              </a:rPr>
              <a:t> je broj, a ne string. To će biti važno na sledećem slajdu.</a:t>
            </a:r>
            <a:endParaRPr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Stringovi i brojevi su različiti tipovi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10553700" cy="1954411"/>
          </a:xfrm>
          <a:prstGeom prst="roundRect">
            <a:avLst>
              <a:gd name="adj" fmla="val 5198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6x20.15"/>
          <p:cNvSpPr txBox="1"/>
          <p:nvPr/>
        </p:nvSpPr>
        <p:spPr>
          <a:xfrm>
            <a:off x="1079500" y="1917601"/>
            <a:ext cx="10185400" cy="15353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my_dna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"ATGCGAGT"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len vraća broj (int), a ne string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dna_length = len(my_dna)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"The length of the DNA sequence is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dna_length)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ispravno: str pretvara broj u string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"The length of the DNA sequence is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str(dna_length))</a:t>
            </a:r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819150" y="3929162"/>
            <a:ext cx="5839817" cy="1221581"/>
          </a:xfrm>
          <a:prstGeom prst="roundRect">
            <a:avLst>
              <a:gd name="adj" fmla="val 8317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1x16.80"/>
          <p:cNvSpPr txBox="1"/>
          <p:nvPr/>
        </p:nvSpPr>
        <p:spPr>
          <a:xfrm>
            <a:off x="1079500" y="4011712"/>
            <a:ext cx="25908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 ČETVRTE LINIJE</a:t>
            </a:r>
            <a:endParaRPr sz="1200"/>
          </a:p>
        </p:txBody>
      </p:sp>
      <p:sp>
        <p:nvSpPr>
          <p:cNvPr id="8" name="Tekst 1x20.15"/>
          <p:cNvSpPr txBox="1"/>
          <p:nvPr/>
        </p:nvSpPr>
        <p:spPr>
          <a:xfrm>
            <a:off x="1079500" y="4240312"/>
            <a:ext cx="5425500" cy="255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TypeError: can only concatenate str (not "int") to str</a:t>
            </a:r>
            <a:endParaRPr sz="1300"/>
          </a:p>
        </p:txBody>
      </p:sp>
      <p:sp>
        <p:nvSpPr>
          <p:cNvPr id="9" name="Tekst 1x20.30"/>
          <p:cNvSpPr txBox="1"/>
          <p:nvPr/>
        </p:nvSpPr>
        <p:spPr>
          <a:xfrm>
            <a:off x="1079500" y="4572397"/>
            <a:ext cx="542550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Python ne zna kako da spoji string (</a:t>
            </a:r>
            <a:r>
              <a:rPr sz="1400" b="0" i="0">
                <a:solidFill>
                  <a:srgbClr val="A8521A"/>
                </a:solidFill>
                <a:latin typeface="Arial"/>
              </a:rPr>
              <a:t>str</a:t>
            </a:r>
            <a:r>
              <a:rPr sz="1400" b="0" i="0">
                <a:solidFill>
                  <a:srgbClr val="3D4F52"/>
                </a:solidFill>
                <a:latin typeface="Arial"/>
              </a:rPr>
              <a:t>) i ceo broj (</a:t>
            </a:r>
            <a:r>
              <a:rPr sz="1400" b="0" i="0">
                <a:solidFill>
                  <a:srgbClr val="A8521A"/>
                </a:solidFill>
                <a:latin typeface="Arial"/>
              </a:rPr>
              <a:t>int</a:t>
            </a:r>
            <a:r>
              <a:rPr sz="1400" b="0" i="0">
                <a:solidFill>
                  <a:srgbClr val="3D4F52"/>
                </a:solidFill>
                <a:latin typeface="Arial"/>
              </a:rPr>
              <a:t>).</a:t>
            </a:r>
            <a:endParaRPr sz="1400"/>
          </a:p>
        </p:txBody>
      </p:sp>
      <p:sp>
        <p:nvSpPr>
          <p:cNvPr id="10" name="Rounded Rectangle 9"/>
          <p:cNvSpPr/>
          <p:nvPr/>
        </p:nvSpPr>
        <p:spPr>
          <a:xfrm>
            <a:off x="6871692" y="3925987"/>
            <a:ext cx="4504333" cy="1227931"/>
          </a:xfrm>
          <a:prstGeom prst="roundRect">
            <a:avLst>
              <a:gd name="adj" fmla="val 8274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kst 1x21.60"/>
          <p:cNvSpPr txBox="1"/>
          <p:nvPr/>
        </p:nvSpPr>
        <p:spPr>
          <a:xfrm>
            <a:off x="7078067" y="4106962"/>
            <a:ext cx="4173414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Spajanje stringova: +</a:t>
            </a:r>
            <a:endParaRPr sz="1800"/>
          </a:p>
        </p:txBody>
      </p:sp>
      <p:sp>
        <p:nvSpPr>
          <p:cNvPr id="12" name="Tekst 2x20.30"/>
          <p:cNvSpPr txBox="1"/>
          <p:nvPr/>
        </p:nvSpPr>
        <p:spPr>
          <a:xfrm>
            <a:off x="7078067" y="4457402"/>
            <a:ext cx="4173414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A8521A"/>
                </a:solidFill>
                <a:latin typeface="Arial"/>
              </a:rPr>
              <a:t>"AATT" + "GGCC"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daje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"AATTGGCC"</a:t>
            </a:r>
            <a:r>
              <a:rPr sz="1400" b="0" i="0">
                <a:solidFill>
                  <a:srgbClr val="3D4F52"/>
                </a:solidFill>
                <a:latin typeface="Arial"/>
              </a:rPr>
              <a:t>. Rezultat je opet string, pa spajanje može i unutar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print</a:t>
            </a:r>
            <a:r>
              <a:rPr sz="1400" b="0" i="0">
                <a:solidFill>
                  <a:srgbClr val="3D4F52"/>
                </a:solidFill>
                <a:latin typeface="Arial"/>
              </a:rPr>
              <a:t>.</a:t>
            </a:r>
            <a:endParaRPr sz="1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Funkcija unutar funkcije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657251"/>
            <a:ext cx="10553700" cy="880070"/>
          </a:xfrm>
          <a:prstGeom prst="roundRect">
            <a:avLst>
              <a:gd name="adj" fmla="val 11544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2x20.15"/>
          <p:cNvSpPr txBox="1"/>
          <p:nvPr/>
        </p:nvSpPr>
        <p:spPr>
          <a:xfrm>
            <a:off x="1079500" y="1841401"/>
            <a:ext cx="10185400" cy="5117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my_dna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"ATGCGAGT"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"length: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str(len(my_dna)))</a:t>
            </a:r>
            <a:endParaRPr sz="1300"/>
          </a:p>
        </p:txBody>
      </p:sp>
      <p:sp>
        <p:nvSpPr>
          <p:cNvPr id="6" name="Rectangle 5"/>
          <p:cNvSpPr/>
          <p:nvPr/>
        </p:nvSpPr>
        <p:spPr>
          <a:xfrm>
            <a:off x="812800" y="3023691"/>
            <a:ext cx="355600" cy="12700"/>
          </a:xfrm>
          <a:prstGeom prst="rect">
            <a:avLst/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1x16.80"/>
          <p:cNvSpPr txBox="1"/>
          <p:nvPr/>
        </p:nvSpPr>
        <p:spPr>
          <a:xfrm>
            <a:off x="812800" y="2746871"/>
            <a:ext cx="3810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#</a:t>
            </a:r>
            <a:endParaRPr sz="1200"/>
          </a:p>
        </p:txBody>
      </p:sp>
      <p:sp>
        <p:nvSpPr>
          <p:cNvPr id="8" name="Rectangle 7"/>
          <p:cNvSpPr/>
          <p:nvPr/>
        </p:nvSpPr>
        <p:spPr>
          <a:xfrm>
            <a:off x="1320800" y="3023691"/>
            <a:ext cx="3749477" cy="12700"/>
          </a:xfrm>
          <a:prstGeom prst="rect">
            <a:avLst/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kst 1x16.80"/>
          <p:cNvSpPr txBox="1"/>
          <p:nvPr/>
        </p:nvSpPr>
        <p:spPr>
          <a:xfrm>
            <a:off x="1320800" y="2746871"/>
            <a:ext cx="3824466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IZRAZ</a:t>
            </a:r>
            <a:endParaRPr sz="1200"/>
          </a:p>
        </p:txBody>
      </p:sp>
      <p:sp>
        <p:nvSpPr>
          <p:cNvPr id="10" name="Rectangle 9"/>
          <p:cNvSpPr/>
          <p:nvPr/>
        </p:nvSpPr>
        <p:spPr>
          <a:xfrm>
            <a:off x="5222677" y="3023691"/>
            <a:ext cx="1905000" cy="12700"/>
          </a:xfrm>
          <a:prstGeom prst="rect">
            <a:avLst/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kst 1x16.80"/>
          <p:cNvSpPr txBox="1"/>
          <p:nvPr/>
        </p:nvSpPr>
        <p:spPr>
          <a:xfrm>
            <a:off x="5222677" y="2746871"/>
            <a:ext cx="19431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VREDNOST</a:t>
            </a:r>
            <a:endParaRPr sz="1200"/>
          </a:p>
        </p:txBody>
      </p:sp>
      <p:sp>
        <p:nvSpPr>
          <p:cNvPr id="12" name="Rectangle 11"/>
          <p:cNvSpPr/>
          <p:nvPr/>
        </p:nvSpPr>
        <p:spPr>
          <a:xfrm>
            <a:off x="812800" y="3427512"/>
            <a:ext cx="3556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kst 1x20.80"/>
          <p:cNvSpPr txBox="1"/>
          <p:nvPr/>
        </p:nvSpPr>
        <p:spPr>
          <a:xfrm>
            <a:off x="812800" y="3099891"/>
            <a:ext cx="381000" cy="264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521A"/>
                </a:solidFill>
                <a:latin typeface="Consolas"/>
              </a:rPr>
              <a:t>1</a:t>
            </a:r>
            <a:endParaRPr sz="1300"/>
          </a:p>
        </p:txBody>
      </p:sp>
      <p:sp>
        <p:nvSpPr>
          <p:cNvPr id="14" name="Rectangle 13"/>
          <p:cNvSpPr/>
          <p:nvPr/>
        </p:nvSpPr>
        <p:spPr>
          <a:xfrm>
            <a:off x="1320800" y="3427512"/>
            <a:ext cx="3749477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kst 1x20.80"/>
          <p:cNvSpPr txBox="1"/>
          <p:nvPr/>
        </p:nvSpPr>
        <p:spPr>
          <a:xfrm>
            <a:off x="1320800" y="3099891"/>
            <a:ext cx="3824466" cy="264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len(my_dna)</a:t>
            </a:r>
            <a:endParaRPr sz="1300"/>
          </a:p>
        </p:txBody>
      </p:sp>
      <p:sp>
        <p:nvSpPr>
          <p:cNvPr id="16" name="Rectangle 15"/>
          <p:cNvSpPr/>
          <p:nvPr/>
        </p:nvSpPr>
        <p:spPr>
          <a:xfrm>
            <a:off x="5222677" y="3427512"/>
            <a:ext cx="19050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kst 1x20.80"/>
          <p:cNvSpPr txBox="1"/>
          <p:nvPr/>
        </p:nvSpPr>
        <p:spPr>
          <a:xfrm>
            <a:off x="5222677" y="3099891"/>
            <a:ext cx="1943100" cy="264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8</a:t>
            </a:r>
            <a:endParaRPr sz="1300"/>
          </a:p>
        </p:txBody>
      </p:sp>
      <p:sp>
        <p:nvSpPr>
          <p:cNvPr id="18" name="Rectangle 17"/>
          <p:cNvSpPr/>
          <p:nvPr/>
        </p:nvSpPr>
        <p:spPr>
          <a:xfrm>
            <a:off x="812800" y="3824982"/>
            <a:ext cx="3556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kst 1x20.80"/>
          <p:cNvSpPr txBox="1"/>
          <p:nvPr/>
        </p:nvSpPr>
        <p:spPr>
          <a:xfrm>
            <a:off x="812800" y="3497362"/>
            <a:ext cx="381000" cy="264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521A"/>
                </a:solidFill>
                <a:latin typeface="Consolas"/>
              </a:rPr>
              <a:t>2</a:t>
            </a:r>
            <a:endParaRPr sz="1300"/>
          </a:p>
        </p:txBody>
      </p:sp>
      <p:sp>
        <p:nvSpPr>
          <p:cNvPr id="20" name="Rectangle 19"/>
          <p:cNvSpPr/>
          <p:nvPr/>
        </p:nvSpPr>
        <p:spPr>
          <a:xfrm>
            <a:off x="1320800" y="3824982"/>
            <a:ext cx="3749477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kst 1x20.80"/>
          <p:cNvSpPr txBox="1"/>
          <p:nvPr/>
        </p:nvSpPr>
        <p:spPr>
          <a:xfrm>
            <a:off x="1320800" y="3497362"/>
            <a:ext cx="3824466" cy="264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str(8)</a:t>
            </a:r>
            <a:endParaRPr sz="1300"/>
          </a:p>
        </p:txBody>
      </p:sp>
      <p:sp>
        <p:nvSpPr>
          <p:cNvPr id="22" name="Rectangle 21"/>
          <p:cNvSpPr/>
          <p:nvPr/>
        </p:nvSpPr>
        <p:spPr>
          <a:xfrm>
            <a:off x="5222677" y="3824982"/>
            <a:ext cx="19050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kst 1x20.80"/>
          <p:cNvSpPr txBox="1"/>
          <p:nvPr/>
        </p:nvSpPr>
        <p:spPr>
          <a:xfrm>
            <a:off x="5222677" y="3497362"/>
            <a:ext cx="1943100" cy="264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"8"</a:t>
            </a:r>
            <a:endParaRPr sz="1300"/>
          </a:p>
        </p:txBody>
      </p:sp>
      <p:sp>
        <p:nvSpPr>
          <p:cNvPr id="24" name="Rectangle 23"/>
          <p:cNvSpPr/>
          <p:nvPr/>
        </p:nvSpPr>
        <p:spPr>
          <a:xfrm>
            <a:off x="812800" y="4222452"/>
            <a:ext cx="3556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kst 1x20.80"/>
          <p:cNvSpPr txBox="1"/>
          <p:nvPr/>
        </p:nvSpPr>
        <p:spPr>
          <a:xfrm>
            <a:off x="812800" y="3894832"/>
            <a:ext cx="381000" cy="264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521A"/>
                </a:solidFill>
                <a:latin typeface="Consolas"/>
              </a:rPr>
              <a:t>3</a:t>
            </a:r>
            <a:endParaRPr sz="1300"/>
          </a:p>
        </p:txBody>
      </p:sp>
      <p:sp>
        <p:nvSpPr>
          <p:cNvPr id="26" name="Rectangle 25"/>
          <p:cNvSpPr/>
          <p:nvPr/>
        </p:nvSpPr>
        <p:spPr>
          <a:xfrm>
            <a:off x="1320800" y="4222452"/>
            <a:ext cx="3749477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kst 1x20.80"/>
          <p:cNvSpPr txBox="1"/>
          <p:nvPr/>
        </p:nvSpPr>
        <p:spPr>
          <a:xfrm>
            <a:off x="1320800" y="3894832"/>
            <a:ext cx="3824466" cy="264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"length: " + "8"</a:t>
            </a:r>
            <a:endParaRPr sz="1300"/>
          </a:p>
        </p:txBody>
      </p:sp>
      <p:sp>
        <p:nvSpPr>
          <p:cNvPr id="28" name="Rectangle 27"/>
          <p:cNvSpPr/>
          <p:nvPr/>
        </p:nvSpPr>
        <p:spPr>
          <a:xfrm>
            <a:off x="5222677" y="4222452"/>
            <a:ext cx="19050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kst 1x20.80"/>
          <p:cNvSpPr txBox="1"/>
          <p:nvPr/>
        </p:nvSpPr>
        <p:spPr>
          <a:xfrm>
            <a:off x="5222677" y="3894832"/>
            <a:ext cx="1943100" cy="264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"length: 8"</a:t>
            </a:r>
            <a:endParaRPr sz="1300"/>
          </a:p>
        </p:txBody>
      </p:sp>
      <p:sp>
        <p:nvSpPr>
          <p:cNvPr id="30" name="Rectangle 29"/>
          <p:cNvSpPr/>
          <p:nvPr/>
        </p:nvSpPr>
        <p:spPr>
          <a:xfrm>
            <a:off x="812800" y="4622502"/>
            <a:ext cx="3556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kst 1x20.80"/>
          <p:cNvSpPr txBox="1"/>
          <p:nvPr/>
        </p:nvSpPr>
        <p:spPr>
          <a:xfrm>
            <a:off x="812800" y="4292302"/>
            <a:ext cx="3810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8521A"/>
                </a:solidFill>
                <a:latin typeface="Consolas"/>
              </a:rPr>
              <a:t>4</a:t>
            </a:r>
            <a:endParaRPr sz="1300"/>
          </a:p>
        </p:txBody>
      </p:sp>
      <p:sp>
        <p:nvSpPr>
          <p:cNvPr id="32" name="Rectangle 31"/>
          <p:cNvSpPr/>
          <p:nvPr/>
        </p:nvSpPr>
        <p:spPr>
          <a:xfrm>
            <a:off x="1320800" y="4622502"/>
            <a:ext cx="3749477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kst 1x20.80"/>
          <p:cNvSpPr txBox="1"/>
          <p:nvPr/>
        </p:nvSpPr>
        <p:spPr>
          <a:xfrm>
            <a:off x="1320800" y="4292302"/>
            <a:ext cx="3824466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print("length: 8")</a:t>
            </a:r>
            <a:endParaRPr sz="1300"/>
          </a:p>
        </p:txBody>
      </p:sp>
      <p:sp>
        <p:nvSpPr>
          <p:cNvPr id="34" name="Rectangle 33"/>
          <p:cNvSpPr/>
          <p:nvPr/>
        </p:nvSpPr>
        <p:spPr>
          <a:xfrm>
            <a:off x="5222677" y="4622502"/>
            <a:ext cx="1905000" cy="6350"/>
          </a:xfrm>
          <a:prstGeom prst="rect">
            <a:avLst/>
          </a:prstGeom>
          <a:solidFill>
            <a:srgbClr val="DCDD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kst 1x21.00"/>
          <p:cNvSpPr txBox="1"/>
          <p:nvPr/>
        </p:nvSpPr>
        <p:spPr>
          <a:xfrm>
            <a:off x="5222677" y="4292302"/>
            <a:ext cx="1943100" cy="2667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ispis na ekran</a:t>
            </a:r>
            <a:endParaRPr sz="1400"/>
          </a:p>
        </p:txBody>
      </p:sp>
      <p:sp>
        <p:nvSpPr>
          <p:cNvPr id="36" name="Rounded Rectangle 35"/>
          <p:cNvSpPr/>
          <p:nvPr/>
        </p:nvSpPr>
        <p:spPr>
          <a:xfrm>
            <a:off x="7435652" y="2750046"/>
            <a:ext cx="3940373" cy="1135261"/>
          </a:xfrm>
          <a:prstGeom prst="roundRect">
            <a:avLst>
              <a:gd name="adj" fmla="val 8949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kst 3x20.30"/>
          <p:cNvSpPr txBox="1"/>
          <p:nvPr/>
        </p:nvSpPr>
        <p:spPr>
          <a:xfrm>
            <a:off x="7642027" y="2931021"/>
            <a:ext cx="3598176" cy="77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3D4F52"/>
                </a:solidFill>
                <a:latin typeface="Arial"/>
              </a:rPr>
              <a:t>str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je </a:t>
            </a:r>
            <a:r>
              <a:rPr sz="1400" b="0" i="1">
                <a:solidFill>
                  <a:srgbClr val="3D4F52"/>
                </a:solidFill>
                <a:latin typeface="Arial"/>
              </a:rPr>
              <a:t>funkcija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koja prima jedan </a:t>
            </a:r>
            <a:r>
              <a:rPr sz="1400" b="0" i="1">
                <a:solidFill>
                  <a:srgbClr val="3D4F52"/>
                </a:solidFill>
                <a:latin typeface="Arial"/>
              </a:rPr>
              <a:t>argument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tipa </a:t>
            </a:r>
            <a:r>
              <a:rPr sz="1400" b="0" i="1">
                <a:solidFill>
                  <a:srgbClr val="3D4F52"/>
                </a:solidFill>
                <a:latin typeface="Arial"/>
              </a:rPr>
              <a:t>broj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i </a:t>
            </a:r>
            <a:r>
              <a:rPr sz="1400" b="0" i="1">
                <a:solidFill>
                  <a:srgbClr val="3D4F52"/>
                </a:solidFill>
                <a:latin typeface="Arial"/>
              </a:rPr>
              <a:t>vraća vrednost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tipa </a:t>
            </a:r>
            <a:r>
              <a:rPr sz="1400" b="0" i="1">
                <a:solidFill>
                  <a:srgbClr val="3D4F52"/>
                </a:solidFill>
                <a:latin typeface="Arial"/>
              </a:rPr>
              <a:t>string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koja predstavlja taj broj.</a:t>
            </a:r>
            <a:endParaRPr sz="1400"/>
          </a:p>
        </p:txBody>
      </p:sp>
      <p:sp>
        <p:nvSpPr>
          <p:cNvPr id="38" name="Rounded Rectangle 37"/>
          <p:cNvSpPr/>
          <p:nvPr/>
        </p:nvSpPr>
        <p:spPr>
          <a:xfrm>
            <a:off x="7432477" y="4040882"/>
            <a:ext cx="3946723" cy="1078111"/>
          </a:xfrm>
          <a:prstGeom prst="roundRect">
            <a:avLst>
              <a:gd name="adj" fmla="val 7067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432477" y="4040882"/>
            <a:ext cx="38100" cy="1078111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kst 3x20.30"/>
          <p:cNvSpPr txBox="1"/>
          <p:nvPr/>
        </p:nvSpPr>
        <p:spPr>
          <a:xfrm>
            <a:off x="7673777" y="4193282"/>
            <a:ext cx="3572268" cy="77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Računa se iznutra ka spolja. Svaka otvorena zagrada mora da se zatvori: ovde ih je tri na kraju.</a:t>
            </a:r>
            <a:endParaRPr sz="1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Metode: alati koji pripadaju tipu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5975" y="1654076"/>
            <a:ext cx="3414117" cy="1754981"/>
          </a:xfrm>
          <a:prstGeom prst="roundRect">
            <a:avLst>
              <a:gd name="adj" fmla="val 5789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1x21.60"/>
          <p:cNvSpPr txBox="1"/>
          <p:nvPr/>
        </p:nvSpPr>
        <p:spPr>
          <a:xfrm>
            <a:off x="1022350" y="1835051"/>
            <a:ext cx="3061395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Funkcija</a:t>
            </a:r>
            <a:endParaRPr sz="1800"/>
          </a:p>
        </p:txBody>
      </p:sp>
      <p:sp>
        <p:nvSpPr>
          <p:cNvPr id="6" name="Rounded Rectangle 5"/>
          <p:cNvSpPr/>
          <p:nvPr/>
        </p:nvSpPr>
        <p:spPr>
          <a:xfrm>
            <a:off x="1022350" y="2185491"/>
            <a:ext cx="3001367" cy="450850"/>
          </a:xfrm>
          <a:prstGeom prst="roundRect">
            <a:avLst>
              <a:gd name="adj" fmla="val 16901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1x19.50"/>
          <p:cNvSpPr txBox="1"/>
          <p:nvPr/>
        </p:nvSpPr>
        <p:spPr>
          <a:xfrm>
            <a:off x="1174750" y="2287091"/>
            <a:ext cx="2750499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len(my_dna)</a:t>
            </a:r>
            <a:endParaRPr sz="1300"/>
          </a:p>
        </p:txBody>
      </p:sp>
      <p:sp>
        <p:nvSpPr>
          <p:cNvPr id="8" name="Tekst 2x20.30"/>
          <p:cNvSpPr txBox="1"/>
          <p:nvPr/>
        </p:nvSpPr>
        <p:spPr>
          <a:xfrm>
            <a:off x="1022350" y="2712541"/>
            <a:ext cx="3061395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Ime funkcije, pa argumenti u zagradama.</a:t>
            </a:r>
            <a:endParaRPr sz="1400"/>
          </a:p>
        </p:txBody>
      </p:sp>
      <p:sp>
        <p:nvSpPr>
          <p:cNvPr id="9" name="Rounded Rectangle 8"/>
          <p:cNvSpPr/>
          <p:nvPr/>
        </p:nvSpPr>
        <p:spPr>
          <a:xfrm>
            <a:off x="4388842" y="1654076"/>
            <a:ext cx="3414216" cy="1754981"/>
          </a:xfrm>
          <a:prstGeom prst="roundRect">
            <a:avLst>
              <a:gd name="adj" fmla="val 5789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kst 1x21.60"/>
          <p:cNvSpPr txBox="1"/>
          <p:nvPr/>
        </p:nvSpPr>
        <p:spPr>
          <a:xfrm>
            <a:off x="4595217" y="1835051"/>
            <a:ext cx="306149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Metod</a:t>
            </a:r>
            <a:endParaRPr sz="1800"/>
          </a:p>
        </p:txBody>
      </p:sp>
      <p:sp>
        <p:nvSpPr>
          <p:cNvPr id="11" name="Rounded Rectangle 10"/>
          <p:cNvSpPr/>
          <p:nvPr/>
        </p:nvSpPr>
        <p:spPr>
          <a:xfrm>
            <a:off x="4595217" y="2185491"/>
            <a:ext cx="3001466" cy="450850"/>
          </a:xfrm>
          <a:prstGeom prst="roundRect">
            <a:avLst>
              <a:gd name="adj" fmla="val 16901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kst 1x19.50"/>
          <p:cNvSpPr txBox="1"/>
          <p:nvPr/>
        </p:nvSpPr>
        <p:spPr>
          <a:xfrm>
            <a:off x="4747617" y="2287091"/>
            <a:ext cx="2750600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my_dna.lower()</a:t>
            </a:r>
            <a:endParaRPr sz="1300"/>
          </a:p>
        </p:txBody>
      </p:sp>
      <p:sp>
        <p:nvSpPr>
          <p:cNvPr id="13" name="Tekst 2x20.30"/>
          <p:cNvSpPr txBox="1"/>
          <p:nvPr/>
        </p:nvSpPr>
        <p:spPr>
          <a:xfrm>
            <a:off x="4595217" y="2712541"/>
            <a:ext cx="3061496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Promenljiva, tačka, ime metoda. Radi samo na svom tipu.</a:t>
            </a:r>
            <a:endParaRPr sz="1400"/>
          </a:p>
        </p:txBody>
      </p:sp>
      <p:sp>
        <p:nvSpPr>
          <p:cNvPr id="14" name="Rounded Rectangle 13"/>
          <p:cNvSpPr/>
          <p:nvPr/>
        </p:nvSpPr>
        <p:spPr>
          <a:xfrm>
            <a:off x="7961809" y="1654076"/>
            <a:ext cx="3414216" cy="1754981"/>
          </a:xfrm>
          <a:prstGeom prst="roundRect">
            <a:avLst>
              <a:gd name="adj" fmla="val 5789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kst 1x21.60"/>
          <p:cNvSpPr txBox="1"/>
          <p:nvPr/>
        </p:nvSpPr>
        <p:spPr>
          <a:xfrm>
            <a:off x="8168184" y="1835051"/>
            <a:ext cx="306149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Vraća kopiju</a:t>
            </a:r>
            <a:endParaRPr sz="1800"/>
          </a:p>
        </p:txBody>
      </p:sp>
      <p:sp>
        <p:nvSpPr>
          <p:cNvPr id="16" name="Rounded Rectangle 15"/>
          <p:cNvSpPr/>
          <p:nvPr/>
        </p:nvSpPr>
        <p:spPr>
          <a:xfrm>
            <a:off x="8168184" y="2185491"/>
            <a:ext cx="3001466" cy="450850"/>
          </a:xfrm>
          <a:prstGeom prst="roundRect">
            <a:avLst>
              <a:gd name="adj" fmla="val 16901"/>
            </a:avLst>
          </a:prstGeom>
          <a:solidFill>
            <a:srgbClr val="1326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kst 1x19.50"/>
          <p:cNvSpPr txBox="1"/>
          <p:nvPr/>
        </p:nvSpPr>
        <p:spPr>
          <a:xfrm>
            <a:off x="8320584" y="2287091"/>
            <a:ext cx="2750600" cy="2476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my_dna.upper()</a:t>
            </a:r>
            <a:endParaRPr sz="1300"/>
          </a:p>
        </p:txBody>
      </p:sp>
      <p:sp>
        <p:nvSpPr>
          <p:cNvPr id="18" name="Tekst 2x20.30"/>
          <p:cNvSpPr txBox="1"/>
          <p:nvPr/>
        </p:nvSpPr>
        <p:spPr>
          <a:xfrm>
            <a:off x="8168184" y="2712541"/>
            <a:ext cx="3061496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Original ostaje isti: rezultat sačuvajte ili ispišite.</a:t>
            </a:r>
            <a:endParaRPr sz="1400"/>
          </a:p>
        </p:txBody>
      </p:sp>
      <p:sp>
        <p:nvSpPr>
          <p:cNvPr id="19" name="Rounded Rectangle 18"/>
          <p:cNvSpPr/>
          <p:nvPr/>
        </p:nvSpPr>
        <p:spPr>
          <a:xfrm>
            <a:off x="819150" y="3621782"/>
            <a:ext cx="3788767" cy="1903611"/>
          </a:xfrm>
          <a:prstGeom prst="roundRect">
            <a:avLst>
              <a:gd name="adj" fmla="val 5337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kst 6x20.15"/>
          <p:cNvSpPr txBox="1"/>
          <p:nvPr/>
        </p:nvSpPr>
        <p:spPr>
          <a:xfrm>
            <a:off x="1079500" y="3805932"/>
            <a:ext cx="3333429" cy="15353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protein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"vlspadktnv"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zameni valin tirozinom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"v"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"y"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"vls"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"ymt"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))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original se ne menja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print(protein)</a:t>
            </a:r>
            <a:endParaRPr sz="1300"/>
          </a:p>
        </p:txBody>
      </p:sp>
      <p:sp>
        <p:nvSpPr>
          <p:cNvPr id="21" name="Rounded Rectangle 20"/>
          <p:cNvSpPr/>
          <p:nvPr/>
        </p:nvSpPr>
        <p:spPr>
          <a:xfrm>
            <a:off x="4773017" y="3621782"/>
            <a:ext cx="6599833" cy="1903611"/>
          </a:xfrm>
          <a:prstGeom prst="roundRect">
            <a:avLst>
              <a:gd name="adj" fmla="val 5337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kst 1x16.80"/>
          <p:cNvSpPr txBox="1"/>
          <p:nvPr/>
        </p:nvSpPr>
        <p:spPr>
          <a:xfrm>
            <a:off x="10325100" y="3678932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23" name="Tekst 6x20.15"/>
          <p:cNvSpPr txBox="1"/>
          <p:nvPr/>
        </p:nvSpPr>
        <p:spPr>
          <a:xfrm>
            <a:off x="5033367" y="3805932"/>
            <a:ext cx="6200715" cy="15353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ylspadktny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ymtpadktnv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vlspadktnv</a:t>
            </a:r>
            <a:endParaRPr sz="1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lower i upper ne menjaju original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3425527" cy="1647726"/>
          </a:xfrm>
          <a:prstGeom prst="roundRect">
            <a:avLst>
              <a:gd name="adj" fmla="val 6166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5x20.15"/>
          <p:cNvSpPr txBox="1"/>
          <p:nvPr/>
        </p:nvSpPr>
        <p:spPr>
          <a:xfrm>
            <a:off x="1079500" y="1892201"/>
            <a:ext cx="2962924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my_dna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"ATGC"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"before: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my_dna)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lowercase_dna = my_dna.lower()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"after: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my_dna)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"lower: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lowercase_dna)</a:t>
            </a:r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4358977" y="1708051"/>
            <a:ext cx="1610023" cy="1647726"/>
          </a:xfrm>
          <a:prstGeom prst="roundRect">
            <a:avLst>
              <a:gd name="adj" fmla="val 6310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1x16.80"/>
          <p:cNvSpPr txBox="1"/>
          <p:nvPr/>
        </p:nvSpPr>
        <p:spPr>
          <a:xfrm>
            <a:off x="4946650" y="1765201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8" name="Tekst 5x20.15"/>
          <p:cNvSpPr txBox="1"/>
          <p:nvPr/>
        </p:nvSpPr>
        <p:spPr>
          <a:xfrm>
            <a:off x="4619327" y="1892201"/>
            <a:ext cx="1114723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before: ATGC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after: ATGC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lower: atgc</a:t>
            </a:r>
            <a:endParaRPr sz="1300"/>
          </a:p>
        </p:txBody>
      </p:sp>
      <p:sp>
        <p:nvSpPr>
          <p:cNvPr id="9" name="Tekst 1x21.60"/>
          <p:cNvSpPr txBox="1"/>
          <p:nvPr/>
        </p:nvSpPr>
        <p:spPr>
          <a:xfrm>
            <a:off x="6280150" y="1701701"/>
            <a:ext cx="5201031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Metod pripada tipu</a:t>
            </a:r>
            <a:endParaRPr sz="1800"/>
          </a:p>
        </p:txBody>
      </p:sp>
      <p:sp>
        <p:nvSpPr>
          <p:cNvPr id="10" name="Rounded Rectangle 9"/>
          <p:cNvSpPr/>
          <p:nvPr/>
        </p:nvSpPr>
        <p:spPr>
          <a:xfrm>
            <a:off x="6286500" y="2083891"/>
            <a:ext cx="5086350" cy="880070"/>
          </a:xfrm>
          <a:prstGeom prst="roundRect">
            <a:avLst>
              <a:gd name="adj" fmla="val 11544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kst 2x20.15"/>
          <p:cNvSpPr txBox="1"/>
          <p:nvPr/>
        </p:nvSpPr>
        <p:spPr>
          <a:xfrm>
            <a:off x="6546850" y="2268041"/>
            <a:ext cx="4656963" cy="5117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my_number = len(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"AGTC"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print(my_number.lower())</a:t>
            </a:r>
            <a:endParaRPr sz="1300"/>
          </a:p>
        </p:txBody>
      </p:sp>
      <p:sp>
        <p:nvSpPr>
          <p:cNvPr id="12" name="Tekst 1x16.80"/>
          <p:cNvSpPr txBox="1"/>
          <p:nvPr/>
        </p:nvSpPr>
        <p:spPr>
          <a:xfrm>
            <a:off x="6280150" y="3071912"/>
            <a:ext cx="5201031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8521A"/>
                </a:solidFill>
                <a:latin typeface="Consolas"/>
              </a:rPr>
              <a:t>AttributeError: 'int' object has no attribute 'lower'</a:t>
            </a:r>
            <a:endParaRPr sz="1200"/>
          </a:p>
        </p:txBody>
      </p:sp>
      <p:sp>
        <p:nvSpPr>
          <p:cNvPr id="13" name="Tekst 2x20.30"/>
          <p:cNvSpPr txBox="1"/>
          <p:nvPr/>
        </p:nvSpPr>
        <p:spPr>
          <a:xfrm>
            <a:off x="6280150" y="3386832"/>
            <a:ext cx="5201031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Broj (int) nema metod lower. Metodi rade samo na tipu kojem pripadaju.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Izdvajanje dela stringa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97532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1x33.60"/>
          <p:cNvSpPr txBox="1"/>
          <p:nvPr/>
        </p:nvSpPr>
        <p:spPr>
          <a:xfrm>
            <a:off x="825500" y="1790601"/>
            <a:ext cx="96262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v</a:t>
            </a:r>
            <a:endParaRPr sz="2800"/>
          </a:p>
        </p:txBody>
      </p:sp>
      <p:sp>
        <p:nvSpPr>
          <p:cNvPr id="6" name="Tekst 1x18.20"/>
          <p:cNvSpPr txBox="1"/>
          <p:nvPr/>
        </p:nvSpPr>
        <p:spPr>
          <a:xfrm>
            <a:off x="1261368" y="2356941"/>
            <a:ext cx="11618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F70"/>
                </a:solidFill>
                <a:latin typeface="Consolas"/>
              </a:rPr>
              <a:t>0</a:t>
            </a:r>
            <a:endParaRPr sz="1300"/>
          </a:p>
        </p:txBody>
      </p:sp>
      <p:sp>
        <p:nvSpPr>
          <p:cNvPr id="7" name="Rounded Rectangle 6"/>
          <p:cNvSpPr/>
          <p:nvPr/>
        </p:nvSpPr>
        <p:spPr>
          <a:xfrm>
            <a:off x="1883370" y="1708051"/>
            <a:ext cx="97532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kst 1x33.60"/>
          <p:cNvSpPr txBox="1"/>
          <p:nvPr/>
        </p:nvSpPr>
        <p:spPr>
          <a:xfrm>
            <a:off x="1889720" y="1790601"/>
            <a:ext cx="96262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l</a:t>
            </a:r>
            <a:endParaRPr sz="2800"/>
          </a:p>
        </p:txBody>
      </p:sp>
      <p:sp>
        <p:nvSpPr>
          <p:cNvPr id="9" name="Tekst 1x18.20"/>
          <p:cNvSpPr txBox="1"/>
          <p:nvPr/>
        </p:nvSpPr>
        <p:spPr>
          <a:xfrm>
            <a:off x="2325588" y="2356941"/>
            <a:ext cx="11618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F70"/>
                </a:solidFill>
                <a:latin typeface="Consolas"/>
              </a:rPr>
              <a:t>1</a:t>
            </a:r>
            <a:endParaRPr sz="1300"/>
          </a:p>
        </p:txBody>
      </p:sp>
      <p:sp>
        <p:nvSpPr>
          <p:cNvPr id="10" name="Rounded Rectangle 9"/>
          <p:cNvSpPr/>
          <p:nvPr/>
        </p:nvSpPr>
        <p:spPr>
          <a:xfrm>
            <a:off x="2947591" y="1708051"/>
            <a:ext cx="97542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kst 1x33.60"/>
          <p:cNvSpPr txBox="1"/>
          <p:nvPr/>
        </p:nvSpPr>
        <p:spPr>
          <a:xfrm>
            <a:off x="2953941" y="1790601"/>
            <a:ext cx="96272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s</a:t>
            </a:r>
            <a:endParaRPr sz="2800"/>
          </a:p>
        </p:txBody>
      </p:sp>
      <p:sp>
        <p:nvSpPr>
          <p:cNvPr id="12" name="Tekst 1x18.20"/>
          <p:cNvSpPr txBox="1"/>
          <p:nvPr/>
        </p:nvSpPr>
        <p:spPr>
          <a:xfrm>
            <a:off x="3389908" y="2356941"/>
            <a:ext cx="11618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F70"/>
                </a:solidFill>
                <a:latin typeface="Consolas"/>
              </a:rPr>
              <a:t>2</a:t>
            </a:r>
            <a:endParaRPr sz="1300"/>
          </a:p>
        </p:txBody>
      </p:sp>
      <p:sp>
        <p:nvSpPr>
          <p:cNvPr id="13" name="Rounded Rectangle 12"/>
          <p:cNvSpPr/>
          <p:nvPr/>
        </p:nvSpPr>
        <p:spPr>
          <a:xfrm>
            <a:off x="4011910" y="1708051"/>
            <a:ext cx="975320" cy="591741"/>
          </a:xfrm>
          <a:prstGeom prst="roundRect">
            <a:avLst>
              <a:gd name="adj" fmla="val 12877"/>
            </a:avLst>
          </a:prstGeom>
          <a:solidFill>
            <a:srgbClr val="F0A35E"/>
          </a:solidFill>
          <a:ln w="12700">
            <a:solidFill>
              <a:srgbClr val="A85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kst 1x33.60"/>
          <p:cNvSpPr txBox="1"/>
          <p:nvPr/>
        </p:nvSpPr>
        <p:spPr>
          <a:xfrm>
            <a:off x="4018260" y="1790601"/>
            <a:ext cx="96262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p</a:t>
            </a:r>
            <a:endParaRPr sz="2800"/>
          </a:p>
        </p:txBody>
      </p:sp>
      <p:sp>
        <p:nvSpPr>
          <p:cNvPr id="15" name="Tekst 1x18.20"/>
          <p:cNvSpPr txBox="1"/>
          <p:nvPr/>
        </p:nvSpPr>
        <p:spPr>
          <a:xfrm>
            <a:off x="4454128" y="2356941"/>
            <a:ext cx="11618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521A"/>
                </a:solidFill>
                <a:latin typeface="Consolas"/>
              </a:rPr>
              <a:t>3</a:t>
            </a:r>
            <a:endParaRPr sz="1300"/>
          </a:p>
        </p:txBody>
      </p:sp>
      <p:sp>
        <p:nvSpPr>
          <p:cNvPr id="16" name="Rounded Rectangle 15"/>
          <p:cNvSpPr/>
          <p:nvPr/>
        </p:nvSpPr>
        <p:spPr>
          <a:xfrm>
            <a:off x="5076130" y="1708051"/>
            <a:ext cx="975420" cy="591741"/>
          </a:xfrm>
          <a:prstGeom prst="roundRect">
            <a:avLst>
              <a:gd name="adj" fmla="val 12877"/>
            </a:avLst>
          </a:prstGeom>
          <a:solidFill>
            <a:srgbClr val="F0A35E"/>
          </a:solidFill>
          <a:ln w="12700">
            <a:solidFill>
              <a:srgbClr val="A852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kst 1x33.60"/>
          <p:cNvSpPr txBox="1"/>
          <p:nvPr/>
        </p:nvSpPr>
        <p:spPr>
          <a:xfrm>
            <a:off x="5082480" y="1790601"/>
            <a:ext cx="96272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a</a:t>
            </a:r>
            <a:endParaRPr sz="2800"/>
          </a:p>
        </p:txBody>
      </p:sp>
      <p:sp>
        <p:nvSpPr>
          <p:cNvPr id="18" name="Tekst 1x18.20"/>
          <p:cNvSpPr txBox="1"/>
          <p:nvPr/>
        </p:nvSpPr>
        <p:spPr>
          <a:xfrm>
            <a:off x="5518448" y="2356941"/>
            <a:ext cx="11618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8521A"/>
                </a:solidFill>
                <a:latin typeface="Consolas"/>
              </a:rPr>
              <a:t>4</a:t>
            </a:r>
            <a:endParaRPr sz="1300"/>
          </a:p>
        </p:txBody>
      </p:sp>
      <p:sp>
        <p:nvSpPr>
          <p:cNvPr id="19" name="Rounded Rectangle 18"/>
          <p:cNvSpPr/>
          <p:nvPr/>
        </p:nvSpPr>
        <p:spPr>
          <a:xfrm>
            <a:off x="6140450" y="1708051"/>
            <a:ext cx="97532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kst 1x33.60"/>
          <p:cNvSpPr txBox="1"/>
          <p:nvPr/>
        </p:nvSpPr>
        <p:spPr>
          <a:xfrm>
            <a:off x="6146800" y="1790601"/>
            <a:ext cx="96262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d</a:t>
            </a:r>
            <a:endParaRPr sz="2800"/>
          </a:p>
        </p:txBody>
      </p:sp>
      <p:sp>
        <p:nvSpPr>
          <p:cNvPr id="21" name="Tekst 1x18.20"/>
          <p:cNvSpPr txBox="1"/>
          <p:nvPr/>
        </p:nvSpPr>
        <p:spPr>
          <a:xfrm>
            <a:off x="6582668" y="2356941"/>
            <a:ext cx="11618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F70"/>
                </a:solidFill>
                <a:latin typeface="Consolas"/>
              </a:rPr>
              <a:t>5</a:t>
            </a:r>
            <a:endParaRPr sz="1300"/>
          </a:p>
        </p:txBody>
      </p:sp>
      <p:sp>
        <p:nvSpPr>
          <p:cNvPr id="22" name="Rounded Rectangle 21"/>
          <p:cNvSpPr/>
          <p:nvPr/>
        </p:nvSpPr>
        <p:spPr>
          <a:xfrm>
            <a:off x="7204670" y="1708051"/>
            <a:ext cx="97532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kst 1x33.60"/>
          <p:cNvSpPr txBox="1"/>
          <p:nvPr/>
        </p:nvSpPr>
        <p:spPr>
          <a:xfrm>
            <a:off x="7211020" y="1790601"/>
            <a:ext cx="96262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k</a:t>
            </a:r>
            <a:endParaRPr sz="2800"/>
          </a:p>
        </p:txBody>
      </p:sp>
      <p:sp>
        <p:nvSpPr>
          <p:cNvPr id="24" name="Tekst 1x18.20"/>
          <p:cNvSpPr txBox="1"/>
          <p:nvPr/>
        </p:nvSpPr>
        <p:spPr>
          <a:xfrm>
            <a:off x="7646888" y="2356941"/>
            <a:ext cx="11618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F70"/>
                </a:solidFill>
                <a:latin typeface="Consolas"/>
              </a:rPr>
              <a:t>6</a:t>
            </a:r>
            <a:endParaRPr sz="1300"/>
          </a:p>
        </p:txBody>
      </p:sp>
      <p:sp>
        <p:nvSpPr>
          <p:cNvPr id="25" name="Rounded Rectangle 24"/>
          <p:cNvSpPr/>
          <p:nvPr/>
        </p:nvSpPr>
        <p:spPr>
          <a:xfrm>
            <a:off x="8268891" y="1708051"/>
            <a:ext cx="97542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kst 1x33.60"/>
          <p:cNvSpPr txBox="1"/>
          <p:nvPr/>
        </p:nvSpPr>
        <p:spPr>
          <a:xfrm>
            <a:off x="8275241" y="1790601"/>
            <a:ext cx="96272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t</a:t>
            </a:r>
            <a:endParaRPr sz="2800"/>
          </a:p>
        </p:txBody>
      </p:sp>
      <p:sp>
        <p:nvSpPr>
          <p:cNvPr id="27" name="Tekst 1x18.20"/>
          <p:cNvSpPr txBox="1"/>
          <p:nvPr/>
        </p:nvSpPr>
        <p:spPr>
          <a:xfrm>
            <a:off x="8711208" y="2356941"/>
            <a:ext cx="11618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F70"/>
                </a:solidFill>
                <a:latin typeface="Consolas"/>
              </a:rPr>
              <a:t>7</a:t>
            </a:r>
            <a:endParaRPr sz="1300"/>
          </a:p>
        </p:txBody>
      </p:sp>
      <p:sp>
        <p:nvSpPr>
          <p:cNvPr id="28" name="Rounded Rectangle 27"/>
          <p:cNvSpPr/>
          <p:nvPr/>
        </p:nvSpPr>
        <p:spPr>
          <a:xfrm>
            <a:off x="9333210" y="1708051"/>
            <a:ext cx="97532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kst 1x33.60"/>
          <p:cNvSpPr txBox="1"/>
          <p:nvPr/>
        </p:nvSpPr>
        <p:spPr>
          <a:xfrm>
            <a:off x="9339560" y="1790601"/>
            <a:ext cx="96262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n</a:t>
            </a:r>
            <a:endParaRPr sz="2800"/>
          </a:p>
        </p:txBody>
      </p:sp>
      <p:sp>
        <p:nvSpPr>
          <p:cNvPr id="30" name="Tekst 1x18.20"/>
          <p:cNvSpPr txBox="1"/>
          <p:nvPr/>
        </p:nvSpPr>
        <p:spPr>
          <a:xfrm>
            <a:off x="9775428" y="2356941"/>
            <a:ext cx="11618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F70"/>
                </a:solidFill>
                <a:latin typeface="Consolas"/>
              </a:rPr>
              <a:t>8</a:t>
            </a:r>
            <a:endParaRPr sz="1300"/>
          </a:p>
        </p:txBody>
      </p:sp>
      <p:sp>
        <p:nvSpPr>
          <p:cNvPr id="31" name="Rounded Rectangle 30"/>
          <p:cNvSpPr/>
          <p:nvPr/>
        </p:nvSpPr>
        <p:spPr>
          <a:xfrm>
            <a:off x="10397430" y="1708051"/>
            <a:ext cx="975420" cy="591741"/>
          </a:xfrm>
          <a:prstGeom prst="roundRect">
            <a:avLst>
              <a:gd name="adj" fmla="val 12877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kst 1x33.60"/>
          <p:cNvSpPr txBox="1"/>
          <p:nvPr/>
        </p:nvSpPr>
        <p:spPr>
          <a:xfrm>
            <a:off x="10403780" y="1790601"/>
            <a:ext cx="962720" cy="4266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13262B"/>
                </a:solidFill>
                <a:latin typeface="Consolas"/>
              </a:rPr>
              <a:t>v</a:t>
            </a:r>
            <a:endParaRPr sz="2800"/>
          </a:p>
        </p:txBody>
      </p:sp>
      <p:sp>
        <p:nvSpPr>
          <p:cNvPr id="33" name="Tekst 1x18.20"/>
          <p:cNvSpPr txBox="1"/>
          <p:nvPr/>
        </p:nvSpPr>
        <p:spPr>
          <a:xfrm>
            <a:off x="10839748" y="2356941"/>
            <a:ext cx="116185" cy="231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F70"/>
                </a:solidFill>
                <a:latin typeface="Consolas"/>
              </a:rPr>
              <a:t>9</a:t>
            </a:r>
            <a:endParaRPr sz="1300"/>
          </a:p>
        </p:txBody>
      </p:sp>
      <p:sp>
        <p:nvSpPr>
          <p:cNvPr id="34" name="Rounded Rectangle 33"/>
          <p:cNvSpPr/>
          <p:nvPr/>
        </p:nvSpPr>
        <p:spPr>
          <a:xfrm>
            <a:off x="819150" y="2848372"/>
            <a:ext cx="2517775" cy="1647726"/>
          </a:xfrm>
          <a:prstGeom prst="roundRect">
            <a:avLst>
              <a:gd name="adj" fmla="val 6166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kst 5x20.15"/>
          <p:cNvSpPr txBox="1"/>
          <p:nvPr/>
        </p:nvSpPr>
        <p:spPr>
          <a:xfrm>
            <a:off x="1079500" y="3032522"/>
            <a:ext cx="2037017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protein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"vlspadktnv"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print(protein[3:5])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print(protein[0:6])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print(protein[0:60])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print(protein[0])</a:t>
            </a:r>
            <a:endParaRPr sz="1300"/>
          </a:p>
        </p:txBody>
      </p:sp>
      <p:sp>
        <p:nvSpPr>
          <p:cNvPr id="36" name="Rounded Rectangle 35"/>
          <p:cNvSpPr/>
          <p:nvPr/>
        </p:nvSpPr>
        <p:spPr>
          <a:xfrm>
            <a:off x="3502025" y="2848372"/>
            <a:ext cx="1892300" cy="1647726"/>
          </a:xfrm>
          <a:prstGeom prst="roundRect">
            <a:avLst>
              <a:gd name="adj" fmla="val 6166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kst 1x16.80"/>
          <p:cNvSpPr txBox="1"/>
          <p:nvPr/>
        </p:nvSpPr>
        <p:spPr>
          <a:xfrm>
            <a:off x="4346575" y="2905522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38" name="Tekst 5x20.15"/>
          <p:cNvSpPr txBox="1"/>
          <p:nvPr/>
        </p:nvSpPr>
        <p:spPr>
          <a:xfrm>
            <a:off x="3762375" y="3032522"/>
            <a:ext cx="1399032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pa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vlspad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vlspadktnv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v</a:t>
            </a:r>
            <a:endParaRPr sz="1300"/>
          </a:p>
        </p:txBody>
      </p:sp>
      <p:sp>
        <p:nvSpPr>
          <p:cNvPr id="39" name="Rounded Rectangle 38"/>
          <p:cNvSpPr/>
          <p:nvPr/>
        </p:nvSpPr>
        <p:spPr>
          <a:xfrm>
            <a:off x="5556250" y="2845197"/>
            <a:ext cx="5819775" cy="1393031"/>
          </a:xfrm>
          <a:prstGeom prst="roundRect">
            <a:avLst>
              <a:gd name="adj" fmla="val 7293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kst 4x20.30"/>
          <p:cNvSpPr txBox="1"/>
          <p:nvPr/>
        </p:nvSpPr>
        <p:spPr>
          <a:xfrm>
            <a:off x="5762625" y="3026172"/>
            <a:ext cx="5515166" cy="10310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Brojanje počinje od 0: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protein[3]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je četvrti karakter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Početak je uključen, kraj nije: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[3:5]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daje pozicije 3 i 4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Kraj iza kraja stringa znači „do kraja”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Jedan broj daje jedan karakter</a:t>
            </a:r>
            <a:endParaRPr sz="14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Brojanje i traženje podstringova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2971701" cy="2159496"/>
          </a:xfrm>
          <a:prstGeom prst="roundRect">
            <a:avLst>
              <a:gd name="adj" fmla="val 4704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7x20.15"/>
          <p:cNvSpPr txBox="1"/>
          <p:nvPr/>
        </p:nvSpPr>
        <p:spPr>
          <a:xfrm>
            <a:off x="1079500" y="1892201"/>
            <a:ext cx="2500021" cy="17911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protein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"vlspadktnv"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print(protein.count(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'v'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print(protein.count(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'lsp'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print(protein.count(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'w'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print(protein.find(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'p'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print(protein.find(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'kt'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print(protein.find(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'w'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))</a:t>
            </a:r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3905151" y="1708051"/>
            <a:ext cx="1130300" cy="2159496"/>
          </a:xfrm>
          <a:prstGeom prst="roundRect">
            <a:avLst>
              <a:gd name="adj" fmla="val 8988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1x16.80"/>
          <p:cNvSpPr txBox="1"/>
          <p:nvPr/>
        </p:nvSpPr>
        <p:spPr>
          <a:xfrm>
            <a:off x="4013101" y="1765201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8" name="Tekst 7x20.15"/>
          <p:cNvSpPr txBox="1"/>
          <p:nvPr/>
        </p:nvSpPr>
        <p:spPr>
          <a:xfrm>
            <a:off x="4165501" y="1892201"/>
            <a:ext cx="635000" cy="17911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2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1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0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3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6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-1</a:t>
            </a:r>
            <a:endParaRPr sz="1300"/>
          </a:p>
        </p:txBody>
      </p:sp>
      <p:sp>
        <p:nvSpPr>
          <p:cNvPr id="9" name="Rounded Rectangle 8"/>
          <p:cNvSpPr/>
          <p:nvPr/>
        </p:nvSpPr>
        <p:spPr>
          <a:xfrm>
            <a:off x="5349776" y="1704876"/>
            <a:ext cx="6026249" cy="1393031"/>
          </a:xfrm>
          <a:prstGeom prst="roundRect">
            <a:avLst>
              <a:gd name="adj" fmla="val 7293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kst 4x20.30"/>
          <p:cNvSpPr txBox="1"/>
          <p:nvPr/>
        </p:nvSpPr>
        <p:spPr>
          <a:xfrm>
            <a:off x="5556151" y="1885851"/>
            <a:ext cx="5725769" cy="103108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A8521A"/>
                </a:solidFill>
                <a:latin typeface="Arial"/>
              </a:rPr>
              <a:t>count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vraća broj pojavljivanja (int)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A8521A"/>
                </a:solidFill>
                <a:latin typeface="Arial"/>
              </a:rPr>
              <a:t>find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vraća indeks prvog pojavljivanja, a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-1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ako podstringa nema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Redosled je bitan: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my_dna.count(my_motif)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nije isto što i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my_motif.count(my_dna)</a:t>
            </a:r>
            <a:endParaRPr sz="1400"/>
          </a:p>
        </p:txBody>
      </p:sp>
      <p:sp>
        <p:nvSpPr>
          <p:cNvPr id="11" name="Rounded Rectangle 10"/>
          <p:cNvSpPr/>
          <p:nvPr/>
        </p:nvSpPr>
        <p:spPr>
          <a:xfrm>
            <a:off x="5346601" y="3253482"/>
            <a:ext cx="6032599" cy="1078111"/>
          </a:xfrm>
          <a:prstGeom prst="roundRect">
            <a:avLst>
              <a:gd name="adj" fmla="val 7067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46601" y="3253482"/>
            <a:ext cx="38100" cy="1078111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kst 3x20.30"/>
          <p:cNvSpPr txBox="1"/>
          <p:nvPr/>
        </p:nvSpPr>
        <p:spPr>
          <a:xfrm>
            <a:off x="5587901" y="3405882"/>
            <a:ext cx="5699861" cy="77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Oba traže samo tačne podstringove. Za promenljive motive, kao što su vezivna mesta transkripcionih faktora, trebaju nam regularni izrazi (poglavlje 7).</a:t>
            </a:r>
            <a:endParaRPr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VEŽBA: AT SADRŽAJ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Korak 1: proverite brojeve pre računanja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10553700" cy="2159496"/>
          </a:xfrm>
          <a:prstGeom prst="roundRect">
            <a:avLst>
              <a:gd name="adj" fmla="val 4704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7x20.15"/>
          <p:cNvSpPr txBox="1"/>
          <p:nvPr/>
        </p:nvSpPr>
        <p:spPr>
          <a:xfrm>
            <a:off x="1079500" y="1892201"/>
            <a:ext cx="10185400" cy="179119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my_dna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"ACTGATCGATTACGTATAGTATTTGCTATCATACATATATATCGATGCGTTCAT"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length = len(my_dna)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a_count = my_dna.count(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'A'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t_count = my_dna.count(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"length: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str(length))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 count: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str(a_count))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"T count: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str(t_count))</a:t>
            </a:r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819150" y="4134247"/>
            <a:ext cx="1519238" cy="1288355"/>
          </a:xfrm>
          <a:prstGeom prst="roundRect">
            <a:avLst>
              <a:gd name="adj" fmla="val 7886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1x16.80"/>
          <p:cNvSpPr txBox="1"/>
          <p:nvPr/>
        </p:nvSpPr>
        <p:spPr>
          <a:xfrm>
            <a:off x="1290638" y="4191397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8" name="Tekst 3x20.15"/>
          <p:cNvSpPr txBox="1"/>
          <p:nvPr/>
        </p:nvSpPr>
        <p:spPr>
          <a:xfrm>
            <a:off x="1079500" y="4470797"/>
            <a:ext cx="1023938" cy="7676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length: 54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A count: 16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T count: 21</a:t>
            </a:r>
            <a:endParaRPr sz="1300"/>
          </a:p>
        </p:txBody>
      </p:sp>
      <p:sp>
        <p:nvSpPr>
          <p:cNvPr id="9" name="Rounded Rectangle 8"/>
          <p:cNvSpPr/>
          <p:nvPr/>
        </p:nvSpPr>
        <p:spPr>
          <a:xfrm>
            <a:off x="2551112" y="4131072"/>
            <a:ext cx="8824912" cy="1294705"/>
          </a:xfrm>
          <a:prstGeom prst="roundRect">
            <a:avLst>
              <a:gd name="adj" fmla="val 7847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kst 2x20.30"/>
          <p:cNvSpPr txBox="1"/>
          <p:nvPr/>
        </p:nvSpPr>
        <p:spPr>
          <a:xfrm>
            <a:off x="2757488" y="4520605"/>
            <a:ext cx="8534082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Izgleda razumno, ali da li je tačno? Ručno brojanje je sporo, a šta ako sekvenca ima 51 kilobazu? Bolje je pokrenuti isti kod na kratkoj sekvenci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"ATGC"</a:t>
            </a:r>
            <a:r>
              <a:rPr sz="1400" b="0" i="0">
                <a:solidFill>
                  <a:srgbClr val="3D4F52"/>
                </a:solidFill>
                <a:latin typeface="Arial"/>
              </a:rPr>
              <a:t>: dužina 4, jedno A, jedno T.</a:t>
            </a:r>
            <a:endParaRPr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VEŽBA: AT SADRŽAJ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Korak 2: formula (A + T) / dužina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10553700" cy="1954411"/>
          </a:xfrm>
          <a:prstGeom prst="roundRect">
            <a:avLst>
              <a:gd name="adj" fmla="val 5198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6x20.15"/>
          <p:cNvSpPr txBox="1"/>
          <p:nvPr/>
        </p:nvSpPr>
        <p:spPr>
          <a:xfrm>
            <a:off x="1079500" y="1917601"/>
            <a:ext cx="10185400" cy="15353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my_dna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"ACTGATCGATTACGTATAGTATTTGCTATCATACATATATATCGATGCGTTCAT"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length = len(my_dna)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a_count = my_dna.count(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'A'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t_count = my_dna.count(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at_content = (a_count + t_count) / length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"AT content is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str(at_content))</a:t>
            </a:r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819150" y="3929162"/>
            <a:ext cx="4798318" cy="1479352"/>
          </a:xfrm>
          <a:prstGeom prst="roundRect">
            <a:avLst>
              <a:gd name="adj" fmla="val 6867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1x16.80"/>
          <p:cNvSpPr txBox="1"/>
          <p:nvPr/>
        </p:nvSpPr>
        <p:spPr>
          <a:xfrm>
            <a:off x="4569718" y="3986312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8" name="Tekst 1x20.15"/>
          <p:cNvSpPr txBox="1"/>
          <p:nvPr/>
        </p:nvSpPr>
        <p:spPr>
          <a:xfrm>
            <a:off x="1079500" y="4540845"/>
            <a:ext cx="4363170" cy="2558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AT content is 0.6851851851851852</a:t>
            </a:r>
            <a:endParaRPr sz="1300"/>
          </a:p>
        </p:txBody>
      </p:sp>
      <p:sp>
        <p:nvSpPr>
          <p:cNvPr id="9" name="Rounded Rectangle 8"/>
          <p:cNvSpPr/>
          <p:nvPr/>
        </p:nvSpPr>
        <p:spPr>
          <a:xfrm>
            <a:off x="5830193" y="3925987"/>
            <a:ext cx="5545832" cy="1485702"/>
          </a:xfrm>
          <a:prstGeom prst="roundRect">
            <a:avLst>
              <a:gd name="adj" fmla="val 6838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kst 1x21.60"/>
          <p:cNvSpPr txBox="1"/>
          <p:nvPr/>
        </p:nvSpPr>
        <p:spPr>
          <a:xfrm>
            <a:off x="6036568" y="4106962"/>
            <a:ext cx="5235744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Prvo test na maloj sekvenci</a:t>
            </a:r>
            <a:endParaRPr sz="1800"/>
          </a:p>
        </p:txBody>
      </p:sp>
      <p:sp>
        <p:nvSpPr>
          <p:cNvPr id="11" name="Tekst 3x20.30"/>
          <p:cNvSpPr txBox="1"/>
          <p:nvPr/>
        </p:nvSpPr>
        <p:spPr>
          <a:xfrm>
            <a:off x="6036568" y="4457402"/>
            <a:ext cx="5235744" cy="77331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Za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"ATGC"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odgovor znamo napamet: 0.5. Bez zagrada,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a_count + t_count / length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daje 1.25, jer deljenje ima prednost nad sabiranjem.</a:t>
            </a:r>
            <a:endParaRPr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VEŽBA: KOMPLEMENT DNK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Komplement DNK: zamena u četiri koraka</a:t>
            </a:r>
            <a:endParaRPr sz="3200"/>
          </a:p>
        </p:txBody>
      </p:sp>
      <p:sp>
        <p:nvSpPr>
          <p:cNvPr id="4" name="Tekst 1x21.60"/>
          <p:cNvSpPr txBox="1"/>
          <p:nvPr/>
        </p:nvSpPr>
        <p:spPr>
          <a:xfrm>
            <a:off x="812800" y="1701701"/>
            <a:ext cx="523341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Naivno, i pogrešno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819150" y="2083891"/>
            <a:ext cx="5118100" cy="1647726"/>
          </a:xfrm>
          <a:prstGeom prst="roundRect">
            <a:avLst>
              <a:gd name="adj" fmla="val 6166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kst 5x20.15"/>
          <p:cNvSpPr txBox="1"/>
          <p:nvPr/>
        </p:nvSpPr>
        <p:spPr>
          <a:xfrm>
            <a:off x="1079500" y="2268041"/>
            <a:ext cx="4689348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replacement1 = my_dna.replace(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'A'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replacement2 = replacement1.replace(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'A'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replacement3 = replacement2.replace(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'C'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'G'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replacement4 = replacement3.replace(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'G'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'C'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print(replacement4)</a:t>
            </a:r>
            <a:endParaRPr sz="1300"/>
          </a:p>
        </p:txBody>
      </p:sp>
      <p:sp>
        <p:nvSpPr>
          <p:cNvPr id="7" name="Rounded Rectangle 6"/>
          <p:cNvSpPr/>
          <p:nvPr/>
        </p:nvSpPr>
        <p:spPr>
          <a:xfrm>
            <a:off x="819150" y="3845917"/>
            <a:ext cx="5118100" cy="624185"/>
          </a:xfrm>
          <a:prstGeom prst="roundRect">
            <a:avLst>
              <a:gd name="adj" fmla="val 16277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kst 1x16.80"/>
          <p:cNvSpPr txBox="1"/>
          <p:nvPr/>
        </p:nvSpPr>
        <p:spPr>
          <a:xfrm>
            <a:off x="4889500" y="3903067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9" name="Tekst 1x20.15"/>
          <p:cNvSpPr txBox="1"/>
          <p:nvPr/>
        </p:nvSpPr>
        <p:spPr>
          <a:xfrm>
            <a:off x="1079500" y="4030067"/>
            <a:ext cx="4689348" cy="2558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ACACAACCAAAACCAAAACA…</a:t>
            </a:r>
            <a:endParaRPr sz="1300"/>
          </a:p>
        </p:txBody>
      </p:sp>
      <p:sp>
        <p:nvSpPr>
          <p:cNvPr id="10" name="Tekst 2x20.30"/>
          <p:cNvSpPr txBox="1"/>
          <p:nvPr/>
        </p:nvSpPr>
        <p:spPr>
          <a:xfrm>
            <a:off x="812800" y="4578052"/>
            <a:ext cx="5233416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Druga zamena vraća u A i one T koji su upravo nastali od A. Ostaju samo A i C.</a:t>
            </a:r>
            <a:endParaRPr sz="1400"/>
          </a:p>
        </p:txBody>
      </p:sp>
      <p:sp>
        <p:nvSpPr>
          <p:cNvPr id="11" name="Tekst 1x21.60"/>
          <p:cNvSpPr txBox="1"/>
          <p:nvPr/>
        </p:nvSpPr>
        <p:spPr>
          <a:xfrm>
            <a:off x="6248400" y="1701701"/>
            <a:ext cx="523341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Trik: privremeno mala slova</a:t>
            </a:r>
            <a:endParaRPr sz="1800"/>
          </a:p>
        </p:txBody>
      </p:sp>
      <p:sp>
        <p:nvSpPr>
          <p:cNvPr id="12" name="Rounded Rectangle 11"/>
          <p:cNvSpPr/>
          <p:nvPr/>
        </p:nvSpPr>
        <p:spPr>
          <a:xfrm>
            <a:off x="6254750" y="2083891"/>
            <a:ext cx="5118100" cy="1647726"/>
          </a:xfrm>
          <a:prstGeom prst="roundRect">
            <a:avLst>
              <a:gd name="adj" fmla="val 6166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kst 5x20.15"/>
          <p:cNvSpPr txBox="1"/>
          <p:nvPr/>
        </p:nvSpPr>
        <p:spPr>
          <a:xfrm>
            <a:off x="6515100" y="2268041"/>
            <a:ext cx="4689348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replacement1 = my_dna.replace(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'A'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replacement2 = replacement1.replace(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'a'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replacement3 = replacement2.replace(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'C'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'g'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replacement4 = replacement3.replace(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'G'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'c'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print(replacement4.upper())</a:t>
            </a:r>
            <a:endParaRPr sz="1300"/>
          </a:p>
        </p:txBody>
      </p:sp>
      <p:sp>
        <p:nvSpPr>
          <p:cNvPr id="14" name="Rounded Rectangle 13"/>
          <p:cNvSpPr/>
          <p:nvPr/>
        </p:nvSpPr>
        <p:spPr>
          <a:xfrm>
            <a:off x="6254750" y="3845917"/>
            <a:ext cx="5118100" cy="624185"/>
          </a:xfrm>
          <a:prstGeom prst="roundRect">
            <a:avLst>
              <a:gd name="adj" fmla="val 16277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kst 1x16.80"/>
          <p:cNvSpPr txBox="1"/>
          <p:nvPr/>
        </p:nvSpPr>
        <p:spPr>
          <a:xfrm>
            <a:off x="10325100" y="3903067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16" name="Tekst 1x20.15"/>
          <p:cNvSpPr txBox="1"/>
          <p:nvPr/>
        </p:nvSpPr>
        <p:spPr>
          <a:xfrm>
            <a:off x="6515100" y="4030067"/>
            <a:ext cx="4689348" cy="2558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TGACTAGCTAATGCATATCA…</a:t>
            </a:r>
            <a:endParaRPr sz="1300"/>
          </a:p>
        </p:txBody>
      </p:sp>
      <p:sp>
        <p:nvSpPr>
          <p:cNvPr id="17" name="Tekst 2x20.30"/>
          <p:cNvSpPr txBox="1"/>
          <p:nvPr/>
        </p:nvSpPr>
        <p:spPr>
          <a:xfrm>
            <a:off x="6248400" y="4578052"/>
            <a:ext cx="5233416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Mala slova se ne poklapaju sa velikim, pa se zamene ne mešaju.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upper()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na kraju vraća velika slova.</a:t>
            </a:r>
            <a:endParaRPr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VEŽBA: KOMPLEMENT DNK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Traženje greške: ispišite svaki korak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10553700" cy="1638300"/>
          </a:xfrm>
          <a:prstGeom prst="roundRect">
            <a:avLst>
              <a:gd name="adj" fmla="val 6201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5x20.00"/>
          <p:cNvSpPr txBox="1"/>
          <p:nvPr/>
        </p:nvSpPr>
        <p:spPr>
          <a:xfrm>
            <a:off x="1079500" y="1892201"/>
            <a:ext cx="10185400" cy="1270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replacement1 = my_dna.replace(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'A'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print(replacement1)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replacement2 = replacement1.replace(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'A'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print(replacement2)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… isto za C → G i G → C, uz print posle svakog koraka</a:t>
            </a:r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819150" y="3613051"/>
            <a:ext cx="5422503" cy="1638300"/>
          </a:xfrm>
          <a:prstGeom prst="roundRect">
            <a:avLst>
              <a:gd name="adj" fmla="val 6201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5x20.00"/>
          <p:cNvSpPr txBox="1"/>
          <p:nvPr/>
        </p:nvSpPr>
        <p:spPr>
          <a:xfrm>
            <a:off x="1079500" y="3797201"/>
            <a:ext cx="4999839" cy="1270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F70"/>
                </a:solidFill>
                <a:latin typeface="Consolas"/>
              </a:rPr>
              <a:t>ACTGATCGATTACGTATAGTATTTGCTATCATACATATATATCGATGCGTTCAT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TCTGTTCGTTTTCGTTTTGTTTTTGCTTTCTTTCTTTTTTTTCGTTGCGTTCTT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ACAGAACGAAAACGAAAAGAAAAAGCAAACAAACAAAAAAAACGAAGCGAACAA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AGAGAAGGAAAAGGAAAAGAAAAAGGAAAGAAAGAAAAAAAAGGAAGGGAAGAA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ACACAACCAAAACCAAAACAAAAACCAAACAAACAAAAAAAACCAACCCAACAA</a:t>
            </a:r>
            <a:endParaRPr sz="1300"/>
          </a:p>
        </p:txBody>
      </p:sp>
      <p:sp>
        <p:nvSpPr>
          <p:cNvPr id="8" name="Tekst 1x20.00"/>
          <p:cNvSpPr txBox="1"/>
          <p:nvPr/>
        </p:nvSpPr>
        <p:spPr>
          <a:xfrm>
            <a:off x="6451203" y="3797201"/>
            <a:ext cx="5026557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F6F70"/>
                </a:solidFill>
                <a:latin typeface="Arial"/>
              </a:rPr>
              <a:t>original, za poređenje</a:t>
            </a:r>
            <a:endParaRPr sz="1400"/>
          </a:p>
        </p:txBody>
      </p:sp>
      <p:sp>
        <p:nvSpPr>
          <p:cNvPr id="9" name="Tekst 1x20.00"/>
          <p:cNvSpPr txBox="1"/>
          <p:nvPr/>
        </p:nvSpPr>
        <p:spPr>
          <a:xfrm>
            <a:off x="6451203" y="4051201"/>
            <a:ext cx="5026557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A → T: ispravno</a:t>
            </a:r>
            <a:endParaRPr sz="1400"/>
          </a:p>
        </p:txBody>
      </p:sp>
      <p:sp>
        <p:nvSpPr>
          <p:cNvPr id="10" name="Tekst 1x20.00"/>
          <p:cNvSpPr txBox="1"/>
          <p:nvPr/>
        </p:nvSpPr>
        <p:spPr>
          <a:xfrm>
            <a:off x="6451203" y="4305201"/>
            <a:ext cx="5026557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T → A: vraća i T nastala od A</a:t>
            </a:r>
            <a:endParaRPr sz="1400"/>
          </a:p>
        </p:txBody>
      </p:sp>
      <p:sp>
        <p:nvSpPr>
          <p:cNvPr id="11" name="Tekst 1x20.00"/>
          <p:cNvSpPr txBox="1"/>
          <p:nvPr/>
        </p:nvSpPr>
        <p:spPr>
          <a:xfrm>
            <a:off x="6451203" y="4559201"/>
            <a:ext cx="5026557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C → G</a:t>
            </a:r>
            <a:endParaRPr sz="1400"/>
          </a:p>
        </p:txBody>
      </p:sp>
      <p:sp>
        <p:nvSpPr>
          <p:cNvPr id="12" name="Tekst 1x20.00"/>
          <p:cNvSpPr txBox="1"/>
          <p:nvPr/>
        </p:nvSpPr>
        <p:spPr>
          <a:xfrm>
            <a:off x="6451203" y="4813201"/>
            <a:ext cx="5026557" cy="254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G → C: vraća i G nastala od C</a:t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VEŽBA: KOMPLEMENT DNK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Dva ispravna rešenja</a:t>
            </a:r>
            <a:endParaRPr sz="3200"/>
          </a:p>
        </p:txBody>
      </p:sp>
      <p:sp>
        <p:nvSpPr>
          <p:cNvPr id="4" name="Tekst 1x21.60"/>
          <p:cNvSpPr txBox="1"/>
          <p:nvPr/>
        </p:nvSpPr>
        <p:spPr>
          <a:xfrm>
            <a:off x="812800" y="1701701"/>
            <a:ext cx="523341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Privremena slova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819150" y="2083891"/>
            <a:ext cx="5118100" cy="2671266"/>
          </a:xfrm>
          <a:prstGeom prst="roundRect">
            <a:avLst>
              <a:gd name="adj" fmla="val 3803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kst 9x20.15"/>
          <p:cNvSpPr txBox="1"/>
          <p:nvPr/>
        </p:nvSpPr>
        <p:spPr>
          <a:xfrm>
            <a:off x="1079500" y="2268041"/>
            <a:ext cx="4689348" cy="230296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replacement1 = my_dna.replace(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'A'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'H'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replacement2 = replacement1.replace(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'J'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replacement3 = replacement2.replace(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'C'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'K'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replacement4 = replacement3.replace(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'G'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'L'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replacement5 = replacement4.replace(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'H'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'T'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replacement6 = replacement5.replace(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'J'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'A'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replacement7 = replacement6.replace(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'K'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'G'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replacement8 = replacement7.replace(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'L'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,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'C'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print(replacement8)</a:t>
            </a:r>
            <a:endParaRPr sz="1300"/>
          </a:p>
        </p:txBody>
      </p:sp>
      <p:sp>
        <p:nvSpPr>
          <p:cNvPr id="7" name="Tekst 1x21.60"/>
          <p:cNvSpPr txBox="1"/>
          <p:nvPr/>
        </p:nvSpPr>
        <p:spPr>
          <a:xfrm>
            <a:off x="6248400" y="1701701"/>
            <a:ext cx="523341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Mala slova, korak po korak</a:t>
            </a:r>
            <a:endParaRPr sz="1800"/>
          </a:p>
        </p:txBody>
      </p:sp>
      <p:sp>
        <p:nvSpPr>
          <p:cNvPr id="8" name="Rounded Rectangle 7"/>
          <p:cNvSpPr/>
          <p:nvPr/>
        </p:nvSpPr>
        <p:spPr>
          <a:xfrm>
            <a:off x="6254750" y="2083891"/>
            <a:ext cx="5118100" cy="1647726"/>
          </a:xfrm>
          <a:prstGeom prst="roundRect">
            <a:avLst>
              <a:gd name="adj" fmla="val 6166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kst 5x20.15"/>
          <p:cNvSpPr txBox="1"/>
          <p:nvPr/>
        </p:nvSpPr>
        <p:spPr>
          <a:xfrm>
            <a:off x="6515100" y="2268041"/>
            <a:ext cx="4689348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tCTGtTCGtTTtCGTtTtGTtTTTGCTtTCtTtCtT…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tCaGtaCGtaatCGatatGataaaGCataCtatCta…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tgaGtagGtaatgGatatGataaaGgatagtatgta…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tgactagctaatgcatatcataaacgatagtatgta…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TGACTAGCTAATGCATATCATAAACGATAGTATGTA…</a:t>
            </a:r>
            <a:endParaRPr sz="1300"/>
          </a:p>
        </p:txBody>
      </p:sp>
      <p:sp>
        <p:nvSpPr>
          <p:cNvPr id="10" name="Tekst 2x20.30"/>
          <p:cNvSpPr txBox="1"/>
          <p:nvPr/>
        </p:nvSpPr>
        <p:spPr>
          <a:xfrm>
            <a:off x="6248400" y="3839567"/>
            <a:ext cx="5233416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Zamena razlikuje velika i mala slova, pa se već zamenjene baze više ne diraju. Na kraju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upper()</a:t>
            </a:r>
            <a:r>
              <a:rPr sz="1400" b="0" i="0">
                <a:solidFill>
                  <a:srgbClr val="3D4F52"/>
                </a:solidFill>
                <a:latin typeface="Arial"/>
              </a:rPr>
              <a:t> vraća velika slova.</a:t>
            </a:r>
            <a:endParaRPr sz="1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VEŽBA: RESTRIKCIONI FRAGMENTI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EcoRI seče između G i AATTC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606451"/>
            <a:ext cx="5513388" cy="1060450"/>
          </a:xfrm>
          <a:prstGeom prst="roundRect">
            <a:avLst>
              <a:gd name="adj" fmla="val 9580"/>
            </a:avLst>
          </a:prstGeom>
          <a:solidFill>
            <a:srgbClr val="FCFBF7"/>
          </a:solidFill>
          <a:ln w="1270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3x19.50"/>
          <p:cNvSpPr txBox="1"/>
          <p:nvPr/>
        </p:nvSpPr>
        <p:spPr>
          <a:xfrm>
            <a:off x="1079500" y="1765201"/>
            <a:ext cx="5092541" cy="7429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F6F70"/>
                </a:solidFill>
                <a:latin typeface="Consolas"/>
              </a:rPr>
              <a:t>          1         2         3         4         5</a:t>
            </a:r>
            <a:br/>
            <a:r>
              <a:rPr sz="1300" b="0" i="0">
                <a:solidFill>
                  <a:srgbClr val="5F6F70"/>
                </a:solidFill>
                <a:latin typeface="Consolas"/>
              </a:rPr>
              <a:t>0123456789012345678901234567890123456789012345678901234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ACTGATCGATTACGTATAGTA</a:t>
            </a:r>
            <a:r>
              <a:rPr sz="1300" b="0" i="0">
                <a:solidFill>
                  <a:srgbClr val="0F7C6E"/>
                </a:solidFill>
                <a:latin typeface="Consolas"/>
              </a:rPr>
              <a:t>G</a:t>
            </a:r>
            <a:r>
              <a:rPr sz="1300" b="0" i="0">
                <a:solidFill>
                  <a:srgbClr val="A8521A"/>
                </a:solidFill>
                <a:latin typeface="Consolas"/>
              </a:rPr>
              <a:t>AATTC</a:t>
            </a:r>
            <a:r>
              <a:rPr sz="1300" b="0" i="0">
                <a:solidFill>
                  <a:srgbClr val="13262B"/>
                </a:solidFill>
                <a:latin typeface="Consolas"/>
              </a:rPr>
              <a:t>TATCATACATATATATCGATGCGTTCAT</a:t>
            </a:r>
            <a:endParaRPr sz="1300"/>
          </a:p>
        </p:txBody>
      </p:sp>
      <p:sp>
        <p:nvSpPr>
          <p:cNvPr id="6" name="Tekst 2x20.30"/>
          <p:cNvSpPr txBox="1"/>
          <p:nvPr/>
        </p:nvSpPr>
        <p:spPr>
          <a:xfrm>
            <a:off x="6542088" y="1878905"/>
            <a:ext cx="4933855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Rez je posle G na poziciji 21: fragment 1 su pozicije 0–21 (22 baze), fragment 2 je ostatak (33 baze).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819150" y="2832001"/>
            <a:ext cx="10553700" cy="1647726"/>
          </a:xfrm>
          <a:prstGeom prst="roundRect">
            <a:avLst>
              <a:gd name="adj" fmla="val 6166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kst 5x20.15"/>
          <p:cNvSpPr txBox="1"/>
          <p:nvPr/>
        </p:nvSpPr>
        <p:spPr>
          <a:xfrm>
            <a:off x="1079500" y="3016151"/>
            <a:ext cx="10185400" cy="1279426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my_dna = 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"ACTGATCGATTACGTATAGTAGAATTCTATCATACATATATATCGATGCGTTCAT"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frag1_length = my_dna.find(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"GAATTC"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) + 1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frag2_length = len(my_dna) - frag1_length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"length of fragment one is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str(frag1_length))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</a:t>
            </a:r>
            <a:r>
              <a:rPr sz="1300" b="0" i="0">
                <a:solidFill>
                  <a:srgbClr val="F0A35E"/>
                </a:solidFill>
                <a:latin typeface="Consolas"/>
              </a:rPr>
              <a:t>"length of fragment two is "</a:t>
            </a:r>
            <a:r>
              <a:rPr sz="1300" b="0" i="0">
                <a:solidFill>
                  <a:srgbClr val="E8EEE9"/>
                </a:solidFill>
                <a:latin typeface="Consolas"/>
              </a:rPr>
              <a:t> + str(frag2_length))</a:t>
            </a:r>
            <a:endParaRPr sz="1300"/>
          </a:p>
        </p:txBody>
      </p:sp>
      <p:sp>
        <p:nvSpPr>
          <p:cNvPr id="9" name="Rounded Rectangle 8"/>
          <p:cNvSpPr/>
          <p:nvPr/>
        </p:nvSpPr>
        <p:spPr>
          <a:xfrm>
            <a:off x="819150" y="4644827"/>
            <a:ext cx="3062387" cy="1032470"/>
          </a:xfrm>
          <a:prstGeom prst="roundRect">
            <a:avLst>
              <a:gd name="adj" fmla="val 9840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kst 1x16.80"/>
          <p:cNvSpPr txBox="1"/>
          <p:nvPr/>
        </p:nvSpPr>
        <p:spPr>
          <a:xfrm>
            <a:off x="2833787" y="4701977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11" name="Tekst 2x20.15"/>
          <p:cNvSpPr txBox="1"/>
          <p:nvPr/>
        </p:nvSpPr>
        <p:spPr>
          <a:xfrm>
            <a:off x="1079500" y="4981377"/>
            <a:ext cx="2592520" cy="51177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length of fragment one is 22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length of fragment two is 33</a:t>
            </a:r>
            <a:endParaRPr sz="1300"/>
          </a:p>
        </p:txBody>
      </p:sp>
      <p:sp>
        <p:nvSpPr>
          <p:cNvPr id="12" name="Rounded Rectangle 11"/>
          <p:cNvSpPr/>
          <p:nvPr/>
        </p:nvSpPr>
        <p:spPr>
          <a:xfrm>
            <a:off x="4091087" y="4638477"/>
            <a:ext cx="7288113" cy="1045170"/>
          </a:xfrm>
          <a:prstGeom prst="roundRect">
            <a:avLst>
              <a:gd name="adj" fmla="val 7290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91087" y="4638477"/>
            <a:ext cx="38100" cy="1045170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kst 2x20.30"/>
          <p:cNvSpPr txBox="1"/>
          <p:nvPr/>
        </p:nvSpPr>
        <p:spPr>
          <a:xfrm>
            <a:off x="4306987" y="4903291"/>
            <a:ext cx="7001093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Ako mesta nema, find vraća -1, pa program prijavi fragment dužine 0. Kako to sprečiti, vidimo u poglavlju 6.</a:t>
            </a:r>
            <a:endParaRPr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VEŽBA: ISECANJE INTRONA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Prvi pokušaj: greška za jedan</a:t>
            </a:r>
            <a:endParaRPr sz="3200"/>
          </a:p>
        </p:txBody>
      </p:sp>
      <p:sp>
        <p:nvSpPr>
          <p:cNvPr id="4" name="Tekst 1x21.60"/>
          <p:cNvSpPr txBox="1"/>
          <p:nvPr/>
        </p:nvSpPr>
        <p:spPr>
          <a:xfrm>
            <a:off x="812800" y="1701701"/>
            <a:ext cx="523341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Pogrešno</a:t>
            </a:r>
            <a:endParaRPr sz="1800"/>
          </a:p>
        </p:txBody>
      </p:sp>
      <p:sp>
        <p:nvSpPr>
          <p:cNvPr id="5" name="Rounded Rectangle 4"/>
          <p:cNvSpPr/>
          <p:nvPr/>
        </p:nvSpPr>
        <p:spPr>
          <a:xfrm>
            <a:off x="819150" y="2083891"/>
            <a:ext cx="5118100" cy="1135955"/>
          </a:xfrm>
          <a:prstGeom prst="roundRect">
            <a:avLst>
              <a:gd name="adj" fmla="val 8944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kst 3x20.15"/>
          <p:cNvSpPr txBox="1"/>
          <p:nvPr/>
        </p:nvSpPr>
        <p:spPr>
          <a:xfrm>
            <a:off x="1079500" y="2268041"/>
            <a:ext cx="4689348" cy="7676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exon1 = my_dna[1:63]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exon2 = my_dna[91:10000]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print(exon1 + exon2)</a:t>
            </a:r>
            <a:endParaRPr sz="1300"/>
          </a:p>
        </p:txBody>
      </p:sp>
      <p:sp>
        <p:nvSpPr>
          <p:cNvPr id="7" name="Rounded Rectangle 6"/>
          <p:cNvSpPr/>
          <p:nvPr/>
        </p:nvSpPr>
        <p:spPr>
          <a:xfrm>
            <a:off x="819150" y="3334147"/>
            <a:ext cx="5118100" cy="624185"/>
          </a:xfrm>
          <a:prstGeom prst="roundRect">
            <a:avLst>
              <a:gd name="adj" fmla="val 16277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kst 1x20.15"/>
          <p:cNvSpPr txBox="1"/>
          <p:nvPr/>
        </p:nvSpPr>
        <p:spPr>
          <a:xfrm>
            <a:off x="1079500" y="3518297"/>
            <a:ext cx="4689348" cy="2558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TCGATCGATCGATCGACTGACTAG…</a:t>
            </a:r>
            <a:endParaRPr sz="1300"/>
          </a:p>
        </p:txBody>
      </p:sp>
      <p:sp>
        <p:nvSpPr>
          <p:cNvPr id="9" name="Tekst 1x20.30"/>
          <p:cNvSpPr txBox="1"/>
          <p:nvPr/>
        </p:nvSpPr>
        <p:spPr>
          <a:xfrm>
            <a:off x="812800" y="4066282"/>
            <a:ext cx="5233416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Rezultat počinje drugom bazom: svi brojevi su za jedan preveliki.</a:t>
            </a:r>
            <a:endParaRPr sz="1400"/>
          </a:p>
        </p:txBody>
      </p:sp>
      <p:sp>
        <p:nvSpPr>
          <p:cNvPr id="10" name="Tekst 1x21.60"/>
          <p:cNvSpPr txBox="1"/>
          <p:nvPr/>
        </p:nvSpPr>
        <p:spPr>
          <a:xfrm>
            <a:off x="6248400" y="1701701"/>
            <a:ext cx="5233416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Ispravno</a:t>
            </a:r>
            <a:endParaRPr sz="1800"/>
          </a:p>
        </p:txBody>
      </p:sp>
      <p:sp>
        <p:nvSpPr>
          <p:cNvPr id="11" name="Rounded Rectangle 10"/>
          <p:cNvSpPr/>
          <p:nvPr/>
        </p:nvSpPr>
        <p:spPr>
          <a:xfrm>
            <a:off x="6254750" y="2083891"/>
            <a:ext cx="5118100" cy="1135955"/>
          </a:xfrm>
          <a:prstGeom prst="roundRect">
            <a:avLst>
              <a:gd name="adj" fmla="val 8944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kst 3x20.15"/>
          <p:cNvSpPr txBox="1"/>
          <p:nvPr/>
        </p:nvSpPr>
        <p:spPr>
          <a:xfrm>
            <a:off x="6515100" y="2268041"/>
            <a:ext cx="4689348" cy="76765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exon1 = my_dna[0:63]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exon2 = my_dna[90:10000]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print(exon1 + exon2)</a:t>
            </a:r>
            <a:endParaRPr sz="1300"/>
          </a:p>
        </p:txBody>
      </p:sp>
      <p:sp>
        <p:nvSpPr>
          <p:cNvPr id="13" name="Rounded Rectangle 12"/>
          <p:cNvSpPr/>
          <p:nvPr/>
        </p:nvSpPr>
        <p:spPr>
          <a:xfrm>
            <a:off x="6254750" y="3334147"/>
            <a:ext cx="5118100" cy="624185"/>
          </a:xfrm>
          <a:prstGeom prst="roundRect">
            <a:avLst>
              <a:gd name="adj" fmla="val 16277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kst 1x20.15"/>
          <p:cNvSpPr txBox="1"/>
          <p:nvPr/>
        </p:nvSpPr>
        <p:spPr>
          <a:xfrm>
            <a:off x="6515100" y="3518297"/>
            <a:ext cx="4689348" cy="25588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ATCGATCGATCGATCGACTGACTAG…</a:t>
            </a:r>
            <a:endParaRPr sz="1300"/>
          </a:p>
        </p:txBody>
      </p:sp>
      <p:sp>
        <p:nvSpPr>
          <p:cNvPr id="15" name="Tekst 2x20.30"/>
          <p:cNvSpPr txBox="1"/>
          <p:nvPr/>
        </p:nvSpPr>
        <p:spPr>
          <a:xfrm>
            <a:off x="6248400" y="4066282"/>
            <a:ext cx="5233416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D4F52"/>
                </a:solidFill>
                <a:latin typeface="Arial"/>
              </a:rPr>
              <a:t>Baza broj n ima indeks n − 1, a kraj isečka nije uključen: baze 1–63 su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[0:63]</a:t>
            </a:r>
            <a:r>
              <a:rPr sz="1400" b="0" i="0">
                <a:solidFill>
                  <a:srgbClr val="3D4F52"/>
                </a:solidFill>
                <a:latin typeface="Arial"/>
              </a:rPr>
              <a:t>.</a:t>
            </a:r>
            <a:endParaRPr sz="1400"/>
          </a:p>
        </p:txBody>
      </p:sp>
      <p:sp>
        <p:nvSpPr>
          <p:cNvPr id="16" name="Rounded Rectangle 15"/>
          <p:cNvSpPr/>
          <p:nvPr/>
        </p:nvSpPr>
        <p:spPr>
          <a:xfrm>
            <a:off x="812800" y="4835823"/>
            <a:ext cx="10566400" cy="562570"/>
          </a:xfrm>
          <a:prstGeom prst="roundRect">
            <a:avLst>
              <a:gd name="adj" fmla="val 13544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800" y="4835823"/>
            <a:ext cx="38100" cy="562570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kst 1x20.30"/>
          <p:cNvSpPr txBox="1"/>
          <p:nvPr/>
        </p:nvSpPr>
        <p:spPr>
          <a:xfrm>
            <a:off x="1054100" y="4988223"/>
            <a:ext cx="10243820" cy="2577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Postavka: egzon 1 ide od početka do 63. baze, egzon 2 od 91. baze do kraja; između je intron.</a:t>
            </a:r>
            <a:endParaRPr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VEŽBA: ISECANJE INTRONA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Koliki deo sekvence je kodirajući?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708051"/>
            <a:ext cx="4242395" cy="1903611"/>
          </a:xfrm>
          <a:prstGeom prst="roundRect">
            <a:avLst>
              <a:gd name="adj" fmla="val 5337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6x20.15"/>
          <p:cNvSpPr txBox="1"/>
          <p:nvPr/>
        </p:nvSpPr>
        <p:spPr>
          <a:xfrm>
            <a:off x="1079500" y="1892201"/>
            <a:ext cx="3796129" cy="15353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exon1 = my_dna[0:63]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exon2 = my_dna[90:10000]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coding_length = len(exon1 + exon2)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total_length = len(my_dna)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print(coding_length / total_length)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print(100 * coding_length / total_length)</a:t>
            </a:r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5175845" y="1708051"/>
            <a:ext cx="2154634" cy="1903611"/>
          </a:xfrm>
          <a:prstGeom prst="roundRect">
            <a:avLst>
              <a:gd name="adj" fmla="val 5337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1x16.80"/>
          <p:cNvSpPr txBox="1"/>
          <p:nvPr/>
        </p:nvSpPr>
        <p:spPr>
          <a:xfrm>
            <a:off x="6308130" y="1765201"/>
            <a:ext cx="914400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5F6F70"/>
                </a:solidFill>
                <a:latin typeface="Arial"/>
              </a:rPr>
              <a:t>IZLAZ</a:t>
            </a:r>
            <a:endParaRPr sz="1200"/>
          </a:p>
        </p:txBody>
      </p:sp>
      <p:sp>
        <p:nvSpPr>
          <p:cNvPr id="8" name="Tekst 6x20.15"/>
          <p:cNvSpPr txBox="1"/>
          <p:nvPr/>
        </p:nvSpPr>
        <p:spPr>
          <a:xfrm>
            <a:off x="5436195" y="1892201"/>
            <a:ext cx="1666613" cy="153531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 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0.7804878048780488</a:t>
            </a:r>
            <a:br/>
            <a:r>
              <a:rPr sz="1300" b="0" i="0">
                <a:solidFill>
                  <a:srgbClr val="13262B"/>
                </a:solidFill>
                <a:latin typeface="Consolas"/>
              </a:rPr>
              <a:t>78.04878048780488</a:t>
            </a:r>
            <a:endParaRPr sz="1300"/>
          </a:p>
        </p:txBody>
      </p:sp>
      <p:sp>
        <p:nvSpPr>
          <p:cNvPr id="9" name="Rounded Rectangle 8"/>
          <p:cNvSpPr/>
          <p:nvPr/>
        </p:nvSpPr>
        <p:spPr>
          <a:xfrm>
            <a:off x="7441605" y="1704876"/>
            <a:ext cx="3934420" cy="1650802"/>
          </a:xfrm>
          <a:prstGeom prst="roundRect">
            <a:avLst>
              <a:gd name="adj" fmla="val 6154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kst 5x20.30"/>
          <p:cNvSpPr txBox="1"/>
          <p:nvPr/>
        </p:nvSpPr>
        <p:spPr>
          <a:xfrm>
            <a:off x="7647980" y="1885851"/>
            <a:ext cx="3592104" cy="128885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Dužinu dobijamo iz već napisanog koda: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len(exon1 + exon2)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Množenje je </a:t>
            </a:r>
            <a:r>
              <a:rPr sz="1400" b="0" i="0">
                <a:solidFill>
                  <a:srgbClr val="A8521A"/>
                </a:solidFill>
                <a:latin typeface="Arial"/>
              </a:rPr>
              <a:t>*</a:t>
            </a:r>
            <a:r>
              <a:rPr sz="1400" b="0" i="0">
                <a:solidFill>
                  <a:srgbClr val="3D4F52"/>
                </a:solidFill>
                <a:latin typeface="Arial"/>
              </a:rPr>
              <a:t>, a ne x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Previše decimala sređujemo kasnije (round, pogl. 5)</a:t>
            </a:r>
            <a:endParaRPr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VEŽBA: ISECANJE INTRONA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Intron malim slovima, na tri načina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9150" y="1657251"/>
            <a:ext cx="3879354" cy="1391841"/>
          </a:xfrm>
          <a:prstGeom prst="roundRect">
            <a:avLst>
              <a:gd name="adj" fmla="val 7299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4x20.15"/>
          <p:cNvSpPr txBox="1"/>
          <p:nvPr/>
        </p:nvSpPr>
        <p:spPr>
          <a:xfrm>
            <a:off x="1079500" y="1841401"/>
            <a:ext cx="3425827" cy="102354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E8EEE9"/>
                </a:solidFill>
                <a:latin typeface="Consolas"/>
              </a:rPr>
              <a:t>exon1 = my_dna[0:63]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intron = my_dna[63:90]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exon2 = my_dna[90:10000]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print(exon1 + intron.lower() + exon2)</a:t>
            </a:r>
            <a:endParaRPr sz="1300"/>
          </a:p>
        </p:txBody>
      </p:sp>
      <p:sp>
        <p:nvSpPr>
          <p:cNvPr id="6" name="Rounded Rectangle 5"/>
          <p:cNvSpPr/>
          <p:nvPr/>
        </p:nvSpPr>
        <p:spPr>
          <a:xfrm>
            <a:off x="4863604" y="1657251"/>
            <a:ext cx="6509246" cy="1391841"/>
          </a:xfrm>
          <a:prstGeom prst="roundRect">
            <a:avLst>
              <a:gd name="adj" fmla="val 7299"/>
            </a:avLst>
          </a:prstGeom>
          <a:solidFill>
            <a:srgbClr val="FCFBF7"/>
          </a:solidFill>
          <a:ln w="12700">
            <a:solidFill>
              <a:srgbClr val="9AAAA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kst 2x18.60"/>
          <p:cNvSpPr txBox="1"/>
          <p:nvPr/>
        </p:nvSpPr>
        <p:spPr>
          <a:xfrm>
            <a:off x="5073154" y="2117030"/>
            <a:ext cx="6211949" cy="47228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186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3262B"/>
                </a:solidFill>
                <a:latin typeface="Consolas"/>
              </a:rPr>
              <a:t>ATCGATCGATCGATCGACTGACTAGTCATAGCTATGCATGTAGCTACTCGATCGATCGATCG</a:t>
            </a:r>
            <a:br/>
            <a:r>
              <a:rPr sz="1200" b="0" i="0">
                <a:solidFill>
                  <a:srgbClr val="13262B"/>
                </a:solidFill>
                <a:latin typeface="Consolas"/>
              </a:rPr>
              <a:t>A</a:t>
            </a:r>
            <a:r>
              <a:rPr sz="1200" b="0" i="0">
                <a:solidFill>
                  <a:srgbClr val="A8521A"/>
                </a:solidFill>
                <a:latin typeface="Consolas"/>
              </a:rPr>
              <a:t>tcgatcgatcgatcgatcgatcatgct</a:t>
            </a:r>
            <a:r>
              <a:rPr sz="1200" b="0" i="0">
                <a:solidFill>
                  <a:srgbClr val="13262B"/>
                </a:solidFill>
                <a:latin typeface="Consolas"/>
              </a:rPr>
              <a:t>ATCATCGATCGATATCGATGCATCGACTACTAT</a:t>
            </a:r>
            <a:endParaRPr sz="1200"/>
          </a:p>
        </p:txBody>
      </p:sp>
      <p:sp>
        <p:nvSpPr>
          <p:cNvPr id="8" name="Rounded Rectangle 7"/>
          <p:cNvSpPr/>
          <p:nvPr/>
        </p:nvSpPr>
        <p:spPr>
          <a:xfrm>
            <a:off x="819150" y="3264991"/>
            <a:ext cx="6148685" cy="1391841"/>
          </a:xfrm>
          <a:prstGeom prst="roundRect">
            <a:avLst>
              <a:gd name="adj" fmla="val 7299"/>
            </a:avLst>
          </a:prstGeom>
          <a:solidFill>
            <a:srgbClr val="13262B"/>
          </a:solidFill>
          <a:ln w="12700">
            <a:solidFill>
              <a:srgbClr val="13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kst 4x20.15"/>
          <p:cNvSpPr txBox="1"/>
          <p:nvPr/>
        </p:nvSpPr>
        <p:spPr>
          <a:xfrm>
            <a:off x="1079500" y="3449141"/>
            <a:ext cx="5740545" cy="1023541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2014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B3AA"/>
                </a:solidFill>
                <a:latin typeface="Consolas"/>
              </a:rPr>
              <a:t># ili: intron odmah pretvorimo u mala slova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intron = my_dna[63:90].lower()</a:t>
            </a:r>
            <a:br/>
            <a:r>
              <a:rPr sz="1300" b="0" i="0">
                <a:solidFill>
                  <a:srgbClr val="8FB3AA"/>
                </a:solidFill>
                <a:latin typeface="Consolas"/>
              </a:rPr>
              <a:t># ili: sve u jednoj naredbi, bez promenljivih</a:t>
            </a:r>
            <a:br/>
            <a:r>
              <a:rPr sz="1300" b="0" i="0">
                <a:solidFill>
                  <a:srgbClr val="E8EEE9"/>
                </a:solidFill>
                <a:latin typeface="Consolas"/>
              </a:rPr>
              <a:t>print(my_dna[0:63] + my_dna[63:90].lower() + my_dna[90:10000])</a:t>
            </a:r>
            <a:endParaRPr sz="1300"/>
          </a:p>
        </p:txBody>
      </p:sp>
      <p:sp>
        <p:nvSpPr>
          <p:cNvPr id="10" name="Rounded Rectangle 9"/>
          <p:cNvSpPr/>
          <p:nvPr/>
        </p:nvSpPr>
        <p:spPr>
          <a:xfrm>
            <a:off x="7228185" y="3550741"/>
            <a:ext cx="4151015" cy="820341"/>
          </a:xfrm>
          <a:prstGeom prst="roundRect">
            <a:avLst>
              <a:gd name="adj" fmla="val 9288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28185" y="3550741"/>
            <a:ext cx="38100" cy="820341"/>
          </a:xfrm>
          <a:prstGeom prst="rect">
            <a:avLst/>
          </a:prstGeom>
          <a:solidFill>
            <a:srgbClr val="0F7C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kst 2x20.30"/>
          <p:cNvSpPr txBox="1"/>
          <p:nvPr/>
        </p:nvSpPr>
        <p:spPr>
          <a:xfrm>
            <a:off x="7444085" y="3703141"/>
            <a:ext cx="3832461" cy="5155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03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3262B"/>
                </a:solidFill>
                <a:latin typeface="Arial"/>
              </a:rPr>
              <a:t>Birajte zapis čija je namera najjasnija, a ne najkraći.</a:t>
            </a:r>
            <a:endParaRPr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kst 1x16.80"/>
          <p:cNvSpPr txBox="1"/>
          <p:nvPr/>
        </p:nvSpPr>
        <p:spPr>
          <a:xfrm>
            <a:off x="812800" y="711200"/>
            <a:ext cx="10777728" cy="213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168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50">
                <a:solidFill>
                  <a:srgbClr val="0F7C6E"/>
                </a:solidFill>
                <a:latin typeface="Arial"/>
              </a:rPr>
              <a:t>02 · ŠTAMPANJE I RAD SA TEKSTOM</a:t>
            </a:r>
            <a:endParaRPr sz="1200"/>
          </a:p>
        </p:txBody>
      </p:sp>
      <p:sp>
        <p:nvSpPr>
          <p:cNvPr id="3" name="Tekst 1x35.20"/>
          <p:cNvSpPr txBox="1"/>
          <p:nvPr/>
        </p:nvSpPr>
        <p:spPr>
          <a:xfrm>
            <a:off x="812800" y="1000720"/>
            <a:ext cx="10777728" cy="4469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352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3262B"/>
                </a:solidFill>
                <a:latin typeface="Arial"/>
              </a:rPr>
              <a:t>Rezime i vežbe</a:t>
            </a:r>
            <a:endParaRPr sz="3200"/>
          </a:p>
        </p:txBody>
      </p:sp>
      <p:sp>
        <p:nvSpPr>
          <p:cNvPr id="4" name="Rounded Rectangle 3"/>
          <p:cNvSpPr/>
          <p:nvPr/>
        </p:nvSpPr>
        <p:spPr>
          <a:xfrm>
            <a:off x="815975" y="1704876"/>
            <a:ext cx="4651772" cy="2284412"/>
          </a:xfrm>
          <a:prstGeom prst="roundRect">
            <a:avLst>
              <a:gd name="adj" fmla="val 4447"/>
            </a:avLst>
          </a:prstGeom>
          <a:solidFill>
            <a:srgbClr val="FCFBF7"/>
          </a:solidFill>
          <a:ln w="6350">
            <a:solidFill>
              <a:srgbClr val="DCDD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kst 1x21.60"/>
          <p:cNvSpPr txBox="1"/>
          <p:nvPr/>
        </p:nvSpPr>
        <p:spPr>
          <a:xfrm>
            <a:off x="1022350" y="1885851"/>
            <a:ext cx="4323802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Šta smo naučili</a:t>
            </a:r>
            <a:endParaRPr sz="1800"/>
          </a:p>
        </p:txBody>
      </p:sp>
      <p:sp>
        <p:nvSpPr>
          <p:cNvPr id="6" name="Tekst 6x20.30"/>
          <p:cNvSpPr txBox="1"/>
          <p:nvPr/>
        </p:nvSpPr>
        <p:spPr>
          <a:xfrm>
            <a:off x="1022350" y="2261691"/>
            <a:ext cx="4323802" cy="154662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Naredbe, funkcije i argumenti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Komentari i čitanje poruka o greškama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Promenljive i tipovi: str i int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Razlika između funkcija i metoda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Spajanje, dužina, velika i mala slova</a:t>
            </a:r>
            <a:endParaRPr sz="1400"/>
          </a:p>
          <a:p>
            <a:pPr algn="l" marL="228600" indent="-17145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3D4F52"/>
              </a:buClr>
              <a:buFont typeface="Arial"/>
              <a:buChar char="•"/>
            </a:pPr>
            <a:r>
              <a:rPr sz="1400" b="0" i="0">
                <a:solidFill>
                  <a:srgbClr val="3D4F52"/>
                </a:solidFill>
                <a:latin typeface="Arial"/>
              </a:rPr>
              <a:t>Zamena, isecanje, brojanje i traženje</a:t>
            </a:r>
            <a:endParaRPr sz="1400"/>
          </a:p>
        </p:txBody>
      </p:sp>
      <p:sp>
        <p:nvSpPr>
          <p:cNvPr id="7" name="Rounded Rectangle 6"/>
          <p:cNvSpPr/>
          <p:nvPr/>
        </p:nvSpPr>
        <p:spPr>
          <a:xfrm>
            <a:off x="5674122" y="1701701"/>
            <a:ext cx="5705078" cy="2535833"/>
          </a:xfrm>
          <a:prstGeom prst="roundRect">
            <a:avLst>
              <a:gd name="adj" fmla="val 4006"/>
            </a:avLst>
          </a:prstGeom>
          <a:solidFill>
            <a:srgbClr val="E3E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kst 1x21.60"/>
          <p:cNvSpPr txBox="1"/>
          <p:nvPr/>
        </p:nvSpPr>
        <p:spPr>
          <a:xfrm>
            <a:off x="5877322" y="1879501"/>
            <a:ext cx="5404652" cy="27424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3262B"/>
                </a:solidFill>
                <a:latin typeface="Arial"/>
              </a:rPr>
              <a:t>Vežbe</a:t>
            </a:r>
            <a:endParaRPr sz="1800"/>
          </a:p>
        </p:txBody>
      </p:sp>
      <p:sp>
        <p:nvSpPr>
          <p:cNvPr id="9" name="Tekst 7x20.30"/>
          <p:cNvSpPr txBox="1"/>
          <p:nvPr/>
        </p:nvSpPr>
        <p:spPr>
          <a:xfrm>
            <a:off x="5877322" y="2255341"/>
            <a:ext cx="5404652" cy="18043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254000" indent="-25400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13262B"/>
              </a:buClr>
              <a:buFont typeface="+mj-lt"/>
              <a:buAutoNum type="arabicPeriod"/>
            </a:pPr>
            <a:r>
              <a:rPr sz="1400" b="0" i="0">
                <a:solidFill>
                  <a:srgbClr val="13262B"/>
                </a:solidFill>
                <a:latin typeface="Arial"/>
              </a:rPr>
              <a:t>AT sadržaj zadate DNK sekvence</a:t>
            </a:r>
            <a:endParaRPr sz="1400"/>
          </a:p>
          <a:p>
            <a:pPr algn="l" marL="254000" indent="-25400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13262B"/>
              </a:buClr>
              <a:buFont typeface="+mj-lt"/>
              <a:buAutoNum type="arabicPeriod"/>
            </a:pPr>
            <a:r>
              <a:rPr sz="1400" b="0" i="0">
                <a:solidFill>
                  <a:srgbClr val="13262B"/>
                </a:solidFill>
                <a:latin typeface="Arial"/>
              </a:rPr>
              <a:t>Komplement DNK sekvence</a:t>
            </a:r>
            <a:endParaRPr sz="1400"/>
          </a:p>
          <a:p>
            <a:pPr algn="l" marL="254000" indent="-25400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13262B"/>
              </a:buClr>
              <a:buFont typeface="+mj-lt"/>
              <a:buAutoNum type="arabicPeriod"/>
            </a:pPr>
            <a:r>
              <a:rPr sz="1400" b="0" i="0">
                <a:solidFill>
                  <a:srgbClr val="13262B"/>
                </a:solidFill>
                <a:latin typeface="Arial"/>
              </a:rPr>
              <a:t>Dužine fragmenata posle sečenja enzimom EcoRI (G*AATTC)</a:t>
            </a:r>
            <a:endParaRPr sz="1400"/>
          </a:p>
          <a:p>
            <a:pPr algn="l" marL="254000" indent="-25400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13262B"/>
              </a:buClr>
              <a:buFont typeface="+mj-lt"/>
              <a:buAutoNum type="arabicPeriod"/>
            </a:pPr>
            <a:r>
              <a:rPr sz="1400" b="0" i="0">
                <a:solidFill>
                  <a:srgbClr val="13262B"/>
                </a:solidFill>
                <a:latin typeface="Arial"/>
              </a:rPr>
              <a:t>Introni, 1. deo: ispišite samo kodirajuće regione (egzon 1 do 63. baze, egzon 2 od 91. baze do kraja)</a:t>
            </a:r>
            <a:endParaRPr sz="1400"/>
          </a:p>
          <a:p>
            <a:pPr algn="l" marL="254000" indent="-25400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13262B"/>
              </a:buClr>
              <a:buFont typeface="+mj-lt"/>
              <a:buAutoNum type="arabicPeriod"/>
            </a:pPr>
            <a:r>
              <a:rPr sz="1400" b="0" i="0">
                <a:solidFill>
                  <a:srgbClr val="13262B"/>
                </a:solidFill>
                <a:latin typeface="Arial"/>
              </a:rPr>
              <a:t>Introni, 2. deo: koji procenat sekvence je kodirajući?</a:t>
            </a:r>
            <a:endParaRPr sz="1400"/>
          </a:p>
          <a:p>
            <a:pPr algn="l" marL="254000" indent="-254000">
              <a:lnSpc>
                <a:spcPts val="2030"/>
              </a:lnSpc>
              <a:spcBef>
                <a:spcPts val="0"/>
              </a:spcBef>
              <a:spcAft>
                <a:spcPts val="0"/>
              </a:spcAft>
              <a:buClr>
                <a:srgbClr val="13262B"/>
              </a:buClr>
              <a:buFont typeface="+mj-lt"/>
              <a:buAutoNum type="arabicPeriod"/>
            </a:pPr>
            <a:r>
              <a:rPr sz="1400" b="0" i="0">
                <a:solidFill>
                  <a:srgbClr val="13262B"/>
                </a:solidFill>
                <a:latin typeface="Arial"/>
              </a:rPr>
              <a:t>Introni, 3. deo: egzoni velikim, intron malim slovima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za biologe – Lekcija 2: Štampanje i rad sa tekstom</dc:title>
  <dc:subject>Prema knjizi Martina Jonesa: Python for Biologists</dc:subject>
  <dc:creator>Aleksandar Kartelj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