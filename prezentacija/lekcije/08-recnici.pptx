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Motivacioni problem: brojanje baza je lako, ali šta ako želimo brojeve za svih 16 dinukleotida ili 64 trinukleotida? Videćemo zašto promenljive i liste nisu dobro rešenje i kako rečnik rešava problem čuvanja parova podataka.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Brojanje jedne baze je jedna od prvih stvari koje smo radili. Ali šta ako hoćemo brojeve za sve baze, sve dinukleotide ili sve trinukleotide? Za svaku kombinaciju po jedna promenljiva: za četiri baze još ide, za 16 dinukleotida postaje naporno, a za 64 trinukleotida neprihvatljivo. Većina tih promenljivih bi, uz to, čuvala nulu. Na sledećim slajdovima su dva pokušaja sa listama, pa rečnik.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 ugnežđene petlje generišu sve moguće trinukleotide, za svaki računamo broj pojavljivanja i dodajemo ga u listu. Kod je kompaktan i nema 64 promenljive, ali izlaz otkriva dva problema. Sledeći pokušaj iz knjige su dve paralelne liste, jedna sa trinukleotidima i jedna sa brojevima, gde se broj nalazi sa index pa istim indeksom u drugoj listi. I to ima mane, sledeći slajd.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Sekvenca od 20 baza ima samo 18 preklapajućih trinukleotida, pa bi bar 46 od 64 promenljive bile nula. Lista dobijena sa tri ugnežđene petlje je kompaktna, ali brojevi su odvojeni od trinukleotida. Dve paralelne liste rešavaju pretragu (index pa isti indeks u drugoj listi), ali svaka izmena jedne liste mora se ponoviti u drugoj, a pretraga postaje sve sporija kako lista raste, npr. za oko milion različitih 10-mera. Ovo je jedan od retkih slučajeva gde knjiga govori o brzini. Poslednji primer, reč i definicija, daje ime strukturi: rečnik (dictionary, skraćeno dict).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Rečnik iz primera čuva restrikcione enzime iz prethodnog poglavlja: ključ je ime enzima, a vrednost šablon (sirov string). Pisanje u više redova je samo radi čitljivosti. U praksi rečnik retko pravimo odjednom; češće počinjemo od praznog i dodajemo stavke, kao što listu gradimo sa append. Ključevi zapravo mogu biti bilo kog nepromenljivog tipa, ali to izlazi iz okvira knjige. U knjizi u ovom primeru nedostaje zatvoreni navodnik kod 'AvaII', ovde je ispravljeno.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Ista tri ugnežđene petlje, ali umesto u listu svaki broj upisujemo u rečnik pod ključem koji je sam trinukleotid. Traženje broja za jedan trinukleotid sada je jednostavno: counts['TGA']. U knjizi je ispis rečnika „izmešan”, jer u starijim verzijama Pythona rečnik nije čuvao redosled; u Pythonu 3.7 i novijim ključevi se ispisuju redosledom dodavanja.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 ugnežđene petlje generišu svih 64 trinukleotida, a if čuva samo one sa brojem većim od nule. Brojevi i trinukleotidi su sada zajedno u jednoj promenljivoj, pa ne moramo da pamtimo redosled niti da održavamo dve liste. Novi problem: trinukleotid koji se ne javlja nije ključ u rečniku, pa counts['AAA'] daje KeyError: 'AAA'. Rešenja: proveriti sa in, ili koristiti get sa podrazumevanom vrednošću 0. Bez drugog argumenta get vraća None kad ključa nema.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Umesto da ponovo generišemo svih 64 trinukleotida, ključeve čitamo direktno iz rečnika. items vraća parove, pa u petlji navodimo dve promenljive; to je najjasniji način jer odmah imamo i ključ i vrednost. Razlika u odnosu na knjigu: knjiga kaže da su rečnici neuređeni i da se na redosled ne možemo osloniti. To je važilo za stare verzije; od Pythona 3.7 rečnik čuva redosled dodavanja, pa ovde dobijamo redosled kojim su trinukleotidi ubačeni. Takođe, u Pythonu 3 keys() ne vraća listu nego „pogled” na ključeve, ali se kroz njega prolazi isto.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Opis vežbe je kratak, ali krije dosta posla: sekvencu treba podeliti na kodone, svaki kodon prevesti u aminokiselinu, pa aminokiseline spojiti u protein. Počinjemo od kratke test sekvence od tri kodona. Ručno isecanje radi, ali brojeve pišemo sami; pošto prate pravilan obrazac, generišemo ih funkcijom range sa korakom 3. Kraj opsega je 7, a ne 6, jer kraj nije uključen. Napomena: u Pythonu 2 print(codon1, codon2, codon3) ispisuje n-torku ('ATG', 'TTC', 'GGT'), kao u knjizi.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Fiksni brojevi u range rade samo za sekvencu od tačno tri kodona: kraća daje nepotpune i prazne kodone, a duža ostaje delimično neprevedena. Drugi argument mora da zavisi od dužine sekvence. Šta ako dužina nije deljiva sa tri? Nepotpun kodon ne možemo prevesti, pa početak poslednjeg kodona sme biti najviše dužina − 3; pošto kraj opsega nije uključen, pišemo len(dna) − 2. Tako iza svakog početka ostaju bar još dve baze, tj. ceo kodon.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Standardnu tabelu genetskog koda (link iz vežbe vodi na NCBI) prepisujemo u rečnik: imamo kodone (ključeve) i aminokiseline (vrednosti) i treba nam brzo traženje aminokiseline za dati kodon, što je savršen posao za rečnik. Iako zauzima mnogo redova, ovo je jedna naredba. Aminokiselinu dobijamo uglastim zagradama ili metodom get. Na sledećim slajdovima definiciju rečnika više ne ponavljamo.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 petlje pravimo prazan string protein, a u svakom krugu na njegov kraj dodajemo po jednu aminokiselinu; posle petlje imamo ceo protein. Isti obrazac smo koristili za spajanje egzona. Funkcija translate_dna prima DNK sekvencu kao string i vraća proteinsku sekvencu kao string. Izuzetak od pravila: rečnik gencode je van funkcije, jer bi se u suprotnom pravio iznova pri svakom prevođenju.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Funkciju proveravamo na još nekoliko sekvenci. Treća sekvenca je malim slovima, a rečnik ima ključeve velikim slovima, pa get ne nalazi kodon i vraća posebnu vrednost None; spajanje stringa sa None daje TypeError. Kada to popravimo, pada četvrta sekvenca. Nije očigledno zašto, pa u petlju privremeno dodajemo print("about to translate codon: " + codon) i vidimo da je problem kodon NAC, sa nepoznatom bazom. Da ne prevodimo sekvencu sa nepoznatim bazama bilo bi previše strogo, a da preskočimo takav kodon dalo bi protein pogrešne dužine. Najrazumnije je prevesti ga u X; drugi argument metoda get to čini jednostavnim.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iz knjige: podeliti sekvencu na kodone, prevesti svaki kodon i spojiti aminokiseline. Kodoni se ne mogu dobiti sa split jer između njih nema graničnika, pa koristimo range sa korakom 3. Kraj opsega je len(dna) - 2 da ne bismo dobili nepotpune ili prazne kodone. Kroz testove su otkrivena dva problema: sekvenca malim slovima (rešenje upper) i nepoznata baza N, koja daje kodon kojeg nema u rečniku; get bez podrazumevane vrednosti vraća None, pa spajanje pada sa TypeError. Rešenje: X za nepoznatu aminokiselinu. Na kraju se testovi pretvaraju u assert naredbe. Stop kodoni su u rečniku označeni donjom crtom.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Rečnik je nova struktura podataka koja lepo rešava čuvanje parova; njegova prava prednost je efikasna pretraga. Ograničenja: samo nekoliko tipova može biti ključ, ključevi su jedinstveni, a pretraga ide samo od ključa ka vrednosti. Kao što fizički rečnik brzo daje definiciju reči, ali ne i reč za datu definiciju. Rešenje vežbe je na prethodnom slajdu.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8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08</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Rečnici</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Parovi podataka, kao kodon i aminokiselina ili enzim i motiv, uz brzu pretragu po ključu</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Od 4 baze do 64 trinukleotida</a:t>
            </a:r>
            <a:endParaRPr sz="3200"/>
          </a:p>
        </p:txBody>
      </p:sp>
      <p:sp>
        <p:nvSpPr>
          <p:cNvPr id="4" name="Tekst 1x21.60"/>
          <p:cNvSpPr txBox="1"/>
          <p:nvPr/>
        </p:nvSpPr>
        <p:spPr>
          <a:xfrm>
            <a:off x="812800" y="1701701"/>
            <a:ext cx="345436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4 baze</a:t>
            </a:r>
            <a:endParaRPr sz="1800"/>
          </a:p>
        </p:txBody>
      </p:sp>
      <p:sp>
        <p:nvSpPr>
          <p:cNvPr id="5" name="Rounded Rectangle 4"/>
          <p:cNvSpPr/>
          <p:nvPr/>
        </p:nvSpPr>
        <p:spPr>
          <a:xfrm>
            <a:off x="812800" y="2052141"/>
            <a:ext cx="3386634" cy="1249362"/>
          </a:xfrm>
          <a:prstGeom prst="roundRect">
            <a:avLst>
              <a:gd name="adj" fmla="val 8132"/>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4x18.60"/>
          <p:cNvSpPr txBox="1"/>
          <p:nvPr/>
        </p:nvSpPr>
        <p:spPr>
          <a:xfrm>
            <a:off x="990600" y="2204541"/>
            <a:ext cx="3091654" cy="94456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a_count = dna.count(</a:t>
            </a:r>
            <a:r>
              <a:rPr sz="1200" b="0" i="0">
                <a:solidFill>
                  <a:srgbClr val="F0A35E"/>
                </a:solidFill>
                <a:latin typeface="Consolas"/>
              </a:rPr>
              <a:t>"A"</a:t>
            </a:r>
            <a:r>
              <a:rPr sz="1200" b="0" i="0">
                <a:solidFill>
                  <a:srgbClr val="E8EEE9"/>
                </a:solidFill>
                <a:latin typeface="Consolas"/>
              </a:rPr>
              <a:t>)</a:t>
            </a:r>
            <a:br/>
            <a:r>
              <a:rPr sz="1200" b="0" i="0">
                <a:solidFill>
                  <a:srgbClr val="E8EEE9"/>
                </a:solidFill>
                <a:latin typeface="Consolas"/>
              </a:rPr>
              <a:t>t_count = dna.count(</a:t>
            </a:r>
            <a:r>
              <a:rPr sz="1200" b="0" i="0">
                <a:solidFill>
                  <a:srgbClr val="F0A35E"/>
                </a:solidFill>
                <a:latin typeface="Consolas"/>
              </a:rPr>
              <a:t>"T"</a:t>
            </a:r>
            <a:r>
              <a:rPr sz="1200" b="0" i="0">
                <a:solidFill>
                  <a:srgbClr val="E8EEE9"/>
                </a:solidFill>
                <a:latin typeface="Consolas"/>
              </a:rPr>
              <a:t>)</a:t>
            </a:r>
            <a:br/>
            <a:r>
              <a:rPr sz="1200" b="0" i="0">
                <a:solidFill>
                  <a:srgbClr val="E8EEE9"/>
                </a:solidFill>
                <a:latin typeface="Consolas"/>
              </a:rPr>
              <a:t>g_count = dna.count(</a:t>
            </a:r>
            <a:r>
              <a:rPr sz="1200" b="0" i="0">
                <a:solidFill>
                  <a:srgbClr val="F0A35E"/>
                </a:solidFill>
                <a:latin typeface="Consolas"/>
              </a:rPr>
              <a:t>"G"</a:t>
            </a:r>
            <a:r>
              <a:rPr sz="1200" b="0" i="0">
                <a:solidFill>
                  <a:srgbClr val="E8EEE9"/>
                </a:solidFill>
                <a:latin typeface="Consolas"/>
              </a:rPr>
              <a:t>)</a:t>
            </a:r>
            <a:br/>
            <a:r>
              <a:rPr sz="1200" b="0" i="0">
                <a:solidFill>
                  <a:srgbClr val="E8EEE9"/>
                </a:solidFill>
                <a:latin typeface="Consolas"/>
              </a:rPr>
              <a:t>c_count = dna.count(</a:t>
            </a:r>
            <a:r>
              <a:rPr sz="1200" b="0" i="0">
                <a:solidFill>
                  <a:srgbClr val="F0A35E"/>
                </a:solidFill>
                <a:latin typeface="Consolas"/>
              </a:rPr>
              <a:t>"C"</a:t>
            </a:r>
            <a:r>
              <a:rPr sz="1200" b="0" i="0">
                <a:solidFill>
                  <a:srgbClr val="E8EEE9"/>
                </a:solidFill>
                <a:latin typeface="Consolas"/>
              </a:rPr>
              <a:t>)</a:t>
            </a:r>
            <a:endParaRPr sz="1200"/>
          </a:p>
        </p:txBody>
      </p:sp>
      <p:sp>
        <p:nvSpPr>
          <p:cNvPr id="7" name="Tekst 1x21.60"/>
          <p:cNvSpPr txBox="1"/>
          <p:nvPr/>
        </p:nvSpPr>
        <p:spPr>
          <a:xfrm>
            <a:off x="4402634" y="1701701"/>
            <a:ext cx="345446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16 dinukleotida</a:t>
            </a:r>
            <a:endParaRPr sz="1800"/>
          </a:p>
        </p:txBody>
      </p:sp>
      <p:sp>
        <p:nvSpPr>
          <p:cNvPr id="8" name="Rounded Rectangle 7"/>
          <p:cNvSpPr/>
          <p:nvPr/>
        </p:nvSpPr>
        <p:spPr>
          <a:xfrm>
            <a:off x="4402634" y="2052141"/>
            <a:ext cx="3386733" cy="1249362"/>
          </a:xfrm>
          <a:prstGeom prst="roundRect">
            <a:avLst>
              <a:gd name="adj" fmla="val 8132"/>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4x18.60"/>
          <p:cNvSpPr txBox="1"/>
          <p:nvPr/>
        </p:nvSpPr>
        <p:spPr>
          <a:xfrm>
            <a:off x="4580434" y="2204541"/>
            <a:ext cx="3091755" cy="94456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aa_count = dna.count(</a:t>
            </a:r>
            <a:r>
              <a:rPr sz="1200" b="0" i="0">
                <a:solidFill>
                  <a:srgbClr val="F0A35E"/>
                </a:solidFill>
                <a:latin typeface="Consolas"/>
              </a:rPr>
              <a:t>"AA"</a:t>
            </a:r>
            <a:r>
              <a:rPr sz="1200" b="0" i="0">
                <a:solidFill>
                  <a:srgbClr val="E8EEE9"/>
                </a:solidFill>
                <a:latin typeface="Consolas"/>
              </a:rPr>
              <a:t>)</a:t>
            </a:r>
            <a:br/>
            <a:r>
              <a:rPr sz="1200" b="0" i="0">
                <a:solidFill>
                  <a:srgbClr val="E8EEE9"/>
                </a:solidFill>
                <a:latin typeface="Consolas"/>
              </a:rPr>
              <a:t>at_count = dna.count(</a:t>
            </a:r>
            <a:r>
              <a:rPr sz="1200" b="0" i="0">
                <a:solidFill>
                  <a:srgbClr val="F0A35E"/>
                </a:solidFill>
                <a:latin typeface="Consolas"/>
              </a:rPr>
              <a:t>"AT"</a:t>
            </a:r>
            <a:r>
              <a:rPr sz="1200" b="0" i="0">
                <a:solidFill>
                  <a:srgbClr val="E8EEE9"/>
                </a:solidFill>
                <a:latin typeface="Consolas"/>
              </a:rPr>
              <a:t>)</a:t>
            </a:r>
            <a:br/>
            <a:r>
              <a:rPr sz="1200" b="0" i="0">
                <a:solidFill>
                  <a:srgbClr val="E8EEE9"/>
                </a:solidFill>
                <a:latin typeface="Consolas"/>
              </a:rPr>
              <a:t>ag_count = dna.count(</a:t>
            </a:r>
            <a:r>
              <a:rPr sz="1200" b="0" i="0">
                <a:solidFill>
                  <a:srgbClr val="F0A35E"/>
                </a:solidFill>
                <a:latin typeface="Consolas"/>
              </a:rPr>
              <a:t>"AG"</a:t>
            </a:r>
            <a:r>
              <a:rPr sz="1200" b="0" i="0">
                <a:solidFill>
                  <a:srgbClr val="E8EEE9"/>
                </a:solidFill>
                <a:latin typeface="Consolas"/>
              </a:rPr>
              <a:t>)</a:t>
            </a:r>
            <a:br/>
            <a:r>
              <a:rPr sz="1200" b="0" i="0">
                <a:solidFill>
                  <a:srgbClr val="8FB3AA"/>
                </a:solidFill>
                <a:latin typeface="Consolas"/>
              </a:rPr>
              <a:t># … još 13 linija</a:t>
            </a:r>
            <a:endParaRPr sz="1200"/>
          </a:p>
        </p:txBody>
      </p:sp>
      <p:sp>
        <p:nvSpPr>
          <p:cNvPr id="10" name="Tekst 1x21.60"/>
          <p:cNvSpPr txBox="1"/>
          <p:nvPr/>
        </p:nvSpPr>
        <p:spPr>
          <a:xfrm>
            <a:off x="7992566" y="1701701"/>
            <a:ext cx="345436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64 trinukleotida</a:t>
            </a:r>
            <a:endParaRPr sz="1800"/>
          </a:p>
        </p:txBody>
      </p:sp>
      <p:sp>
        <p:nvSpPr>
          <p:cNvPr id="11" name="Rounded Rectangle 10"/>
          <p:cNvSpPr/>
          <p:nvPr/>
        </p:nvSpPr>
        <p:spPr>
          <a:xfrm>
            <a:off x="7992566" y="2052141"/>
            <a:ext cx="3386634" cy="1249362"/>
          </a:xfrm>
          <a:prstGeom prst="roundRect">
            <a:avLst>
              <a:gd name="adj" fmla="val 8132"/>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4x18.60"/>
          <p:cNvSpPr txBox="1"/>
          <p:nvPr/>
        </p:nvSpPr>
        <p:spPr>
          <a:xfrm>
            <a:off x="8170366" y="2204541"/>
            <a:ext cx="3091654" cy="94456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aaa_count = dna.count(</a:t>
            </a:r>
            <a:r>
              <a:rPr sz="1200" b="0" i="0">
                <a:solidFill>
                  <a:srgbClr val="F0A35E"/>
                </a:solidFill>
                <a:latin typeface="Consolas"/>
              </a:rPr>
              <a:t>"AAA"</a:t>
            </a:r>
            <a:r>
              <a:rPr sz="1200" b="0" i="0">
                <a:solidFill>
                  <a:srgbClr val="E8EEE9"/>
                </a:solidFill>
                <a:latin typeface="Consolas"/>
              </a:rPr>
              <a:t>)</a:t>
            </a:r>
            <a:br/>
            <a:r>
              <a:rPr sz="1200" b="0" i="0">
                <a:solidFill>
                  <a:srgbClr val="E8EEE9"/>
                </a:solidFill>
                <a:latin typeface="Consolas"/>
              </a:rPr>
              <a:t>aat_count = dna.count(</a:t>
            </a:r>
            <a:r>
              <a:rPr sz="1200" b="0" i="0">
                <a:solidFill>
                  <a:srgbClr val="F0A35E"/>
                </a:solidFill>
                <a:latin typeface="Consolas"/>
              </a:rPr>
              <a:t>"AAT"</a:t>
            </a:r>
            <a:r>
              <a:rPr sz="1200" b="0" i="0">
                <a:solidFill>
                  <a:srgbClr val="E8EEE9"/>
                </a:solidFill>
                <a:latin typeface="Consolas"/>
              </a:rPr>
              <a:t>)</a:t>
            </a:r>
            <a:br/>
            <a:r>
              <a:rPr sz="1200" b="0" i="0">
                <a:solidFill>
                  <a:srgbClr val="E8EEE9"/>
                </a:solidFill>
                <a:latin typeface="Consolas"/>
              </a:rPr>
              <a:t>aag_count = dna.count(</a:t>
            </a:r>
            <a:r>
              <a:rPr sz="1200" b="0" i="0">
                <a:solidFill>
                  <a:srgbClr val="F0A35E"/>
                </a:solidFill>
                <a:latin typeface="Consolas"/>
              </a:rPr>
              <a:t>"AAG"</a:t>
            </a:r>
            <a:r>
              <a:rPr sz="1200" b="0" i="0">
                <a:solidFill>
                  <a:srgbClr val="E8EEE9"/>
                </a:solidFill>
                <a:latin typeface="Consolas"/>
              </a:rPr>
              <a:t>)</a:t>
            </a:r>
            <a:br/>
            <a:r>
              <a:rPr sz="1200" b="0" i="0">
                <a:solidFill>
                  <a:srgbClr val="8FB3AA"/>
                </a:solidFill>
                <a:latin typeface="Consolas"/>
              </a:rPr>
              <a:t># … još 61 linija</a:t>
            </a:r>
            <a:endParaRPr sz="1200"/>
          </a:p>
        </p:txBody>
      </p:sp>
      <p:sp>
        <p:nvSpPr>
          <p:cNvPr id="13" name="Rounded Rectangle 12"/>
          <p:cNvSpPr/>
          <p:nvPr/>
        </p:nvSpPr>
        <p:spPr>
          <a:xfrm>
            <a:off x="812800" y="3555504"/>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800" y="3555504"/>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30"/>
          <p:cNvSpPr txBox="1"/>
          <p:nvPr/>
        </p:nvSpPr>
        <p:spPr>
          <a:xfrm>
            <a:off x="1054100" y="3707904"/>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Sekvenca od 20 baza ima samo 18 preklapajućih trinukleotida: bar 46 od 64 promenljive biće nula.</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Pokušaj: svi brojevi u jednoj listi</a:t>
            </a:r>
            <a:endParaRPr sz="3200"/>
          </a:p>
        </p:txBody>
      </p:sp>
      <p:sp>
        <p:nvSpPr>
          <p:cNvPr id="4" name="Rounded Rectangle 3"/>
          <p:cNvSpPr/>
          <p:nvPr/>
        </p:nvSpPr>
        <p:spPr>
          <a:xfrm>
            <a:off x="819150" y="1708051"/>
            <a:ext cx="4968577"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79500" y="1892201"/>
            <a:ext cx="4536835"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"AATGATCGATCGTACGCTGA"</a:t>
            </a:r>
            <a:br/>
            <a:r>
              <a:rPr sz="1300" b="0" i="0">
                <a:solidFill>
                  <a:srgbClr val="E8EEE9"/>
                </a:solidFill>
                <a:latin typeface="Consolas"/>
              </a:rPr>
              <a:t>all_counts = []</a:t>
            </a:r>
            <a:br/>
            <a:r>
              <a:rPr sz="1300" b="0" i="0">
                <a:solidFill>
                  <a:srgbClr val="6FD3C1"/>
                </a:solidFill>
                <a:latin typeface="Consolas"/>
              </a:rPr>
              <a:t>for</a:t>
            </a:r>
            <a:r>
              <a:rPr sz="1300" b="0" i="0">
                <a:solidFill>
                  <a:srgbClr val="E8EEE9"/>
                </a:solidFill>
                <a:latin typeface="Consolas"/>
              </a:rPr>
              <a:t> base1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base2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base3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trinucleotide = base1 + base2 + base3</a:t>
            </a:r>
            <a:br/>
            <a:r>
              <a:rPr sz="1300" b="0" i="0">
                <a:solidFill>
                  <a:srgbClr val="E8EEE9"/>
                </a:solidFill>
                <a:latin typeface="Consolas"/>
              </a:rPr>
              <a:t>            count = dna.count(trinucleotide)</a:t>
            </a:r>
            <a:br/>
            <a:r>
              <a:rPr sz="1300" b="0" i="0">
                <a:solidFill>
                  <a:srgbClr val="E8EEE9"/>
                </a:solidFill>
                <a:latin typeface="Consolas"/>
              </a:rPr>
              <a:t>            all_counts.append(count)</a:t>
            </a:r>
            <a:br/>
            <a:r>
              <a:rPr sz="1300" b="0" i="0">
                <a:solidFill>
                  <a:srgbClr val="E8EEE9"/>
                </a:solidFill>
                <a:latin typeface="Consolas"/>
              </a:rPr>
              <a:t>print(all_counts)</a:t>
            </a:r>
            <a:endParaRPr sz="1300"/>
          </a:p>
        </p:txBody>
      </p:sp>
      <p:sp>
        <p:nvSpPr>
          <p:cNvPr id="6" name="Rounded Rectangle 5"/>
          <p:cNvSpPr/>
          <p:nvPr/>
        </p:nvSpPr>
        <p:spPr>
          <a:xfrm>
            <a:off x="6105227" y="1708051"/>
            <a:ext cx="5267623" cy="573385"/>
          </a:xfrm>
          <a:prstGeom prst="roundRect">
            <a:avLst>
              <a:gd name="adj" fmla="val 1771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0.15"/>
          <p:cNvSpPr txBox="1"/>
          <p:nvPr/>
        </p:nvSpPr>
        <p:spPr>
          <a:xfrm>
            <a:off x="6314777" y="1866801"/>
            <a:ext cx="4945493"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 1, 0, 0, 0, 0, 1, 2, 0, 0, …]</a:t>
            </a:r>
            <a:endParaRPr sz="1300"/>
          </a:p>
        </p:txBody>
      </p:sp>
      <p:sp>
        <p:nvSpPr>
          <p:cNvPr id="8" name="Rounded Rectangle 7"/>
          <p:cNvSpPr/>
          <p:nvPr/>
        </p:nvSpPr>
        <p:spPr>
          <a:xfrm>
            <a:off x="6102052" y="2392561"/>
            <a:ext cx="5273973" cy="568920"/>
          </a:xfrm>
          <a:prstGeom prst="roundRect">
            <a:avLst>
              <a:gd name="adj" fmla="val 1785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30"/>
          <p:cNvSpPr txBox="1"/>
          <p:nvPr/>
        </p:nvSpPr>
        <p:spPr>
          <a:xfrm>
            <a:off x="6283027" y="2548136"/>
            <a:ext cx="5010263"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Podaci su i dalje retki: 50 od 64 broja su nule.</a:t>
            </a:r>
            <a:endParaRPr sz="1400"/>
          </a:p>
        </p:txBody>
      </p:sp>
      <p:sp>
        <p:nvSpPr>
          <p:cNvPr id="10" name="Rounded Rectangle 9"/>
          <p:cNvSpPr/>
          <p:nvPr/>
        </p:nvSpPr>
        <p:spPr>
          <a:xfrm>
            <a:off x="6102052" y="3069431"/>
            <a:ext cx="5273973" cy="1131491"/>
          </a:xfrm>
          <a:prstGeom prst="roundRect">
            <a:avLst>
              <a:gd name="adj" fmla="val 897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6283027" y="3225006"/>
            <a:ext cx="501026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Broj je odvojen od trinukleotida. Da je TGA 25. po redu, moramo sami da izračunamo:</a:t>
            </a:r>
            <a:endParaRPr sz="1400"/>
          </a:p>
        </p:txBody>
      </p:sp>
      <p:sp>
        <p:nvSpPr>
          <p:cNvPr id="12" name="Tekst 1x18.00"/>
          <p:cNvSpPr txBox="1"/>
          <p:nvPr/>
        </p:nvSpPr>
        <p:spPr>
          <a:xfrm>
            <a:off x="6283027" y="3816747"/>
            <a:ext cx="5010263" cy="2286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print(all_counts[24])  # 2</a:t>
            </a:r>
            <a:endParaRPr sz="12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Šta nam zapravo treba: parovi podataka</a:t>
            </a:r>
            <a:endParaRPr sz="3200"/>
          </a:p>
        </p:txBody>
      </p:sp>
      <p:sp>
        <p:nvSpPr>
          <p:cNvPr id="4" name="Rounded Rectangle 3"/>
          <p:cNvSpPr/>
          <p:nvPr/>
        </p:nvSpPr>
        <p:spPr>
          <a:xfrm>
            <a:off x="815975" y="1704876"/>
            <a:ext cx="5590877" cy="893961"/>
          </a:xfrm>
          <a:prstGeom prst="roundRect">
            <a:avLst>
              <a:gd name="adj" fmla="val 11365"/>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60451"/>
            <a:ext cx="528169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Promenljiva za svaki</a:t>
            </a:r>
            <a:endParaRPr sz="1800"/>
          </a:p>
        </p:txBody>
      </p:sp>
      <p:sp>
        <p:nvSpPr>
          <p:cNvPr id="6" name="Tekst 1x20.30"/>
          <p:cNvSpPr txBox="1"/>
          <p:nvPr/>
        </p:nvSpPr>
        <p:spPr>
          <a:xfrm>
            <a:off x="1022350" y="2185491"/>
            <a:ext cx="528169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aaa_count</a:t>
            </a:r>
            <a:r>
              <a:rPr sz="1400" b="0" i="0">
                <a:solidFill>
                  <a:srgbClr val="3D4F52"/>
                </a:solidFill>
                <a:latin typeface="Arial"/>
              </a:rPr>
              <a:t>, </a:t>
            </a:r>
            <a:r>
              <a:rPr sz="1400" b="0" i="0">
                <a:solidFill>
                  <a:srgbClr val="A8521A"/>
                </a:solidFill>
                <a:latin typeface="Arial"/>
              </a:rPr>
              <a:t>aat_count</a:t>
            </a:r>
            <a:r>
              <a:rPr sz="1400" b="0" i="0">
                <a:solidFill>
                  <a:srgbClr val="3D4F52"/>
                </a:solidFill>
                <a:latin typeface="Arial"/>
              </a:rPr>
              <a:t>, …: 64 promenljive, a većina čuva nulu.</a:t>
            </a:r>
            <a:endParaRPr sz="1400"/>
          </a:p>
        </p:txBody>
      </p:sp>
      <p:sp>
        <p:nvSpPr>
          <p:cNvPr id="7" name="Rounded Rectangle 6"/>
          <p:cNvSpPr/>
          <p:nvPr/>
        </p:nvSpPr>
        <p:spPr>
          <a:xfrm>
            <a:off x="815975" y="2706787"/>
            <a:ext cx="5590877" cy="1151731"/>
          </a:xfrm>
          <a:prstGeom prst="roundRect">
            <a:avLst>
              <a:gd name="adj" fmla="val 8821"/>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1022350" y="2862362"/>
            <a:ext cx="528169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Lista brojeva</a:t>
            </a:r>
            <a:endParaRPr sz="1800"/>
          </a:p>
        </p:txBody>
      </p:sp>
      <p:sp>
        <p:nvSpPr>
          <p:cNvPr id="9" name="Tekst 2x20.30"/>
          <p:cNvSpPr txBox="1"/>
          <p:nvPr/>
        </p:nvSpPr>
        <p:spPr>
          <a:xfrm>
            <a:off x="1022350" y="3187402"/>
            <a:ext cx="528169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[0, 1, 0, 0, …]</a:t>
            </a:r>
            <a:r>
              <a:rPr sz="1400" b="0" i="0">
                <a:solidFill>
                  <a:srgbClr val="3D4F52"/>
                </a:solidFill>
                <a:latin typeface="Arial"/>
              </a:rPr>
              <a:t>: broj je odvojen od trinukleotida. Da je TGA na indeksu 24, moramo sami da znamo.</a:t>
            </a:r>
            <a:endParaRPr sz="1400"/>
          </a:p>
        </p:txBody>
      </p:sp>
      <p:sp>
        <p:nvSpPr>
          <p:cNvPr id="10" name="Rounded Rectangle 9"/>
          <p:cNvSpPr/>
          <p:nvPr/>
        </p:nvSpPr>
        <p:spPr>
          <a:xfrm>
            <a:off x="815975" y="3966468"/>
            <a:ext cx="5590877" cy="1151731"/>
          </a:xfrm>
          <a:prstGeom prst="roundRect">
            <a:avLst>
              <a:gd name="adj" fmla="val 8821"/>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60"/>
          <p:cNvSpPr txBox="1"/>
          <p:nvPr/>
        </p:nvSpPr>
        <p:spPr>
          <a:xfrm>
            <a:off x="1022350" y="4122043"/>
            <a:ext cx="528169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Dve paralelne liste</a:t>
            </a:r>
            <a:endParaRPr sz="1800"/>
          </a:p>
        </p:txBody>
      </p:sp>
      <p:sp>
        <p:nvSpPr>
          <p:cNvPr id="12" name="Tekst 2x20.30"/>
          <p:cNvSpPr txBox="1"/>
          <p:nvPr/>
        </p:nvSpPr>
        <p:spPr>
          <a:xfrm>
            <a:off x="1022350" y="4447084"/>
            <a:ext cx="528169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Moraju ostati usklađene, a </a:t>
            </a:r>
            <a:r>
              <a:rPr sz="1400" b="0" i="0">
                <a:solidFill>
                  <a:srgbClr val="A8521A"/>
                </a:solidFill>
                <a:latin typeface="Arial"/>
              </a:rPr>
              <a:t>index()</a:t>
            </a:r>
            <a:r>
              <a:rPr sz="1400" b="0" i="0">
                <a:solidFill>
                  <a:srgbClr val="3D4F52"/>
                </a:solidFill>
                <a:latin typeface="Arial"/>
              </a:rPr>
              <a:t> traži element po element, što je sporo za velike liste.</a:t>
            </a:r>
            <a:endParaRPr sz="1400"/>
          </a:p>
        </p:txBody>
      </p:sp>
      <p:sp>
        <p:nvSpPr>
          <p:cNvPr id="13" name="Tekst 1x21.60"/>
          <p:cNvSpPr txBox="1"/>
          <p:nvPr/>
        </p:nvSpPr>
        <p:spPr>
          <a:xfrm>
            <a:off x="6714827" y="1701701"/>
            <a:ext cx="475766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Parovi ključ–vrednost su svuda</a:t>
            </a:r>
            <a:endParaRPr sz="1800"/>
          </a:p>
        </p:txBody>
      </p:sp>
      <p:sp>
        <p:nvSpPr>
          <p:cNvPr id="14" name="Rectangle 13"/>
          <p:cNvSpPr/>
          <p:nvPr/>
        </p:nvSpPr>
        <p:spPr>
          <a:xfrm>
            <a:off x="6714827" y="2077541"/>
            <a:ext cx="4664373" cy="330795"/>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714827" y="2401987"/>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6.80"/>
          <p:cNvSpPr txBox="1"/>
          <p:nvPr/>
        </p:nvSpPr>
        <p:spPr>
          <a:xfrm>
            <a:off x="6821507" y="2139771"/>
            <a:ext cx="1923224"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Ključ</a:t>
            </a:r>
            <a:endParaRPr sz="1400"/>
          </a:p>
        </p:txBody>
      </p:sp>
      <p:sp>
        <p:nvSpPr>
          <p:cNvPr id="17" name="Rectangle 16"/>
          <p:cNvSpPr/>
          <p:nvPr/>
        </p:nvSpPr>
        <p:spPr>
          <a:xfrm>
            <a:off x="8813701" y="2401987"/>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16.80"/>
          <p:cNvSpPr txBox="1"/>
          <p:nvPr/>
        </p:nvSpPr>
        <p:spPr>
          <a:xfrm>
            <a:off x="8920381" y="2139771"/>
            <a:ext cx="2399182"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Vrednost</a:t>
            </a:r>
            <a:endParaRPr sz="1400"/>
          </a:p>
        </p:txBody>
      </p:sp>
      <p:sp>
        <p:nvSpPr>
          <p:cNvPr id="19" name="Rectangle 18"/>
          <p:cNvSpPr/>
          <p:nvPr/>
        </p:nvSpPr>
        <p:spPr>
          <a:xfrm>
            <a:off x="6714827" y="2735957"/>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16.80"/>
          <p:cNvSpPr txBox="1"/>
          <p:nvPr/>
        </p:nvSpPr>
        <p:spPr>
          <a:xfrm>
            <a:off x="6821507" y="2470567"/>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trinukleotid</a:t>
            </a:r>
            <a:endParaRPr sz="1400"/>
          </a:p>
        </p:txBody>
      </p:sp>
      <p:sp>
        <p:nvSpPr>
          <p:cNvPr id="21" name="Rectangle 20"/>
          <p:cNvSpPr/>
          <p:nvPr/>
        </p:nvSpPr>
        <p:spPr>
          <a:xfrm>
            <a:off x="8813701" y="2735957"/>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16.80"/>
          <p:cNvSpPr txBox="1"/>
          <p:nvPr/>
        </p:nvSpPr>
        <p:spPr>
          <a:xfrm>
            <a:off x="8920381" y="2470567"/>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broj pojavljivanja</a:t>
            </a:r>
            <a:endParaRPr sz="1400"/>
          </a:p>
        </p:txBody>
      </p:sp>
      <p:sp>
        <p:nvSpPr>
          <p:cNvPr id="23" name="Rectangle 22"/>
          <p:cNvSpPr/>
          <p:nvPr/>
        </p:nvSpPr>
        <p:spPr>
          <a:xfrm>
            <a:off x="6714827" y="3069927"/>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6.80"/>
          <p:cNvSpPr txBox="1"/>
          <p:nvPr/>
        </p:nvSpPr>
        <p:spPr>
          <a:xfrm>
            <a:off x="6821507" y="2804537"/>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ime proteina</a:t>
            </a:r>
            <a:endParaRPr sz="1400"/>
          </a:p>
        </p:txBody>
      </p:sp>
      <p:sp>
        <p:nvSpPr>
          <p:cNvPr id="25" name="Rectangle 24"/>
          <p:cNvSpPr/>
          <p:nvPr/>
        </p:nvSpPr>
        <p:spPr>
          <a:xfrm>
            <a:off x="8813701" y="3069927"/>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16.80"/>
          <p:cNvSpPr txBox="1"/>
          <p:nvPr/>
        </p:nvSpPr>
        <p:spPr>
          <a:xfrm>
            <a:off x="8920381" y="2804537"/>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sekvenca</a:t>
            </a:r>
            <a:endParaRPr sz="1400"/>
          </a:p>
        </p:txBody>
      </p:sp>
      <p:sp>
        <p:nvSpPr>
          <p:cNvPr id="27" name="Rectangle 26"/>
          <p:cNvSpPr/>
          <p:nvPr/>
        </p:nvSpPr>
        <p:spPr>
          <a:xfrm>
            <a:off x="6714827" y="3403898"/>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16.80"/>
          <p:cNvSpPr txBox="1"/>
          <p:nvPr/>
        </p:nvSpPr>
        <p:spPr>
          <a:xfrm>
            <a:off x="6821507" y="3138507"/>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restrikcioni enzim</a:t>
            </a:r>
            <a:endParaRPr sz="1400"/>
          </a:p>
        </p:txBody>
      </p:sp>
      <p:sp>
        <p:nvSpPr>
          <p:cNvPr id="29" name="Rectangle 28"/>
          <p:cNvSpPr/>
          <p:nvPr/>
        </p:nvSpPr>
        <p:spPr>
          <a:xfrm>
            <a:off x="8813701" y="3403898"/>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kst 1x16.80"/>
          <p:cNvSpPr txBox="1"/>
          <p:nvPr/>
        </p:nvSpPr>
        <p:spPr>
          <a:xfrm>
            <a:off x="8920381" y="3138507"/>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motiv</a:t>
            </a:r>
            <a:endParaRPr sz="1400"/>
          </a:p>
        </p:txBody>
      </p:sp>
      <p:sp>
        <p:nvSpPr>
          <p:cNvPr id="31" name="Rectangle 30"/>
          <p:cNvSpPr/>
          <p:nvPr/>
        </p:nvSpPr>
        <p:spPr>
          <a:xfrm>
            <a:off x="6714827" y="3737868"/>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t 1x16.80"/>
          <p:cNvSpPr txBox="1"/>
          <p:nvPr/>
        </p:nvSpPr>
        <p:spPr>
          <a:xfrm>
            <a:off x="6821507" y="3472478"/>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kodon</a:t>
            </a:r>
            <a:endParaRPr sz="1400"/>
          </a:p>
        </p:txBody>
      </p:sp>
      <p:sp>
        <p:nvSpPr>
          <p:cNvPr id="33" name="Rectangle 32"/>
          <p:cNvSpPr/>
          <p:nvPr/>
        </p:nvSpPr>
        <p:spPr>
          <a:xfrm>
            <a:off x="8813701" y="3737868"/>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kst 1x16.80"/>
          <p:cNvSpPr txBox="1"/>
          <p:nvPr/>
        </p:nvSpPr>
        <p:spPr>
          <a:xfrm>
            <a:off x="8920381" y="3472478"/>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aminokiselina</a:t>
            </a:r>
            <a:endParaRPr sz="1400"/>
          </a:p>
        </p:txBody>
      </p:sp>
      <p:sp>
        <p:nvSpPr>
          <p:cNvPr id="35" name="Rectangle 34"/>
          <p:cNvSpPr/>
          <p:nvPr/>
        </p:nvSpPr>
        <p:spPr>
          <a:xfrm>
            <a:off x="6714827" y="4071838"/>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kst 1x16.80"/>
          <p:cNvSpPr txBox="1"/>
          <p:nvPr/>
        </p:nvSpPr>
        <p:spPr>
          <a:xfrm>
            <a:off x="6821507" y="3806448"/>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uzorak</a:t>
            </a:r>
            <a:endParaRPr sz="1400"/>
          </a:p>
        </p:txBody>
      </p:sp>
      <p:sp>
        <p:nvSpPr>
          <p:cNvPr id="37" name="Rectangle 36"/>
          <p:cNvSpPr/>
          <p:nvPr/>
        </p:nvSpPr>
        <p:spPr>
          <a:xfrm>
            <a:off x="8813701" y="4071838"/>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kst 1x16.80"/>
          <p:cNvSpPr txBox="1"/>
          <p:nvPr/>
        </p:nvSpPr>
        <p:spPr>
          <a:xfrm>
            <a:off x="8920381" y="3806448"/>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koordinate</a:t>
            </a:r>
            <a:endParaRPr sz="1400"/>
          </a:p>
        </p:txBody>
      </p:sp>
      <p:sp>
        <p:nvSpPr>
          <p:cNvPr id="39" name="Rectangle 38"/>
          <p:cNvSpPr/>
          <p:nvPr/>
        </p:nvSpPr>
        <p:spPr>
          <a:xfrm>
            <a:off x="6714827" y="4405809"/>
            <a:ext cx="209887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kst 1x16.80"/>
          <p:cNvSpPr txBox="1"/>
          <p:nvPr/>
        </p:nvSpPr>
        <p:spPr>
          <a:xfrm>
            <a:off x="6821507" y="4140418"/>
            <a:ext cx="192322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reč</a:t>
            </a:r>
            <a:endParaRPr sz="1400"/>
          </a:p>
        </p:txBody>
      </p:sp>
      <p:sp>
        <p:nvSpPr>
          <p:cNvPr id="41" name="Rectangle 40"/>
          <p:cNvSpPr/>
          <p:nvPr/>
        </p:nvSpPr>
        <p:spPr>
          <a:xfrm>
            <a:off x="8813701" y="4405809"/>
            <a:ext cx="25654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kst 1x16.80"/>
          <p:cNvSpPr txBox="1"/>
          <p:nvPr/>
        </p:nvSpPr>
        <p:spPr>
          <a:xfrm>
            <a:off x="8920381" y="4140418"/>
            <a:ext cx="239918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definicija</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Rečnik: od ključa do vrednosti</a:t>
            </a:r>
            <a:endParaRPr sz="3200"/>
          </a:p>
        </p:txBody>
      </p:sp>
      <p:sp>
        <p:nvSpPr>
          <p:cNvPr id="4" name="Rounded Rectangle 3"/>
          <p:cNvSpPr/>
          <p:nvPr/>
        </p:nvSpPr>
        <p:spPr>
          <a:xfrm>
            <a:off x="819150" y="1708051"/>
            <a:ext cx="3788767" cy="3183037"/>
          </a:xfrm>
          <a:prstGeom prst="roundRect">
            <a:avLst>
              <a:gd name="adj" fmla="val 3191"/>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1x20.15"/>
          <p:cNvSpPr txBox="1"/>
          <p:nvPr/>
        </p:nvSpPr>
        <p:spPr>
          <a:xfrm>
            <a:off x="1079500" y="1892201"/>
            <a:ext cx="3333429" cy="281473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enzymes = {</a:t>
            </a:r>
            <a:br/>
            <a:r>
              <a:rPr sz="1300" b="0" i="0">
                <a:solidFill>
                  <a:srgbClr val="E8EEE9"/>
                </a:solidFill>
                <a:latin typeface="Consolas"/>
              </a:rPr>
              <a:t>    </a:t>
            </a:r>
            <a:r>
              <a:rPr sz="1300" b="0" i="0">
                <a:solidFill>
                  <a:srgbClr val="F0A35E"/>
                </a:solidFill>
                <a:latin typeface="Consolas"/>
              </a:rPr>
              <a:t>'EcoRI'</a:t>
            </a:r>
            <a:r>
              <a:rPr sz="1300" b="0" i="0">
                <a:solidFill>
                  <a:srgbClr val="E8EEE9"/>
                </a:solidFill>
                <a:latin typeface="Consolas"/>
              </a:rPr>
              <a:t> : </a:t>
            </a:r>
            <a:r>
              <a:rPr sz="1300" b="0" i="0">
                <a:solidFill>
                  <a:srgbClr val="F0A35E"/>
                </a:solidFill>
                <a:latin typeface="Consolas"/>
              </a:rPr>
              <a:t>r'GAATTC'</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'AvaII'</a:t>
            </a:r>
            <a:r>
              <a:rPr sz="1300" b="0" i="0">
                <a:solidFill>
                  <a:srgbClr val="E8EEE9"/>
                </a:solidFill>
                <a:latin typeface="Consolas"/>
              </a:rPr>
              <a:t> : </a:t>
            </a:r>
            <a:r>
              <a:rPr sz="1300" b="0" i="0">
                <a:solidFill>
                  <a:srgbClr val="F0A35E"/>
                </a:solidFill>
                <a:latin typeface="Consolas"/>
              </a:rPr>
              <a:t>r'GG(A|T)CC'</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'BisI'</a:t>
            </a:r>
            <a:r>
              <a:rPr sz="1300" b="0" i="0">
                <a:solidFill>
                  <a:srgbClr val="E8EEE9"/>
                </a:solidFill>
                <a:latin typeface="Consolas"/>
              </a:rPr>
              <a:t>  : </a:t>
            </a:r>
            <a:r>
              <a:rPr sz="1300" b="0" i="0">
                <a:solidFill>
                  <a:srgbClr val="F0A35E"/>
                </a:solidFill>
                <a:latin typeface="Consolas"/>
              </a:rPr>
              <a:t>r'GC[ATGC]GC'</a:t>
            </a:r>
            <a:br/>
            <a:r>
              <a:rPr sz="1300" b="0" i="0">
                <a:solidFill>
                  <a:srgbClr val="E8EEE9"/>
                </a:solidFill>
                <a:latin typeface="Consolas"/>
              </a:rPr>
              <a:t>}</a:t>
            </a:r>
            <a:br/>
            <a:r>
              <a:rPr sz="1300" b="0" i="0">
                <a:solidFill>
                  <a:srgbClr val="E8EEE9"/>
                </a:solidFill>
                <a:latin typeface="Consolas"/>
              </a:rPr>
              <a:t>print(enzymes[</a:t>
            </a:r>
            <a:r>
              <a:rPr sz="1300" b="0" i="0">
                <a:solidFill>
                  <a:srgbClr val="F0A35E"/>
                </a:solidFill>
                <a:latin typeface="Consolas"/>
              </a:rPr>
              <a:t>'BisI'</a:t>
            </a:r>
            <a:r>
              <a:rPr sz="1300" b="0" i="0">
                <a:solidFill>
                  <a:srgbClr val="E8EEE9"/>
                </a:solidFill>
                <a:latin typeface="Consolas"/>
              </a:rPr>
              <a:t>])  </a:t>
            </a:r>
            <a:r>
              <a:rPr sz="1300" b="0" i="0">
                <a:solidFill>
                  <a:srgbClr val="8FB3AA"/>
                </a:solidFill>
                <a:latin typeface="Consolas"/>
              </a:rPr>
              <a:t># GC[ATGC]GC</a:t>
            </a:r>
            <a:br/>
            <a:r>
              <a:rPr sz="1300" b="0" i="0">
                <a:solidFill>
                  <a:srgbClr val="8FB3AA"/>
                </a:solidFill>
                <a:latin typeface="Consolas"/>
              </a:rPr>
              <a:t># prazan rečnik, pa dodavanje stavki</a:t>
            </a:r>
            <a:br/>
            <a:r>
              <a:rPr sz="1300" b="0" i="0">
                <a:solidFill>
                  <a:srgbClr val="E8EEE9"/>
                </a:solidFill>
                <a:latin typeface="Consolas"/>
              </a:rPr>
              <a:t>enzymes = {}</a:t>
            </a:r>
            <a:br/>
            <a:r>
              <a:rPr sz="1300" b="0" i="0">
                <a:solidFill>
                  <a:srgbClr val="E8EEE9"/>
                </a:solidFill>
                <a:latin typeface="Consolas"/>
              </a:rPr>
              <a:t>enzymes[</a:t>
            </a:r>
            <a:r>
              <a:rPr sz="1300" b="0" i="0">
                <a:solidFill>
                  <a:srgbClr val="F0A35E"/>
                </a:solidFill>
                <a:latin typeface="Consolas"/>
              </a:rPr>
              <a:t>'EcoRI'</a:t>
            </a:r>
            <a:r>
              <a:rPr sz="1300" b="0" i="0">
                <a:solidFill>
                  <a:srgbClr val="E8EEE9"/>
                </a:solidFill>
                <a:latin typeface="Consolas"/>
              </a:rPr>
              <a:t>] = </a:t>
            </a:r>
            <a:r>
              <a:rPr sz="1300" b="0" i="0">
                <a:solidFill>
                  <a:srgbClr val="F0A35E"/>
                </a:solidFill>
                <a:latin typeface="Consolas"/>
              </a:rPr>
              <a:t>r'GAATTC'</a:t>
            </a:r>
            <a:br/>
            <a:r>
              <a:rPr sz="1300" b="0" i="0">
                <a:solidFill>
                  <a:srgbClr val="8FB3AA"/>
                </a:solidFill>
                <a:latin typeface="Consolas"/>
              </a:rPr>
              <a:t># pop vraća vrednost i briše ključ</a:t>
            </a:r>
            <a:br/>
            <a:r>
              <a:rPr sz="1300" b="0" i="0">
                <a:solidFill>
                  <a:srgbClr val="E8EEE9"/>
                </a:solidFill>
                <a:latin typeface="Consolas"/>
              </a:rPr>
              <a:t>enzymes.pop(</a:t>
            </a:r>
            <a:r>
              <a:rPr sz="1300" b="0" i="0">
                <a:solidFill>
                  <a:srgbClr val="F0A35E"/>
                </a:solidFill>
                <a:latin typeface="Consolas"/>
              </a:rPr>
              <a:t>'EcoRI'</a:t>
            </a:r>
            <a:r>
              <a:rPr sz="1300" b="0" i="0">
                <a:solidFill>
                  <a:srgbClr val="E8EEE9"/>
                </a:solidFill>
                <a:latin typeface="Consolas"/>
              </a:rPr>
              <a:t>)</a:t>
            </a:r>
            <a:endParaRPr sz="1300"/>
          </a:p>
        </p:txBody>
      </p:sp>
      <p:sp>
        <p:nvSpPr>
          <p:cNvPr id="6" name="Rounded Rectangle 5"/>
          <p:cNvSpPr/>
          <p:nvPr/>
        </p:nvSpPr>
        <p:spPr>
          <a:xfrm>
            <a:off x="4922242" y="1704876"/>
            <a:ext cx="6453783" cy="2284412"/>
          </a:xfrm>
          <a:prstGeom prst="roundRect">
            <a:avLst>
              <a:gd name="adj" fmla="val 444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5128617" y="1885851"/>
            <a:ext cx="6161853"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Pravila</a:t>
            </a:r>
            <a:endParaRPr sz="1800"/>
          </a:p>
        </p:txBody>
      </p:sp>
      <p:sp>
        <p:nvSpPr>
          <p:cNvPr id="8" name="Tekst 6x20.30"/>
          <p:cNvSpPr txBox="1"/>
          <p:nvPr/>
        </p:nvSpPr>
        <p:spPr>
          <a:xfrm>
            <a:off x="5128617" y="2261691"/>
            <a:ext cx="6161853" cy="154662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Vitičaste zagrade; stavka je par </a:t>
            </a:r>
            <a:r>
              <a:rPr sz="1400" b="0" i="0">
                <a:solidFill>
                  <a:srgbClr val="A8521A"/>
                </a:solidFill>
                <a:latin typeface="Arial"/>
              </a:rPr>
              <a:t>ključ: vrednost</a:t>
            </a:r>
            <a:r>
              <a:rPr sz="1400" b="0" i="0">
                <a:solidFill>
                  <a:srgbClr val="3D4F52"/>
                </a:solidFill>
                <a:latin typeface="Arial"/>
              </a:rPr>
              <a:t>, a stavke se razdvajaju zarezima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Pristup: </a:t>
            </a:r>
            <a:r>
              <a:rPr sz="1400" b="0" i="0">
                <a:solidFill>
                  <a:srgbClr val="A8521A"/>
                </a:solidFill>
                <a:latin typeface="Arial"/>
              </a:rPr>
              <a:t>rečnik[ključ]</a:t>
            </a:r>
            <a:r>
              <a:rPr sz="1400" b="0" i="0">
                <a:solidFill>
                  <a:srgbClr val="3D4F52"/>
                </a:solidFill>
                <a:latin typeface="Arial"/>
              </a:rPr>
              <a:t>, kao kod liste, ali sa ključem umesto indeksa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Ključevi su stringovi ili brojevi i moraju biti jedinstveni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Vrednosti mogu biti bilo kog tipa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Dodavanje: </a:t>
            </a:r>
            <a:r>
              <a:rPr sz="1400" b="0" i="0">
                <a:solidFill>
                  <a:srgbClr val="A8521A"/>
                </a:solidFill>
                <a:latin typeface="Arial"/>
              </a:rPr>
              <a:t>rečnik[ključ] = vrednost</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Brojanje trinukleotida: rečnik umesto liste</a:t>
            </a:r>
            <a:endParaRPr sz="3200"/>
          </a:p>
        </p:txBody>
      </p:sp>
      <p:sp>
        <p:nvSpPr>
          <p:cNvPr id="4" name="Rounded Rectangle 3"/>
          <p:cNvSpPr/>
          <p:nvPr/>
        </p:nvSpPr>
        <p:spPr>
          <a:xfrm>
            <a:off x="819150" y="1708051"/>
            <a:ext cx="4968577" cy="2927152"/>
          </a:xfrm>
          <a:prstGeom prst="roundRect">
            <a:avLst>
              <a:gd name="adj" fmla="val 3470"/>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0x20.15"/>
          <p:cNvSpPr txBox="1"/>
          <p:nvPr/>
        </p:nvSpPr>
        <p:spPr>
          <a:xfrm>
            <a:off x="1079500" y="1892201"/>
            <a:ext cx="4536835" cy="255885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"AATGATCGATCGTACGCTGA"</a:t>
            </a:r>
            <a:br/>
            <a:r>
              <a:rPr sz="1300" b="0" i="0">
                <a:solidFill>
                  <a:srgbClr val="E8EEE9"/>
                </a:solidFill>
                <a:latin typeface="Consolas"/>
              </a:rPr>
              <a:t>counts = {}</a:t>
            </a:r>
            <a:br/>
            <a:r>
              <a:rPr sz="1300" b="0" i="0">
                <a:solidFill>
                  <a:srgbClr val="6FD3C1"/>
                </a:solidFill>
                <a:latin typeface="Consolas"/>
              </a:rPr>
              <a:t>for</a:t>
            </a:r>
            <a:r>
              <a:rPr sz="1300" b="0" i="0">
                <a:solidFill>
                  <a:srgbClr val="E8EEE9"/>
                </a:solidFill>
                <a:latin typeface="Consolas"/>
              </a:rPr>
              <a:t> base1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base2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base3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trinucleotide = base1 + base2 + base3</a:t>
            </a:r>
            <a:br/>
            <a:r>
              <a:rPr sz="1300" b="0" i="0">
                <a:solidFill>
                  <a:srgbClr val="E8EEE9"/>
                </a:solidFill>
                <a:latin typeface="Consolas"/>
              </a:rPr>
              <a:t>            count = dna.count(trinucleotide)</a:t>
            </a:r>
            <a:br/>
            <a:r>
              <a:rPr sz="1300" b="0" i="0">
                <a:solidFill>
                  <a:srgbClr val="E8EEE9"/>
                </a:solidFill>
                <a:latin typeface="Consolas"/>
              </a:rPr>
              <a:t>            counts[trinucleotide] = count</a:t>
            </a:r>
            <a:br/>
            <a:r>
              <a:rPr sz="1300" b="0" i="0">
                <a:solidFill>
                  <a:srgbClr val="E8EEE9"/>
                </a:solidFill>
                <a:latin typeface="Consolas"/>
              </a:rPr>
              <a:t>print(counts)</a:t>
            </a:r>
            <a:br/>
            <a:r>
              <a:rPr sz="1300" b="0" i="0">
                <a:solidFill>
                  <a:srgbClr val="E8EEE9"/>
                </a:solidFill>
                <a:latin typeface="Consolas"/>
              </a:rPr>
              <a:t>print(counts[</a:t>
            </a:r>
            <a:r>
              <a:rPr sz="1300" b="0" i="0">
                <a:solidFill>
                  <a:srgbClr val="F0A35E"/>
                </a:solidFill>
                <a:latin typeface="Consolas"/>
              </a:rPr>
              <a:t>'TGA'</a:t>
            </a:r>
            <a:r>
              <a:rPr sz="1300" b="0" i="0">
                <a:solidFill>
                  <a:srgbClr val="E8EEE9"/>
                </a:solidFill>
                <a:latin typeface="Consolas"/>
              </a:rPr>
              <a:t>])</a:t>
            </a:r>
            <a:endParaRPr sz="1300"/>
          </a:p>
        </p:txBody>
      </p:sp>
      <p:sp>
        <p:nvSpPr>
          <p:cNvPr id="6" name="Rounded Rectangle 5"/>
          <p:cNvSpPr/>
          <p:nvPr/>
        </p:nvSpPr>
        <p:spPr>
          <a:xfrm>
            <a:off x="6105227" y="1708051"/>
            <a:ext cx="5267623" cy="829270"/>
          </a:xfrm>
          <a:prstGeom prst="roundRect">
            <a:avLst>
              <a:gd name="adj" fmla="val 12251"/>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20.15"/>
          <p:cNvSpPr txBox="1"/>
          <p:nvPr/>
        </p:nvSpPr>
        <p:spPr>
          <a:xfrm>
            <a:off x="6314777" y="1866801"/>
            <a:ext cx="4945493"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{'AAA': 0, 'AAT': 1, 'AAG': 0, …}</a:t>
            </a:r>
            <a:br/>
            <a:r>
              <a:rPr sz="1300" b="0" i="0">
                <a:solidFill>
                  <a:srgbClr val="13262B"/>
                </a:solidFill>
                <a:latin typeface="Consolas"/>
              </a:rPr>
              <a:t>2</a:t>
            </a:r>
            <a:endParaRPr sz="1300"/>
          </a:p>
        </p:txBody>
      </p:sp>
      <p:sp>
        <p:nvSpPr>
          <p:cNvPr id="8" name="Rounded Rectangle 7"/>
          <p:cNvSpPr/>
          <p:nvPr/>
        </p:nvSpPr>
        <p:spPr>
          <a:xfrm>
            <a:off x="6102052" y="2648446"/>
            <a:ext cx="5273973"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6283027" y="2804021"/>
            <a:ext cx="501026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Trinukleotid i njegov broj su zajedno u jednoj promenljivoj: nema pamćenja redosleda ni usklađivanja dve liste.</a:t>
            </a:r>
            <a:endParaRPr sz="1400"/>
          </a:p>
        </p:txBody>
      </p:sp>
      <p:sp>
        <p:nvSpPr>
          <p:cNvPr id="10" name="Rounded Rectangle 9"/>
          <p:cNvSpPr/>
          <p:nvPr/>
        </p:nvSpPr>
        <p:spPr>
          <a:xfrm>
            <a:off x="6098877" y="3579912"/>
            <a:ext cx="5280323"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8877" y="357991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2x20.30"/>
          <p:cNvSpPr txBox="1"/>
          <p:nvPr/>
        </p:nvSpPr>
        <p:spPr>
          <a:xfrm>
            <a:off x="6314777" y="3732312"/>
            <a:ext cx="498435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Ali i dalje čuvamo 50 nula. Sledeći korak: samo brojevi veći od nule.</a:t>
            </a:r>
            <a:endParaRPr sz="14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Brojanje trinukleotida rečnikom</a:t>
            </a:r>
            <a:endParaRPr sz="3200"/>
          </a:p>
        </p:txBody>
      </p:sp>
      <p:sp>
        <p:nvSpPr>
          <p:cNvPr id="4" name="Rounded Rectangle 3"/>
          <p:cNvSpPr/>
          <p:nvPr/>
        </p:nvSpPr>
        <p:spPr>
          <a:xfrm>
            <a:off x="819150" y="1708051"/>
            <a:ext cx="4968577"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79500" y="1892201"/>
            <a:ext cx="4536835"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"AATGATCGATCGTACGCTGA"</a:t>
            </a:r>
            <a:br/>
            <a:r>
              <a:rPr sz="1300" b="0" i="0">
                <a:solidFill>
                  <a:srgbClr val="E8EEE9"/>
                </a:solidFill>
                <a:latin typeface="Consolas"/>
              </a:rPr>
              <a:t>counts = {}</a:t>
            </a:r>
            <a:br/>
            <a:r>
              <a:rPr sz="1300" b="0" i="0">
                <a:solidFill>
                  <a:srgbClr val="6FD3C1"/>
                </a:solidFill>
                <a:latin typeface="Consolas"/>
              </a:rPr>
              <a:t>for</a:t>
            </a:r>
            <a:r>
              <a:rPr sz="1300" b="0" i="0">
                <a:solidFill>
                  <a:srgbClr val="E8EEE9"/>
                </a:solidFill>
                <a:latin typeface="Consolas"/>
              </a:rPr>
              <a:t> base1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base2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base3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 </a:t>
            </a:r>
            <a:r>
              <a:rPr sz="1300" b="0" i="0">
                <a:solidFill>
                  <a:srgbClr val="F0A35E"/>
                </a:solidFill>
                <a:latin typeface="Consolas"/>
              </a:rPr>
              <a:t>'T'</a:t>
            </a:r>
            <a:r>
              <a:rPr sz="1300" b="0" i="0">
                <a:solidFill>
                  <a:srgbClr val="E8EEE9"/>
                </a:solidFill>
                <a:latin typeface="Consolas"/>
              </a:rPr>
              <a:t>, </a:t>
            </a:r>
            <a:r>
              <a:rPr sz="1300" b="0" i="0">
                <a:solidFill>
                  <a:srgbClr val="F0A35E"/>
                </a:solidFill>
                <a:latin typeface="Consolas"/>
              </a:rPr>
              <a:t>'G'</a:t>
            </a:r>
            <a:r>
              <a:rPr sz="1300" b="0" i="0">
                <a:solidFill>
                  <a:srgbClr val="E8EEE9"/>
                </a:solidFill>
                <a:latin typeface="Consolas"/>
              </a:rPr>
              <a:t>, </a:t>
            </a:r>
            <a:r>
              <a:rPr sz="1300" b="0" i="0">
                <a:solidFill>
                  <a:srgbClr val="F0A35E"/>
                </a:solidFill>
                <a:latin typeface="Consolas"/>
              </a:rPr>
              <a:t>'C'</a:t>
            </a:r>
            <a:r>
              <a:rPr sz="1300" b="0" i="0">
                <a:solidFill>
                  <a:srgbClr val="E8EEE9"/>
                </a:solidFill>
                <a:latin typeface="Consolas"/>
              </a:rPr>
              <a:t>]:</a:t>
            </a:r>
            <a:br/>
            <a:r>
              <a:rPr sz="1300" b="0" i="0">
                <a:solidFill>
                  <a:srgbClr val="E8EEE9"/>
                </a:solidFill>
                <a:latin typeface="Consolas"/>
              </a:rPr>
              <a:t>            trinucleotide = base1 + base2 + base3</a:t>
            </a:r>
            <a:br/>
            <a:r>
              <a:rPr sz="1300" b="0" i="0">
                <a:solidFill>
                  <a:srgbClr val="E8EEE9"/>
                </a:solidFill>
                <a:latin typeface="Consolas"/>
              </a:rPr>
              <a:t>            count = dna.count(trinucleotide)</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count &gt; 0:</a:t>
            </a:r>
            <a:br/>
            <a:r>
              <a:rPr sz="1300" b="0" i="0">
                <a:solidFill>
                  <a:srgbClr val="E8EEE9"/>
                </a:solidFill>
                <a:latin typeface="Consolas"/>
              </a:rPr>
              <a:t>                counts[trinucleotide] = count</a:t>
            </a:r>
            <a:endParaRPr sz="1300"/>
          </a:p>
        </p:txBody>
      </p:sp>
      <p:sp>
        <p:nvSpPr>
          <p:cNvPr id="6" name="Rounded Rectangle 5"/>
          <p:cNvSpPr/>
          <p:nvPr/>
        </p:nvSpPr>
        <p:spPr>
          <a:xfrm>
            <a:off x="6105227" y="1708051"/>
            <a:ext cx="5267623"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4x20.15"/>
          <p:cNvSpPr txBox="1"/>
          <p:nvPr/>
        </p:nvSpPr>
        <p:spPr>
          <a:xfrm>
            <a:off x="6365577" y="1892201"/>
            <a:ext cx="4841861"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print(counts[</a:t>
            </a:r>
            <a:r>
              <a:rPr sz="1300" b="0" i="0">
                <a:solidFill>
                  <a:srgbClr val="F0A35E"/>
                </a:solidFill>
                <a:latin typeface="Consolas"/>
              </a:rPr>
              <a:t>'TGA'</a:t>
            </a:r>
            <a:r>
              <a:rPr sz="1300" b="0" i="0">
                <a:solidFill>
                  <a:srgbClr val="E8EEE9"/>
                </a:solidFill>
                <a:latin typeface="Consolas"/>
              </a:rPr>
              <a:t>])         </a:t>
            </a:r>
            <a:r>
              <a:rPr sz="1300" b="0" i="0">
                <a:solidFill>
                  <a:srgbClr val="8FB3AA"/>
                </a:solidFill>
                <a:latin typeface="Consolas"/>
              </a:rPr>
              <a:t># 2</a:t>
            </a:r>
            <a:br/>
            <a:r>
              <a:rPr sz="1300" b="0" i="0">
                <a:solidFill>
                  <a:srgbClr val="E8EEE9"/>
                </a:solidFill>
                <a:latin typeface="Consolas"/>
              </a:rPr>
              <a:t>print(counts[</a:t>
            </a:r>
            <a:r>
              <a:rPr sz="1300" b="0" i="0">
                <a:solidFill>
                  <a:srgbClr val="F0A35E"/>
                </a:solidFill>
                <a:latin typeface="Consolas"/>
              </a:rPr>
              <a:t>'AAA'</a:t>
            </a:r>
            <a:r>
              <a:rPr sz="1300" b="0" i="0">
                <a:solidFill>
                  <a:srgbClr val="E8EEE9"/>
                </a:solidFill>
                <a:latin typeface="Consolas"/>
              </a:rPr>
              <a:t>])         </a:t>
            </a:r>
            <a:r>
              <a:rPr sz="1300" b="0" i="0">
                <a:solidFill>
                  <a:srgbClr val="8FB3AA"/>
                </a:solidFill>
                <a:latin typeface="Consolas"/>
              </a:rPr>
              <a:t># KeyError</a:t>
            </a:r>
            <a:br/>
            <a:r>
              <a:rPr sz="1300" b="0" i="0">
                <a:solidFill>
                  <a:srgbClr val="E8EEE9"/>
                </a:solidFill>
                <a:latin typeface="Consolas"/>
              </a:rPr>
              <a:t>print(</a:t>
            </a:r>
            <a:r>
              <a:rPr sz="1300" b="0" i="0">
                <a:solidFill>
                  <a:srgbClr val="F0A35E"/>
                </a:solidFill>
                <a:latin typeface="Consolas"/>
              </a:rPr>
              <a:t>'AAA'</a:t>
            </a:r>
            <a:r>
              <a:rPr sz="1300" b="0" i="0">
                <a:solidFill>
                  <a:srgbClr val="E8EEE9"/>
                </a:solidFill>
                <a:latin typeface="Consolas"/>
              </a:rPr>
              <a:t> </a:t>
            </a:r>
            <a:r>
              <a:rPr sz="1300" b="0" i="0">
                <a:solidFill>
                  <a:srgbClr val="6FD3C1"/>
                </a:solidFill>
                <a:latin typeface="Consolas"/>
              </a:rPr>
              <a:t>in</a:t>
            </a:r>
            <a:r>
              <a:rPr sz="1300" b="0" i="0">
                <a:solidFill>
                  <a:srgbClr val="E8EEE9"/>
                </a:solidFill>
                <a:latin typeface="Consolas"/>
              </a:rPr>
              <a:t> counts)       </a:t>
            </a:r>
            <a:r>
              <a:rPr sz="1300" b="0" i="0">
                <a:solidFill>
                  <a:srgbClr val="8FB3AA"/>
                </a:solidFill>
                <a:latin typeface="Consolas"/>
              </a:rPr>
              <a:t># False</a:t>
            </a:r>
            <a:br/>
            <a:r>
              <a:rPr sz="1300" b="0" i="0">
                <a:solidFill>
                  <a:srgbClr val="E8EEE9"/>
                </a:solidFill>
                <a:latin typeface="Consolas"/>
              </a:rPr>
              <a:t>print(counts.get(</a:t>
            </a:r>
            <a:r>
              <a:rPr sz="1300" b="0" i="0">
                <a:solidFill>
                  <a:srgbClr val="F0A35E"/>
                </a:solidFill>
                <a:latin typeface="Consolas"/>
              </a:rPr>
              <a:t>'AAA'</a:t>
            </a:r>
            <a:r>
              <a:rPr sz="1300" b="0" i="0">
                <a:solidFill>
                  <a:srgbClr val="E8EEE9"/>
                </a:solidFill>
                <a:latin typeface="Consolas"/>
              </a:rPr>
              <a:t>, 0))  </a:t>
            </a:r>
            <a:r>
              <a:rPr sz="1300" b="0" i="0">
                <a:solidFill>
                  <a:srgbClr val="8FB3AA"/>
                </a:solidFill>
                <a:latin typeface="Consolas"/>
              </a:rPr>
              <a:t># 0</a:t>
            </a:r>
            <a:endParaRPr sz="1300"/>
          </a:p>
        </p:txBody>
      </p:sp>
      <p:sp>
        <p:nvSpPr>
          <p:cNvPr id="8" name="Rounded Rectangle 7"/>
          <p:cNvSpPr/>
          <p:nvPr/>
        </p:nvSpPr>
        <p:spPr>
          <a:xfrm>
            <a:off x="6102052" y="3261816"/>
            <a:ext cx="5273973" cy="1485702"/>
          </a:xfrm>
          <a:prstGeom prst="roundRect">
            <a:avLst>
              <a:gd name="adj" fmla="val 683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6308427" y="3442791"/>
            <a:ext cx="495844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get(ključ, podrazumevano)</a:t>
            </a:r>
            <a:endParaRPr sz="1800"/>
          </a:p>
        </p:txBody>
      </p:sp>
      <p:sp>
        <p:nvSpPr>
          <p:cNvPr id="10" name="Tekst 3x20.30"/>
          <p:cNvSpPr txBox="1"/>
          <p:nvPr/>
        </p:nvSpPr>
        <p:spPr>
          <a:xfrm>
            <a:off x="6308427" y="3793232"/>
            <a:ext cx="4958447"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Vraća podrazumevanu vrednost kad ključa nema. Zato ne moramo da čuvamo nule niti da pre svakog pristupa proveravamo sa </a:t>
            </a:r>
            <a:r>
              <a:rPr sz="1400" b="0" i="0">
                <a:solidFill>
                  <a:srgbClr val="A8521A"/>
                </a:solidFill>
                <a:latin typeface="Arial"/>
              </a:rPr>
              <a:t>in</a:t>
            </a:r>
            <a:r>
              <a:rPr sz="1400" b="0" i="0">
                <a:solidFill>
                  <a:srgbClr val="3D4F52"/>
                </a:solidFill>
                <a:latin typeface="Arial"/>
              </a:rPr>
              <a:t>.</a:t>
            </a:r>
            <a:endParaRPr sz="1400"/>
          </a:p>
        </p:txBody>
      </p:sp>
      <p:sp>
        <p:nvSpPr>
          <p:cNvPr id="11" name="Tekst 2x20.30"/>
          <p:cNvSpPr txBox="1"/>
          <p:nvPr/>
        </p:nvSpPr>
        <p:spPr>
          <a:xfrm>
            <a:off x="6098877" y="4903093"/>
            <a:ext cx="538592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Rečnik čuva samo trinukleotide koji se javljaju: </a:t>
            </a:r>
            <a:r>
              <a:rPr sz="1400" b="0" i="0">
                <a:solidFill>
                  <a:srgbClr val="A8521A"/>
                </a:solidFill>
                <a:latin typeface="Arial"/>
              </a:rPr>
              <a:t>{'AAT': 1, 'ATG': 1, 'ATC': 2, …}</a:t>
            </a:r>
            <a:endParaRPr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Prolazak kroz rečnik</a:t>
            </a:r>
            <a:endParaRPr sz="3200"/>
          </a:p>
        </p:txBody>
      </p:sp>
      <p:sp>
        <p:nvSpPr>
          <p:cNvPr id="4" name="Tekst 1x16.80"/>
          <p:cNvSpPr txBox="1"/>
          <p:nvPr/>
        </p:nvSpPr>
        <p:spPr>
          <a:xfrm>
            <a:off x="812800" y="1701701"/>
            <a:ext cx="45255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PREKO KLJUČEVA: KEYS()</a:t>
            </a:r>
            <a:endParaRPr sz="1200"/>
          </a:p>
        </p:txBody>
      </p:sp>
      <p:sp>
        <p:nvSpPr>
          <p:cNvPr id="5" name="Rounded Rectangle 4"/>
          <p:cNvSpPr/>
          <p:nvPr/>
        </p:nvSpPr>
        <p:spPr>
          <a:xfrm>
            <a:off x="819150" y="1997571"/>
            <a:ext cx="4424065"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3x20.15"/>
          <p:cNvSpPr txBox="1"/>
          <p:nvPr/>
        </p:nvSpPr>
        <p:spPr>
          <a:xfrm>
            <a:off x="1079500" y="2181721"/>
            <a:ext cx="398143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trinucleotide </a:t>
            </a:r>
            <a:r>
              <a:rPr sz="1300" b="0" i="0">
                <a:solidFill>
                  <a:srgbClr val="6FD3C1"/>
                </a:solidFill>
                <a:latin typeface="Consolas"/>
              </a:rPr>
              <a:t>in</a:t>
            </a:r>
            <a:r>
              <a:rPr sz="1300" b="0" i="0">
                <a:solidFill>
                  <a:srgbClr val="E8EEE9"/>
                </a:solidFill>
                <a:latin typeface="Consolas"/>
              </a:rPr>
              <a:t> counts.keys():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counts.get(trinucleotide) == 2:</a:t>
            </a:r>
            <a:br/>
            <a:r>
              <a:rPr sz="1300" b="0" i="0">
                <a:solidFill>
                  <a:srgbClr val="E8EEE9"/>
                </a:solidFill>
                <a:latin typeface="Consolas"/>
              </a:rPr>
              <a:t>        print(trinucleotide)</a:t>
            </a:r>
            <a:endParaRPr sz="1300"/>
          </a:p>
        </p:txBody>
      </p:sp>
      <p:sp>
        <p:nvSpPr>
          <p:cNvPr id="7" name="Tekst 1x16.80"/>
          <p:cNvSpPr txBox="1"/>
          <p:nvPr/>
        </p:nvSpPr>
        <p:spPr>
          <a:xfrm>
            <a:off x="812800" y="3343077"/>
            <a:ext cx="45255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PREKO PAROVA: ITEMS(), PREPORUČENO</a:t>
            </a:r>
            <a:endParaRPr sz="1200"/>
          </a:p>
        </p:txBody>
      </p:sp>
      <p:sp>
        <p:nvSpPr>
          <p:cNvPr id="8" name="Rounded Rectangle 7"/>
          <p:cNvSpPr/>
          <p:nvPr/>
        </p:nvSpPr>
        <p:spPr>
          <a:xfrm>
            <a:off x="819150" y="3638947"/>
            <a:ext cx="4424065"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3x20.15"/>
          <p:cNvSpPr txBox="1"/>
          <p:nvPr/>
        </p:nvSpPr>
        <p:spPr>
          <a:xfrm>
            <a:off x="1079500" y="3823097"/>
            <a:ext cx="398143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trinucleotide, count </a:t>
            </a:r>
            <a:r>
              <a:rPr sz="1300" b="0" i="0">
                <a:solidFill>
                  <a:srgbClr val="6FD3C1"/>
                </a:solidFill>
                <a:latin typeface="Consolas"/>
              </a:rPr>
              <a:t>in</a:t>
            </a:r>
            <a:r>
              <a:rPr sz="1300" b="0" i="0">
                <a:solidFill>
                  <a:srgbClr val="E8EEE9"/>
                </a:solidFill>
                <a:latin typeface="Consolas"/>
              </a:rPr>
              <a:t> counts.items():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count == 2:</a:t>
            </a:r>
            <a:br/>
            <a:r>
              <a:rPr sz="1300" b="0" i="0">
                <a:solidFill>
                  <a:srgbClr val="E8EEE9"/>
                </a:solidFill>
                <a:latin typeface="Consolas"/>
              </a:rPr>
              <a:t>        print(trinucleotide)</a:t>
            </a:r>
            <a:endParaRPr sz="1300"/>
          </a:p>
        </p:txBody>
      </p:sp>
      <p:sp>
        <p:nvSpPr>
          <p:cNvPr id="10" name="Rounded Rectangle 9"/>
          <p:cNvSpPr/>
          <p:nvPr/>
        </p:nvSpPr>
        <p:spPr>
          <a:xfrm>
            <a:off x="5560715" y="1708051"/>
            <a:ext cx="5812135"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6.80"/>
          <p:cNvSpPr txBox="1"/>
          <p:nvPr/>
        </p:nvSpPr>
        <p:spPr>
          <a:xfrm>
            <a:off x="8907780" y="1765201"/>
            <a:ext cx="233172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 OBE PETLJE</a:t>
            </a:r>
            <a:endParaRPr sz="1200"/>
          </a:p>
        </p:txBody>
      </p:sp>
      <p:sp>
        <p:nvSpPr>
          <p:cNvPr id="12" name="Tekst 4x20.15"/>
          <p:cNvSpPr txBox="1"/>
          <p:nvPr/>
        </p:nvSpPr>
        <p:spPr>
          <a:xfrm>
            <a:off x="5821065" y="1892201"/>
            <a:ext cx="5397264"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ATC</a:t>
            </a:r>
            <a:br/>
            <a:r>
              <a:rPr sz="1300" b="0" i="0">
                <a:solidFill>
                  <a:srgbClr val="13262B"/>
                </a:solidFill>
                <a:latin typeface="Consolas"/>
              </a:rPr>
              <a:t>TGA</a:t>
            </a:r>
            <a:br/>
            <a:r>
              <a:rPr sz="1300" b="0" i="0">
                <a:solidFill>
                  <a:srgbClr val="13262B"/>
                </a:solidFill>
                <a:latin typeface="Consolas"/>
              </a:rPr>
              <a:t>TCG</a:t>
            </a:r>
            <a:br/>
            <a:r>
              <a:rPr sz="1300" b="0" i="0">
                <a:solidFill>
                  <a:srgbClr val="13262B"/>
                </a:solidFill>
                <a:latin typeface="Consolas"/>
              </a:rPr>
              <a:t>GAT</a:t>
            </a:r>
            <a:endParaRPr sz="1300"/>
          </a:p>
        </p:txBody>
      </p:sp>
      <p:sp>
        <p:nvSpPr>
          <p:cNvPr id="13" name="Rounded Rectangle 12"/>
          <p:cNvSpPr/>
          <p:nvPr/>
        </p:nvSpPr>
        <p:spPr>
          <a:xfrm>
            <a:off x="5554365" y="3258641"/>
            <a:ext cx="5824835"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54365" y="3258641"/>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30"/>
          <p:cNvSpPr txBox="1"/>
          <p:nvPr/>
        </p:nvSpPr>
        <p:spPr>
          <a:xfrm>
            <a:off x="5795665" y="3411041"/>
            <a:ext cx="548794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Za sortiran redosled: </a:t>
            </a:r>
            <a:r>
              <a:rPr sz="1400" b="0" i="0">
                <a:solidFill>
                  <a:srgbClr val="A8521A"/>
                </a:solidFill>
                <a:latin typeface="Arial"/>
              </a:rPr>
              <a:t>for trinucleotide in sorted(counts.keys()):</a:t>
            </a:r>
            <a:endParaRPr sz="1400"/>
          </a:p>
        </p:txBody>
      </p:sp>
      <p:sp>
        <p:nvSpPr>
          <p:cNvPr id="16" name="Rounded Rectangle 15"/>
          <p:cNvSpPr/>
          <p:nvPr/>
        </p:nvSpPr>
        <p:spPr>
          <a:xfrm>
            <a:off x="5554365" y="3973612"/>
            <a:ext cx="5824835"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54365" y="397361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2x20.30"/>
          <p:cNvSpPr txBox="1"/>
          <p:nvPr/>
        </p:nvSpPr>
        <p:spPr>
          <a:xfrm>
            <a:off x="5795665" y="4126012"/>
            <a:ext cx="548794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Rečnik brzo nalazi vrednost za ključ, ali ne i obrnuto, kao i pravi rečnik.</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deljenje sekvence na kodone</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Ručno, isecanjem</a:t>
            </a:r>
            <a:endParaRPr sz="1800"/>
          </a:p>
        </p:txBody>
      </p:sp>
      <p:sp>
        <p:nvSpPr>
          <p:cNvPr id="5" name="Rounded Rectangle 4"/>
          <p:cNvSpPr/>
          <p:nvPr/>
        </p:nvSpPr>
        <p:spPr>
          <a:xfrm>
            <a:off x="819150" y="2083891"/>
            <a:ext cx="51181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5x20.15"/>
          <p:cNvSpPr txBox="1"/>
          <p:nvPr/>
        </p:nvSpPr>
        <p:spPr>
          <a:xfrm>
            <a:off x="1079500" y="2268041"/>
            <a:ext cx="4689348"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"ATGTTCGGT"</a:t>
            </a:r>
            <a:br/>
            <a:r>
              <a:rPr sz="1300" b="0" i="0">
                <a:solidFill>
                  <a:srgbClr val="E8EEE9"/>
                </a:solidFill>
                <a:latin typeface="Consolas"/>
              </a:rPr>
              <a:t>codon1 = dna[0:3]</a:t>
            </a:r>
            <a:br/>
            <a:r>
              <a:rPr sz="1300" b="0" i="0">
                <a:solidFill>
                  <a:srgbClr val="E8EEE9"/>
                </a:solidFill>
                <a:latin typeface="Consolas"/>
              </a:rPr>
              <a:t>codon2 = dna[3:6]</a:t>
            </a:r>
            <a:br/>
            <a:r>
              <a:rPr sz="1300" b="0" i="0">
                <a:solidFill>
                  <a:srgbClr val="E8EEE9"/>
                </a:solidFill>
                <a:latin typeface="Consolas"/>
              </a:rPr>
              <a:t>codon3 = dna[6:9]</a:t>
            </a:r>
            <a:br/>
            <a:r>
              <a:rPr sz="1300" b="0" i="0">
                <a:solidFill>
                  <a:srgbClr val="E8EEE9"/>
                </a:solidFill>
                <a:latin typeface="Consolas"/>
              </a:rPr>
              <a:t>print(codon1, codon2, codon3)</a:t>
            </a:r>
            <a:endParaRPr sz="1300"/>
          </a:p>
        </p:txBody>
      </p:sp>
      <p:sp>
        <p:nvSpPr>
          <p:cNvPr id="7" name="Rounded Rectangle 6"/>
          <p:cNvSpPr/>
          <p:nvPr/>
        </p:nvSpPr>
        <p:spPr>
          <a:xfrm>
            <a:off x="819150" y="3845917"/>
            <a:ext cx="5118100" cy="573385"/>
          </a:xfrm>
          <a:prstGeom prst="roundRect">
            <a:avLst>
              <a:gd name="adj" fmla="val 1771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0.15"/>
          <p:cNvSpPr txBox="1"/>
          <p:nvPr/>
        </p:nvSpPr>
        <p:spPr>
          <a:xfrm>
            <a:off x="1079500" y="4004667"/>
            <a:ext cx="468934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ATG TTC GGT</a:t>
            </a:r>
            <a:endParaRPr sz="1300"/>
          </a:p>
        </p:txBody>
      </p:sp>
      <p:sp>
        <p:nvSpPr>
          <p:cNvPr id="9"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Brojeve generiše range</a:t>
            </a:r>
            <a:endParaRPr sz="1800"/>
          </a:p>
        </p:txBody>
      </p:sp>
      <p:sp>
        <p:nvSpPr>
          <p:cNvPr id="10" name="Rounded Rectangle 9"/>
          <p:cNvSpPr/>
          <p:nvPr/>
        </p:nvSpPr>
        <p:spPr>
          <a:xfrm>
            <a:off x="6254750" y="2083891"/>
            <a:ext cx="51181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3x20.15"/>
          <p:cNvSpPr txBox="1"/>
          <p:nvPr/>
        </p:nvSpPr>
        <p:spPr>
          <a:xfrm>
            <a:off x="6515100" y="2268041"/>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7, 3):</a:t>
            </a:r>
            <a:br/>
            <a:r>
              <a:rPr sz="1300" b="0" i="0">
                <a:solidFill>
                  <a:srgbClr val="E8EEE9"/>
                </a:solidFill>
                <a:latin typeface="Consolas"/>
              </a:rPr>
              <a:t>    codon = dna[start:start+3]</a:t>
            </a:r>
            <a:br/>
            <a:r>
              <a:rPr sz="1300" b="0" i="0">
                <a:solidFill>
                  <a:srgbClr val="E8EEE9"/>
                </a:solidFill>
                <a:latin typeface="Consolas"/>
              </a:rPr>
              <a:t>    print(</a:t>
            </a:r>
            <a:r>
              <a:rPr sz="1300" b="0" i="0">
                <a:solidFill>
                  <a:srgbClr val="F0A35E"/>
                </a:solidFill>
                <a:latin typeface="Consolas"/>
              </a:rPr>
              <a:t>"one codon is "</a:t>
            </a:r>
            <a:r>
              <a:rPr sz="1300" b="0" i="0">
                <a:solidFill>
                  <a:srgbClr val="E8EEE9"/>
                </a:solidFill>
                <a:latin typeface="Consolas"/>
              </a:rPr>
              <a:t> + codon)</a:t>
            </a:r>
            <a:endParaRPr sz="1300"/>
          </a:p>
        </p:txBody>
      </p:sp>
      <p:sp>
        <p:nvSpPr>
          <p:cNvPr id="12" name="Rounded Rectangle 11"/>
          <p:cNvSpPr/>
          <p:nvPr/>
        </p:nvSpPr>
        <p:spPr>
          <a:xfrm>
            <a:off x="6254750" y="3334147"/>
            <a:ext cx="5118100" cy="1085155"/>
          </a:xfrm>
          <a:prstGeom prst="roundRect">
            <a:avLst>
              <a:gd name="adj" fmla="val 9362"/>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3x20.15"/>
          <p:cNvSpPr txBox="1"/>
          <p:nvPr/>
        </p:nvSpPr>
        <p:spPr>
          <a:xfrm>
            <a:off x="6515100" y="3492897"/>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one codon is ATG</a:t>
            </a:r>
            <a:br/>
            <a:r>
              <a:rPr sz="1300" b="0" i="0">
                <a:solidFill>
                  <a:srgbClr val="13262B"/>
                </a:solidFill>
                <a:latin typeface="Consolas"/>
              </a:rPr>
              <a:t>one codon is TTC</a:t>
            </a:r>
            <a:br/>
            <a:r>
              <a:rPr sz="1300" b="0" i="0">
                <a:solidFill>
                  <a:srgbClr val="13262B"/>
                </a:solidFill>
                <a:latin typeface="Consolas"/>
              </a:rPr>
              <a:t>one codon is GGT</a:t>
            </a:r>
            <a:endParaRPr sz="1300"/>
          </a:p>
        </p:txBody>
      </p:sp>
      <p:sp>
        <p:nvSpPr>
          <p:cNvPr id="14" name="Rounded Rectangle 13"/>
          <p:cNvSpPr/>
          <p:nvPr/>
        </p:nvSpPr>
        <p:spPr>
          <a:xfrm>
            <a:off x="812800" y="4679652"/>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800" y="4679652"/>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20.30"/>
          <p:cNvSpPr txBox="1"/>
          <p:nvPr/>
        </p:nvSpPr>
        <p:spPr>
          <a:xfrm>
            <a:off x="1054100" y="4832052"/>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split</a:t>
            </a:r>
            <a:r>
              <a:rPr sz="1400" b="0" i="0">
                <a:solidFill>
                  <a:srgbClr val="13262B"/>
                </a:solidFill>
                <a:latin typeface="Arial"/>
              </a:rPr>
              <a:t> ne pomaže: između kodona nema graničnika. Početak raste za 3, a kraj je početak + 3.</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dokle ide range?</a:t>
            </a:r>
            <a:endParaRPr sz="3200"/>
          </a:p>
        </p:txBody>
      </p:sp>
      <p:sp>
        <p:nvSpPr>
          <p:cNvPr id="4" name="Rounded Rectangle 3"/>
          <p:cNvSpPr/>
          <p:nvPr/>
        </p:nvSpPr>
        <p:spPr>
          <a:xfrm>
            <a:off x="815975" y="1704876"/>
            <a:ext cx="5175250" cy="1184176"/>
          </a:xfrm>
          <a:prstGeom prst="roundRect">
            <a:avLst>
              <a:gd name="adj" fmla="val 857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0.30"/>
          <p:cNvSpPr txBox="1"/>
          <p:nvPr/>
        </p:nvSpPr>
        <p:spPr>
          <a:xfrm>
            <a:off x="996950" y="1860451"/>
            <a:ext cx="49095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range(0, 7, 3)</a:t>
            </a:r>
            <a:r>
              <a:rPr sz="1400" b="0" i="0">
                <a:solidFill>
                  <a:srgbClr val="3D4F52"/>
                </a:solidFill>
                <a:latin typeface="Arial"/>
              </a:rPr>
              <a:t> za kraću sekvencu </a:t>
            </a:r>
            <a:r>
              <a:rPr sz="1400" b="0" i="0">
                <a:solidFill>
                  <a:srgbClr val="A8521A"/>
                </a:solidFill>
                <a:latin typeface="Arial"/>
              </a:rPr>
              <a:t>"ATGTT"</a:t>
            </a:r>
            <a:r>
              <a:rPr sz="1400" b="0" i="0">
                <a:solidFill>
                  <a:srgbClr val="3D4F52"/>
                </a:solidFill>
                <a:latin typeface="Arial"/>
              </a:rPr>
              <a:t>:</a:t>
            </a:r>
            <a:endParaRPr sz="1400"/>
          </a:p>
        </p:txBody>
      </p:sp>
      <p:sp>
        <p:nvSpPr>
          <p:cNvPr id="6" name="Tekst 1x20.15"/>
          <p:cNvSpPr txBox="1"/>
          <p:nvPr/>
        </p:nvSpPr>
        <p:spPr>
          <a:xfrm>
            <a:off x="996950" y="2169021"/>
            <a:ext cx="4909566"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'ATG', 'TT', ''</a:t>
            </a:r>
            <a:endParaRPr sz="1300"/>
          </a:p>
        </p:txBody>
      </p:sp>
      <p:sp>
        <p:nvSpPr>
          <p:cNvPr id="7" name="Tekst 1x20.30"/>
          <p:cNvSpPr txBox="1"/>
          <p:nvPr/>
        </p:nvSpPr>
        <p:spPr>
          <a:xfrm>
            <a:off x="996950" y="2475706"/>
            <a:ext cx="49095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nepotpun i prazan kodon</a:t>
            </a:r>
            <a:endParaRPr sz="1400"/>
          </a:p>
        </p:txBody>
      </p:sp>
      <p:sp>
        <p:nvSpPr>
          <p:cNvPr id="8" name="Rounded Rectangle 7"/>
          <p:cNvSpPr/>
          <p:nvPr/>
        </p:nvSpPr>
        <p:spPr>
          <a:xfrm>
            <a:off x="815975" y="3047802"/>
            <a:ext cx="5175250" cy="1184176"/>
          </a:xfrm>
          <a:prstGeom prst="roundRect">
            <a:avLst>
              <a:gd name="adj" fmla="val 857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30"/>
          <p:cNvSpPr txBox="1"/>
          <p:nvPr/>
        </p:nvSpPr>
        <p:spPr>
          <a:xfrm>
            <a:off x="996950" y="3203377"/>
            <a:ext cx="49095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range(0, 7, 3)</a:t>
            </a:r>
            <a:r>
              <a:rPr sz="1400" b="0" i="0">
                <a:solidFill>
                  <a:srgbClr val="3D4F52"/>
                </a:solidFill>
                <a:latin typeface="Arial"/>
              </a:rPr>
              <a:t> za dužu sekvencu od 23 baze:</a:t>
            </a:r>
            <a:endParaRPr sz="1400"/>
          </a:p>
        </p:txBody>
      </p:sp>
      <p:sp>
        <p:nvSpPr>
          <p:cNvPr id="10" name="Tekst 1x20.15"/>
          <p:cNvSpPr txBox="1"/>
          <p:nvPr/>
        </p:nvSpPr>
        <p:spPr>
          <a:xfrm>
            <a:off x="996950" y="3511947"/>
            <a:ext cx="4909566"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'ATG', 'TTC', 'GGT'</a:t>
            </a:r>
            <a:endParaRPr sz="1300"/>
          </a:p>
        </p:txBody>
      </p:sp>
      <p:sp>
        <p:nvSpPr>
          <p:cNvPr id="11" name="Tekst 1x20.30"/>
          <p:cNvSpPr txBox="1"/>
          <p:nvPr/>
        </p:nvSpPr>
        <p:spPr>
          <a:xfrm>
            <a:off x="996950" y="3818632"/>
            <a:ext cx="490956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četvrti i kasniji kodoni se preskaču</a:t>
            </a:r>
            <a:endParaRPr sz="1400"/>
          </a:p>
        </p:txBody>
      </p:sp>
      <p:sp>
        <p:nvSpPr>
          <p:cNvPr id="12" name="Rounded Rectangle 11"/>
          <p:cNvSpPr/>
          <p:nvPr/>
        </p:nvSpPr>
        <p:spPr>
          <a:xfrm>
            <a:off x="6305550" y="1708051"/>
            <a:ext cx="50673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6x20.15"/>
          <p:cNvSpPr txBox="1"/>
          <p:nvPr/>
        </p:nvSpPr>
        <p:spPr>
          <a:xfrm>
            <a:off x="6565900" y="1892201"/>
            <a:ext cx="463753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"ATGTTCGGT"</a:t>
            </a:r>
            <a:br/>
            <a:r>
              <a:rPr sz="1300" b="0" i="0">
                <a:solidFill>
                  <a:srgbClr val="8FB3AA"/>
                </a:solidFill>
                <a:latin typeface="Consolas"/>
              </a:rPr>
              <a:t># početak poslednjeg kodona: još bar 2 baze iza</a:t>
            </a:r>
            <a:br/>
            <a:r>
              <a:rPr sz="1300" b="0" i="0">
                <a:solidFill>
                  <a:srgbClr val="E8EEE9"/>
                </a:solidFill>
                <a:latin typeface="Consolas"/>
              </a:rPr>
              <a:t>last_codon_start = len(dna) - 2</a:t>
            </a:r>
            <a:b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last_codon_start, 3):</a:t>
            </a:r>
            <a:br/>
            <a:r>
              <a:rPr sz="1300" b="0" i="0">
                <a:solidFill>
                  <a:srgbClr val="E8EEE9"/>
                </a:solidFill>
                <a:latin typeface="Consolas"/>
              </a:rPr>
              <a:t>    codon = dna[start:start+3]</a:t>
            </a:r>
            <a:br/>
            <a:r>
              <a:rPr sz="1300" b="0" i="0">
                <a:solidFill>
                  <a:srgbClr val="E8EEE9"/>
                </a:solidFill>
                <a:latin typeface="Consolas"/>
              </a:rPr>
              <a:t>    print(</a:t>
            </a:r>
            <a:r>
              <a:rPr sz="1300" b="0" i="0">
                <a:solidFill>
                  <a:srgbClr val="F0A35E"/>
                </a:solidFill>
                <a:latin typeface="Consolas"/>
              </a:rPr>
              <a:t>"one codon is "</a:t>
            </a:r>
            <a:r>
              <a:rPr sz="1300" b="0" i="0">
                <a:solidFill>
                  <a:srgbClr val="E8EEE9"/>
                </a:solidFill>
                <a:latin typeface="Consolas"/>
              </a:rPr>
              <a:t> + codon)</a:t>
            </a:r>
            <a:endParaRPr sz="1300"/>
          </a:p>
        </p:txBody>
      </p:sp>
      <p:sp>
        <p:nvSpPr>
          <p:cNvPr id="14" name="Tekst 2x20.30"/>
          <p:cNvSpPr txBox="1"/>
          <p:nvPr/>
        </p:nvSpPr>
        <p:spPr>
          <a:xfrm>
            <a:off x="6299200" y="3719612"/>
            <a:ext cx="518160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Kraj opsega zavisi od dužine sekvence. Nepotpun kodon na kraju se ne prevodi.</a:t>
            </a:r>
            <a:endParaRPr sz="14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3: genetski kod u rečniku</a:t>
            </a:r>
            <a:endParaRPr sz="3200"/>
          </a:p>
        </p:txBody>
      </p:sp>
      <p:sp>
        <p:nvSpPr>
          <p:cNvPr id="4" name="Rounded Rectangle 3"/>
          <p:cNvSpPr/>
          <p:nvPr/>
        </p:nvSpPr>
        <p:spPr>
          <a:xfrm>
            <a:off x="819150" y="1657251"/>
            <a:ext cx="5194300"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28700" y="1841401"/>
            <a:ext cx="4870704"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gencode = {</a:t>
            </a:r>
            <a:br/>
            <a:r>
              <a:rPr sz="1300" b="0" i="0">
                <a:solidFill>
                  <a:srgbClr val="E8EEE9"/>
                </a:solidFill>
                <a:latin typeface="Consolas"/>
              </a:rPr>
              <a:t>    'ATA':'I', 'ATC':'I', 'ATT':'I', 'ATG':'M',</a:t>
            </a:r>
            <a:br/>
            <a:r>
              <a:rPr sz="1300" b="0" i="0">
                <a:solidFill>
                  <a:srgbClr val="E8EEE9"/>
                </a:solidFill>
                <a:latin typeface="Consolas"/>
              </a:rPr>
              <a:t>    'ACA':'T', 'ACC':'T', 'ACG':'T', 'ACT':'T',</a:t>
            </a:r>
            <a:br/>
            <a:r>
              <a:rPr sz="1300" b="0" i="0">
                <a:solidFill>
                  <a:srgbClr val="E8EEE9"/>
                </a:solidFill>
                <a:latin typeface="Consolas"/>
              </a:rPr>
              <a:t>    'AAC':'N', 'AAT':'N', 'AAA':'K', 'AAG':'K',</a:t>
            </a:r>
            <a:br/>
            <a:r>
              <a:rPr sz="1300" b="0" i="0">
                <a:solidFill>
                  <a:srgbClr val="E8EEE9"/>
                </a:solidFill>
                <a:latin typeface="Consolas"/>
              </a:rPr>
              <a:t>    'AGC':'S', 'AGT':'S', 'AGA':'R', 'AGG':'R',</a:t>
            </a:r>
            <a:br/>
            <a:r>
              <a:rPr sz="1300" b="0" i="0">
                <a:solidFill>
                  <a:srgbClr val="E8EEE9"/>
                </a:solidFill>
                <a:latin typeface="Consolas"/>
              </a:rPr>
              <a:t>    'CTA':'L', 'CTC':'L', 'CTG':'L', 'CTT':'L',</a:t>
            </a:r>
            <a:br/>
            <a:r>
              <a:rPr sz="1300" b="0" i="0">
                <a:solidFill>
                  <a:srgbClr val="E8EEE9"/>
                </a:solidFill>
                <a:latin typeface="Consolas"/>
              </a:rPr>
              <a:t>    'CCA':'P', 'CCC':'P', 'CCG':'P', 'CCT':'P',</a:t>
            </a:r>
            <a:br/>
            <a:r>
              <a:rPr sz="1300" b="0" i="0">
                <a:solidFill>
                  <a:srgbClr val="E8EEE9"/>
                </a:solidFill>
                <a:latin typeface="Consolas"/>
              </a:rPr>
              <a:t>    'CAC':'H', 'CAT':'H', 'CAA':'Q', 'CAG':'Q',</a:t>
            </a:r>
            <a:br/>
            <a:r>
              <a:rPr sz="1300" b="0" i="0">
                <a:solidFill>
                  <a:srgbClr val="E8EEE9"/>
                </a:solidFill>
                <a:latin typeface="Consolas"/>
              </a:rPr>
              <a:t>    'CGA':'R', 'CGC':'R', 'CGG':'R', 'CGT':'R',</a:t>
            </a:r>
            <a:endParaRPr sz="1300"/>
          </a:p>
        </p:txBody>
      </p:sp>
      <p:sp>
        <p:nvSpPr>
          <p:cNvPr id="6" name="Rounded Rectangle 5"/>
          <p:cNvSpPr/>
          <p:nvPr/>
        </p:nvSpPr>
        <p:spPr>
          <a:xfrm>
            <a:off x="6178550" y="1657251"/>
            <a:ext cx="5194300"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9x20.15"/>
          <p:cNvSpPr txBox="1"/>
          <p:nvPr/>
        </p:nvSpPr>
        <p:spPr>
          <a:xfrm>
            <a:off x="6388100" y="1841401"/>
            <a:ext cx="4870704"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'GTA':'V', 'GTC':'V', 'GTG':'V', 'GTT':'V',</a:t>
            </a:r>
            <a:br/>
            <a:r>
              <a:rPr sz="1300" b="0" i="0">
                <a:solidFill>
                  <a:srgbClr val="E8EEE9"/>
                </a:solidFill>
                <a:latin typeface="Consolas"/>
              </a:rPr>
              <a:t>    'GCA':'A', 'GCC':'A', 'GCG':'A', 'GCT':'A',</a:t>
            </a:r>
            <a:br/>
            <a:r>
              <a:rPr sz="1300" b="0" i="0">
                <a:solidFill>
                  <a:srgbClr val="E8EEE9"/>
                </a:solidFill>
                <a:latin typeface="Consolas"/>
              </a:rPr>
              <a:t>    'GAC':'D', 'GAT':'D', 'GAA':'E', 'GAG':'E',</a:t>
            </a:r>
            <a:br/>
            <a:r>
              <a:rPr sz="1300" b="0" i="0">
                <a:solidFill>
                  <a:srgbClr val="E8EEE9"/>
                </a:solidFill>
                <a:latin typeface="Consolas"/>
              </a:rPr>
              <a:t>    'GGA':'G', 'GGC':'G', 'GGG':'G', 'GGT':'G',</a:t>
            </a:r>
            <a:br/>
            <a:r>
              <a:rPr sz="1300" b="0" i="0">
                <a:solidFill>
                  <a:srgbClr val="E8EEE9"/>
                </a:solidFill>
                <a:latin typeface="Consolas"/>
              </a:rPr>
              <a:t>    'TCA':'S', 'TCC':'S', 'TCG':'S', 'TCT':'S',</a:t>
            </a:r>
            <a:br/>
            <a:r>
              <a:rPr sz="1300" b="0" i="0">
                <a:solidFill>
                  <a:srgbClr val="E8EEE9"/>
                </a:solidFill>
                <a:latin typeface="Consolas"/>
              </a:rPr>
              <a:t>    'TTC':'F', 'TTT':'F', 'TTA':'L', 'TTG':'L',</a:t>
            </a:r>
            <a:br/>
            <a:r>
              <a:rPr sz="1300" b="0" i="0">
                <a:solidFill>
                  <a:srgbClr val="E8EEE9"/>
                </a:solidFill>
                <a:latin typeface="Consolas"/>
              </a:rPr>
              <a:t>    'TAC':'Y', 'TAT':'Y', 'TAA':'_', 'TAG':'_',</a:t>
            </a:r>
            <a:br/>
            <a:r>
              <a:rPr sz="1300" b="0" i="0">
                <a:solidFill>
                  <a:srgbClr val="E8EEE9"/>
                </a:solidFill>
                <a:latin typeface="Consolas"/>
              </a:rPr>
              <a:t>    'TGC':'C', 'TGT':'C', 'TGA':'_', 'TGG':'W'}</a:t>
            </a:r>
            <a:br/>
            <a:r>
              <a:rPr sz="1300" b="0" i="0">
                <a:solidFill>
                  <a:srgbClr val="E8EEE9"/>
                </a:solidFill>
                <a:latin typeface="Consolas"/>
              </a:rPr>
              <a:t> </a:t>
            </a:r>
            <a:endParaRPr sz="1300"/>
          </a:p>
        </p:txBody>
      </p:sp>
      <p:sp>
        <p:nvSpPr>
          <p:cNvPr id="8" name="Rounded Rectangle 7"/>
          <p:cNvSpPr/>
          <p:nvPr/>
        </p:nvSpPr>
        <p:spPr>
          <a:xfrm>
            <a:off x="819150" y="4544417"/>
            <a:ext cx="2790130"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15"/>
          <p:cNvSpPr txBox="1"/>
          <p:nvPr/>
        </p:nvSpPr>
        <p:spPr>
          <a:xfrm>
            <a:off x="1079500" y="4728567"/>
            <a:ext cx="2314819"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print(gencode[</a:t>
            </a:r>
            <a:r>
              <a:rPr sz="1300" b="0" i="0">
                <a:solidFill>
                  <a:srgbClr val="F0A35E"/>
                </a:solidFill>
                <a:latin typeface="Consolas"/>
              </a:rPr>
              <a:t>'CAT'</a:t>
            </a:r>
            <a:r>
              <a:rPr sz="1300" b="0" i="0">
                <a:solidFill>
                  <a:srgbClr val="E8EEE9"/>
                </a:solidFill>
                <a:latin typeface="Consolas"/>
              </a:rPr>
              <a:t>])</a:t>
            </a:r>
            <a:br/>
            <a:r>
              <a:rPr sz="1300" b="0" i="0">
                <a:solidFill>
                  <a:srgbClr val="E8EEE9"/>
                </a:solidFill>
                <a:latin typeface="Consolas"/>
              </a:rPr>
              <a:t>print(gencode.get(</a:t>
            </a:r>
            <a:r>
              <a:rPr sz="1300" b="0" i="0">
                <a:solidFill>
                  <a:srgbClr val="F0A35E"/>
                </a:solidFill>
                <a:latin typeface="Consolas"/>
              </a:rPr>
              <a:t>'GTC'</a:t>
            </a:r>
            <a:r>
              <a:rPr sz="1300" b="0" i="0">
                <a:solidFill>
                  <a:srgbClr val="E8EEE9"/>
                </a:solidFill>
                <a:latin typeface="Consolas"/>
              </a:rPr>
              <a:t>))</a:t>
            </a:r>
            <a:endParaRPr sz="1300"/>
          </a:p>
        </p:txBody>
      </p:sp>
      <p:sp>
        <p:nvSpPr>
          <p:cNvPr id="10" name="Rounded Rectangle 9"/>
          <p:cNvSpPr/>
          <p:nvPr/>
        </p:nvSpPr>
        <p:spPr>
          <a:xfrm>
            <a:off x="3723580" y="4544417"/>
            <a:ext cx="1003300" cy="880070"/>
          </a:xfrm>
          <a:prstGeom prst="roundRect">
            <a:avLst>
              <a:gd name="adj" fmla="val 115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15"/>
          <p:cNvSpPr txBox="1"/>
          <p:nvPr/>
        </p:nvSpPr>
        <p:spPr>
          <a:xfrm>
            <a:off x="3983930" y="4728567"/>
            <a:ext cx="508000"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H</a:t>
            </a:r>
            <a:br/>
            <a:r>
              <a:rPr sz="1300" b="0" i="0">
                <a:solidFill>
                  <a:srgbClr val="13262B"/>
                </a:solidFill>
                <a:latin typeface="Consolas"/>
              </a:rPr>
              <a:t>V</a:t>
            </a:r>
            <a:endParaRPr sz="1300"/>
          </a:p>
        </p:txBody>
      </p:sp>
      <p:sp>
        <p:nvSpPr>
          <p:cNvPr id="12" name="Rounded Rectangle 11"/>
          <p:cNvSpPr/>
          <p:nvPr/>
        </p:nvSpPr>
        <p:spPr>
          <a:xfrm>
            <a:off x="4834830" y="4538067"/>
            <a:ext cx="6544370" cy="892770"/>
          </a:xfrm>
          <a:prstGeom prst="roundRect">
            <a:avLst>
              <a:gd name="adj" fmla="val 853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34830" y="4538067"/>
            <a:ext cx="38100" cy="892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0.30"/>
          <p:cNvSpPr txBox="1"/>
          <p:nvPr/>
        </p:nvSpPr>
        <p:spPr>
          <a:xfrm>
            <a:off x="5050730" y="4855567"/>
            <a:ext cx="62573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Kodoni su ključevi, aminokiseline vrednosti. Stop kodoni su označeni sa </a:t>
            </a:r>
            <a:r>
              <a:rPr sz="1400" b="0" i="0">
                <a:solidFill>
                  <a:srgbClr val="A8521A"/>
                </a:solidFill>
                <a:latin typeface="Arial"/>
              </a:rPr>
              <a:t>_</a:t>
            </a:r>
            <a:r>
              <a:rPr sz="1400" b="0" i="0">
                <a:solidFill>
                  <a:srgbClr val="13262B"/>
                </a:solidFill>
                <a:latin typeface="Arial"/>
              </a:rPr>
              <a:t>.</a:t>
            </a:r>
            <a:endParaRPr sz="14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4: protein raste kodon po kodon</a:t>
            </a:r>
            <a:endParaRPr sz="3200"/>
          </a:p>
        </p:txBody>
      </p:sp>
      <p:sp>
        <p:nvSpPr>
          <p:cNvPr id="4" name="Rounded Rectangle 3"/>
          <p:cNvSpPr/>
          <p:nvPr/>
        </p:nvSpPr>
        <p:spPr>
          <a:xfrm>
            <a:off x="819150" y="1708051"/>
            <a:ext cx="4424164"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3981533"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"ATGTTCGGT"</a:t>
            </a:r>
            <a:br/>
            <a:r>
              <a:rPr sz="1300" b="0" i="0">
                <a:solidFill>
                  <a:srgbClr val="E8EEE9"/>
                </a:solidFill>
                <a:latin typeface="Consolas"/>
              </a:rPr>
              <a:t>last_codon_start = len(dna) - 2</a:t>
            </a:r>
            <a:br/>
            <a:r>
              <a:rPr sz="1300" b="0" i="0">
                <a:solidFill>
                  <a:srgbClr val="E8EEE9"/>
                </a:solidFill>
                <a:latin typeface="Consolas"/>
              </a:rPr>
              <a:t>protein = </a:t>
            </a:r>
            <a:r>
              <a:rPr sz="1300" b="0" i="0">
                <a:solidFill>
                  <a:srgbClr val="F0A35E"/>
                </a:solidFill>
                <a:latin typeface="Consolas"/>
              </a:rPr>
              <a:t>""</a:t>
            </a:r>
            <a:b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last_codon_start, 3):</a:t>
            </a:r>
            <a:br/>
            <a:r>
              <a:rPr sz="1300" b="0" i="0">
                <a:solidFill>
                  <a:srgbClr val="E8EEE9"/>
                </a:solidFill>
                <a:latin typeface="Consolas"/>
              </a:rPr>
              <a:t>    codon = dna[start:start+3]</a:t>
            </a:r>
            <a:br/>
            <a:r>
              <a:rPr sz="1300" b="0" i="0">
                <a:solidFill>
                  <a:srgbClr val="E8EEE9"/>
                </a:solidFill>
                <a:latin typeface="Consolas"/>
              </a:rPr>
              <a:t>    aa = gencode.get(codon)</a:t>
            </a:r>
            <a:br/>
            <a:r>
              <a:rPr sz="1300" b="0" i="0">
                <a:solidFill>
                  <a:srgbClr val="E8EEE9"/>
                </a:solidFill>
                <a:latin typeface="Consolas"/>
              </a:rPr>
              <a:t>    protein = protein + aa</a:t>
            </a:r>
            <a:br/>
            <a:r>
              <a:rPr sz="1300" b="0" i="0">
                <a:solidFill>
                  <a:srgbClr val="E8EEE9"/>
                </a:solidFill>
                <a:latin typeface="Consolas"/>
              </a:rPr>
              <a:t>print(</a:t>
            </a:r>
            <a:r>
              <a:rPr sz="1300" b="0" i="0">
                <a:solidFill>
                  <a:srgbClr val="F0A35E"/>
                </a:solidFill>
                <a:latin typeface="Consolas"/>
              </a:rPr>
              <a:t>"protein sequence is "</a:t>
            </a:r>
            <a:r>
              <a:rPr sz="1300" b="0" i="0">
                <a:solidFill>
                  <a:srgbClr val="E8EEE9"/>
                </a:solidFill>
                <a:latin typeface="Consolas"/>
              </a:rPr>
              <a:t> + protein)</a:t>
            </a:r>
            <a:endParaRPr sz="1300"/>
          </a:p>
        </p:txBody>
      </p:sp>
      <p:sp>
        <p:nvSpPr>
          <p:cNvPr id="6" name="Rounded Rectangle 5"/>
          <p:cNvSpPr/>
          <p:nvPr/>
        </p:nvSpPr>
        <p:spPr>
          <a:xfrm>
            <a:off x="819150" y="4237732"/>
            <a:ext cx="4424164" cy="573385"/>
          </a:xfrm>
          <a:prstGeom prst="roundRect">
            <a:avLst>
              <a:gd name="adj" fmla="val 1771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0.15"/>
          <p:cNvSpPr txBox="1"/>
          <p:nvPr/>
        </p:nvSpPr>
        <p:spPr>
          <a:xfrm>
            <a:off x="1079500" y="4396482"/>
            <a:ext cx="3981533"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protein sequence is MFG</a:t>
            </a:r>
            <a:endParaRPr sz="1300"/>
          </a:p>
        </p:txBody>
      </p:sp>
      <p:sp>
        <p:nvSpPr>
          <p:cNvPr id="8" name="Rounded Rectangle 7"/>
          <p:cNvSpPr/>
          <p:nvPr/>
        </p:nvSpPr>
        <p:spPr>
          <a:xfrm>
            <a:off x="5557639" y="1704876"/>
            <a:ext cx="5818386"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5738614" y="1860451"/>
            <a:ext cx="55631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Kao ribozom: novu aminokiselinu dodajemo na kraj proteina koji raste.</a:t>
            </a:r>
            <a:endParaRPr sz="1400"/>
          </a:p>
        </p:txBody>
      </p:sp>
      <p:sp>
        <p:nvSpPr>
          <p:cNvPr id="10" name="Rounded Rectangle 9"/>
          <p:cNvSpPr/>
          <p:nvPr/>
        </p:nvSpPr>
        <p:spPr>
          <a:xfrm>
            <a:off x="5557639" y="2639516"/>
            <a:ext cx="5818386"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5738614" y="2795091"/>
            <a:ext cx="55631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Kod je koristan, pa ga pakujemo u funkciju </a:t>
            </a:r>
            <a:r>
              <a:rPr sz="1400" b="0" i="0">
                <a:solidFill>
                  <a:srgbClr val="A8521A"/>
                </a:solidFill>
                <a:latin typeface="Arial"/>
              </a:rPr>
              <a:t>translate_dna(dna)</a:t>
            </a:r>
            <a:r>
              <a:rPr sz="1400" b="0" i="0">
                <a:solidFill>
                  <a:srgbClr val="3D4F52"/>
                </a:solidFill>
                <a:latin typeface="Arial"/>
              </a:rPr>
              <a:t> koja vraća protein.</a:t>
            </a:r>
            <a:endParaRPr sz="1400"/>
          </a:p>
        </p:txBody>
      </p:sp>
      <p:sp>
        <p:nvSpPr>
          <p:cNvPr id="12" name="Rounded Rectangle 11"/>
          <p:cNvSpPr/>
          <p:nvPr/>
        </p:nvSpPr>
        <p:spPr>
          <a:xfrm>
            <a:off x="5554464" y="3570982"/>
            <a:ext cx="5824736"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54464" y="357098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5770364" y="3723382"/>
            <a:ext cx="55377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Funkcija koristi </a:t>
            </a:r>
            <a:r>
              <a:rPr sz="1400" b="0" i="0">
                <a:solidFill>
                  <a:srgbClr val="A8521A"/>
                </a:solidFill>
                <a:latin typeface="Arial"/>
              </a:rPr>
              <a:t>gencode</a:t>
            </a:r>
            <a:r>
              <a:rPr sz="1400" b="0" i="0">
                <a:solidFill>
                  <a:srgbClr val="13262B"/>
                </a:solidFill>
                <a:latin typeface="Arial"/>
              </a:rPr>
              <a:t> definisan van nje: svestan izuzetak od pravila iz pogl. 5.</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5: testovi otkrivaju dve greške</a:t>
            </a:r>
            <a:endParaRPr sz="3200"/>
          </a:p>
        </p:txBody>
      </p:sp>
      <p:sp>
        <p:nvSpPr>
          <p:cNvPr id="4" name="Rounded Rectangle 3"/>
          <p:cNvSpPr/>
          <p:nvPr/>
        </p:nvSpPr>
        <p:spPr>
          <a:xfrm>
            <a:off x="819150" y="1708051"/>
            <a:ext cx="5422503"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92201"/>
            <a:ext cx="4999839"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print(translate_dna(</a:t>
            </a:r>
            <a:r>
              <a:rPr sz="1300" b="0" i="0">
                <a:solidFill>
                  <a:srgbClr val="F0A35E"/>
                </a:solidFill>
                <a:latin typeface="Consolas"/>
              </a:rPr>
              <a:t>"ATGTTCGGT"</a:t>
            </a:r>
            <a:r>
              <a:rPr sz="1300" b="0" i="0">
                <a:solidFill>
                  <a:srgbClr val="E8EEE9"/>
                </a:solidFill>
                <a:latin typeface="Consolas"/>
              </a:rPr>
              <a:t>))</a:t>
            </a:r>
            <a:br/>
            <a:r>
              <a:rPr sz="1300" b="0" i="0">
                <a:solidFill>
                  <a:srgbClr val="E8EEE9"/>
                </a:solidFill>
                <a:latin typeface="Consolas"/>
              </a:rPr>
              <a:t>print(translate_dna(</a:t>
            </a:r>
            <a:r>
              <a:rPr sz="1300" b="0" i="0">
                <a:solidFill>
                  <a:srgbClr val="F0A35E"/>
                </a:solidFill>
                <a:latin typeface="Consolas"/>
              </a:rPr>
              <a:t>"ATCGATCGATCGTTGCTTATCGATCAG"</a:t>
            </a:r>
            <a:r>
              <a:rPr sz="1300" b="0" i="0">
                <a:solidFill>
                  <a:srgbClr val="E8EEE9"/>
                </a:solidFill>
                <a:latin typeface="Consolas"/>
              </a:rPr>
              <a:t>))</a:t>
            </a:r>
            <a:br/>
            <a:r>
              <a:rPr sz="1300" b="0" i="0">
                <a:solidFill>
                  <a:srgbClr val="E8EEE9"/>
                </a:solidFill>
                <a:latin typeface="Consolas"/>
              </a:rPr>
              <a:t>print(translate_dna(</a:t>
            </a:r>
            <a:r>
              <a:rPr sz="1300" b="0" i="0">
                <a:solidFill>
                  <a:srgbClr val="F0A35E"/>
                </a:solidFill>
                <a:latin typeface="Consolas"/>
              </a:rPr>
              <a:t>"actgatcgtagcttgcttacgtatcgtat"</a:t>
            </a:r>
            <a:r>
              <a:rPr sz="1300" b="0" i="0">
                <a:solidFill>
                  <a:srgbClr val="E8EEE9"/>
                </a:solidFill>
                <a:latin typeface="Consolas"/>
              </a:rPr>
              <a:t>))</a:t>
            </a:r>
            <a:br/>
            <a:r>
              <a:rPr sz="1300" b="0" i="0">
                <a:solidFill>
                  <a:srgbClr val="E8EEE9"/>
                </a:solidFill>
                <a:latin typeface="Consolas"/>
              </a:rPr>
              <a:t>print(translate_dna(</a:t>
            </a:r>
            <a:r>
              <a:rPr sz="1300" b="0" i="0">
                <a:solidFill>
                  <a:srgbClr val="F0A35E"/>
                </a:solidFill>
                <a:latin typeface="Consolas"/>
              </a:rPr>
              <a:t>"ACGATCGATCGTNACGTACGATCGTACTCG"</a:t>
            </a:r>
            <a:r>
              <a:rPr sz="1300" b="0" i="0">
                <a:solidFill>
                  <a:srgbClr val="E8EEE9"/>
                </a:solidFill>
                <a:latin typeface="Consolas"/>
              </a:rPr>
              <a:t>))</a:t>
            </a:r>
            <a:endParaRPr sz="1300"/>
          </a:p>
        </p:txBody>
      </p:sp>
      <p:sp>
        <p:nvSpPr>
          <p:cNvPr id="6" name="Rounded Rectangle 5"/>
          <p:cNvSpPr/>
          <p:nvPr/>
        </p:nvSpPr>
        <p:spPr>
          <a:xfrm>
            <a:off x="6355953" y="1708051"/>
            <a:ext cx="5016897"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4x19.20"/>
          <p:cNvSpPr txBox="1"/>
          <p:nvPr/>
        </p:nvSpPr>
        <p:spPr>
          <a:xfrm>
            <a:off x="6565503" y="1892201"/>
            <a:ext cx="4689753" cy="975122"/>
          </a:xfrm>
          <a:prstGeom prst="rect">
            <a:avLst/>
          </a:prstGeom>
          <a:noFill/>
        </p:spPr>
        <p:txBody>
          <a:bodyPr wrap="square" anchor="t" lIns="0" rIns="0" tIns="0" bIns="0">
            <a:noAutofit/>
          </a:bodyPr>
          <a:lstStyle/>
          <a:p>
            <a:pPr algn="l">
              <a:lnSpc>
                <a:spcPts val="1920"/>
              </a:lnSpc>
              <a:spcBef>
                <a:spcPts val="0"/>
              </a:spcBef>
              <a:spcAft>
                <a:spcPts val="0"/>
              </a:spcAft>
            </a:pPr>
            <a:r>
              <a:rPr sz="1200" b="0" i="0">
                <a:solidFill>
                  <a:srgbClr val="13262B"/>
                </a:solidFill>
                <a:latin typeface="Consolas"/>
              </a:rPr>
              <a:t>MFG</a:t>
            </a:r>
            <a:br/>
            <a:r>
              <a:rPr sz="1200" b="0" i="0">
                <a:solidFill>
                  <a:srgbClr val="13262B"/>
                </a:solidFill>
                <a:latin typeface="Consolas"/>
              </a:rPr>
              <a:t>IDRSLLIDQ</a:t>
            </a:r>
            <a:br/>
            <a:r>
              <a:rPr sz="1200" b="0" i="0">
                <a:solidFill>
                  <a:srgbClr val="A8521A"/>
                </a:solidFill>
                <a:latin typeface="Consolas"/>
              </a:rPr>
              <a:t>TypeError: can only concatenate str (not "NoneType") to str</a:t>
            </a:r>
            <a:endParaRPr sz="1200"/>
          </a:p>
        </p:txBody>
      </p:sp>
      <p:sp>
        <p:nvSpPr>
          <p:cNvPr id="8" name="Rounded Rectangle 7"/>
          <p:cNvSpPr/>
          <p:nvPr/>
        </p:nvSpPr>
        <p:spPr>
          <a:xfrm>
            <a:off x="815975" y="3363416"/>
            <a:ext cx="5175250" cy="1560016"/>
          </a:xfrm>
          <a:prstGeom prst="roundRect">
            <a:avLst>
              <a:gd name="adj" fmla="val 6512"/>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1022350" y="354439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Mala slova</a:t>
            </a:r>
            <a:endParaRPr sz="1800"/>
          </a:p>
        </p:txBody>
      </p:sp>
      <p:sp>
        <p:nvSpPr>
          <p:cNvPr id="10" name="Tekst 1x20.30"/>
          <p:cNvSpPr txBox="1"/>
          <p:nvPr/>
        </p:nvSpPr>
        <p:spPr>
          <a:xfrm>
            <a:off x="1022350" y="3894832"/>
            <a:ext cx="48577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Kodon </a:t>
            </a:r>
            <a:r>
              <a:rPr sz="1400" b="0" i="0">
                <a:solidFill>
                  <a:srgbClr val="A8521A"/>
                </a:solidFill>
                <a:latin typeface="Arial"/>
              </a:rPr>
              <a:t>'act'</a:t>
            </a:r>
            <a:r>
              <a:rPr sz="1400" b="0" i="0">
                <a:solidFill>
                  <a:srgbClr val="3D4F52"/>
                </a:solidFill>
                <a:latin typeface="Arial"/>
              </a:rPr>
              <a:t> nije ključ u rečniku, pa get vraća None. Rešenje:</a:t>
            </a:r>
            <a:endParaRPr sz="1400"/>
          </a:p>
        </p:txBody>
      </p:sp>
      <p:sp>
        <p:nvSpPr>
          <p:cNvPr id="11" name="Tekst 1x20.15"/>
          <p:cNvSpPr txBox="1"/>
          <p:nvPr/>
        </p:nvSpPr>
        <p:spPr>
          <a:xfrm>
            <a:off x="1022350" y="4228802"/>
            <a:ext cx="4857750"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gencode.get(codon.upper())</a:t>
            </a:r>
            <a:endParaRPr sz="1300"/>
          </a:p>
        </p:txBody>
      </p:sp>
      <p:sp>
        <p:nvSpPr>
          <p:cNvPr id="12" name="Rounded Rectangle 11"/>
          <p:cNvSpPr/>
          <p:nvPr/>
        </p:nvSpPr>
        <p:spPr>
          <a:xfrm>
            <a:off x="6200775" y="3363416"/>
            <a:ext cx="5175250" cy="1560016"/>
          </a:xfrm>
          <a:prstGeom prst="roundRect">
            <a:avLst>
              <a:gd name="adj" fmla="val 6512"/>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1.60"/>
          <p:cNvSpPr txBox="1"/>
          <p:nvPr/>
        </p:nvSpPr>
        <p:spPr>
          <a:xfrm>
            <a:off x="6407150" y="354439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Nepoznata baza N</a:t>
            </a:r>
            <a:endParaRPr sz="1800"/>
          </a:p>
        </p:txBody>
      </p:sp>
      <p:sp>
        <p:nvSpPr>
          <p:cNvPr id="14" name="Tekst 2x20.30"/>
          <p:cNvSpPr txBox="1"/>
          <p:nvPr/>
        </p:nvSpPr>
        <p:spPr>
          <a:xfrm>
            <a:off x="6407150" y="3894832"/>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Kodona </a:t>
            </a:r>
            <a:r>
              <a:rPr sz="1400" b="0" i="0">
                <a:solidFill>
                  <a:srgbClr val="A8521A"/>
                </a:solidFill>
                <a:latin typeface="Arial"/>
              </a:rPr>
              <a:t>'NAC'</a:t>
            </a:r>
            <a:r>
              <a:rPr sz="1400" b="0" i="0">
                <a:solidFill>
                  <a:srgbClr val="3D4F52"/>
                </a:solidFill>
                <a:latin typeface="Arial"/>
              </a:rPr>
              <a:t> nema u rečniku. Nepoznata aminokiselina je X:</a:t>
            </a:r>
            <a:endParaRPr sz="1400"/>
          </a:p>
        </p:txBody>
      </p:sp>
      <p:sp>
        <p:nvSpPr>
          <p:cNvPr id="15" name="Tekst 1x20.15"/>
          <p:cNvSpPr txBox="1"/>
          <p:nvPr/>
        </p:nvSpPr>
        <p:spPr>
          <a:xfrm>
            <a:off x="6407150" y="4486573"/>
            <a:ext cx="4857750"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gencode.get(codon.upper(), 'X')</a:t>
            </a:r>
            <a:endParaRPr sz="13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VEŽBA: PREVOĐENJE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Konačno rešenje</a:t>
            </a:r>
            <a:endParaRPr sz="3200"/>
          </a:p>
        </p:txBody>
      </p:sp>
      <p:sp>
        <p:nvSpPr>
          <p:cNvPr id="4" name="Rounded Rectangle 3"/>
          <p:cNvSpPr/>
          <p:nvPr/>
        </p:nvSpPr>
        <p:spPr>
          <a:xfrm>
            <a:off x="819150" y="1708051"/>
            <a:ext cx="4787602" cy="3694807"/>
          </a:xfrm>
          <a:prstGeom prst="roundRect">
            <a:avLst>
              <a:gd name="adj" fmla="val 274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20.15"/>
          <p:cNvSpPr txBox="1"/>
          <p:nvPr/>
        </p:nvSpPr>
        <p:spPr>
          <a:xfrm>
            <a:off x="1079500" y="1892201"/>
            <a:ext cx="4352240" cy="332650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gencode = {</a:t>
            </a:r>
            <a:br/>
            <a:r>
              <a:rPr sz="1300" b="0" i="0">
                <a:solidFill>
                  <a:srgbClr val="E8EEE9"/>
                </a:solidFill>
                <a:latin typeface="Consolas"/>
              </a:rPr>
              <a:t>    </a:t>
            </a:r>
            <a:r>
              <a:rPr sz="1300" b="0" i="0">
                <a:solidFill>
                  <a:srgbClr val="F0A35E"/>
                </a:solidFill>
                <a:latin typeface="Consolas"/>
              </a:rPr>
              <a:t>'ATA'</a:t>
            </a:r>
            <a:r>
              <a:rPr sz="1300" b="0" i="0">
                <a:solidFill>
                  <a:srgbClr val="E8EEE9"/>
                </a:solidFill>
                <a:latin typeface="Consolas"/>
              </a:rPr>
              <a:t>:</a:t>
            </a:r>
            <a:r>
              <a:rPr sz="1300" b="0" i="0">
                <a:solidFill>
                  <a:srgbClr val="F0A35E"/>
                </a:solidFill>
                <a:latin typeface="Consolas"/>
              </a:rPr>
              <a:t>'I'</a:t>
            </a:r>
            <a:r>
              <a:rPr sz="1300" b="0" i="0">
                <a:solidFill>
                  <a:srgbClr val="E8EEE9"/>
                </a:solidFill>
                <a:latin typeface="Consolas"/>
              </a:rPr>
              <a:t>, </a:t>
            </a:r>
            <a:r>
              <a:rPr sz="1300" b="0" i="0">
                <a:solidFill>
                  <a:srgbClr val="F0A35E"/>
                </a:solidFill>
                <a:latin typeface="Consolas"/>
              </a:rPr>
              <a:t>'ATC'</a:t>
            </a:r>
            <a:r>
              <a:rPr sz="1300" b="0" i="0">
                <a:solidFill>
                  <a:srgbClr val="E8EEE9"/>
                </a:solidFill>
                <a:latin typeface="Consolas"/>
              </a:rPr>
              <a:t>:</a:t>
            </a:r>
            <a:r>
              <a:rPr sz="1300" b="0" i="0">
                <a:solidFill>
                  <a:srgbClr val="F0A35E"/>
                </a:solidFill>
                <a:latin typeface="Consolas"/>
              </a:rPr>
              <a:t>'I'</a:t>
            </a:r>
            <a:r>
              <a:rPr sz="1300" b="0" i="0">
                <a:solidFill>
                  <a:srgbClr val="E8EEE9"/>
                </a:solidFill>
                <a:latin typeface="Consolas"/>
              </a:rPr>
              <a:t>, </a:t>
            </a:r>
            <a:r>
              <a:rPr sz="1300" b="0" i="0">
                <a:solidFill>
                  <a:srgbClr val="F0A35E"/>
                </a:solidFill>
                <a:latin typeface="Consolas"/>
              </a:rPr>
              <a:t>'ATT'</a:t>
            </a:r>
            <a:r>
              <a:rPr sz="1300" b="0" i="0">
                <a:solidFill>
                  <a:srgbClr val="E8EEE9"/>
                </a:solidFill>
                <a:latin typeface="Consolas"/>
              </a:rPr>
              <a:t>:</a:t>
            </a:r>
            <a:r>
              <a:rPr sz="1300" b="0" i="0">
                <a:solidFill>
                  <a:srgbClr val="F0A35E"/>
                </a:solidFill>
                <a:latin typeface="Consolas"/>
              </a:rPr>
              <a:t>'I'</a:t>
            </a:r>
            <a:r>
              <a:rPr sz="1300" b="0" i="0">
                <a:solidFill>
                  <a:srgbClr val="E8EEE9"/>
                </a:solidFill>
                <a:latin typeface="Consolas"/>
              </a:rPr>
              <a:t>, </a:t>
            </a:r>
            <a:r>
              <a:rPr sz="1300" b="0" i="0">
                <a:solidFill>
                  <a:srgbClr val="F0A35E"/>
                </a:solidFill>
                <a:latin typeface="Consolas"/>
              </a:rPr>
              <a:t>'ATG'</a:t>
            </a:r>
            <a:r>
              <a:rPr sz="1300" b="0" i="0">
                <a:solidFill>
                  <a:srgbClr val="E8EEE9"/>
                </a:solidFill>
                <a:latin typeface="Consolas"/>
              </a:rPr>
              <a:t>:</a:t>
            </a:r>
            <a:r>
              <a:rPr sz="1300" b="0" i="0">
                <a:solidFill>
                  <a:srgbClr val="F0A35E"/>
                </a:solidFill>
                <a:latin typeface="Consolas"/>
              </a:rPr>
              <a:t>'M'</a:t>
            </a:r>
            <a:r>
              <a:rPr sz="1300" b="0" i="0">
                <a:solidFill>
                  <a:srgbClr val="E8EEE9"/>
                </a:solidFill>
                <a:latin typeface="Consolas"/>
              </a:rPr>
              <a:t>,</a:t>
            </a:r>
            <a:br/>
            <a:r>
              <a:rPr sz="1300" b="0" i="0">
                <a:solidFill>
                  <a:srgbClr val="E8EEE9"/>
                </a:solidFill>
                <a:latin typeface="Consolas"/>
              </a:rPr>
              <a:t>    </a:t>
            </a:r>
            <a:r>
              <a:rPr sz="1300" b="0" i="0">
                <a:solidFill>
                  <a:srgbClr val="8FB3AA"/>
                </a:solidFill>
                <a:latin typeface="Consolas"/>
              </a:rPr>
              <a:t># … svih 64 kodona …</a:t>
            </a:r>
            <a:br/>
            <a:r>
              <a:rPr sz="1300" b="0" i="0">
                <a:solidFill>
                  <a:srgbClr val="E8EEE9"/>
                </a:solidFill>
                <a:latin typeface="Consolas"/>
              </a:rPr>
              <a:t>    </a:t>
            </a:r>
            <a:r>
              <a:rPr sz="1300" b="0" i="0">
                <a:solidFill>
                  <a:srgbClr val="F0A35E"/>
                </a:solidFill>
                <a:latin typeface="Consolas"/>
              </a:rPr>
              <a:t>'TGC'</a:t>
            </a:r>
            <a:r>
              <a:rPr sz="1300" b="0" i="0">
                <a:solidFill>
                  <a:srgbClr val="E8EEE9"/>
                </a:solidFill>
                <a:latin typeface="Consolas"/>
              </a:rPr>
              <a:t>:</a:t>
            </a:r>
            <a:r>
              <a:rPr sz="1300" b="0" i="0">
                <a:solidFill>
                  <a:srgbClr val="F0A35E"/>
                </a:solidFill>
                <a:latin typeface="Consolas"/>
              </a:rPr>
              <a:t>'C'</a:t>
            </a:r>
            <a:r>
              <a:rPr sz="1300" b="0" i="0">
                <a:solidFill>
                  <a:srgbClr val="E8EEE9"/>
                </a:solidFill>
                <a:latin typeface="Consolas"/>
              </a:rPr>
              <a:t>, </a:t>
            </a:r>
            <a:r>
              <a:rPr sz="1300" b="0" i="0">
                <a:solidFill>
                  <a:srgbClr val="F0A35E"/>
                </a:solidFill>
                <a:latin typeface="Consolas"/>
              </a:rPr>
              <a:t>'TGT'</a:t>
            </a:r>
            <a:r>
              <a:rPr sz="1300" b="0" i="0">
                <a:solidFill>
                  <a:srgbClr val="E8EEE9"/>
                </a:solidFill>
                <a:latin typeface="Consolas"/>
              </a:rPr>
              <a:t>:</a:t>
            </a:r>
            <a:r>
              <a:rPr sz="1300" b="0" i="0">
                <a:solidFill>
                  <a:srgbClr val="F0A35E"/>
                </a:solidFill>
                <a:latin typeface="Consolas"/>
              </a:rPr>
              <a:t>'C'</a:t>
            </a:r>
            <a:r>
              <a:rPr sz="1300" b="0" i="0">
                <a:solidFill>
                  <a:srgbClr val="E8EEE9"/>
                </a:solidFill>
                <a:latin typeface="Consolas"/>
              </a:rPr>
              <a:t>, </a:t>
            </a:r>
            <a:r>
              <a:rPr sz="1300" b="0" i="0">
                <a:solidFill>
                  <a:srgbClr val="F0A35E"/>
                </a:solidFill>
                <a:latin typeface="Consolas"/>
              </a:rPr>
              <a:t>'TGA'</a:t>
            </a:r>
            <a:r>
              <a:rPr sz="1300" b="0" i="0">
                <a:solidFill>
                  <a:srgbClr val="E8EEE9"/>
                </a:solidFill>
                <a:latin typeface="Consolas"/>
              </a:rPr>
              <a:t>:</a:t>
            </a:r>
            <a:r>
              <a:rPr sz="1300" b="0" i="0">
                <a:solidFill>
                  <a:srgbClr val="F0A35E"/>
                </a:solidFill>
                <a:latin typeface="Consolas"/>
              </a:rPr>
              <a:t>'_'</a:t>
            </a:r>
            <a:r>
              <a:rPr sz="1300" b="0" i="0">
                <a:solidFill>
                  <a:srgbClr val="E8EEE9"/>
                </a:solidFill>
                <a:latin typeface="Consolas"/>
              </a:rPr>
              <a:t>, </a:t>
            </a:r>
            <a:r>
              <a:rPr sz="1300" b="0" i="0">
                <a:solidFill>
                  <a:srgbClr val="F0A35E"/>
                </a:solidFill>
                <a:latin typeface="Consolas"/>
              </a:rPr>
              <a:t>'TGG'</a:t>
            </a:r>
            <a:r>
              <a:rPr sz="1300" b="0" i="0">
                <a:solidFill>
                  <a:srgbClr val="E8EEE9"/>
                </a:solidFill>
                <a:latin typeface="Consolas"/>
              </a:rPr>
              <a:t>:</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 </a:t>
            </a:r>
            <a:br/>
            <a:r>
              <a:rPr sz="1300" b="0" i="0">
                <a:solidFill>
                  <a:srgbClr val="6FD3C1"/>
                </a:solidFill>
                <a:latin typeface="Consolas"/>
              </a:rPr>
              <a:t>def</a:t>
            </a:r>
            <a:r>
              <a:rPr sz="1300" b="0" i="0">
                <a:solidFill>
                  <a:srgbClr val="E8EEE9"/>
                </a:solidFill>
                <a:latin typeface="Consolas"/>
              </a:rPr>
              <a:t> translate_dna(dna):</a:t>
            </a:r>
            <a:br/>
            <a:r>
              <a:rPr sz="1300" b="0" i="0">
                <a:solidFill>
                  <a:srgbClr val="E8EEE9"/>
                </a:solidFill>
                <a:latin typeface="Consolas"/>
              </a:rPr>
              <a:t>    last_codon_start = len(dna) - 2</a:t>
            </a:r>
            <a:br/>
            <a:r>
              <a:rPr sz="1300" b="0" i="0">
                <a:solidFill>
                  <a:srgbClr val="E8EEE9"/>
                </a:solidFill>
                <a:latin typeface="Consolas"/>
              </a:rPr>
              <a:t>    protein = </a:t>
            </a:r>
            <a:r>
              <a:rPr sz="1300" b="0" i="0">
                <a:solidFill>
                  <a:srgbClr val="F0A35E"/>
                </a:solidFill>
                <a:latin typeface="Consolas"/>
              </a:rPr>
              <a:t>""</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start </a:t>
            </a:r>
            <a:r>
              <a:rPr sz="1300" b="0" i="0">
                <a:solidFill>
                  <a:srgbClr val="6FD3C1"/>
                </a:solidFill>
                <a:latin typeface="Consolas"/>
              </a:rPr>
              <a:t>in</a:t>
            </a:r>
            <a:r>
              <a:rPr sz="1300" b="0" i="0">
                <a:solidFill>
                  <a:srgbClr val="E8EEE9"/>
                </a:solidFill>
                <a:latin typeface="Consolas"/>
              </a:rPr>
              <a:t> range(0, last_codon_start, 3):</a:t>
            </a:r>
            <a:br/>
            <a:r>
              <a:rPr sz="1300" b="0" i="0">
                <a:solidFill>
                  <a:srgbClr val="E8EEE9"/>
                </a:solidFill>
                <a:latin typeface="Consolas"/>
              </a:rPr>
              <a:t>        codon = dna[start:start+3]</a:t>
            </a:r>
            <a:br/>
            <a:r>
              <a:rPr sz="1300" b="0" i="0">
                <a:solidFill>
                  <a:srgbClr val="E8EEE9"/>
                </a:solidFill>
                <a:latin typeface="Consolas"/>
              </a:rPr>
              <a:t>        aa = gencode.get(codon.upper(), </a:t>
            </a:r>
            <a:r>
              <a:rPr sz="1300" b="0" i="0">
                <a:solidFill>
                  <a:srgbClr val="F0A35E"/>
                </a:solidFill>
                <a:latin typeface="Consolas"/>
              </a:rPr>
              <a:t>'X'</a:t>
            </a:r>
            <a:r>
              <a:rPr sz="1300" b="0" i="0">
                <a:solidFill>
                  <a:srgbClr val="E8EEE9"/>
                </a:solidFill>
                <a:latin typeface="Consolas"/>
              </a:rPr>
              <a:t>)</a:t>
            </a:r>
            <a:br/>
            <a:r>
              <a:rPr sz="1300" b="0" i="0">
                <a:solidFill>
                  <a:srgbClr val="E8EEE9"/>
                </a:solidFill>
                <a:latin typeface="Consolas"/>
              </a:rPr>
              <a:t>        protein = protein + aa</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protein</a:t>
            </a:r>
            <a:endParaRPr sz="1300"/>
          </a:p>
        </p:txBody>
      </p:sp>
      <p:sp>
        <p:nvSpPr>
          <p:cNvPr id="6" name="Rounded Rectangle 5"/>
          <p:cNvSpPr/>
          <p:nvPr/>
        </p:nvSpPr>
        <p:spPr>
          <a:xfrm>
            <a:off x="5870277" y="1704876"/>
            <a:ext cx="5505748" cy="1753592"/>
          </a:xfrm>
          <a:prstGeom prst="roundRect">
            <a:avLst>
              <a:gd name="adj" fmla="val 579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6076652" y="1860451"/>
            <a:ext cx="4113502"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DNK</a:t>
            </a:r>
            <a:endParaRPr sz="1200"/>
          </a:p>
        </p:txBody>
      </p:sp>
      <p:sp>
        <p:nvSpPr>
          <p:cNvPr id="8" name="Tekst 1x16.80"/>
          <p:cNvSpPr txBox="1"/>
          <p:nvPr/>
        </p:nvSpPr>
        <p:spPr>
          <a:xfrm>
            <a:off x="10261898" y="1860451"/>
            <a:ext cx="933152"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PROTEIN</a:t>
            </a:r>
            <a:endParaRPr sz="1200"/>
          </a:p>
        </p:txBody>
      </p:sp>
      <p:sp>
        <p:nvSpPr>
          <p:cNvPr id="9" name="Tekst 1x16.80"/>
          <p:cNvSpPr txBox="1"/>
          <p:nvPr/>
        </p:nvSpPr>
        <p:spPr>
          <a:xfrm>
            <a:off x="6076652" y="2158802"/>
            <a:ext cx="4113502"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ATGTTCGGT</a:t>
            </a:r>
            <a:endParaRPr sz="1200"/>
          </a:p>
        </p:txBody>
      </p:sp>
      <p:sp>
        <p:nvSpPr>
          <p:cNvPr id="10" name="Tekst 1x18.20"/>
          <p:cNvSpPr txBox="1"/>
          <p:nvPr/>
        </p:nvSpPr>
        <p:spPr>
          <a:xfrm>
            <a:off x="10261898" y="2149971"/>
            <a:ext cx="933152"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13262B"/>
                </a:solidFill>
                <a:latin typeface="Consolas"/>
              </a:rPr>
              <a:t>MFG</a:t>
            </a:r>
            <a:endParaRPr sz="1300"/>
          </a:p>
        </p:txBody>
      </p:sp>
      <p:sp>
        <p:nvSpPr>
          <p:cNvPr id="11" name="Tekst 1x16.80"/>
          <p:cNvSpPr txBox="1"/>
          <p:nvPr/>
        </p:nvSpPr>
        <p:spPr>
          <a:xfrm>
            <a:off x="6076652" y="2466082"/>
            <a:ext cx="4113502"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ATCGATCGATCGTTGCTTATCGATCAG</a:t>
            </a:r>
            <a:endParaRPr sz="1200"/>
          </a:p>
        </p:txBody>
      </p:sp>
      <p:sp>
        <p:nvSpPr>
          <p:cNvPr id="12" name="Tekst 1x18.20"/>
          <p:cNvSpPr txBox="1"/>
          <p:nvPr/>
        </p:nvSpPr>
        <p:spPr>
          <a:xfrm>
            <a:off x="10261898" y="2457252"/>
            <a:ext cx="933152"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13262B"/>
                </a:solidFill>
                <a:latin typeface="Consolas"/>
              </a:rPr>
              <a:t>IDRSLLIDQ</a:t>
            </a:r>
            <a:endParaRPr sz="1300"/>
          </a:p>
        </p:txBody>
      </p:sp>
      <p:sp>
        <p:nvSpPr>
          <p:cNvPr id="13" name="Tekst 1x16.80"/>
          <p:cNvSpPr txBox="1"/>
          <p:nvPr/>
        </p:nvSpPr>
        <p:spPr>
          <a:xfrm>
            <a:off x="6076652" y="2773362"/>
            <a:ext cx="4113502"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actgatcgtagcttgcttacgtatcgtat</a:t>
            </a:r>
            <a:endParaRPr sz="1200"/>
          </a:p>
        </p:txBody>
      </p:sp>
      <p:sp>
        <p:nvSpPr>
          <p:cNvPr id="14" name="Tekst 1x18.20"/>
          <p:cNvSpPr txBox="1"/>
          <p:nvPr/>
        </p:nvSpPr>
        <p:spPr>
          <a:xfrm>
            <a:off x="10261898" y="2764532"/>
            <a:ext cx="933152"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13262B"/>
                </a:solidFill>
                <a:latin typeface="Consolas"/>
              </a:rPr>
              <a:t>TDRSLLTYR</a:t>
            </a:r>
            <a:endParaRPr sz="1300"/>
          </a:p>
        </p:txBody>
      </p:sp>
      <p:sp>
        <p:nvSpPr>
          <p:cNvPr id="15" name="Tekst 1x16.80"/>
          <p:cNvSpPr txBox="1"/>
          <p:nvPr/>
        </p:nvSpPr>
        <p:spPr>
          <a:xfrm>
            <a:off x="6076652" y="3080643"/>
            <a:ext cx="4113502"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ACGATCGATCGTNACGTACGATCGTACTCG</a:t>
            </a:r>
            <a:endParaRPr sz="1200"/>
          </a:p>
        </p:txBody>
      </p:sp>
      <p:sp>
        <p:nvSpPr>
          <p:cNvPr id="16" name="Tekst 1x18.20"/>
          <p:cNvSpPr txBox="1"/>
          <p:nvPr/>
        </p:nvSpPr>
        <p:spPr>
          <a:xfrm>
            <a:off x="10261898" y="3071812"/>
            <a:ext cx="933152"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13262B"/>
                </a:solidFill>
                <a:latin typeface="Consolas"/>
              </a:rPr>
              <a:t>TIDRXVRSYS</a:t>
            </a:r>
            <a:endParaRPr sz="1300"/>
          </a:p>
        </p:txBody>
      </p:sp>
      <p:sp>
        <p:nvSpPr>
          <p:cNvPr id="17" name="Rounded Rectangle 16"/>
          <p:cNvSpPr/>
          <p:nvPr/>
        </p:nvSpPr>
        <p:spPr>
          <a:xfrm>
            <a:off x="5870277" y="3617218"/>
            <a:ext cx="5505748" cy="1084461"/>
          </a:xfrm>
          <a:prstGeom prst="roundRect">
            <a:avLst>
              <a:gd name="adj" fmla="val 93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3x20.30"/>
          <p:cNvSpPr txBox="1"/>
          <p:nvPr/>
        </p:nvSpPr>
        <p:spPr>
          <a:xfrm>
            <a:off x="6076652" y="3772793"/>
            <a:ext cx="5194858" cy="77331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A8521A"/>
                </a:solidFill>
                <a:latin typeface="Arial"/>
              </a:rPr>
              <a:t>len(dna) - 2</a:t>
            </a:r>
            <a:r>
              <a:rPr sz="1400" b="0" i="0">
                <a:solidFill>
                  <a:srgbClr val="3D4F52"/>
                </a:solidFill>
                <a:latin typeface="Arial"/>
              </a:rPr>
              <a:t>: poslednji kodon mora biti ceo</a:t>
            </a:r>
            <a:endParaRPr sz="1400"/>
          </a:p>
          <a:p>
            <a:pPr algn="l" marL="228600" indent="-171450">
              <a:lnSpc>
                <a:spcPts val="2030"/>
              </a:lnSpc>
              <a:spcBef>
                <a:spcPts val="0"/>
              </a:spcBef>
              <a:spcAft>
                <a:spcPts val="0"/>
              </a:spcAft>
              <a:buClr>
                <a:srgbClr val="3D4F52"/>
              </a:buClr>
              <a:buFont typeface="Arial"/>
              <a:buChar char="•"/>
            </a:pPr>
            <a:r>
              <a:rPr sz="1400" b="0" i="0">
                <a:solidFill>
                  <a:srgbClr val="A8521A"/>
                </a:solidFill>
                <a:latin typeface="Arial"/>
              </a:rPr>
              <a:t>codon.upper()</a:t>
            </a:r>
            <a:r>
              <a:rPr sz="1400" b="0" i="0">
                <a:solidFill>
                  <a:srgbClr val="3D4F52"/>
                </a:solidFill>
                <a:latin typeface="Arial"/>
              </a:rPr>
              <a:t>: radi i za mala slova</a:t>
            </a:r>
            <a:endParaRPr sz="1400"/>
          </a:p>
          <a:p>
            <a:pPr algn="l" marL="228600" indent="-171450">
              <a:lnSpc>
                <a:spcPts val="2030"/>
              </a:lnSpc>
              <a:spcBef>
                <a:spcPts val="0"/>
              </a:spcBef>
              <a:spcAft>
                <a:spcPts val="0"/>
              </a:spcAft>
              <a:buClr>
                <a:srgbClr val="3D4F52"/>
              </a:buClr>
              <a:buFont typeface="Arial"/>
              <a:buChar char="•"/>
            </a:pPr>
            <a:r>
              <a:rPr sz="1400" b="0" i="0">
                <a:solidFill>
                  <a:srgbClr val="A8521A"/>
                </a:solidFill>
                <a:latin typeface="Arial"/>
              </a:rPr>
              <a:t>get(…, 'X')</a:t>
            </a:r>
            <a:r>
              <a:rPr sz="1400" b="0" i="0">
                <a:solidFill>
                  <a:srgbClr val="3D4F52"/>
                </a:solidFill>
                <a:latin typeface="Arial"/>
              </a:rPr>
              <a:t>: kodon sa N postaje X</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08 · REČNICI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vežba</a:t>
            </a:r>
            <a:endParaRPr sz="3200"/>
          </a:p>
        </p:txBody>
      </p:sp>
      <p:sp>
        <p:nvSpPr>
          <p:cNvPr id="4" name="Rounded Rectangle 3"/>
          <p:cNvSpPr/>
          <p:nvPr/>
        </p:nvSpPr>
        <p:spPr>
          <a:xfrm>
            <a:off x="815975" y="1704876"/>
            <a:ext cx="4848920" cy="2284412"/>
          </a:xfrm>
          <a:prstGeom prst="roundRect">
            <a:avLst>
              <a:gd name="adj" fmla="val 444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524893"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6x20.30"/>
          <p:cNvSpPr txBox="1"/>
          <p:nvPr/>
        </p:nvSpPr>
        <p:spPr>
          <a:xfrm>
            <a:off x="1022350" y="2261691"/>
            <a:ext cx="4524893" cy="154662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Parovi ključ–vrednost u rečniku</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Pravljenje, pristup, dodavanje i pop</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in i get sa podrazumevanom vrednošću</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keys, items i sorted</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Ključevi su jedinstveni stringovi ili brojevi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Brza pretraga po ključu, ali ne i obrnuto</a:t>
            </a:r>
            <a:endParaRPr sz="1400"/>
          </a:p>
        </p:txBody>
      </p:sp>
      <p:sp>
        <p:nvSpPr>
          <p:cNvPr id="7" name="Rounded Rectangle 6"/>
          <p:cNvSpPr/>
          <p:nvPr/>
        </p:nvSpPr>
        <p:spPr>
          <a:xfrm>
            <a:off x="5871270" y="1701701"/>
            <a:ext cx="5507930" cy="2121892"/>
          </a:xfrm>
          <a:prstGeom prst="roundRect">
            <a:avLst>
              <a:gd name="adj" fmla="val 47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6074470" y="1879501"/>
            <a:ext cx="520356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Vežba: prevođenje DNK u protein</a:t>
            </a:r>
            <a:endParaRPr sz="1800"/>
          </a:p>
        </p:txBody>
      </p:sp>
      <p:sp>
        <p:nvSpPr>
          <p:cNvPr id="9" name="Tekst 1x20.30"/>
          <p:cNvSpPr txBox="1"/>
          <p:nvPr/>
        </p:nvSpPr>
        <p:spPr>
          <a:xfrm>
            <a:off x="6074470" y="2255341"/>
            <a:ext cx="520356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Po standardnom genetskom kodu (NCBI):</a:t>
            </a:r>
            <a:endParaRPr sz="1400"/>
          </a:p>
        </p:txBody>
      </p:sp>
      <p:sp>
        <p:nvSpPr>
          <p:cNvPr id="10" name="Tekst 4x20.30"/>
          <p:cNvSpPr txBox="1"/>
          <p:nvPr/>
        </p:nvSpPr>
        <p:spPr>
          <a:xfrm>
            <a:off x="6074470" y="2614712"/>
            <a:ext cx="5203561" cy="1031081"/>
          </a:xfrm>
          <a:prstGeom prst="rect">
            <a:avLst/>
          </a:prstGeom>
          <a:noFill/>
        </p:spPr>
        <p:txBody>
          <a:bodyPr wrap="square" anchor="t" lIns="0" rIns="0" tIns="0" bIns="0">
            <a:noAutofit/>
          </a:bodyPr>
          <a:lstStyle/>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Podelite sekvencu na kodone: range sa korakom 3</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Za svaki kodon nađite aminokiselinu u rečniku</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Spojite aminokiseline u proteinsku sekvencu</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Test primere pretvorite u assert naredbe</a:t>
            </a:r>
            <a:endParaRPr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8: Rečnici</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