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Mnogo toga što radimo u biologiji svodi se na traženje šablona u stringovima. Pored sekvenci, šablone imaju i drugi podaci iz tekstualnih fajlova: lokacije mapiranja očitavanja, koordinate uzoraka, taksonomska imena, imena gena, pristupni brojevi, rezultati BLAST pretrage. Dosad smo tražili samo fiksne nizove karaktera (count, find, startswith). Ali kolika je dužina poli-A repa? Kako izdvojiti deo pristupnog broja između trećeg karaktera i donje crte? Za fleksibilne šablone koristimo regularne izraze (regex). Opšte knjige ih često preskaču, a biolozima su toliko korisni da ovo poglavlje ceo posvećujemo njima.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DNK, RNK i proteinske sekvence su stringovi, pa je mnogo bioloških zadataka zapravo traženje šablona u stringu. I drugi podaci iz tekstualnih fajlova imaju šablone; čak su i brojevi, kao koordinate, u programu najpre stringovi. Dosadašnji alati (count, find, startswith) traže samo fiksan niz karaktera. Za fleksibilne šablone postoji standardni skup alata, regularni izrazi, koji postoji i u mnogim drugim jezicima i programima.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Osnovni alati (stringovi, brojevi, fajlovi, liste) dostupni su u svakom programu. Specijalizovani alati, za matematiku, preuzimanje sa interneta, pokretanje programa ili rad sa datumima, grupisani su u module i moramo ih eksplicitno učitati. Zaboravljen import ili prefiks re. daje NameError. U svim primerima ovog poglavlja podrazumeva se import re na početku. Šablon GAATTC (EcoRI) nema specijalnih karaktera, ali sirovi string ipak koristimo iz navike. re.search ne vraća bukvalno True, nego match objekat koji se u uslovu ponaša kao tačan; o tome uskoro.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Alternacija: u zagradama navodimo varijante razdvojene uspravnom crtom. Grupa karaktera u uglastim zagradama predstavlja tačno jedan karakter iz liste, pa je GC[ATGC]GC kraći zapis od GC(A|T|G|C)GC. Tačka je zgodna, ali prihvata i karaktere koji nisu baze, pa i znakove koji nisu slova. Kapica ^ na početku grupe obrće značenje: [^ATGC] je bilo šta osim A, T, G i 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Grupe karaktera opisuju varijaciju pojedinačnih pozicija, a kvantifikatori varijaciju broja ponavljanja. Primeri koji se ne poklapaju: GA{5}T ne poklapa GAAAAT ni GAAAAAAT; GA{2,4}T ne poklapa GAT ni GAAAAAT. Simboli ^ i $ ne predstavljaju karaktere nego pozicije u stringu. Pažnja: ^ unutar uglastih zagrada, na početku grupe, ima drugo značenje (negacija), sa prethodnog slajda.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Pravu snagu regularni izrazi dobijaju kombinovanjem: kvantifikatori zajedno sa alternacijom i grupama karaktera. Šablon čitamo s leva nadesno. Isprva su teški za čitanje, ali se ista notacija koristi u drugim jezicima, alatima komandne linije i editorima, pa se učenje isplati. Za napredne: pohlepni i minimalni kvantifikatori, povratne reference, lookahead/lookbehind i ugrađene klase karaktera. Napomena uz knjigu: knjiga kaže da re.match traži poklapanje celog stringa; zapravo re.match proverava samo početak stringa, a ceo string proverava re.fullmatch.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zapravo ne vraća True, nego match objekat, novi tip koji, kao i fajl objekat, ima korisne metode. Ako poklapanja nema, vraća posebnu vrednost None, koja se u uslovu ponaša kao False. group() bez argumenta daje ceo poklopljeni deo; delove šablona u zagradama „hvatamo” i dobijamo ih sa group(1), group(2) i tako dalje. start i end sa brojem grupe daju pozicije pojedinačnih grupa, npr. m.start(1) je 4, a m.end(2) je 11; to je posebno korisno kad šablon ima ponavljanja promenljive dužine.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objekat ne čuva samo sadržaj poklapanja, nego i njegov položaj. start i end bez argumenta daju početak i kraj celog poklapanja; brojanje kreće od nule, pa poklapanje koje počinje trećom bazom ima start 2. end je pozicija posle poslednjeg karaktera, isto kao kraj isečka. Sa brojem grupe kao argumentom dobijamo početak i kraj pojedinačnih grupa.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re.split prima šablon i string i vraća listu delova; običan metod split ne prima regularni izraz. Primer: konsenzus sekvenca sa kodovima nejednoznačnosti (N, R, Y, S, W) deli se na neprekidne nizove pravih baza. re.findall vraća običnu listu stringova, pa pozicije ne možemo da dobijemo. re.finditer vraća niz match objekata koji obrađujemo u petlji, pa je mnogo fleksibilniji. Knjiga u poslednjem primeru ispisuje poruku "AT rich region from 5 to 12"; ovde, zbog prostora, ispisujemo samo dva broja (print sa više argumenata ih razdvaja razmakom).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Vežba: od izmišljenih pristupnih brojeva ispisati one koji ispunjavaju svaki kriterijum posebno. Glavni posao je smišljanje šablona. Za prvi kriterijum ne trebaju nikakve posebne mogućnosti regularnih izraza. Za „d ili e” može i alternacija (d|e) i grupa karaktera [de]. Za „d pa e” zamišljamo šablon kao d, zatim bilo šta, pa e. Knjiga ispred svakog broja ispisuje i tab ("\t" + acc); ovde je to izostavljeno.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prvi pogled d.+e izgleda dobro, ali ne pronalazi broj kod kog e dolazi odmah posle d; zvezdica dozvoljava i nula znakova između. Zahtev „d, jedno slovo, pa e” zvuči složenije, a lakše se piše: tačka bez kvantifikatora je tačno jedan znak. „Bilo kojim redom” može se napisati alternacijom (d.*e|e.*d), ali je jasnije napraviti dve pretrage i spojiti ih sa or. Napomena uz knjigu: knjiga za ovaj kriterijum navodi samo hedle3455 i de37dp, ali svih pet ispisanih brojeva sadrži i d i e; izlaz na slajdu je proveren.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 početak sa x ili y kombinujemo alternaciju i oznaku početka ^. Uslov da se broj završava sa e dodaje .* u sredini i $ na kraju, pa šablon postaje prilično složen. Za tri ili više cifara knjiga najpre piše [0123456789]{3,100}, a zatim kraće \d{3,}; ako gornju granicu u vitičastim zagradama izostavimo, nema ograničenja. Poslednji kriterijum traži samo grupu karaktera i oznaku kraja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predvideti dužine fragmenata kada se sekvenca iz dna.txt iseče dvama izmišljenim enzimima; zvezdica u mestu prepoznavanja označava mesto sečenja. Knjiga kaže da je ovo težak problem, pa ga pojednostavljujemo: prvo jedan enzim. Kodove nejednoznačnosti (IUPAC) prevodimo u grupe karaktera. Sekvencu čitamo odjednom (jedna sekvenca, ne treba čitanje po linijama) i uklanjamo novi red. re.finditer daje sve pozicije motiva. Brojevi su iz materijala uz knjigu. Zanemarujemo hemijsku kinetiku enzima: pretpostavljamo da seku potpuno precizno i efikasno.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Kako od mesta sečenja doći do dužina? Ideja iz knjige: prolazimo kroz mesta sečenja redom i za svako merimo rastojanje do prethodnog; to je dužina jednog fragmenta. Da bi to radilo i za prvi i za poslednji fragment, dodajemo zamišljena mesta sečenja na početku i na kraju sekvence. Lista all_cuts počinje sa jednim elementom, nulom; u petlji dodajemo stvarna mesta, a posle petlje dužinu sekvence. Traka iznad prikazuje fragmente u razmeri: dva sečenja daju tri fragmenta.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 ovu petlju obična petlja kroz elemente nije dovoljna: treba nam i prethodni element, pa prolazimo kroz indekse koje generiše range, od 1 (drugi element) do dužine liste. Promenljiva i čuva svaki indeks redom; za svaki uzimamo trenutno i prethodno mesto sečenja i računamo razliku. Zbir dužina (1143 + 485 + 384) jednak je dužini sekvence, 2012, što je dobra provera.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Drugi enzim dodajemo još jednom petljom, sa svojim šablonom i pomakom mesta sečenja (+4). Ali lista sada nije sortirana: prvo idu mesta prvog enzima, pa mesta drugog. Metod iz prethodnog koraka tada daje očigledno pogrešne dužine, uključujući i negativnu. Ugrađena funkcija sorted vraća sortiranu kopiju liste, pa petlju za dužine pokrećemo nad sorted_cuts. Napomena: knjiga za poslednji nesortirani fragment navodi 434; tačna razlika 2012 − 1577 je 435. Dužine posle sortiranja nisu navedene u knjizi, nego su izračunate iz njenih pozicija.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 drugu vežbu treba prevesti IUPAC kodove u grupe karaktera: N je bilo koja baza [ATGC], R je purin [AG], a W je A ili T [AT]. Mesta sečenja dobijamo pomoću re.finditer i metoda start, pa dužine fragmenata računamo iz razlika susednih pozicija. Za bilo koji šablon obično postoji više ispravnih regularnih izraza; birajte onaj koji je najlakše pročitati.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16.80"/>
          <p:cNvSpPr txBox="1"/>
          <p:nvPr/>
        </p:nvSpPr>
        <p:spPr>
          <a:xfrm>
            <a:off x="812800" y="711200"/>
            <a:ext cx="64770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6FD3C1"/>
                </a:solidFill>
                <a:latin typeface="Arial"/>
              </a:rPr>
              <a:t>POGLAVLJE 7 OD 9</a:t>
            </a:r>
            <a:endParaRPr sz="1200"/>
          </a:p>
        </p:txBody>
      </p:sp>
      <p:sp>
        <p:nvSpPr>
          <p:cNvPr id="3" name="Tekst 1x100.00"/>
          <p:cNvSpPr txBox="1"/>
          <p:nvPr/>
        </p:nvSpPr>
        <p:spPr>
          <a:xfrm>
            <a:off x="812800" y="3457079"/>
            <a:ext cx="10777728" cy="1270000"/>
          </a:xfrm>
          <a:prstGeom prst="rect">
            <a:avLst/>
          </a:prstGeom>
          <a:noFill/>
        </p:spPr>
        <p:txBody>
          <a:bodyPr wrap="square" anchor="t" lIns="0" rIns="0" tIns="0" bIns="0">
            <a:noAutofit/>
          </a:bodyPr>
          <a:lstStyle/>
          <a:p>
            <a:pPr algn="l">
              <a:lnSpc>
                <a:spcPts val="10000"/>
              </a:lnSpc>
              <a:spcBef>
                <a:spcPts val="0"/>
              </a:spcBef>
              <a:spcAft>
                <a:spcPts val="0"/>
              </a:spcAft>
            </a:pPr>
            <a:r>
              <a:rPr sz="10000" b="1" i="0">
                <a:solidFill>
                  <a:srgbClr val="F0A35E"/>
                </a:solidFill>
                <a:latin typeface="Consolas"/>
              </a:rPr>
              <a:t>07</a:t>
            </a:r>
            <a:endParaRPr sz="10000"/>
          </a:p>
        </p:txBody>
      </p:sp>
      <p:sp>
        <p:nvSpPr>
          <p:cNvPr id="4" name="Tekst 1x54.60"/>
          <p:cNvSpPr txBox="1"/>
          <p:nvPr/>
        </p:nvSpPr>
        <p:spPr>
          <a:xfrm>
            <a:off x="812800" y="4879479"/>
            <a:ext cx="10777728" cy="69334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Regularni izrazi</a:t>
            </a:r>
            <a:endParaRPr sz="5200"/>
          </a:p>
        </p:txBody>
      </p:sp>
      <p:sp>
        <p:nvSpPr>
          <p:cNvPr id="5" name="Tekst 1x25.20"/>
          <p:cNvSpPr txBox="1"/>
          <p:nvPr/>
        </p:nvSpPr>
        <p:spPr>
          <a:xfrm>
            <a:off x="812800" y="5725220"/>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Biologija je puna šablona: proteinski domeni, motivi, mesta sečenja, degenerisani prajmeri, poli-A repovi</a:t>
            </a:r>
            <a:endParaRPr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Šabloni u biološkim podacima</a:t>
            </a:r>
            <a:endParaRPr sz="3200"/>
          </a:p>
        </p:txBody>
      </p:sp>
      <p:sp>
        <p:nvSpPr>
          <p:cNvPr id="4" name="Rounded Rectangle 3"/>
          <p:cNvSpPr/>
          <p:nvPr/>
        </p:nvSpPr>
        <p:spPr>
          <a:xfrm>
            <a:off x="815975" y="1704876"/>
            <a:ext cx="3384550" cy="2799953"/>
          </a:xfrm>
          <a:prstGeom prst="roundRect">
            <a:avLst>
              <a:gd name="adj" fmla="val 362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303123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U sekvencama</a:t>
            </a:r>
            <a:endParaRPr sz="1800"/>
          </a:p>
        </p:txBody>
      </p:sp>
      <p:sp>
        <p:nvSpPr>
          <p:cNvPr id="6" name="Tekst 8x20.30"/>
          <p:cNvSpPr txBox="1"/>
          <p:nvPr/>
        </p:nvSpPr>
        <p:spPr>
          <a:xfrm>
            <a:off x="1022350" y="2261691"/>
            <a:ext cx="3031236" cy="206216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proteinski domeni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vezivni motivi transkripcionih faktora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mesta sečenja restrikcionih enzima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mesta degenerisanih PCR prajmera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nizovi istog nukleotida</a:t>
            </a:r>
            <a:endParaRPr sz="1400"/>
          </a:p>
        </p:txBody>
      </p:sp>
      <p:sp>
        <p:nvSpPr>
          <p:cNvPr id="7" name="Rounded Rectangle 6"/>
          <p:cNvSpPr/>
          <p:nvPr/>
        </p:nvSpPr>
        <p:spPr>
          <a:xfrm>
            <a:off x="4410075" y="1704876"/>
            <a:ext cx="3384550" cy="2799953"/>
          </a:xfrm>
          <a:prstGeom prst="roundRect">
            <a:avLst>
              <a:gd name="adj" fmla="val 362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4616450" y="1885851"/>
            <a:ext cx="303123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U drugim podacima</a:t>
            </a:r>
            <a:endParaRPr sz="1800"/>
          </a:p>
        </p:txBody>
      </p:sp>
      <p:sp>
        <p:nvSpPr>
          <p:cNvPr id="9" name="Tekst 5x20.30"/>
          <p:cNvSpPr txBox="1"/>
          <p:nvPr/>
        </p:nvSpPr>
        <p:spPr>
          <a:xfrm>
            <a:off x="4616450" y="2261691"/>
            <a:ext cx="3031236" cy="128885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lokacije mapiranja očitavanja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geografske koordinate uzoraka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taksonomska imena i imena gena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pristupni brojevi gena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rezultati BLAST pretrage</a:t>
            </a:r>
            <a:endParaRPr sz="1400"/>
          </a:p>
        </p:txBody>
      </p:sp>
      <p:sp>
        <p:nvSpPr>
          <p:cNvPr id="10" name="Rounded Rectangle 9"/>
          <p:cNvSpPr/>
          <p:nvPr/>
        </p:nvSpPr>
        <p:spPr>
          <a:xfrm>
            <a:off x="8001000" y="1701701"/>
            <a:ext cx="3378200" cy="2806303"/>
          </a:xfrm>
          <a:prstGeom prst="roundRect">
            <a:avLst>
              <a:gd name="adj" fmla="val 3620"/>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1.60"/>
          <p:cNvSpPr txBox="1"/>
          <p:nvPr/>
        </p:nvSpPr>
        <p:spPr>
          <a:xfrm>
            <a:off x="8204200" y="1879501"/>
            <a:ext cx="303123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Fiksni niz nije dovoljan</a:t>
            </a:r>
            <a:endParaRPr sz="1800"/>
          </a:p>
        </p:txBody>
      </p:sp>
      <p:sp>
        <p:nvSpPr>
          <p:cNvPr id="12" name="Tekst 5x20.30"/>
          <p:cNvSpPr txBox="1"/>
          <p:nvPr/>
        </p:nvSpPr>
        <p:spPr>
          <a:xfrm>
            <a:off x="8204200" y="2255341"/>
            <a:ext cx="3031236" cy="128885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Kolika je dužina poli-A repa?</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Deo pristupnog broja između 3. znaka i donje crte</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Da li protein ima domen sa mnogo varijacija?</a:t>
            </a:r>
            <a:endParaRPr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Modul re, sirovi stringovi i re.search</a:t>
            </a:r>
            <a:endParaRPr sz="3200"/>
          </a:p>
        </p:txBody>
      </p:sp>
      <p:sp>
        <p:nvSpPr>
          <p:cNvPr id="4" name="Rounded Rectangle 3"/>
          <p:cNvSpPr/>
          <p:nvPr/>
        </p:nvSpPr>
        <p:spPr>
          <a:xfrm>
            <a:off x="815975" y="1704876"/>
            <a:ext cx="5175250" cy="2019102"/>
          </a:xfrm>
          <a:prstGeom prst="roundRect">
            <a:avLst>
              <a:gd name="adj" fmla="val 5031"/>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Moduli</a:t>
            </a:r>
            <a:endParaRPr sz="1800"/>
          </a:p>
        </p:txBody>
      </p:sp>
      <p:sp>
        <p:nvSpPr>
          <p:cNvPr id="6" name="Tekst 2x20.30"/>
          <p:cNvSpPr txBox="1"/>
          <p:nvPr/>
        </p:nvSpPr>
        <p:spPr>
          <a:xfrm>
            <a:off x="1022350" y="2236291"/>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Specijalizovani alati se učitavaju naredbom </a:t>
            </a:r>
            <a:r>
              <a:rPr sz="1400" b="0" i="0">
                <a:solidFill>
                  <a:srgbClr val="A8521A"/>
                </a:solidFill>
                <a:latin typeface="Arial"/>
              </a:rPr>
              <a:t>import</a:t>
            </a:r>
            <a:r>
              <a:rPr sz="1400" b="0" i="0">
                <a:solidFill>
                  <a:srgbClr val="3D4F52"/>
                </a:solidFill>
                <a:latin typeface="Arial"/>
              </a:rPr>
              <a:t>, a njihove funkcije pozivamo sa prefiksom imena modula.</a:t>
            </a:r>
            <a:endParaRPr sz="1400"/>
          </a:p>
        </p:txBody>
      </p:sp>
      <p:sp>
        <p:nvSpPr>
          <p:cNvPr id="7" name="Rounded Rectangle 6"/>
          <p:cNvSpPr/>
          <p:nvPr/>
        </p:nvSpPr>
        <p:spPr>
          <a:xfrm>
            <a:off x="1022350" y="2828032"/>
            <a:ext cx="4762500" cy="714970"/>
          </a:xfrm>
          <a:prstGeom prst="roundRect">
            <a:avLst>
              <a:gd name="adj" fmla="val 10657"/>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2x20.15"/>
          <p:cNvSpPr txBox="1"/>
          <p:nvPr/>
        </p:nvSpPr>
        <p:spPr>
          <a:xfrm>
            <a:off x="1174750" y="2929632"/>
            <a:ext cx="4546854"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import</a:t>
            </a:r>
            <a:r>
              <a:rPr sz="1300" b="0" i="0">
                <a:solidFill>
                  <a:srgbClr val="E8EEE9"/>
                </a:solidFill>
                <a:latin typeface="Consolas"/>
              </a:rPr>
              <a:t> re</a:t>
            </a:r>
            <a:br/>
            <a:r>
              <a:rPr sz="1300" b="0" i="0">
                <a:solidFill>
                  <a:srgbClr val="E8EEE9"/>
                </a:solidFill>
                <a:latin typeface="Consolas"/>
              </a:rPr>
              <a:t>re.search(pattern, string)</a:t>
            </a:r>
            <a:endParaRPr sz="1300"/>
          </a:p>
        </p:txBody>
      </p:sp>
      <p:sp>
        <p:nvSpPr>
          <p:cNvPr id="9" name="Rounded Rectangle 8"/>
          <p:cNvSpPr/>
          <p:nvPr/>
        </p:nvSpPr>
        <p:spPr>
          <a:xfrm>
            <a:off x="6200775" y="1704876"/>
            <a:ext cx="5175250" cy="2019102"/>
          </a:xfrm>
          <a:prstGeom prst="roundRect">
            <a:avLst>
              <a:gd name="adj" fmla="val 5031"/>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6407150" y="188585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Sirovi stringovi</a:t>
            </a:r>
            <a:endParaRPr sz="1800"/>
          </a:p>
        </p:txBody>
      </p:sp>
      <p:sp>
        <p:nvSpPr>
          <p:cNvPr id="11" name="Tekst 2x20.30"/>
          <p:cNvSpPr txBox="1"/>
          <p:nvPr/>
        </p:nvSpPr>
        <p:spPr>
          <a:xfrm>
            <a:off x="6407150" y="2236291"/>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Slovo </a:t>
            </a:r>
            <a:r>
              <a:rPr sz="1400" b="0" i="0">
                <a:solidFill>
                  <a:srgbClr val="A8521A"/>
                </a:solidFill>
                <a:latin typeface="Arial"/>
              </a:rPr>
              <a:t>r</a:t>
            </a:r>
            <a:r>
              <a:rPr sz="1400" b="0" i="0">
                <a:solidFill>
                  <a:srgbClr val="3D4F52"/>
                </a:solidFill>
                <a:latin typeface="Arial"/>
              </a:rPr>
              <a:t> ispred navodnika isključuje specijalne karaktere poput </a:t>
            </a:r>
            <a:r>
              <a:rPr sz="1400" b="0" i="0">
                <a:solidFill>
                  <a:srgbClr val="A8521A"/>
                </a:solidFill>
                <a:latin typeface="Arial"/>
              </a:rPr>
              <a:t>\n</a:t>
            </a:r>
            <a:r>
              <a:rPr sz="1400" b="0" i="0">
                <a:solidFill>
                  <a:srgbClr val="3D4F52"/>
                </a:solidFill>
                <a:latin typeface="Arial"/>
              </a:rPr>
              <a:t> i </a:t>
            </a:r>
            <a:r>
              <a:rPr sz="1400" b="0" i="0">
                <a:solidFill>
                  <a:srgbClr val="A8521A"/>
                </a:solidFill>
                <a:latin typeface="Arial"/>
              </a:rPr>
              <a:t>\t</a:t>
            </a:r>
            <a:r>
              <a:rPr sz="1400" b="0" i="0">
                <a:solidFill>
                  <a:srgbClr val="3D4F52"/>
                </a:solidFill>
                <a:latin typeface="Arial"/>
              </a:rPr>
              <a:t>, kojih u šablonima ima mnogo.</a:t>
            </a:r>
            <a:endParaRPr sz="1400"/>
          </a:p>
        </p:txBody>
      </p:sp>
      <p:sp>
        <p:nvSpPr>
          <p:cNvPr id="12" name="Rounded Rectangle 11"/>
          <p:cNvSpPr/>
          <p:nvPr/>
        </p:nvSpPr>
        <p:spPr>
          <a:xfrm>
            <a:off x="6407150" y="2828032"/>
            <a:ext cx="4762500" cy="714970"/>
          </a:xfrm>
          <a:prstGeom prst="roundRect">
            <a:avLst>
              <a:gd name="adj" fmla="val 10657"/>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2x20.15"/>
          <p:cNvSpPr txBox="1"/>
          <p:nvPr/>
        </p:nvSpPr>
        <p:spPr>
          <a:xfrm>
            <a:off x="6559550" y="2929632"/>
            <a:ext cx="4546854"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a:t>
            </a:r>
            <a:r>
              <a:rPr sz="1300" b="0" i="0">
                <a:solidFill>
                  <a:srgbClr val="F0A35E"/>
                </a:solidFill>
                <a:latin typeface="Consolas"/>
              </a:rPr>
              <a:t>r"\t\n"</a:t>
            </a:r>
            <a:r>
              <a:rPr sz="1300" b="0" i="0">
                <a:solidFill>
                  <a:srgbClr val="E8EEE9"/>
                </a:solidFill>
                <a:latin typeface="Consolas"/>
              </a:rPr>
              <a:t>)</a:t>
            </a:r>
            <a:br/>
            <a:r>
              <a:rPr sz="1300" b="0" i="0">
                <a:solidFill>
                  <a:srgbClr val="8FB3AA"/>
                </a:solidFill>
                <a:latin typeface="Consolas"/>
              </a:rPr>
              <a:t># ispisuje: \t\n</a:t>
            </a:r>
            <a:endParaRPr sz="1300"/>
          </a:p>
        </p:txBody>
      </p:sp>
      <p:sp>
        <p:nvSpPr>
          <p:cNvPr id="14" name="Rounded Rectangle 13"/>
          <p:cNvSpPr/>
          <p:nvPr/>
        </p:nvSpPr>
        <p:spPr>
          <a:xfrm>
            <a:off x="819150" y="3987502"/>
            <a:ext cx="3788569"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3x20.15"/>
          <p:cNvSpPr txBox="1"/>
          <p:nvPr/>
        </p:nvSpPr>
        <p:spPr>
          <a:xfrm>
            <a:off x="1079500" y="4171652"/>
            <a:ext cx="3333226"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"ATCGCGAATTCAC"</a:t>
            </a:r>
            <a:br/>
            <a:r>
              <a:rPr sz="1300" b="0" i="0">
                <a:solidFill>
                  <a:srgbClr val="6FD3C1"/>
                </a:solidFill>
                <a:latin typeface="Consolas"/>
              </a:rPr>
              <a:t>if</a:t>
            </a:r>
            <a:r>
              <a:rPr sz="1300" b="0" i="0">
                <a:solidFill>
                  <a:srgbClr val="E8EEE9"/>
                </a:solidFill>
                <a:latin typeface="Consolas"/>
              </a:rPr>
              <a:t> re.search(</a:t>
            </a:r>
            <a:r>
              <a:rPr sz="1300" b="0" i="0">
                <a:solidFill>
                  <a:srgbClr val="F0A35E"/>
                </a:solidFill>
                <a:latin typeface="Consolas"/>
              </a:rPr>
              <a:t>r"GAATTC"</a:t>
            </a:r>
            <a:r>
              <a:rPr sz="1300" b="0" i="0">
                <a:solidFill>
                  <a:srgbClr val="E8EEE9"/>
                </a:solidFill>
                <a:latin typeface="Consolas"/>
              </a:rPr>
              <a:t>, dna):</a:t>
            </a:r>
            <a:br/>
            <a:r>
              <a:rPr sz="1300" b="0" i="0">
                <a:solidFill>
                  <a:srgbClr val="E8EEE9"/>
                </a:solidFill>
                <a:latin typeface="Consolas"/>
              </a:rPr>
              <a:t>    print(</a:t>
            </a:r>
            <a:r>
              <a:rPr sz="1300" b="0" i="0">
                <a:solidFill>
                  <a:srgbClr val="F0A35E"/>
                </a:solidFill>
                <a:latin typeface="Consolas"/>
              </a:rPr>
              <a:t>"restriction site found!"</a:t>
            </a:r>
            <a:r>
              <a:rPr sz="1300" b="0" i="0">
                <a:solidFill>
                  <a:srgbClr val="E8EEE9"/>
                </a:solidFill>
                <a:latin typeface="Consolas"/>
              </a:rPr>
              <a:t>)</a:t>
            </a:r>
            <a:endParaRPr sz="1300"/>
          </a:p>
        </p:txBody>
      </p:sp>
      <p:sp>
        <p:nvSpPr>
          <p:cNvPr id="16" name="Rounded Rectangle 15"/>
          <p:cNvSpPr/>
          <p:nvPr/>
        </p:nvSpPr>
        <p:spPr>
          <a:xfrm>
            <a:off x="4772819" y="3987502"/>
            <a:ext cx="2608560"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16.80"/>
          <p:cNvSpPr txBox="1"/>
          <p:nvPr/>
        </p:nvSpPr>
        <p:spPr>
          <a:xfrm>
            <a:off x="6333629" y="4044652"/>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18" name="Tekst 1x20.15"/>
          <p:cNvSpPr txBox="1"/>
          <p:nvPr/>
        </p:nvSpPr>
        <p:spPr>
          <a:xfrm>
            <a:off x="5033169" y="4427538"/>
            <a:ext cx="2129617"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restriction site found!</a:t>
            </a:r>
            <a:endParaRPr sz="1300"/>
          </a:p>
        </p:txBody>
      </p:sp>
      <p:sp>
        <p:nvSpPr>
          <p:cNvPr id="19" name="Tekst 2x20.30"/>
          <p:cNvSpPr txBox="1"/>
          <p:nvPr/>
        </p:nvSpPr>
        <p:spPr>
          <a:xfrm>
            <a:off x="7540129" y="4297660"/>
            <a:ext cx="3915853"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re.search(šablon, string)</a:t>
            </a:r>
            <a:r>
              <a:rPr sz="1400" b="0" i="0">
                <a:solidFill>
                  <a:srgbClr val="3D4F52"/>
                </a:solidFill>
                <a:latin typeface="Arial"/>
              </a:rPr>
              <a:t> proverava da li se šablon javlja bilo gde u stringu.</a:t>
            </a:r>
            <a:endParaRPr sz="14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Alternacija i grupe karaktera</a:t>
            </a:r>
            <a:endParaRPr sz="3200"/>
          </a:p>
        </p:txBody>
      </p:sp>
      <p:sp>
        <p:nvSpPr>
          <p:cNvPr id="4" name="Rectangle 3"/>
          <p:cNvSpPr/>
          <p:nvPr/>
        </p:nvSpPr>
        <p:spPr>
          <a:xfrm>
            <a:off x="812800" y="1991221"/>
            <a:ext cx="2159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6.80"/>
          <p:cNvSpPr txBox="1"/>
          <p:nvPr/>
        </p:nvSpPr>
        <p:spPr>
          <a:xfrm>
            <a:off x="812800" y="1701701"/>
            <a:ext cx="220218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ŠABLON</a:t>
            </a:r>
            <a:endParaRPr sz="1200"/>
          </a:p>
        </p:txBody>
      </p:sp>
      <p:sp>
        <p:nvSpPr>
          <p:cNvPr id="6" name="Rectangle 5"/>
          <p:cNvSpPr/>
          <p:nvPr/>
        </p:nvSpPr>
        <p:spPr>
          <a:xfrm>
            <a:off x="3175000" y="1991221"/>
            <a:ext cx="40005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3175000" y="1701701"/>
            <a:ext cx="408051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ZNAČENJE</a:t>
            </a:r>
            <a:endParaRPr sz="1200"/>
          </a:p>
        </p:txBody>
      </p:sp>
      <p:sp>
        <p:nvSpPr>
          <p:cNvPr id="8" name="Rectangle 7"/>
          <p:cNvSpPr/>
          <p:nvPr/>
        </p:nvSpPr>
        <p:spPr>
          <a:xfrm>
            <a:off x="7378700" y="1991221"/>
            <a:ext cx="40005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6.80"/>
          <p:cNvSpPr txBox="1"/>
          <p:nvPr/>
        </p:nvSpPr>
        <p:spPr>
          <a:xfrm>
            <a:off x="7378700" y="1701701"/>
            <a:ext cx="408051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PRIMER</a:t>
            </a:r>
            <a:endParaRPr sz="1200"/>
          </a:p>
        </p:txBody>
      </p:sp>
      <p:sp>
        <p:nvSpPr>
          <p:cNvPr id="10" name="Rectangle 9"/>
          <p:cNvSpPr/>
          <p:nvPr/>
        </p:nvSpPr>
        <p:spPr>
          <a:xfrm>
            <a:off x="812800" y="2457946"/>
            <a:ext cx="2159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1.75"/>
          <p:cNvSpPr txBox="1"/>
          <p:nvPr/>
        </p:nvSpPr>
        <p:spPr>
          <a:xfrm>
            <a:off x="812800" y="2092821"/>
            <a:ext cx="2202180" cy="276225"/>
          </a:xfrm>
          <a:prstGeom prst="rect">
            <a:avLst/>
          </a:prstGeom>
          <a:noFill/>
        </p:spPr>
        <p:txBody>
          <a:bodyPr wrap="square" anchor="t" lIns="0" rIns="0" tIns="0" bIns="0">
            <a:noAutofit/>
          </a:bodyPr>
          <a:lstStyle/>
          <a:p>
            <a:pPr algn="l">
              <a:lnSpc>
                <a:spcPts val="2175"/>
              </a:lnSpc>
              <a:spcBef>
                <a:spcPts val="0"/>
              </a:spcBef>
              <a:spcAft>
                <a:spcPts val="0"/>
              </a:spcAft>
            </a:pPr>
            <a:r>
              <a:rPr sz="1500" b="0" i="0">
                <a:solidFill>
                  <a:srgbClr val="A8521A"/>
                </a:solidFill>
                <a:latin typeface="Consolas"/>
              </a:rPr>
              <a:t>GG(A|T)CC</a:t>
            </a:r>
            <a:endParaRPr sz="1500"/>
          </a:p>
        </p:txBody>
      </p:sp>
      <p:sp>
        <p:nvSpPr>
          <p:cNvPr id="12" name="Rectangle 11"/>
          <p:cNvSpPr/>
          <p:nvPr/>
        </p:nvSpPr>
        <p:spPr>
          <a:xfrm>
            <a:off x="3175000" y="2457946"/>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0.30"/>
          <p:cNvSpPr txBox="1"/>
          <p:nvPr/>
        </p:nvSpPr>
        <p:spPr>
          <a:xfrm>
            <a:off x="3175000" y="2092821"/>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A ili T na tom mestu</a:t>
            </a:r>
            <a:endParaRPr sz="1400"/>
          </a:p>
        </p:txBody>
      </p:sp>
      <p:sp>
        <p:nvSpPr>
          <p:cNvPr id="14" name="Rectangle 13"/>
          <p:cNvSpPr/>
          <p:nvPr/>
        </p:nvSpPr>
        <p:spPr>
          <a:xfrm>
            <a:off x="7378700" y="2457946"/>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0.30"/>
          <p:cNvSpPr txBox="1"/>
          <p:nvPr/>
        </p:nvSpPr>
        <p:spPr>
          <a:xfrm>
            <a:off x="7378700" y="2092821"/>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5F6F70"/>
                </a:solidFill>
                <a:latin typeface="Arial"/>
              </a:rPr>
              <a:t>AvaII: GGACC i GGTCC</a:t>
            </a:r>
            <a:endParaRPr sz="1400"/>
          </a:p>
        </p:txBody>
      </p:sp>
      <p:sp>
        <p:nvSpPr>
          <p:cNvPr id="16" name="Rectangle 15"/>
          <p:cNvSpPr/>
          <p:nvPr/>
        </p:nvSpPr>
        <p:spPr>
          <a:xfrm>
            <a:off x="812800" y="2918321"/>
            <a:ext cx="2159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21.75"/>
          <p:cNvSpPr txBox="1"/>
          <p:nvPr/>
        </p:nvSpPr>
        <p:spPr>
          <a:xfrm>
            <a:off x="812800" y="2553196"/>
            <a:ext cx="2202180" cy="276225"/>
          </a:xfrm>
          <a:prstGeom prst="rect">
            <a:avLst/>
          </a:prstGeom>
          <a:noFill/>
        </p:spPr>
        <p:txBody>
          <a:bodyPr wrap="square" anchor="t" lIns="0" rIns="0" tIns="0" bIns="0">
            <a:noAutofit/>
          </a:bodyPr>
          <a:lstStyle/>
          <a:p>
            <a:pPr algn="l">
              <a:lnSpc>
                <a:spcPts val="2175"/>
              </a:lnSpc>
              <a:spcBef>
                <a:spcPts val="0"/>
              </a:spcBef>
              <a:spcAft>
                <a:spcPts val="0"/>
              </a:spcAft>
            </a:pPr>
            <a:r>
              <a:rPr sz="1500" b="0" i="0">
                <a:solidFill>
                  <a:srgbClr val="A8521A"/>
                </a:solidFill>
                <a:latin typeface="Consolas"/>
              </a:rPr>
              <a:t>GC[ATGC]GC</a:t>
            </a:r>
            <a:endParaRPr sz="1500"/>
          </a:p>
        </p:txBody>
      </p:sp>
      <p:sp>
        <p:nvSpPr>
          <p:cNvPr id="18" name="Rectangle 17"/>
          <p:cNvSpPr/>
          <p:nvPr/>
        </p:nvSpPr>
        <p:spPr>
          <a:xfrm>
            <a:off x="3175000" y="2918321"/>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1x20.30"/>
          <p:cNvSpPr txBox="1"/>
          <p:nvPr/>
        </p:nvSpPr>
        <p:spPr>
          <a:xfrm>
            <a:off x="3175000" y="2553196"/>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jedan od navedenih karaktera</a:t>
            </a:r>
            <a:endParaRPr sz="1400"/>
          </a:p>
        </p:txBody>
      </p:sp>
      <p:sp>
        <p:nvSpPr>
          <p:cNvPr id="20" name="Rectangle 19"/>
          <p:cNvSpPr/>
          <p:nvPr/>
        </p:nvSpPr>
        <p:spPr>
          <a:xfrm>
            <a:off x="7378700" y="2918321"/>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1x20.30"/>
          <p:cNvSpPr txBox="1"/>
          <p:nvPr/>
        </p:nvSpPr>
        <p:spPr>
          <a:xfrm>
            <a:off x="7378700" y="2553196"/>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5F6F70"/>
                </a:solidFill>
                <a:latin typeface="Arial"/>
              </a:rPr>
              <a:t>BisI: GCNGC, N je bilo koja baza</a:t>
            </a:r>
            <a:endParaRPr sz="1400"/>
          </a:p>
        </p:txBody>
      </p:sp>
      <p:sp>
        <p:nvSpPr>
          <p:cNvPr id="22" name="Rectangle 21"/>
          <p:cNvSpPr/>
          <p:nvPr/>
        </p:nvSpPr>
        <p:spPr>
          <a:xfrm>
            <a:off x="812800" y="3378696"/>
            <a:ext cx="2159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t 1x21.75"/>
          <p:cNvSpPr txBox="1"/>
          <p:nvPr/>
        </p:nvSpPr>
        <p:spPr>
          <a:xfrm>
            <a:off x="812800" y="3013571"/>
            <a:ext cx="2202180" cy="276225"/>
          </a:xfrm>
          <a:prstGeom prst="rect">
            <a:avLst/>
          </a:prstGeom>
          <a:noFill/>
        </p:spPr>
        <p:txBody>
          <a:bodyPr wrap="square" anchor="t" lIns="0" rIns="0" tIns="0" bIns="0">
            <a:noAutofit/>
          </a:bodyPr>
          <a:lstStyle/>
          <a:p>
            <a:pPr algn="l">
              <a:lnSpc>
                <a:spcPts val="2175"/>
              </a:lnSpc>
              <a:spcBef>
                <a:spcPts val="0"/>
              </a:spcBef>
              <a:spcAft>
                <a:spcPts val="0"/>
              </a:spcAft>
            </a:pPr>
            <a:r>
              <a:rPr sz="1500" b="0" i="0">
                <a:solidFill>
                  <a:srgbClr val="A8521A"/>
                </a:solidFill>
                <a:latin typeface="Consolas"/>
              </a:rPr>
              <a:t>GC.GC</a:t>
            </a:r>
            <a:endParaRPr sz="1500"/>
          </a:p>
        </p:txBody>
      </p:sp>
      <p:sp>
        <p:nvSpPr>
          <p:cNvPr id="24" name="Rectangle 23"/>
          <p:cNvSpPr/>
          <p:nvPr/>
        </p:nvSpPr>
        <p:spPr>
          <a:xfrm>
            <a:off x="3175000" y="3378696"/>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1x20.30"/>
          <p:cNvSpPr txBox="1"/>
          <p:nvPr/>
        </p:nvSpPr>
        <p:spPr>
          <a:xfrm>
            <a:off x="3175000" y="3013571"/>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tačka: bilo koji karakter</a:t>
            </a:r>
            <a:endParaRPr sz="1400"/>
          </a:p>
        </p:txBody>
      </p:sp>
      <p:sp>
        <p:nvSpPr>
          <p:cNvPr id="26" name="Rectangle 25"/>
          <p:cNvSpPr/>
          <p:nvPr/>
        </p:nvSpPr>
        <p:spPr>
          <a:xfrm>
            <a:off x="7378700" y="3378696"/>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kst 1x20.30"/>
          <p:cNvSpPr txBox="1"/>
          <p:nvPr/>
        </p:nvSpPr>
        <p:spPr>
          <a:xfrm>
            <a:off x="7378700" y="3013571"/>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5F6F70"/>
                </a:solidFill>
                <a:latin typeface="Arial"/>
              </a:rPr>
              <a:t>poklapa i GCFGC, GC9GC</a:t>
            </a:r>
            <a:endParaRPr sz="1400"/>
          </a:p>
        </p:txBody>
      </p:sp>
      <p:sp>
        <p:nvSpPr>
          <p:cNvPr id="28" name="Rectangle 27"/>
          <p:cNvSpPr/>
          <p:nvPr/>
        </p:nvSpPr>
        <p:spPr>
          <a:xfrm>
            <a:off x="812800" y="3839071"/>
            <a:ext cx="2159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t 1x21.75"/>
          <p:cNvSpPr txBox="1"/>
          <p:nvPr/>
        </p:nvSpPr>
        <p:spPr>
          <a:xfrm>
            <a:off x="812800" y="3473946"/>
            <a:ext cx="2202180" cy="276225"/>
          </a:xfrm>
          <a:prstGeom prst="rect">
            <a:avLst/>
          </a:prstGeom>
          <a:noFill/>
        </p:spPr>
        <p:txBody>
          <a:bodyPr wrap="square" anchor="t" lIns="0" rIns="0" tIns="0" bIns="0">
            <a:noAutofit/>
          </a:bodyPr>
          <a:lstStyle/>
          <a:p>
            <a:pPr algn="l">
              <a:lnSpc>
                <a:spcPts val="2175"/>
              </a:lnSpc>
              <a:spcBef>
                <a:spcPts val="0"/>
              </a:spcBef>
              <a:spcAft>
                <a:spcPts val="0"/>
              </a:spcAft>
            </a:pPr>
            <a:r>
              <a:rPr sz="1500" b="0" i="0">
                <a:solidFill>
                  <a:srgbClr val="A8521A"/>
                </a:solidFill>
                <a:latin typeface="Consolas"/>
              </a:rPr>
              <a:t>[^ATGC]</a:t>
            </a:r>
            <a:endParaRPr sz="1500"/>
          </a:p>
        </p:txBody>
      </p:sp>
      <p:sp>
        <p:nvSpPr>
          <p:cNvPr id="30" name="Rectangle 29"/>
          <p:cNvSpPr/>
          <p:nvPr/>
        </p:nvSpPr>
        <p:spPr>
          <a:xfrm>
            <a:off x="3175000" y="3839071"/>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kst 1x20.30"/>
          <p:cNvSpPr txBox="1"/>
          <p:nvPr/>
        </p:nvSpPr>
        <p:spPr>
          <a:xfrm>
            <a:off x="3175000" y="3473946"/>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bilo koji karakter osim navedenih</a:t>
            </a:r>
            <a:endParaRPr sz="1400"/>
          </a:p>
        </p:txBody>
      </p:sp>
      <p:sp>
        <p:nvSpPr>
          <p:cNvPr id="32" name="Rectangle 31"/>
          <p:cNvSpPr/>
          <p:nvPr/>
        </p:nvSpPr>
        <p:spPr>
          <a:xfrm>
            <a:off x="7378700" y="3839071"/>
            <a:ext cx="4000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kst 1x20.30"/>
          <p:cNvSpPr txBox="1"/>
          <p:nvPr/>
        </p:nvSpPr>
        <p:spPr>
          <a:xfrm>
            <a:off x="7378700" y="3473946"/>
            <a:ext cx="4080510" cy="27622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5F6F70"/>
                </a:solidFill>
                <a:latin typeface="Arial"/>
              </a:rPr>
              <a:t>nejednoznačne baze: N, R, Y…</a:t>
            </a:r>
            <a:endParaRPr sz="1400"/>
          </a:p>
        </p:txBody>
      </p:sp>
      <p:sp>
        <p:nvSpPr>
          <p:cNvPr id="34" name="Rounded Rectangle 33"/>
          <p:cNvSpPr/>
          <p:nvPr/>
        </p:nvSpPr>
        <p:spPr>
          <a:xfrm>
            <a:off x="819150" y="4105771"/>
            <a:ext cx="3788569"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kst 3x20.15"/>
          <p:cNvSpPr txBox="1"/>
          <p:nvPr/>
        </p:nvSpPr>
        <p:spPr>
          <a:xfrm>
            <a:off x="1079500" y="4289921"/>
            <a:ext cx="3333226"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"ATCGCGAATTCAC"</a:t>
            </a:r>
            <a:br/>
            <a:r>
              <a:rPr sz="1300" b="0" i="0">
                <a:solidFill>
                  <a:srgbClr val="6FD3C1"/>
                </a:solidFill>
                <a:latin typeface="Consolas"/>
              </a:rPr>
              <a:t>if</a:t>
            </a:r>
            <a:r>
              <a:rPr sz="1300" b="0" i="0">
                <a:solidFill>
                  <a:srgbClr val="E8EEE9"/>
                </a:solidFill>
                <a:latin typeface="Consolas"/>
              </a:rPr>
              <a:t> re.search(</a:t>
            </a:r>
            <a:r>
              <a:rPr sz="1300" b="0" i="0">
                <a:solidFill>
                  <a:srgbClr val="F0A35E"/>
                </a:solidFill>
                <a:latin typeface="Consolas"/>
              </a:rPr>
              <a:t>r"GG(A|T)CC"</a:t>
            </a:r>
            <a:r>
              <a:rPr sz="1300" b="0" i="0">
                <a:solidFill>
                  <a:srgbClr val="E8EEE9"/>
                </a:solidFill>
                <a:latin typeface="Consolas"/>
              </a:rPr>
              <a:t>, dna):</a:t>
            </a:r>
            <a:br/>
            <a:r>
              <a:rPr sz="1300" b="0" i="0">
                <a:solidFill>
                  <a:srgbClr val="E8EEE9"/>
                </a:solidFill>
                <a:latin typeface="Consolas"/>
              </a:rPr>
              <a:t>    print(</a:t>
            </a:r>
            <a:r>
              <a:rPr sz="1300" b="0" i="0">
                <a:solidFill>
                  <a:srgbClr val="F0A35E"/>
                </a:solidFill>
                <a:latin typeface="Consolas"/>
              </a:rPr>
              <a:t>"restriction site found!"</a:t>
            </a:r>
            <a:r>
              <a:rPr sz="1300" b="0" i="0">
                <a:solidFill>
                  <a:srgbClr val="E8EEE9"/>
                </a:solidFill>
                <a:latin typeface="Consolas"/>
              </a:rPr>
              <a:t>)</a:t>
            </a:r>
            <a:endParaRPr sz="1300"/>
          </a:p>
        </p:txBody>
      </p:sp>
      <p:sp>
        <p:nvSpPr>
          <p:cNvPr id="36" name="Rounded Rectangle 35"/>
          <p:cNvSpPr/>
          <p:nvPr/>
        </p:nvSpPr>
        <p:spPr>
          <a:xfrm>
            <a:off x="4817269" y="4099421"/>
            <a:ext cx="6561931" cy="1148655"/>
          </a:xfrm>
          <a:prstGeom prst="roundRect">
            <a:avLst>
              <a:gd name="adj" fmla="val 6633"/>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817269" y="4099421"/>
            <a:ext cx="38100" cy="1148655"/>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kst 2x20.30"/>
          <p:cNvSpPr txBox="1"/>
          <p:nvPr/>
        </p:nvSpPr>
        <p:spPr>
          <a:xfrm>
            <a:off x="5058569" y="4415929"/>
            <a:ext cx="6239351"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Jedan šablon umesto složenog uslova </a:t>
            </a:r>
            <a:r>
              <a:rPr sz="1400" b="0" i="0">
                <a:solidFill>
                  <a:srgbClr val="A8521A"/>
                </a:solidFill>
                <a:latin typeface="Arial"/>
              </a:rPr>
              <a:t>re.search(r"GGACC", dna) or re.search(r"GGTCC", dna)</a:t>
            </a:r>
            <a:r>
              <a:rPr sz="1400" b="0" i="0">
                <a:solidFill>
                  <a:srgbClr val="13262B"/>
                </a:solidFill>
                <a:latin typeface="Arial"/>
              </a:rPr>
              <a:t>.</a:t>
            </a:r>
            <a:endParaRPr sz="14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Kvantifikatori i pozicije</a:t>
            </a:r>
            <a:endParaRPr sz="3200"/>
          </a:p>
        </p:txBody>
      </p:sp>
      <p:sp>
        <p:nvSpPr>
          <p:cNvPr id="4" name="Rectangle 3"/>
          <p:cNvSpPr/>
          <p:nvPr/>
        </p:nvSpPr>
        <p:spPr>
          <a:xfrm>
            <a:off x="812800" y="1927721"/>
            <a:ext cx="9525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6.80"/>
          <p:cNvSpPr txBox="1"/>
          <p:nvPr/>
        </p:nvSpPr>
        <p:spPr>
          <a:xfrm>
            <a:off x="812800" y="1650901"/>
            <a:ext cx="9779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SIMBOL</a:t>
            </a:r>
            <a:endParaRPr sz="1200"/>
          </a:p>
        </p:txBody>
      </p:sp>
      <p:sp>
        <p:nvSpPr>
          <p:cNvPr id="6" name="Rectangle 5"/>
          <p:cNvSpPr/>
          <p:nvPr/>
        </p:nvSpPr>
        <p:spPr>
          <a:xfrm>
            <a:off x="1968500" y="1927721"/>
            <a:ext cx="20955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1968500" y="1650901"/>
            <a:ext cx="213741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ZNAČENJE</a:t>
            </a:r>
            <a:endParaRPr sz="1200"/>
          </a:p>
        </p:txBody>
      </p:sp>
      <p:sp>
        <p:nvSpPr>
          <p:cNvPr id="8" name="Rectangle 7"/>
          <p:cNvSpPr/>
          <p:nvPr/>
        </p:nvSpPr>
        <p:spPr>
          <a:xfrm>
            <a:off x="4267200" y="1927721"/>
            <a:ext cx="18415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6.80"/>
          <p:cNvSpPr txBox="1"/>
          <p:nvPr/>
        </p:nvSpPr>
        <p:spPr>
          <a:xfrm>
            <a:off x="4267200" y="1650901"/>
            <a:ext cx="187833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ŠABLON</a:t>
            </a:r>
            <a:endParaRPr sz="1200"/>
          </a:p>
        </p:txBody>
      </p:sp>
      <p:sp>
        <p:nvSpPr>
          <p:cNvPr id="10" name="Rectangle 9"/>
          <p:cNvSpPr/>
          <p:nvPr/>
        </p:nvSpPr>
        <p:spPr>
          <a:xfrm>
            <a:off x="6311900" y="1927721"/>
            <a:ext cx="50673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16.80"/>
          <p:cNvSpPr txBox="1"/>
          <p:nvPr/>
        </p:nvSpPr>
        <p:spPr>
          <a:xfrm>
            <a:off x="6311900" y="1650901"/>
            <a:ext cx="5168646"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POKLAPA</a:t>
            </a:r>
            <a:endParaRPr sz="1200"/>
          </a:p>
        </p:txBody>
      </p:sp>
      <p:sp>
        <p:nvSpPr>
          <p:cNvPr id="12" name="Rectangle 11"/>
          <p:cNvSpPr/>
          <p:nvPr/>
        </p:nvSpPr>
        <p:spPr>
          <a:xfrm>
            <a:off x="812800" y="2334121"/>
            <a:ext cx="952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1.00"/>
          <p:cNvSpPr txBox="1"/>
          <p:nvPr/>
        </p:nvSpPr>
        <p:spPr>
          <a:xfrm>
            <a:off x="812800" y="2003921"/>
            <a:ext cx="977900" cy="266700"/>
          </a:xfrm>
          <a:prstGeom prst="rect">
            <a:avLst/>
          </a:prstGeom>
          <a:noFill/>
        </p:spPr>
        <p:txBody>
          <a:bodyPr wrap="square" anchor="t" lIns="0" rIns="0" tIns="0" bIns="0">
            <a:noAutofit/>
          </a:bodyPr>
          <a:lstStyle/>
          <a:p>
            <a:pPr algn="l">
              <a:lnSpc>
                <a:spcPts val="2100"/>
              </a:lnSpc>
              <a:spcBef>
                <a:spcPts val="0"/>
              </a:spcBef>
              <a:spcAft>
                <a:spcPts val="0"/>
              </a:spcAft>
            </a:pPr>
            <a:r>
              <a:rPr sz="1500" b="1" i="0">
                <a:solidFill>
                  <a:srgbClr val="A8521A"/>
                </a:solidFill>
                <a:latin typeface="Consolas"/>
              </a:rPr>
              <a:t>?</a:t>
            </a:r>
            <a:endParaRPr sz="1500"/>
          </a:p>
        </p:txBody>
      </p:sp>
      <p:sp>
        <p:nvSpPr>
          <p:cNvPr id="14" name="Rectangle 13"/>
          <p:cNvSpPr/>
          <p:nvPr/>
        </p:nvSpPr>
        <p:spPr>
          <a:xfrm>
            <a:off x="1968500" y="2334121"/>
            <a:ext cx="2095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1.00"/>
          <p:cNvSpPr txBox="1"/>
          <p:nvPr/>
        </p:nvSpPr>
        <p:spPr>
          <a:xfrm>
            <a:off x="1968500" y="2003921"/>
            <a:ext cx="213741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0 ili 1 put</a:t>
            </a:r>
            <a:endParaRPr sz="1400"/>
          </a:p>
        </p:txBody>
      </p:sp>
      <p:sp>
        <p:nvSpPr>
          <p:cNvPr id="16" name="Rectangle 15"/>
          <p:cNvSpPr/>
          <p:nvPr/>
        </p:nvSpPr>
        <p:spPr>
          <a:xfrm>
            <a:off x="4267200" y="2334121"/>
            <a:ext cx="1841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20.80"/>
          <p:cNvSpPr txBox="1"/>
          <p:nvPr/>
        </p:nvSpPr>
        <p:spPr>
          <a:xfrm>
            <a:off x="4267200" y="2003921"/>
            <a:ext cx="1878330"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13262B"/>
                </a:solidFill>
                <a:latin typeface="Consolas"/>
              </a:rPr>
              <a:t>GAT?C</a:t>
            </a:r>
            <a:endParaRPr sz="1300"/>
          </a:p>
        </p:txBody>
      </p:sp>
      <p:sp>
        <p:nvSpPr>
          <p:cNvPr id="18" name="Rectangle 17"/>
          <p:cNvSpPr/>
          <p:nvPr/>
        </p:nvSpPr>
        <p:spPr>
          <a:xfrm>
            <a:off x="6311900" y="2334121"/>
            <a:ext cx="5067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1x20.80"/>
          <p:cNvSpPr txBox="1"/>
          <p:nvPr/>
        </p:nvSpPr>
        <p:spPr>
          <a:xfrm>
            <a:off x="6311900" y="2003921"/>
            <a:ext cx="5168646"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3D4F52"/>
                </a:solidFill>
                <a:latin typeface="Consolas"/>
              </a:rPr>
              <a:t>GATC, GAC</a:t>
            </a:r>
            <a:endParaRPr sz="1300"/>
          </a:p>
        </p:txBody>
      </p:sp>
      <p:sp>
        <p:nvSpPr>
          <p:cNvPr id="20" name="Rectangle 19"/>
          <p:cNvSpPr/>
          <p:nvPr/>
        </p:nvSpPr>
        <p:spPr>
          <a:xfrm>
            <a:off x="812800" y="2734171"/>
            <a:ext cx="952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1x21.00"/>
          <p:cNvSpPr txBox="1"/>
          <p:nvPr/>
        </p:nvSpPr>
        <p:spPr>
          <a:xfrm>
            <a:off x="812800" y="2403971"/>
            <a:ext cx="977900" cy="266700"/>
          </a:xfrm>
          <a:prstGeom prst="rect">
            <a:avLst/>
          </a:prstGeom>
          <a:noFill/>
        </p:spPr>
        <p:txBody>
          <a:bodyPr wrap="square" anchor="t" lIns="0" rIns="0" tIns="0" bIns="0">
            <a:noAutofit/>
          </a:bodyPr>
          <a:lstStyle/>
          <a:p>
            <a:pPr algn="l">
              <a:lnSpc>
                <a:spcPts val="2100"/>
              </a:lnSpc>
              <a:spcBef>
                <a:spcPts val="0"/>
              </a:spcBef>
              <a:spcAft>
                <a:spcPts val="0"/>
              </a:spcAft>
            </a:pPr>
            <a:r>
              <a:rPr sz="1500" b="1" i="0">
                <a:solidFill>
                  <a:srgbClr val="A8521A"/>
                </a:solidFill>
                <a:latin typeface="Consolas"/>
              </a:rPr>
              <a:t>+</a:t>
            </a:r>
            <a:endParaRPr sz="1500"/>
          </a:p>
        </p:txBody>
      </p:sp>
      <p:sp>
        <p:nvSpPr>
          <p:cNvPr id="22" name="Rectangle 21"/>
          <p:cNvSpPr/>
          <p:nvPr/>
        </p:nvSpPr>
        <p:spPr>
          <a:xfrm>
            <a:off x="1968500" y="2734171"/>
            <a:ext cx="2095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t 1x21.00"/>
          <p:cNvSpPr txBox="1"/>
          <p:nvPr/>
        </p:nvSpPr>
        <p:spPr>
          <a:xfrm>
            <a:off x="1968500" y="2403971"/>
            <a:ext cx="213741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1 ili više puta</a:t>
            </a:r>
            <a:endParaRPr sz="1400"/>
          </a:p>
        </p:txBody>
      </p:sp>
      <p:sp>
        <p:nvSpPr>
          <p:cNvPr id="24" name="Rectangle 23"/>
          <p:cNvSpPr/>
          <p:nvPr/>
        </p:nvSpPr>
        <p:spPr>
          <a:xfrm>
            <a:off x="4267200" y="2734171"/>
            <a:ext cx="1841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1x20.80"/>
          <p:cNvSpPr txBox="1"/>
          <p:nvPr/>
        </p:nvSpPr>
        <p:spPr>
          <a:xfrm>
            <a:off x="4267200" y="2403971"/>
            <a:ext cx="1878330"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13262B"/>
                </a:solidFill>
                <a:latin typeface="Consolas"/>
              </a:rPr>
              <a:t>GGGA+TTT</a:t>
            </a:r>
            <a:endParaRPr sz="1300"/>
          </a:p>
        </p:txBody>
      </p:sp>
      <p:sp>
        <p:nvSpPr>
          <p:cNvPr id="26" name="Rectangle 25"/>
          <p:cNvSpPr/>
          <p:nvPr/>
        </p:nvSpPr>
        <p:spPr>
          <a:xfrm>
            <a:off x="6311900" y="2734171"/>
            <a:ext cx="5067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kst 1x20.80"/>
          <p:cNvSpPr txBox="1"/>
          <p:nvPr/>
        </p:nvSpPr>
        <p:spPr>
          <a:xfrm>
            <a:off x="6311900" y="2403971"/>
            <a:ext cx="5168646"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3D4F52"/>
                </a:solidFill>
                <a:latin typeface="Consolas"/>
              </a:rPr>
              <a:t>GGGATTT, GGGAAATTT; ne GGGTTT</a:t>
            </a:r>
            <a:endParaRPr sz="1300"/>
          </a:p>
        </p:txBody>
      </p:sp>
      <p:sp>
        <p:nvSpPr>
          <p:cNvPr id="28" name="Rectangle 27"/>
          <p:cNvSpPr/>
          <p:nvPr/>
        </p:nvSpPr>
        <p:spPr>
          <a:xfrm>
            <a:off x="812800" y="3134221"/>
            <a:ext cx="952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t 1x21.00"/>
          <p:cNvSpPr txBox="1"/>
          <p:nvPr/>
        </p:nvSpPr>
        <p:spPr>
          <a:xfrm>
            <a:off x="812800" y="2804021"/>
            <a:ext cx="977900" cy="266700"/>
          </a:xfrm>
          <a:prstGeom prst="rect">
            <a:avLst/>
          </a:prstGeom>
          <a:noFill/>
        </p:spPr>
        <p:txBody>
          <a:bodyPr wrap="square" anchor="t" lIns="0" rIns="0" tIns="0" bIns="0">
            <a:noAutofit/>
          </a:bodyPr>
          <a:lstStyle/>
          <a:p>
            <a:pPr algn="l">
              <a:lnSpc>
                <a:spcPts val="2100"/>
              </a:lnSpc>
              <a:spcBef>
                <a:spcPts val="0"/>
              </a:spcBef>
              <a:spcAft>
                <a:spcPts val="0"/>
              </a:spcAft>
            </a:pPr>
            <a:r>
              <a:rPr sz="1500" b="1" i="0">
                <a:solidFill>
                  <a:srgbClr val="A8521A"/>
                </a:solidFill>
                <a:latin typeface="Consolas"/>
              </a:rPr>
              <a:t>*</a:t>
            </a:r>
            <a:endParaRPr sz="1500"/>
          </a:p>
        </p:txBody>
      </p:sp>
      <p:sp>
        <p:nvSpPr>
          <p:cNvPr id="30" name="Rectangle 29"/>
          <p:cNvSpPr/>
          <p:nvPr/>
        </p:nvSpPr>
        <p:spPr>
          <a:xfrm>
            <a:off x="1968500" y="3134221"/>
            <a:ext cx="2095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kst 1x21.00"/>
          <p:cNvSpPr txBox="1"/>
          <p:nvPr/>
        </p:nvSpPr>
        <p:spPr>
          <a:xfrm>
            <a:off x="1968500" y="2804021"/>
            <a:ext cx="213741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0 ili više puta</a:t>
            </a:r>
            <a:endParaRPr sz="1400"/>
          </a:p>
        </p:txBody>
      </p:sp>
      <p:sp>
        <p:nvSpPr>
          <p:cNvPr id="32" name="Rectangle 31"/>
          <p:cNvSpPr/>
          <p:nvPr/>
        </p:nvSpPr>
        <p:spPr>
          <a:xfrm>
            <a:off x="4267200" y="3134221"/>
            <a:ext cx="1841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kst 1x20.80"/>
          <p:cNvSpPr txBox="1"/>
          <p:nvPr/>
        </p:nvSpPr>
        <p:spPr>
          <a:xfrm>
            <a:off x="4267200" y="2804021"/>
            <a:ext cx="1878330"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13262B"/>
                </a:solidFill>
                <a:latin typeface="Consolas"/>
              </a:rPr>
              <a:t>GGGA*TTT</a:t>
            </a:r>
            <a:endParaRPr sz="1300"/>
          </a:p>
        </p:txBody>
      </p:sp>
      <p:sp>
        <p:nvSpPr>
          <p:cNvPr id="34" name="Rectangle 33"/>
          <p:cNvSpPr/>
          <p:nvPr/>
        </p:nvSpPr>
        <p:spPr>
          <a:xfrm>
            <a:off x="6311900" y="3134221"/>
            <a:ext cx="5067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kst 1x20.80"/>
          <p:cNvSpPr txBox="1"/>
          <p:nvPr/>
        </p:nvSpPr>
        <p:spPr>
          <a:xfrm>
            <a:off x="6311900" y="2804021"/>
            <a:ext cx="5168646"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3D4F52"/>
                </a:solidFill>
                <a:latin typeface="Consolas"/>
              </a:rPr>
              <a:t>GGGTTT, GGGATTT, GGGAATTT</a:t>
            </a:r>
            <a:endParaRPr sz="1300"/>
          </a:p>
        </p:txBody>
      </p:sp>
      <p:sp>
        <p:nvSpPr>
          <p:cNvPr id="36" name="Rectangle 35"/>
          <p:cNvSpPr/>
          <p:nvPr/>
        </p:nvSpPr>
        <p:spPr>
          <a:xfrm>
            <a:off x="812800" y="3534271"/>
            <a:ext cx="952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kst 1x21.00"/>
          <p:cNvSpPr txBox="1"/>
          <p:nvPr/>
        </p:nvSpPr>
        <p:spPr>
          <a:xfrm>
            <a:off x="812800" y="3204071"/>
            <a:ext cx="977900" cy="266700"/>
          </a:xfrm>
          <a:prstGeom prst="rect">
            <a:avLst/>
          </a:prstGeom>
          <a:noFill/>
        </p:spPr>
        <p:txBody>
          <a:bodyPr wrap="square" anchor="t" lIns="0" rIns="0" tIns="0" bIns="0">
            <a:noAutofit/>
          </a:bodyPr>
          <a:lstStyle/>
          <a:p>
            <a:pPr algn="l">
              <a:lnSpc>
                <a:spcPts val="2100"/>
              </a:lnSpc>
              <a:spcBef>
                <a:spcPts val="0"/>
              </a:spcBef>
              <a:spcAft>
                <a:spcPts val="0"/>
              </a:spcAft>
            </a:pPr>
            <a:r>
              <a:rPr sz="1500" b="1" i="0">
                <a:solidFill>
                  <a:srgbClr val="A8521A"/>
                </a:solidFill>
                <a:latin typeface="Consolas"/>
              </a:rPr>
              <a:t>{n}</a:t>
            </a:r>
            <a:endParaRPr sz="1500"/>
          </a:p>
        </p:txBody>
      </p:sp>
      <p:sp>
        <p:nvSpPr>
          <p:cNvPr id="38" name="Rectangle 37"/>
          <p:cNvSpPr/>
          <p:nvPr/>
        </p:nvSpPr>
        <p:spPr>
          <a:xfrm>
            <a:off x="1968500" y="3534271"/>
            <a:ext cx="2095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kst 1x21.00"/>
          <p:cNvSpPr txBox="1"/>
          <p:nvPr/>
        </p:nvSpPr>
        <p:spPr>
          <a:xfrm>
            <a:off x="1968500" y="3204071"/>
            <a:ext cx="213741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tačno n puta</a:t>
            </a:r>
            <a:endParaRPr sz="1400"/>
          </a:p>
        </p:txBody>
      </p:sp>
      <p:sp>
        <p:nvSpPr>
          <p:cNvPr id="40" name="Rectangle 39"/>
          <p:cNvSpPr/>
          <p:nvPr/>
        </p:nvSpPr>
        <p:spPr>
          <a:xfrm>
            <a:off x="4267200" y="3534271"/>
            <a:ext cx="1841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kst 1x20.80"/>
          <p:cNvSpPr txBox="1"/>
          <p:nvPr/>
        </p:nvSpPr>
        <p:spPr>
          <a:xfrm>
            <a:off x="4267200" y="3204071"/>
            <a:ext cx="1878330"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13262B"/>
                </a:solidFill>
                <a:latin typeface="Consolas"/>
              </a:rPr>
              <a:t>GA{5}T</a:t>
            </a:r>
            <a:endParaRPr sz="1300"/>
          </a:p>
        </p:txBody>
      </p:sp>
      <p:sp>
        <p:nvSpPr>
          <p:cNvPr id="42" name="Rectangle 41"/>
          <p:cNvSpPr/>
          <p:nvPr/>
        </p:nvSpPr>
        <p:spPr>
          <a:xfrm>
            <a:off x="6311900" y="3534271"/>
            <a:ext cx="5067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kst 1x20.80"/>
          <p:cNvSpPr txBox="1"/>
          <p:nvPr/>
        </p:nvSpPr>
        <p:spPr>
          <a:xfrm>
            <a:off x="6311900" y="3204071"/>
            <a:ext cx="5168646"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3D4F52"/>
                </a:solidFill>
                <a:latin typeface="Consolas"/>
              </a:rPr>
              <a:t>GAAAAAT</a:t>
            </a:r>
            <a:endParaRPr sz="1300"/>
          </a:p>
        </p:txBody>
      </p:sp>
      <p:sp>
        <p:nvSpPr>
          <p:cNvPr id="44" name="Rectangle 43"/>
          <p:cNvSpPr/>
          <p:nvPr/>
        </p:nvSpPr>
        <p:spPr>
          <a:xfrm>
            <a:off x="812800" y="3934321"/>
            <a:ext cx="952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kst 1x21.00"/>
          <p:cNvSpPr txBox="1"/>
          <p:nvPr/>
        </p:nvSpPr>
        <p:spPr>
          <a:xfrm>
            <a:off x="812800" y="3604121"/>
            <a:ext cx="977900" cy="266700"/>
          </a:xfrm>
          <a:prstGeom prst="rect">
            <a:avLst/>
          </a:prstGeom>
          <a:noFill/>
        </p:spPr>
        <p:txBody>
          <a:bodyPr wrap="square" anchor="t" lIns="0" rIns="0" tIns="0" bIns="0">
            <a:noAutofit/>
          </a:bodyPr>
          <a:lstStyle/>
          <a:p>
            <a:pPr algn="l">
              <a:lnSpc>
                <a:spcPts val="2100"/>
              </a:lnSpc>
              <a:spcBef>
                <a:spcPts val="0"/>
              </a:spcBef>
              <a:spcAft>
                <a:spcPts val="0"/>
              </a:spcAft>
            </a:pPr>
            <a:r>
              <a:rPr sz="1500" b="1" i="0">
                <a:solidFill>
                  <a:srgbClr val="A8521A"/>
                </a:solidFill>
                <a:latin typeface="Consolas"/>
              </a:rPr>
              <a:t>{n,m}</a:t>
            </a:r>
            <a:endParaRPr sz="1500"/>
          </a:p>
        </p:txBody>
      </p:sp>
      <p:sp>
        <p:nvSpPr>
          <p:cNvPr id="46" name="Rectangle 45"/>
          <p:cNvSpPr/>
          <p:nvPr/>
        </p:nvSpPr>
        <p:spPr>
          <a:xfrm>
            <a:off x="1968500" y="3934321"/>
            <a:ext cx="2095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kst 1x21.00"/>
          <p:cNvSpPr txBox="1"/>
          <p:nvPr/>
        </p:nvSpPr>
        <p:spPr>
          <a:xfrm>
            <a:off x="1968500" y="3604121"/>
            <a:ext cx="213741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od n do m puta</a:t>
            </a:r>
            <a:endParaRPr sz="1400"/>
          </a:p>
        </p:txBody>
      </p:sp>
      <p:sp>
        <p:nvSpPr>
          <p:cNvPr id="48" name="Rectangle 47"/>
          <p:cNvSpPr/>
          <p:nvPr/>
        </p:nvSpPr>
        <p:spPr>
          <a:xfrm>
            <a:off x="4267200" y="3934321"/>
            <a:ext cx="1841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kst 1x20.80"/>
          <p:cNvSpPr txBox="1"/>
          <p:nvPr/>
        </p:nvSpPr>
        <p:spPr>
          <a:xfrm>
            <a:off x="4267200" y="3604121"/>
            <a:ext cx="1878330"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13262B"/>
                </a:solidFill>
                <a:latin typeface="Consolas"/>
              </a:rPr>
              <a:t>GA{2,4}T</a:t>
            </a:r>
            <a:endParaRPr sz="1300"/>
          </a:p>
        </p:txBody>
      </p:sp>
      <p:sp>
        <p:nvSpPr>
          <p:cNvPr id="50" name="Rectangle 49"/>
          <p:cNvSpPr/>
          <p:nvPr/>
        </p:nvSpPr>
        <p:spPr>
          <a:xfrm>
            <a:off x="6311900" y="3934321"/>
            <a:ext cx="5067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kst 1x20.80"/>
          <p:cNvSpPr txBox="1"/>
          <p:nvPr/>
        </p:nvSpPr>
        <p:spPr>
          <a:xfrm>
            <a:off x="6311900" y="3604121"/>
            <a:ext cx="5168646"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3D4F52"/>
                </a:solidFill>
                <a:latin typeface="Consolas"/>
              </a:rPr>
              <a:t>GAAT, GAAAT, GAAAAT</a:t>
            </a:r>
            <a:endParaRPr sz="1300"/>
          </a:p>
        </p:txBody>
      </p:sp>
      <p:sp>
        <p:nvSpPr>
          <p:cNvPr id="52" name="Rectangle 51"/>
          <p:cNvSpPr/>
          <p:nvPr/>
        </p:nvSpPr>
        <p:spPr>
          <a:xfrm>
            <a:off x="812800" y="4334371"/>
            <a:ext cx="952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kst 1x21.00"/>
          <p:cNvSpPr txBox="1"/>
          <p:nvPr/>
        </p:nvSpPr>
        <p:spPr>
          <a:xfrm>
            <a:off x="812800" y="4004171"/>
            <a:ext cx="977900" cy="266700"/>
          </a:xfrm>
          <a:prstGeom prst="rect">
            <a:avLst/>
          </a:prstGeom>
          <a:noFill/>
        </p:spPr>
        <p:txBody>
          <a:bodyPr wrap="square" anchor="t" lIns="0" rIns="0" tIns="0" bIns="0">
            <a:noAutofit/>
          </a:bodyPr>
          <a:lstStyle/>
          <a:p>
            <a:pPr algn="l">
              <a:lnSpc>
                <a:spcPts val="2100"/>
              </a:lnSpc>
              <a:spcBef>
                <a:spcPts val="0"/>
              </a:spcBef>
              <a:spcAft>
                <a:spcPts val="0"/>
              </a:spcAft>
            </a:pPr>
            <a:r>
              <a:rPr sz="1500" b="1" i="0">
                <a:solidFill>
                  <a:srgbClr val="A8521A"/>
                </a:solidFill>
                <a:latin typeface="Consolas"/>
              </a:rPr>
              <a:t>^</a:t>
            </a:r>
            <a:endParaRPr sz="1500"/>
          </a:p>
        </p:txBody>
      </p:sp>
      <p:sp>
        <p:nvSpPr>
          <p:cNvPr id="54" name="Rectangle 53"/>
          <p:cNvSpPr/>
          <p:nvPr/>
        </p:nvSpPr>
        <p:spPr>
          <a:xfrm>
            <a:off x="1968500" y="4334371"/>
            <a:ext cx="2095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kst 1x21.00"/>
          <p:cNvSpPr txBox="1"/>
          <p:nvPr/>
        </p:nvSpPr>
        <p:spPr>
          <a:xfrm>
            <a:off x="1968500" y="4004171"/>
            <a:ext cx="213741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početak stringa</a:t>
            </a:r>
            <a:endParaRPr sz="1400"/>
          </a:p>
        </p:txBody>
      </p:sp>
      <p:sp>
        <p:nvSpPr>
          <p:cNvPr id="56" name="Rectangle 55"/>
          <p:cNvSpPr/>
          <p:nvPr/>
        </p:nvSpPr>
        <p:spPr>
          <a:xfrm>
            <a:off x="4267200" y="4334371"/>
            <a:ext cx="1841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kst 1x20.80"/>
          <p:cNvSpPr txBox="1"/>
          <p:nvPr/>
        </p:nvSpPr>
        <p:spPr>
          <a:xfrm>
            <a:off x="4267200" y="4004171"/>
            <a:ext cx="1878330"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13262B"/>
                </a:solidFill>
                <a:latin typeface="Consolas"/>
              </a:rPr>
              <a:t>^AAA</a:t>
            </a:r>
            <a:endParaRPr sz="1300"/>
          </a:p>
        </p:txBody>
      </p:sp>
      <p:sp>
        <p:nvSpPr>
          <p:cNvPr id="58" name="Rectangle 57"/>
          <p:cNvSpPr/>
          <p:nvPr/>
        </p:nvSpPr>
        <p:spPr>
          <a:xfrm>
            <a:off x="6311900" y="4334371"/>
            <a:ext cx="5067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kst 1x20.80"/>
          <p:cNvSpPr txBox="1"/>
          <p:nvPr/>
        </p:nvSpPr>
        <p:spPr>
          <a:xfrm>
            <a:off x="6311900" y="4004171"/>
            <a:ext cx="5168646"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3D4F52"/>
                </a:solidFill>
                <a:latin typeface="Consolas"/>
              </a:rPr>
              <a:t>AAATTT; ne GGGAAATTT</a:t>
            </a:r>
            <a:endParaRPr sz="1300"/>
          </a:p>
        </p:txBody>
      </p:sp>
      <p:sp>
        <p:nvSpPr>
          <p:cNvPr id="60" name="Rectangle 59"/>
          <p:cNvSpPr/>
          <p:nvPr/>
        </p:nvSpPr>
        <p:spPr>
          <a:xfrm>
            <a:off x="812800" y="4734421"/>
            <a:ext cx="952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kst 1x21.00"/>
          <p:cNvSpPr txBox="1"/>
          <p:nvPr/>
        </p:nvSpPr>
        <p:spPr>
          <a:xfrm>
            <a:off x="812800" y="4404221"/>
            <a:ext cx="977900" cy="266700"/>
          </a:xfrm>
          <a:prstGeom prst="rect">
            <a:avLst/>
          </a:prstGeom>
          <a:noFill/>
        </p:spPr>
        <p:txBody>
          <a:bodyPr wrap="square" anchor="t" lIns="0" rIns="0" tIns="0" bIns="0">
            <a:noAutofit/>
          </a:bodyPr>
          <a:lstStyle/>
          <a:p>
            <a:pPr algn="l">
              <a:lnSpc>
                <a:spcPts val="2100"/>
              </a:lnSpc>
              <a:spcBef>
                <a:spcPts val="0"/>
              </a:spcBef>
              <a:spcAft>
                <a:spcPts val="0"/>
              </a:spcAft>
            </a:pPr>
            <a:r>
              <a:rPr sz="1500" b="1" i="0">
                <a:solidFill>
                  <a:srgbClr val="A8521A"/>
                </a:solidFill>
                <a:latin typeface="Consolas"/>
              </a:rPr>
              <a:t>$</a:t>
            </a:r>
            <a:endParaRPr sz="1500"/>
          </a:p>
        </p:txBody>
      </p:sp>
      <p:sp>
        <p:nvSpPr>
          <p:cNvPr id="62" name="Rectangle 61"/>
          <p:cNvSpPr/>
          <p:nvPr/>
        </p:nvSpPr>
        <p:spPr>
          <a:xfrm>
            <a:off x="1968500" y="4734421"/>
            <a:ext cx="2095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kst 1x21.00"/>
          <p:cNvSpPr txBox="1"/>
          <p:nvPr/>
        </p:nvSpPr>
        <p:spPr>
          <a:xfrm>
            <a:off x="1968500" y="4404221"/>
            <a:ext cx="213741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kraj stringa</a:t>
            </a:r>
            <a:endParaRPr sz="1400"/>
          </a:p>
        </p:txBody>
      </p:sp>
      <p:sp>
        <p:nvSpPr>
          <p:cNvPr id="64" name="Rectangle 63"/>
          <p:cNvSpPr/>
          <p:nvPr/>
        </p:nvSpPr>
        <p:spPr>
          <a:xfrm>
            <a:off x="4267200" y="4734421"/>
            <a:ext cx="18415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kst 1x20.80"/>
          <p:cNvSpPr txBox="1"/>
          <p:nvPr/>
        </p:nvSpPr>
        <p:spPr>
          <a:xfrm>
            <a:off x="4267200" y="4404221"/>
            <a:ext cx="1878330"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13262B"/>
                </a:solidFill>
                <a:latin typeface="Consolas"/>
              </a:rPr>
              <a:t>GGG$</a:t>
            </a:r>
            <a:endParaRPr sz="1300"/>
          </a:p>
        </p:txBody>
      </p:sp>
      <p:sp>
        <p:nvSpPr>
          <p:cNvPr id="66" name="Rectangle 65"/>
          <p:cNvSpPr/>
          <p:nvPr/>
        </p:nvSpPr>
        <p:spPr>
          <a:xfrm>
            <a:off x="6311900" y="4734421"/>
            <a:ext cx="5067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kst 1x20.80"/>
          <p:cNvSpPr txBox="1"/>
          <p:nvPr/>
        </p:nvSpPr>
        <p:spPr>
          <a:xfrm>
            <a:off x="6311900" y="4404221"/>
            <a:ext cx="5168646" cy="266700"/>
          </a:xfrm>
          <a:prstGeom prst="rect">
            <a:avLst/>
          </a:prstGeom>
          <a:noFill/>
        </p:spPr>
        <p:txBody>
          <a:bodyPr wrap="square" anchor="t" lIns="0" rIns="0" tIns="0" bIns="0">
            <a:noAutofit/>
          </a:bodyPr>
          <a:lstStyle/>
          <a:p>
            <a:pPr algn="l">
              <a:lnSpc>
                <a:spcPts val="2080"/>
              </a:lnSpc>
              <a:spcBef>
                <a:spcPts val="0"/>
              </a:spcBef>
              <a:spcAft>
                <a:spcPts val="0"/>
              </a:spcAft>
            </a:pPr>
            <a:r>
              <a:rPr sz="1300" b="0" i="0">
                <a:solidFill>
                  <a:srgbClr val="3D4F52"/>
                </a:solidFill>
                <a:latin typeface="Consolas"/>
              </a:rPr>
              <a:t>AAAGGG; ne AAAGGGCCC</a:t>
            </a:r>
            <a:endParaRPr sz="1300"/>
          </a:p>
        </p:txBody>
      </p:sp>
      <p:sp>
        <p:nvSpPr>
          <p:cNvPr id="68" name="Rounded Rectangle 67"/>
          <p:cNvSpPr/>
          <p:nvPr/>
        </p:nvSpPr>
        <p:spPr>
          <a:xfrm>
            <a:off x="812800" y="4943971"/>
            <a:ext cx="10566400" cy="511770"/>
          </a:xfrm>
          <a:prstGeom prst="roundRect">
            <a:avLst>
              <a:gd name="adj" fmla="val 14889"/>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12800" y="4943971"/>
            <a:ext cx="38100" cy="5117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kst 1x20.30"/>
          <p:cNvSpPr txBox="1"/>
          <p:nvPr/>
        </p:nvSpPr>
        <p:spPr>
          <a:xfrm>
            <a:off x="1054100" y="5070971"/>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Kvantifikator važi za prethodni karakter ili grupu u zagradama: </a:t>
            </a:r>
            <a:r>
              <a:rPr sz="1400" b="0" i="0">
                <a:solidFill>
                  <a:srgbClr val="A8521A"/>
                </a:solidFill>
                <a:latin typeface="Arial"/>
              </a:rPr>
              <a:t>GGG(AAA)?TTT</a:t>
            </a:r>
            <a:r>
              <a:rPr sz="1400" b="0" i="0">
                <a:solidFill>
                  <a:srgbClr val="13262B"/>
                </a:solidFill>
                <a:latin typeface="Arial"/>
              </a:rPr>
              <a:t> poklapa GGGAAATTT i GGGTTT.</a:t>
            </a:r>
            <a:endParaRPr sz="14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Kombinovanje: kompletna eukariotska iRNK</a:t>
            </a:r>
            <a:endParaRPr sz="3200"/>
          </a:p>
        </p:txBody>
      </p:sp>
      <p:sp>
        <p:nvSpPr>
          <p:cNvPr id="4" name="Rounded Rectangle 3"/>
          <p:cNvSpPr/>
          <p:nvPr/>
        </p:nvSpPr>
        <p:spPr>
          <a:xfrm>
            <a:off x="812800" y="1752501"/>
            <a:ext cx="1270000" cy="680641"/>
          </a:xfrm>
          <a:prstGeom prst="roundRect">
            <a:avLst>
              <a:gd name="adj" fmla="val 11195"/>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33.60"/>
          <p:cNvSpPr txBox="1"/>
          <p:nvPr/>
        </p:nvSpPr>
        <p:spPr>
          <a:xfrm>
            <a:off x="850900" y="1879501"/>
            <a:ext cx="1193800" cy="426641"/>
          </a:xfrm>
          <a:prstGeom prst="rect">
            <a:avLst/>
          </a:prstGeom>
          <a:noFill/>
        </p:spPr>
        <p:txBody>
          <a:bodyPr wrap="square" anchor="t" lIns="0" rIns="0" tIns="0" bIns="0">
            <a:noAutofit/>
          </a:bodyPr>
          <a:lstStyle/>
          <a:p>
            <a:pPr algn="ctr">
              <a:lnSpc>
                <a:spcPts val="3360"/>
              </a:lnSpc>
              <a:spcBef>
                <a:spcPts val="0"/>
              </a:spcBef>
              <a:spcAft>
                <a:spcPts val="0"/>
              </a:spcAft>
            </a:pPr>
            <a:r>
              <a:rPr sz="2800" b="0" i="0">
                <a:solidFill>
                  <a:srgbClr val="6FD3C1"/>
                </a:solidFill>
                <a:latin typeface="Consolas"/>
              </a:rPr>
              <a:t>^</a:t>
            </a:r>
            <a:endParaRPr sz="2800"/>
          </a:p>
        </p:txBody>
      </p:sp>
      <p:sp>
        <p:nvSpPr>
          <p:cNvPr id="6" name="Tekst 1x19.60"/>
          <p:cNvSpPr txBox="1"/>
          <p:nvPr/>
        </p:nvSpPr>
        <p:spPr>
          <a:xfrm>
            <a:off x="800100" y="2534741"/>
            <a:ext cx="129540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3D4F52"/>
                </a:solidFill>
                <a:latin typeface="Arial"/>
              </a:rPr>
              <a:t>početak stringa</a:t>
            </a:r>
            <a:endParaRPr sz="1400"/>
          </a:p>
        </p:txBody>
      </p:sp>
      <p:sp>
        <p:nvSpPr>
          <p:cNvPr id="7" name="Rounded Rectangle 6"/>
          <p:cNvSpPr/>
          <p:nvPr/>
        </p:nvSpPr>
        <p:spPr>
          <a:xfrm>
            <a:off x="2184400" y="1752501"/>
            <a:ext cx="1397000" cy="680641"/>
          </a:xfrm>
          <a:prstGeom prst="roundRect">
            <a:avLst>
              <a:gd name="adj" fmla="val 11195"/>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33.60"/>
          <p:cNvSpPr txBox="1"/>
          <p:nvPr/>
        </p:nvSpPr>
        <p:spPr>
          <a:xfrm>
            <a:off x="2222246" y="1879501"/>
            <a:ext cx="1321308" cy="426641"/>
          </a:xfrm>
          <a:prstGeom prst="rect">
            <a:avLst/>
          </a:prstGeom>
          <a:noFill/>
        </p:spPr>
        <p:txBody>
          <a:bodyPr wrap="square" anchor="t" lIns="0" rIns="0" tIns="0" bIns="0">
            <a:noAutofit/>
          </a:bodyPr>
          <a:lstStyle/>
          <a:p>
            <a:pPr algn="ctr">
              <a:lnSpc>
                <a:spcPts val="3360"/>
              </a:lnSpc>
              <a:spcBef>
                <a:spcPts val="0"/>
              </a:spcBef>
              <a:spcAft>
                <a:spcPts val="0"/>
              </a:spcAft>
            </a:pPr>
            <a:r>
              <a:rPr sz="2800" b="0" i="0">
                <a:solidFill>
                  <a:srgbClr val="F6F4EE"/>
                </a:solidFill>
                <a:latin typeface="Consolas"/>
              </a:rPr>
              <a:t>ATG</a:t>
            </a:r>
            <a:endParaRPr sz="2800"/>
          </a:p>
        </p:txBody>
      </p:sp>
      <p:sp>
        <p:nvSpPr>
          <p:cNvPr id="9" name="Tekst 1x19.60"/>
          <p:cNvSpPr txBox="1"/>
          <p:nvPr/>
        </p:nvSpPr>
        <p:spPr>
          <a:xfrm>
            <a:off x="2170430" y="2534741"/>
            <a:ext cx="142494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3D4F52"/>
                </a:solidFill>
                <a:latin typeface="Arial"/>
              </a:rPr>
              <a:t>start kodon</a:t>
            </a:r>
            <a:endParaRPr sz="1400"/>
          </a:p>
        </p:txBody>
      </p:sp>
      <p:sp>
        <p:nvSpPr>
          <p:cNvPr id="10" name="Rounded Rectangle 9"/>
          <p:cNvSpPr/>
          <p:nvPr/>
        </p:nvSpPr>
        <p:spPr>
          <a:xfrm>
            <a:off x="3683000" y="1752501"/>
            <a:ext cx="3810000" cy="680641"/>
          </a:xfrm>
          <a:prstGeom prst="roundRect">
            <a:avLst>
              <a:gd name="adj" fmla="val 11195"/>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33.60"/>
          <p:cNvSpPr txBox="1"/>
          <p:nvPr/>
        </p:nvSpPr>
        <p:spPr>
          <a:xfrm>
            <a:off x="3703320" y="1879501"/>
            <a:ext cx="3769360" cy="426641"/>
          </a:xfrm>
          <a:prstGeom prst="rect">
            <a:avLst/>
          </a:prstGeom>
          <a:noFill/>
        </p:spPr>
        <p:txBody>
          <a:bodyPr wrap="square" anchor="t" lIns="0" rIns="0" tIns="0" bIns="0">
            <a:noAutofit/>
          </a:bodyPr>
          <a:lstStyle/>
          <a:p>
            <a:pPr algn="ctr">
              <a:lnSpc>
                <a:spcPts val="3360"/>
              </a:lnSpc>
              <a:spcBef>
                <a:spcPts val="0"/>
              </a:spcBef>
              <a:spcAft>
                <a:spcPts val="0"/>
              </a:spcAft>
            </a:pPr>
            <a:r>
              <a:rPr sz="2800" b="0" i="0">
                <a:solidFill>
                  <a:srgbClr val="F0A35E"/>
                </a:solidFill>
                <a:latin typeface="Consolas"/>
              </a:rPr>
              <a:t>[ATGC]{30,1000}</a:t>
            </a:r>
            <a:endParaRPr sz="2800"/>
          </a:p>
        </p:txBody>
      </p:sp>
      <p:sp>
        <p:nvSpPr>
          <p:cNvPr id="12" name="Tekst 1x19.60"/>
          <p:cNvSpPr txBox="1"/>
          <p:nvPr/>
        </p:nvSpPr>
        <p:spPr>
          <a:xfrm>
            <a:off x="3644900" y="2534741"/>
            <a:ext cx="388620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3D4F52"/>
                </a:solidFill>
                <a:latin typeface="Arial"/>
              </a:rPr>
              <a:t>30 do 1000 baza A, T, G ili C</a:t>
            </a:r>
            <a:endParaRPr sz="1400"/>
          </a:p>
        </p:txBody>
      </p:sp>
      <p:sp>
        <p:nvSpPr>
          <p:cNvPr id="13" name="Rounded Rectangle 12"/>
          <p:cNvSpPr/>
          <p:nvPr/>
        </p:nvSpPr>
        <p:spPr>
          <a:xfrm>
            <a:off x="7594600" y="1752501"/>
            <a:ext cx="2413000" cy="680641"/>
          </a:xfrm>
          <a:prstGeom prst="roundRect">
            <a:avLst>
              <a:gd name="adj" fmla="val 11195"/>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33.60"/>
          <p:cNvSpPr txBox="1"/>
          <p:nvPr/>
        </p:nvSpPr>
        <p:spPr>
          <a:xfrm>
            <a:off x="7622286" y="1879501"/>
            <a:ext cx="2357628" cy="426641"/>
          </a:xfrm>
          <a:prstGeom prst="rect">
            <a:avLst/>
          </a:prstGeom>
          <a:noFill/>
        </p:spPr>
        <p:txBody>
          <a:bodyPr wrap="square" anchor="t" lIns="0" rIns="0" tIns="0" bIns="0">
            <a:noAutofit/>
          </a:bodyPr>
          <a:lstStyle/>
          <a:p>
            <a:pPr algn="ctr">
              <a:lnSpc>
                <a:spcPts val="3360"/>
              </a:lnSpc>
              <a:spcBef>
                <a:spcPts val="0"/>
              </a:spcBef>
              <a:spcAft>
                <a:spcPts val="0"/>
              </a:spcAft>
            </a:pPr>
            <a:r>
              <a:rPr sz="2800" b="0" i="0">
                <a:solidFill>
                  <a:srgbClr val="F6F4EE"/>
                </a:solidFill>
                <a:latin typeface="Consolas"/>
              </a:rPr>
              <a:t>A{5,10}</a:t>
            </a:r>
            <a:endParaRPr sz="2800"/>
          </a:p>
        </p:txBody>
      </p:sp>
      <p:sp>
        <p:nvSpPr>
          <p:cNvPr id="15" name="Tekst 1x19.60"/>
          <p:cNvSpPr txBox="1"/>
          <p:nvPr/>
        </p:nvSpPr>
        <p:spPr>
          <a:xfrm>
            <a:off x="7570470" y="2534741"/>
            <a:ext cx="246126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3D4F52"/>
                </a:solidFill>
                <a:latin typeface="Arial"/>
              </a:rPr>
              <a:t>poli-A rep: 5 do 10 A</a:t>
            </a:r>
            <a:endParaRPr sz="1400"/>
          </a:p>
        </p:txBody>
      </p:sp>
      <p:sp>
        <p:nvSpPr>
          <p:cNvPr id="16" name="Rounded Rectangle 15"/>
          <p:cNvSpPr/>
          <p:nvPr/>
        </p:nvSpPr>
        <p:spPr>
          <a:xfrm>
            <a:off x="10109200" y="1752501"/>
            <a:ext cx="1270000" cy="680641"/>
          </a:xfrm>
          <a:prstGeom prst="roundRect">
            <a:avLst>
              <a:gd name="adj" fmla="val 11195"/>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33.60"/>
          <p:cNvSpPr txBox="1"/>
          <p:nvPr/>
        </p:nvSpPr>
        <p:spPr>
          <a:xfrm>
            <a:off x="10147300" y="1879501"/>
            <a:ext cx="1193800" cy="426641"/>
          </a:xfrm>
          <a:prstGeom prst="rect">
            <a:avLst/>
          </a:prstGeom>
          <a:noFill/>
        </p:spPr>
        <p:txBody>
          <a:bodyPr wrap="square" anchor="t" lIns="0" rIns="0" tIns="0" bIns="0">
            <a:noAutofit/>
          </a:bodyPr>
          <a:lstStyle/>
          <a:p>
            <a:pPr algn="ctr">
              <a:lnSpc>
                <a:spcPts val="3360"/>
              </a:lnSpc>
              <a:spcBef>
                <a:spcPts val="0"/>
              </a:spcBef>
              <a:spcAft>
                <a:spcPts val="0"/>
              </a:spcAft>
            </a:pPr>
            <a:r>
              <a:rPr sz="2800" b="0" i="0">
                <a:solidFill>
                  <a:srgbClr val="6FD3C1"/>
                </a:solidFill>
                <a:latin typeface="Consolas"/>
              </a:rPr>
              <a:t>$</a:t>
            </a:r>
            <a:endParaRPr sz="2800"/>
          </a:p>
        </p:txBody>
      </p:sp>
      <p:sp>
        <p:nvSpPr>
          <p:cNvPr id="18" name="Tekst 1x19.60"/>
          <p:cNvSpPr txBox="1"/>
          <p:nvPr/>
        </p:nvSpPr>
        <p:spPr>
          <a:xfrm>
            <a:off x="10096500" y="2534741"/>
            <a:ext cx="129540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3D4F52"/>
                </a:solidFill>
                <a:latin typeface="Arial"/>
              </a:rPr>
              <a:t>kraj stringa</a:t>
            </a:r>
            <a:endParaRPr sz="1400"/>
          </a:p>
        </p:txBody>
      </p:sp>
      <p:sp>
        <p:nvSpPr>
          <p:cNvPr id="19" name="Rounded Rectangle 18"/>
          <p:cNvSpPr/>
          <p:nvPr/>
        </p:nvSpPr>
        <p:spPr>
          <a:xfrm>
            <a:off x="815975" y="3091557"/>
            <a:ext cx="5175250" cy="1558131"/>
          </a:xfrm>
          <a:prstGeom prst="roundRect">
            <a:avLst>
              <a:gd name="adj" fmla="val 6520"/>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21.60"/>
          <p:cNvSpPr txBox="1"/>
          <p:nvPr/>
        </p:nvSpPr>
        <p:spPr>
          <a:xfrm>
            <a:off x="1022350" y="3272532"/>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Više zapisa, isti šablon</a:t>
            </a:r>
            <a:endParaRPr sz="1800"/>
          </a:p>
        </p:txBody>
      </p:sp>
      <p:sp>
        <p:nvSpPr>
          <p:cNvPr id="21" name="Tekst 2x20.15"/>
          <p:cNvSpPr txBox="1"/>
          <p:nvPr/>
        </p:nvSpPr>
        <p:spPr>
          <a:xfrm>
            <a:off x="1022350" y="3622973"/>
            <a:ext cx="4857750" cy="511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GG(A|T)CC · GG[AT]CC · (GGACC|GGTCC) · (GGA|GGT)CC · G{2}[AT]C{2}</a:t>
            </a:r>
            <a:endParaRPr sz="1300"/>
          </a:p>
        </p:txBody>
      </p:sp>
      <p:sp>
        <p:nvSpPr>
          <p:cNvPr id="22" name="Tekst 1x20.30"/>
          <p:cNvSpPr txBox="1"/>
          <p:nvPr/>
        </p:nvSpPr>
        <p:spPr>
          <a:xfrm>
            <a:off x="1022350" y="4210943"/>
            <a:ext cx="48577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Birajte zapis koji je najlakše pročitati.</a:t>
            </a:r>
            <a:endParaRPr sz="1400"/>
          </a:p>
        </p:txBody>
      </p:sp>
      <p:sp>
        <p:nvSpPr>
          <p:cNvPr id="23" name="Rounded Rectangle 22"/>
          <p:cNvSpPr/>
          <p:nvPr/>
        </p:nvSpPr>
        <p:spPr>
          <a:xfrm>
            <a:off x="6200775" y="3091557"/>
            <a:ext cx="5175250" cy="1558131"/>
          </a:xfrm>
          <a:prstGeom prst="roundRect">
            <a:avLst>
              <a:gd name="adj" fmla="val 6520"/>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21.60"/>
          <p:cNvSpPr txBox="1"/>
          <p:nvPr/>
        </p:nvSpPr>
        <p:spPr>
          <a:xfrm>
            <a:off x="6407150" y="3272532"/>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re.search ili re.match?</a:t>
            </a:r>
            <a:endParaRPr sz="1800"/>
          </a:p>
        </p:txBody>
      </p:sp>
      <p:sp>
        <p:nvSpPr>
          <p:cNvPr id="25" name="Tekst 2x20.30"/>
          <p:cNvSpPr txBox="1"/>
          <p:nvPr/>
        </p:nvSpPr>
        <p:spPr>
          <a:xfrm>
            <a:off x="6407150" y="3622973"/>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re.search</a:t>
            </a:r>
            <a:r>
              <a:rPr sz="1400" b="0" i="0">
                <a:solidFill>
                  <a:srgbClr val="3D4F52"/>
                </a:solidFill>
                <a:latin typeface="Arial"/>
              </a:rPr>
              <a:t> traži poklapanje bilo gde u stringu, a </a:t>
            </a:r>
            <a:r>
              <a:rPr sz="1400" b="0" i="0">
                <a:solidFill>
                  <a:srgbClr val="A8521A"/>
                </a:solidFill>
                <a:latin typeface="Arial"/>
              </a:rPr>
              <a:t>re.match</a:t>
            </a:r>
            <a:r>
              <a:rPr sz="1400" b="0" i="0">
                <a:solidFill>
                  <a:srgbClr val="3D4F52"/>
                </a:solidFill>
                <a:latin typeface="Arial"/>
              </a:rPr>
              <a:t> samo od njegovog početka. Najčešće nam treba </a:t>
            </a:r>
            <a:r>
              <a:rPr sz="1400" b="0" i="0">
                <a:solidFill>
                  <a:srgbClr val="A8521A"/>
                </a:solidFill>
                <a:latin typeface="Arial"/>
              </a:rPr>
              <a:t>re.search</a:t>
            </a:r>
            <a:r>
              <a:rPr sz="1400" b="0" i="0">
                <a:solidFill>
                  <a:srgbClr val="3D4F52"/>
                </a:solidFill>
                <a:latin typeface="Arial"/>
              </a:rPr>
              <a:t>.</a:t>
            </a:r>
            <a:endParaRPr sz="14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Šta se poklopilo i gde: match objekat</a:t>
            </a:r>
            <a:endParaRPr sz="3200"/>
          </a:p>
        </p:txBody>
      </p:sp>
      <p:sp>
        <p:nvSpPr>
          <p:cNvPr id="4" name="Rounded Rectangle 3"/>
          <p:cNvSpPr/>
          <p:nvPr/>
        </p:nvSpPr>
        <p:spPr>
          <a:xfrm>
            <a:off x="819150" y="1657251"/>
            <a:ext cx="538262" cy="419100"/>
          </a:xfrm>
          <a:prstGeom prst="roundRect">
            <a:avLst>
              <a:gd name="adj" fmla="val 12121"/>
            </a:avLst>
          </a:prstGeom>
          <a:no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4.00"/>
          <p:cNvSpPr txBox="1"/>
          <p:nvPr/>
        </p:nvSpPr>
        <p:spPr>
          <a:xfrm>
            <a:off x="825500" y="1714401"/>
            <a:ext cx="525562"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5F6F70"/>
                </a:solidFill>
                <a:latin typeface="Consolas"/>
              </a:rPr>
              <a:t>A</a:t>
            </a:r>
            <a:endParaRPr sz="2000"/>
          </a:p>
        </p:txBody>
      </p:sp>
      <p:sp>
        <p:nvSpPr>
          <p:cNvPr id="6" name="Rounded Rectangle 5"/>
          <p:cNvSpPr/>
          <p:nvPr/>
        </p:nvSpPr>
        <p:spPr>
          <a:xfrm>
            <a:off x="1408212" y="1657251"/>
            <a:ext cx="538361" cy="419100"/>
          </a:xfrm>
          <a:prstGeom prst="roundRect">
            <a:avLst>
              <a:gd name="adj" fmla="val 12121"/>
            </a:avLst>
          </a:prstGeom>
          <a:no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4.00"/>
          <p:cNvSpPr txBox="1"/>
          <p:nvPr/>
        </p:nvSpPr>
        <p:spPr>
          <a:xfrm>
            <a:off x="1414562"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5F6F70"/>
                </a:solidFill>
                <a:latin typeface="Consolas"/>
              </a:rPr>
              <a:t>T</a:t>
            </a:r>
            <a:endParaRPr sz="2000"/>
          </a:p>
        </p:txBody>
      </p:sp>
      <p:sp>
        <p:nvSpPr>
          <p:cNvPr id="8" name="Rounded Rectangle 7"/>
          <p:cNvSpPr/>
          <p:nvPr/>
        </p:nvSpPr>
        <p:spPr>
          <a:xfrm>
            <a:off x="1997373" y="1657251"/>
            <a:ext cx="538361" cy="419100"/>
          </a:xfrm>
          <a:prstGeom prst="roundRect">
            <a:avLst>
              <a:gd name="adj" fmla="val 12121"/>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4.00"/>
          <p:cNvSpPr txBox="1"/>
          <p:nvPr/>
        </p:nvSpPr>
        <p:spPr>
          <a:xfrm>
            <a:off x="2003723"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G</a:t>
            </a:r>
            <a:endParaRPr sz="2000"/>
          </a:p>
        </p:txBody>
      </p:sp>
      <p:sp>
        <p:nvSpPr>
          <p:cNvPr id="10" name="Rounded Rectangle 9"/>
          <p:cNvSpPr/>
          <p:nvPr/>
        </p:nvSpPr>
        <p:spPr>
          <a:xfrm>
            <a:off x="2586534" y="1657251"/>
            <a:ext cx="538361" cy="419100"/>
          </a:xfrm>
          <a:prstGeom prst="roundRect">
            <a:avLst>
              <a:gd name="adj" fmla="val 12121"/>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4.00"/>
          <p:cNvSpPr txBox="1"/>
          <p:nvPr/>
        </p:nvSpPr>
        <p:spPr>
          <a:xfrm>
            <a:off x="2592884"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A</a:t>
            </a:r>
            <a:endParaRPr sz="2000"/>
          </a:p>
        </p:txBody>
      </p:sp>
      <p:sp>
        <p:nvSpPr>
          <p:cNvPr id="12" name="Rounded Rectangle 11"/>
          <p:cNvSpPr/>
          <p:nvPr/>
        </p:nvSpPr>
        <p:spPr>
          <a:xfrm>
            <a:off x="3175695" y="1657251"/>
            <a:ext cx="538262" cy="419100"/>
          </a:xfrm>
          <a:prstGeom prst="roundRect">
            <a:avLst>
              <a:gd name="adj" fmla="val 12121"/>
            </a:avLst>
          </a:prstGeom>
          <a:solidFill>
            <a:srgbClr val="F0A35E"/>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4.00"/>
          <p:cNvSpPr txBox="1"/>
          <p:nvPr/>
        </p:nvSpPr>
        <p:spPr>
          <a:xfrm>
            <a:off x="3182045" y="1714401"/>
            <a:ext cx="525562"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C</a:t>
            </a:r>
            <a:endParaRPr sz="2000"/>
          </a:p>
        </p:txBody>
      </p:sp>
      <p:sp>
        <p:nvSpPr>
          <p:cNvPr id="14" name="Rounded Rectangle 13"/>
          <p:cNvSpPr/>
          <p:nvPr/>
        </p:nvSpPr>
        <p:spPr>
          <a:xfrm>
            <a:off x="3764756" y="1657251"/>
            <a:ext cx="538361" cy="419100"/>
          </a:xfrm>
          <a:prstGeom prst="roundRect">
            <a:avLst>
              <a:gd name="adj" fmla="val 12121"/>
            </a:avLst>
          </a:prstGeom>
          <a:solidFill>
            <a:srgbClr val="F0A35E"/>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4.00"/>
          <p:cNvSpPr txBox="1"/>
          <p:nvPr/>
        </p:nvSpPr>
        <p:spPr>
          <a:xfrm>
            <a:off x="3771106"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G</a:t>
            </a:r>
            <a:endParaRPr sz="2000"/>
          </a:p>
        </p:txBody>
      </p:sp>
      <p:sp>
        <p:nvSpPr>
          <p:cNvPr id="16" name="Rounded Rectangle 15"/>
          <p:cNvSpPr/>
          <p:nvPr/>
        </p:nvSpPr>
        <p:spPr>
          <a:xfrm>
            <a:off x="4353917" y="1657251"/>
            <a:ext cx="538361" cy="419100"/>
          </a:xfrm>
          <a:prstGeom prst="roundRect">
            <a:avLst>
              <a:gd name="adj" fmla="val 12121"/>
            </a:avLst>
          </a:prstGeom>
          <a:solidFill>
            <a:srgbClr val="F0A35E"/>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24.00"/>
          <p:cNvSpPr txBox="1"/>
          <p:nvPr/>
        </p:nvSpPr>
        <p:spPr>
          <a:xfrm>
            <a:off x="4360267"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T</a:t>
            </a:r>
            <a:endParaRPr sz="2000"/>
          </a:p>
        </p:txBody>
      </p:sp>
      <p:sp>
        <p:nvSpPr>
          <p:cNvPr id="18" name="Rounded Rectangle 17"/>
          <p:cNvSpPr/>
          <p:nvPr/>
        </p:nvSpPr>
        <p:spPr>
          <a:xfrm>
            <a:off x="4943078" y="1657251"/>
            <a:ext cx="538361" cy="419100"/>
          </a:xfrm>
          <a:prstGeom prst="roundRect">
            <a:avLst>
              <a:gd name="adj" fmla="val 12121"/>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1x24.00"/>
          <p:cNvSpPr txBox="1"/>
          <p:nvPr/>
        </p:nvSpPr>
        <p:spPr>
          <a:xfrm>
            <a:off x="4949428"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A</a:t>
            </a:r>
            <a:endParaRPr sz="2000"/>
          </a:p>
        </p:txBody>
      </p:sp>
      <p:sp>
        <p:nvSpPr>
          <p:cNvPr id="20" name="Rounded Rectangle 19"/>
          <p:cNvSpPr/>
          <p:nvPr/>
        </p:nvSpPr>
        <p:spPr>
          <a:xfrm>
            <a:off x="5532239" y="1657251"/>
            <a:ext cx="538361" cy="419100"/>
          </a:xfrm>
          <a:prstGeom prst="roundRect">
            <a:avLst>
              <a:gd name="adj" fmla="val 12121"/>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1x24.00"/>
          <p:cNvSpPr txBox="1"/>
          <p:nvPr/>
        </p:nvSpPr>
        <p:spPr>
          <a:xfrm>
            <a:off x="5538589"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C</a:t>
            </a:r>
            <a:endParaRPr sz="2000"/>
          </a:p>
        </p:txBody>
      </p:sp>
      <p:sp>
        <p:nvSpPr>
          <p:cNvPr id="22" name="Rounded Rectangle 21"/>
          <p:cNvSpPr/>
          <p:nvPr/>
        </p:nvSpPr>
        <p:spPr>
          <a:xfrm>
            <a:off x="6121400" y="1657251"/>
            <a:ext cx="538262" cy="419100"/>
          </a:xfrm>
          <a:prstGeom prst="roundRect">
            <a:avLst>
              <a:gd name="adj" fmla="val 12121"/>
            </a:avLst>
          </a:prstGeom>
          <a:solidFill>
            <a:srgbClr val="F0A35E"/>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t 1x24.00"/>
          <p:cNvSpPr txBox="1"/>
          <p:nvPr/>
        </p:nvSpPr>
        <p:spPr>
          <a:xfrm>
            <a:off x="6127750" y="1714401"/>
            <a:ext cx="525562"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G</a:t>
            </a:r>
            <a:endParaRPr sz="2000"/>
          </a:p>
        </p:txBody>
      </p:sp>
      <p:sp>
        <p:nvSpPr>
          <p:cNvPr id="24" name="Rounded Rectangle 23"/>
          <p:cNvSpPr/>
          <p:nvPr/>
        </p:nvSpPr>
        <p:spPr>
          <a:xfrm>
            <a:off x="6710462" y="1657251"/>
            <a:ext cx="538361" cy="419100"/>
          </a:xfrm>
          <a:prstGeom prst="roundRect">
            <a:avLst>
              <a:gd name="adj" fmla="val 12121"/>
            </a:avLst>
          </a:prstGeom>
          <a:solidFill>
            <a:srgbClr val="F0A35E"/>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1x24.00"/>
          <p:cNvSpPr txBox="1"/>
          <p:nvPr/>
        </p:nvSpPr>
        <p:spPr>
          <a:xfrm>
            <a:off x="6716812"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T</a:t>
            </a:r>
            <a:endParaRPr sz="2000"/>
          </a:p>
        </p:txBody>
      </p:sp>
      <p:sp>
        <p:nvSpPr>
          <p:cNvPr id="26" name="Rounded Rectangle 25"/>
          <p:cNvSpPr/>
          <p:nvPr/>
        </p:nvSpPr>
        <p:spPr>
          <a:xfrm>
            <a:off x="7299623" y="1657251"/>
            <a:ext cx="538361" cy="419100"/>
          </a:xfrm>
          <a:prstGeom prst="roundRect">
            <a:avLst>
              <a:gd name="adj" fmla="val 12121"/>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kst 1x24.00"/>
          <p:cNvSpPr txBox="1"/>
          <p:nvPr/>
        </p:nvSpPr>
        <p:spPr>
          <a:xfrm>
            <a:off x="7305973"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A</a:t>
            </a:r>
            <a:endParaRPr sz="2000"/>
          </a:p>
        </p:txBody>
      </p:sp>
      <p:sp>
        <p:nvSpPr>
          <p:cNvPr id="28" name="Rounded Rectangle 27"/>
          <p:cNvSpPr/>
          <p:nvPr/>
        </p:nvSpPr>
        <p:spPr>
          <a:xfrm>
            <a:off x="7888784" y="1657251"/>
            <a:ext cx="538361" cy="419100"/>
          </a:xfrm>
          <a:prstGeom prst="roundRect">
            <a:avLst>
              <a:gd name="adj" fmla="val 12121"/>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t 1x24.00"/>
          <p:cNvSpPr txBox="1"/>
          <p:nvPr/>
        </p:nvSpPr>
        <p:spPr>
          <a:xfrm>
            <a:off x="7895134"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13262B"/>
                </a:solidFill>
                <a:latin typeface="Consolas"/>
              </a:rPr>
              <a:t>C</a:t>
            </a:r>
            <a:endParaRPr sz="2000"/>
          </a:p>
        </p:txBody>
      </p:sp>
      <p:sp>
        <p:nvSpPr>
          <p:cNvPr id="30" name="Rounded Rectangle 29"/>
          <p:cNvSpPr/>
          <p:nvPr/>
        </p:nvSpPr>
        <p:spPr>
          <a:xfrm>
            <a:off x="8477945" y="1657251"/>
            <a:ext cx="538262" cy="419100"/>
          </a:xfrm>
          <a:prstGeom prst="roundRect">
            <a:avLst>
              <a:gd name="adj" fmla="val 12121"/>
            </a:avLst>
          </a:prstGeom>
          <a:no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kst 1x24.00"/>
          <p:cNvSpPr txBox="1"/>
          <p:nvPr/>
        </p:nvSpPr>
        <p:spPr>
          <a:xfrm>
            <a:off x="8484295" y="1714401"/>
            <a:ext cx="525562"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5F6F70"/>
                </a:solidFill>
                <a:latin typeface="Consolas"/>
              </a:rPr>
              <a:t>G</a:t>
            </a:r>
            <a:endParaRPr sz="2000"/>
          </a:p>
        </p:txBody>
      </p:sp>
      <p:sp>
        <p:nvSpPr>
          <p:cNvPr id="32" name="Rounded Rectangle 31"/>
          <p:cNvSpPr/>
          <p:nvPr/>
        </p:nvSpPr>
        <p:spPr>
          <a:xfrm>
            <a:off x="9067006" y="1657251"/>
            <a:ext cx="538361" cy="419100"/>
          </a:xfrm>
          <a:prstGeom prst="roundRect">
            <a:avLst>
              <a:gd name="adj" fmla="val 12121"/>
            </a:avLst>
          </a:prstGeom>
          <a:no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kst 1x24.00"/>
          <p:cNvSpPr txBox="1"/>
          <p:nvPr/>
        </p:nvSpPr>
        <p:spPr>
          <a:xfrm>
            <a:off x="9073356"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5F6F70"/>
                </a:solidFill>
                <a:latin typeface="Consolas"/>
              </a:rPr>
              <a:t>A</a:t>
            </a:r>
            <a:endParaRPr sz="2000"/>
          </a:p>
        </p:txBody>
      </p:sp>
      <p:sp>
        <p:nvSpPr>
          <p:cNvPr id="34" name="Rounded Rectangle 33"/>
          <p:cNvSpPr/>
          <p:nvPr/>
        </p:nvSpPr>
        <p:spPr>
          <a:xfrm>
            <a:off x="9656167" y="1657251"/>
            <a:ext cx="538361" cy="419100"/>
          </a:xfrm>
          <a:prstGeom prst="roundRect">
            <a:avLst>
              <a:gd name="adj" fmla="val 12121"/>
            </a:avLst>
          </a:prstGeom>
          <a:no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kst 1x24.00"/>
          <p:cNvSpPr txBox="1"/>
          <p:nvPr/>
        </p:nvSpPr>
        <p:spPr>
          <a:xfrm>
            <a:off x="9662517"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5F6F70"/>
                </a:solidFill>
                <a:latin typeface="Consolas"/>
              </a:rPr>
              <a:t>C</a:t>
            </a:r>
            <a:endParaRPr sz="2000"/>
          </a:p>
        </p:txBody>
      </p:sp>
      <p:sp>
        <p:nvSpPr>
          <p:cNvPr id="36" name="Rounded Rectangle 35"/>
          <p:cNvSpPr/>
          <p:nvPr/>
        </p:nvSpPr>
        <p:spPr>
          <a:xfrm>
            <a:off x="10245328" y="1657251"/>
            <a:ext cx="538361" cy="419100"/>
          </a:xfrm>
          <a:prstGeom prst="roundRect">
            <a:avLst>
              <a:gd name="adj" fmla="val 12121"/>
            </a:avLst>
          </a:prstGeom>
          <a:no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kst 1x24.00"/>
          <p:cNvSpPr txBox="1"/>
          <p:nvPr/>
        </p:nvSpPr>
        <p:spPr>
          <a:xfrm>
            <a:off x="10251678"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5F6F70"/>
                </a:solidFill>
                <a:latin typeface="Consolas"/>
              </a:rPr>
              <a:t>T</a:t>
            </a:r>
            <a:endParaRPr sz="2000"/>
          </a:p>
        </p:txBody>
      </p:sp>
      <p:sp>
        <p:nvSpPr>
          <p:cNvPr id="38" name="Rounded Rectangle 37"/>
          <p:cNvSpPr/>
          <p:nvPr/>
        </p:nvSpPr>
        <p:spPr>
          <a:xfrm>
            <a:off x="10834489" y="1657251"/>
            <a:ext cx="538361" cy="419100"/>
          </a:xfrm>
          <a:prstGeom prst="roundRect">
            <a:avLst>
              <a:gd name="adj" fmla="val 12121"/>
            </a:avLst>
          </a:prstGeom>
          <a:no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kst 1x24.00"/>
          <p:cNvSpPr txBox="1"/>
          <p:nvPr/>
        </p:nvSpPr>
        <p:spPr>
          <a:xfrm>
            <a:off x="10840839" y="1714401"/>
            <a:ext cx="525661" cy="304800"/>
          </a:xfrm>
          <a:prstGeom prst="rect">
            <a:avLst/>
          </a:prstGeom>
          <a:noFill/>
        </p:spPr>
        <p:txBody>
          <a:bodyPr wrap="square" anchor="t" lIns="0" rIns="0" tIns="0" bIns="0">
            <a:noAutofit/>
          </a:bodyPr>
          <a:lstStyle/>
          <a:p>
            <a:pPr algn="ctr">
              <a:lnSpc>
                <a:spcPts val="2400"/>
              </a:lnSpc>
              <a:spcBef>
                <a:spcPts val="0"/>
              </a:spcBef>
              <a:spcAft>
                <a:spcPts val="0"/>
              </a:spcAft>
            </a:pPr>
            <a:r>
              <a:rPr sz="2000" b="0" i="0">
                <a:solidFill>
                  <a:srgbClr val="5F6F70"/>
                </a:solidFill>
                <a:latin typeface="Consolas"/>
              </a:rPr>
              <a:t>G</a:t>
            </a:r>
            <a:endParaRPr sz="2000"/>
          </a:p>
        </p:txBody>
      </p:sp>
      <p:sp>
        <p:nvSpPr>
          <p:cNvPr id="40" name="Tekst 2x20.30"/>
          <p:cNvSpPr txBox="1"/>
          <p:nvPr/>
        </p:nvSpPr>
        <p:spPr>
          <a:xfrm>
            <a:off x="812800" y="2158901"/>
            <a:ext cx="1077772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Poklapanje počinje na indeksu 2 i završava se pre indeksa 13. Svetlo: fiksni delovi šablona (GA, AC, AC). Narandžasto: delovi uhvaćeni zagradama, </a:t>
            </a:r>
            <a:r>
              <a:rPr sz="1400" b="0" i="0">
                <a:solidFill>
                  <a:srgbClr val="A8521A"/>
                </a:solidFill>
                <a:latin typeface="Arial"/>
              </a:rPr>
              <a:t>group(1)</a:t>
            </a:r>
            <a:r>
              <a:rPr sz="1400" b="0" i="0">
                <a:solidFill>
                  <a:srgbClr val="3D4F52"/>
                </a:solidFill>
                <a:latin typeface="Arial"/>
              </a:rPr>
              <a:t> = CGT i </a:t>
            </a:r>
            <a:r>
              <a:rPr sz="1400" b="0" i="0">
                <a:solidFill>
                  <a:srgbClr val="A8521A"/>
                </a:solidFill>
                <a:latin typeface="Arial"/>
              </a:rPr>
              <a:t>group(2)</a:t>
            </a:r>
            <a:r>
              <a:rPr sz="1400" b="0" i="0">
                <a:solidFill>
                  <a:srgbClr val="3D4F52"/>
                </a:solidFill>
                <a:latin typeface="Arial"/>
              </a:rPr>
              <a:t> = GT.</a:t>
            </a:r>
            <a:endParaRPr sz="1400"/>
          </a:p>
        </p:txBody>
      </p:sp>
      <p:sp>
        <p:nvSpPr>
          <p:cNvPr id="41" name="Rounded Rectangle 40"/>
          <p:cNvSpPr/>
          <p:nvPr/>
        </p:nvSpPr>
        <p:spPr>
          <a:xfrm>
            <a:off x="819150" y="2883991"/>
            <a:ext cx="5150346" cy="2159496"/>
          </a:xfrm>
          <a:prstGeom prst="roundRect">
            <a:avLst>
              <a:gd name="adj" fmla="val 470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kst 7x20.15"/>
          <p:cNvSpPr txBox="1"/>
          <p:nvPr/>
        </p:nvSpPr>
        <p:spPr>
          <a:xfrm>
            <a:off x="1079500" y="3068141"/>
            <a:ext cx="4722239" cy="179119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"ATGACGTACGTACGACTG"</a:t>
            </a:r>
            <a:br/>
            <a:r>
              <a:rPr sz="1300" b="0" i="0">
                <a:solidFill>
                  <a:srgbClr val="E8EEE9"/>
                </a:solidFill>
                <a:latin typeface="Consolas"/>
              </a:rPr>
              <a:t>m = re.search(</a:t>
            </a:r>
            <a:r>
              <a:rPr sz="1300" b="0" i="0">
                <a:solidFill>
                  <a:srgbClr val="F0A35E"/>
                </a:solidFill>
                <a:latin typeface="Consolas"/>
              </a:rPr>
              <a:t>r"GA([ATGC]{3})AC([ATGC]{2})AC"</a:t>
            </a:r>
            <a:r>
              <a:rPr sz="1300" b="0" i="0">
                <a:solidFill>
                  <a:srgbClr val="E8EEE9"/>
                </a:solidFill>
                <a:latin typeface="Consolas"/>
              </a:rPr>
              <a:t>, dna)</a:t>
            </a:r>
            <a:br/>
            <a:r>
              <a:rPr sz="1300" b="0" i="0">
                <a:solidFill>
                  <a:srgbClr val="E8EEE9"/>
                </a:solidFill>
                <a:latin typeface="Consolas"/>
              </a:rPr>
              <a:t>print(</a:t>
            </a:r>
            <a:r>
              <a:rPr sz="1300" b="0" i="0">
                <a:solidFill>
                  <a:srgbClr val="F0A35E"/>
                </a:solidFill>
                <a:latin typeface="Consolas"/>
              </a:rPr>
              <a:t>"entire match: "</a:t>
            </a:r>
            <a:r>
              <a:rPr sz="1300" b="0" i="0">
                <a:solidFill>
                  <a:srgbClr val="E8EEE9"/>
                </a:solidFill>
                <a:latin typeface="Consolas"/>
              </a:rPr>
              <a:t> + m.group())</a:t>
            </a:r>
            <a:br/>
            <a:r>
              <a:rPr sz="1300" b="0" i="0">
                <a:solidFill>
                  <a:srgbClr val="E8EEE9"/>
                </a:solidFill>
                <a:latin typeface="Consolas"/>
              </a:rPr>
              <a:t>print(</a:t>
            </a:r>
            <a:r>
              <a:rPr sz="1300" b="0" i="0">
                <a:solidFill>
                  <a:srgbClr val="F0A35E"/>
                </a:solidFill>
                <a:latin typeface="Consolas"/>
              </a:rPr>
              <a:t>"first bit: "</a:t>
            </a:r>
            <a:r>
              <a:rPr sz="1300" b="0" i="0">
                <a:solidFill>
                  <a:srgbClr val="E8EEE9"/>
                </a:solidFill>
                <a:latin typeface="Consolas"/>
              </a:rPr>
              <a:t> + m.group(1))</a:t>
            </a:r>
            <a:br/>
            <a:r>
              <a:rPr sz="1300" b="0" i="0">
                <a:solidFill>
                  <a:srgbClr val="E8EEE9"/>
                </a:solidFill>
                <a:latin typeface="Consolas"/>
              </a:rPr>
              <a:t>print(</a:t>
            </a:r>
            <a:r>
              <a:rPr sz="1300" b="0" i="0">
                <a:solidFill>
                  <a:srgbClr val="F0A35E"/>
                </a:solidFill>
                <a:latin typeface="Consolas"/>
              </a:rPr>
              <a:t>"second bit: "</a:t>
            </a:r>
            <a:r>
              <a:rPr sz="1300" b="0" i="0">
                <a:solidFill>
                  <a:srgbClr val="E8EEE9"/>
                </a:solidFill>
                <a:latin typeface="Consolas"/>
              </a:rPr>
              <a:t> + m.group(2))</a:t>
            </a:r>
            <a:br/>
            <a:r>
              <a:rPr sz="1300" b="0" i="0">
                <a:solidFill>
                  <a:srgbClr val="E8EEE9"/>
                </a:solidFill>
                <a:latin typeface="Consolas"/>
              </a:rPr>
              <a:t>print(</a:t>
            </a:r>
            <a:r>
              <a:rPr sz="1300" b="0" i="0">
                <a:solidFill>
                  <a:srgbClr val="F0A35E"/>
                </a:solidFill>
                <a:latin typeface="Consolas"/>
              </a:rPr>
              <a:t>"start: "</a:t>
            </a:r>
            <a:r>
              <a:rPr sz="1300" b="0" i="0">
                <a:solidFill>
                  <a:srgbClr val="E8EEE9"/>
                </a:solidFill>
                <a:latin typeface="Consolas"/>
              </a:rPr>
              <a:t> + str(m.start()))</a:t>
            </a:r>
            <a:br/>
            <a:r>
              <a:rPr sz="1300" b="0" i="0">
                <a:solidFill>
                  <a:srgbClr val="E8EEE9"/>
                </a:solidFill>
                <a:latin typeface="Consolas"/>
              </a:rPr>
              <a:t>print(</a:t>
            </a:r>
            <a:r>
              <a:rPr sz="1300" b="0" i="0">
                <a:solidFill>
                  <a:srgbClr val="F0A35E"/>
                </a:solidFill>
                <a:latin typeface="Consolas"/>
              </a:rPr>
              <a:t>"end: "</a:t>
            </a:r>
            <a:r>
              <a:rPr sz="1300" b="0" i="0">
                <a:solidFill>
                  <a:srgbClr val="E8EEE9"/>
                </a:solidFill>
                <a:latin typeface="Consolas"/>
              </a:rPr>
              <a:t> + str(m.end()))</a:t>
            </a:r>
            <a:endParaRPr sz="1300"/>
          </a:p>
        </p:txBody>
      </p:sp>
      <p:sp>
        <p:nvSpPr>
          <p:cNvPr id="43" name="Rounded Rectangle 42"/>
          <p:cNvSpPr/>
          <p:nvPr/>
        </p:nvSpPr>
        <p:spPr>
          <a:xfrm>
            <a:off x="6083796" y="2883991"/>
            <a:ext cx="5289054" cy="2159496"/>
          </a:xfrm>
          <a:prstGeom prst="roundRect">
            <a:avLst>
              <a:gd name="adj" fmla="val 470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kst 1x16.80"/>
          <p:cNvSpPr txBox="1"/>
          <p:nvPr/>
        </p:nvSpPr>
        <p:spPr>
          <a:xfrm>
            <a:off x="10325100" y="2941141"/>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45" name="Tekst 7x20.15"/>
          <p:cNvSpPr txBox="1"/>
          <p:nvPr/>
        </p:nvSpPr>
        <p:spPr>
          <a:xfrm>
            <a:off x="6344146" y="3068141"/>
            <a:ext cx="4863721" cy="179119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t>
            </a:r>
            <a:br/>
            <a:r>
              <a:rPr sz="1300" b="0" i="0">
                <a:solidFill>
                  <a:srgbClr val="13262B"/>
                </a:solidFill>
                <a:latin typeface="Consolas"/>
              </a:rPr>
              <a:t> </a:t>
            </a:r>
            <a:br/>
            <a:r>
              <a:rPr sz="1300" b="0" i="0">
                <a:solidFill>
                  <a:srgbClr val="13262B"/>
                </a:solidFill>
                <a:latin typeface="Consolas"/>
              </a:rPr>
              <a:t>entire match: GACGTACGTAC</a:t>
            </a:r>
            <a:br/>
            <a:r>
              <a:rPr sz="1300" b="0" i="0">
                <a:solidFill>
                  <a:srgbClr val="13262B"/>
                </a:solidFill>
                <a:latin typeface="Consolas"/>
              </a:rPr>
              <a:t>first bit: CGT</a:t>
            </a:r>
            <a:br/>
            <a:r>
              <a:rPr sz="1300" b="0" i="0">
                <a:solidFill>
                  <a:srgbClr val="13262B"/>
                </a:solidFill>
                <a:latin typeface="Consolas"/>
              </a:rPr>
              <a:t>second bit: GT</a:t>
            </a:r>
            <a:br/>
            <a:r>
              <a:rPr sz="1300" b="0" i="0">
                <a:solidFill>
                  <a:srgbClr val="13262B"/>
                </a:solidFill>
                <a:latin typeface="Consolas"/>
              </a:rPr>
              <a:t>start: 2</a:t>
            </a:r>
            <a:br/>
            <a:r>
              <a:rPr sz="1300" b="0" i="0">
                <a:solidFill>
                  <a:srgbClr val="13262B"/>
                </a:solidFill>
                <a:latin typeface="Consolas"/>
              </a:rPr>
              <a:t>end: 13</a:t>
            </a:r>
            <a:endParaRPr sz="13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Pozicije celog poklapanja i pojedinih grupa</a:t>
            </a:r>
            <a:endParaRPr sz="3200"/>
          </a:p>
        </p:txBody>
      </p:sp>
      <p:sp>
        <p:nvSpPr>
          <p:cNvPr id="4" name="Rounded Rectangle 3"/>
          <p:cNvSpPr/>
          <p:nvPr/>
        </p:nvSpPr>
        <p:spPr>
          <a:xfrm>
            <a:off x="819150" y="1708051"/>
            <a:ext cx="5150346"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8x20.15"/>
          <p:cNvSpPr txBox="1"/>
          <p:nvPr/>
        </p:nvSpPr>
        <p:spPr>
          <a:xfrm>
            <a:off x="1079500" y="1892201"/>
            <a:ext cx="4722239"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dna = </a:t>
            </a:r>
            <a:r>
              <a:rPr sz="1300" b="0" i="0">
                <a:solidFill>
                  <a:srgbClr val="F0A35E"/>
                </a:solidFill>
                <a:latin typeface="Consolas"/>
              </a:rPr>
              <a:t>"ATGACGTACGTACGACTG"</a:t>
            </a:r>
            <a:br/>
            <a:r>
              <a:rPr sz="1300" b="0" i="0">
                <a:solidFill>
                  <a:srgbClr val="E8EEE9"/>
                </a:solidFill>
                <a:latin typeface="Consolas"/>
              </a:rPr>
              <a:t>m = re.search(</a:t>
            </a:r>
            <a:r>
              <a:rPr sz="1300" b="0" i="0">
                <a:solidFill>
                  <a:srgbClr val="F0A35E"/>
                </a:solidFill>
                <a:latin typeface="Consolas"/>
              </a:rPr>
              <a:t>r"GA([ATGC]{3})AC([ATGC]{2})AC"</a:t>
            </a:r>
            <a:r>
              <a:rPr sz="1300" b="0" i="0">
                <a:solidFill>
                  <a:srgbClr val="E8EEE9"/>
                </a:solidFill>
                <a:latin typeface="Consolas"/>
              </a:rPr>
              <a:t>, dna)</a:t>
            </a:r>
            <a:br/>
            <a:r>
              <a:rPr sz="1300" b="0" i="0">
                <a:solidFill>
                  <a:srgbClr val="E8EEE9"/>
                </a:solidFill>
                <a:latin typeface="Consolas"/>
              </a:rPr>
              <a:t>print(</a:t>
            </a:r>
            <a:r>
              <a:rPr sz="1300" b="0" i="0">
                <a:solidFill>
                  <a:srgbClr val="F0A35E"/>
                </a:solidFill>
                <a:latin typeface="Consolas"/>
              </a:rPr>
              <a:t>"start: "</a:t>
            </a:r>
            <a:r>
              <a:rPr sz="1300" b="0" i="0">
                <a:solidFill>
                  <a:srgbClr val="E8EEE9"/>
                </a:solidFill>
                <a:latin typeface="Consolas"/>
              </a:rPr>
              <a:t> + str(m.start()))</a:t>
            </a:r>
            <a:br/>
            <a:r>
              <a:rPr sz="1300" b="0" i="0">
                <a:solidFill>
                  <a:srgbClr val="E8EEE9"/>
                </a:solidFill>
                <a:latin typeface="Consolas"/>
              </a:rPr>
              <a:t>print(</a:t>
            </a:r>
            <a:r>
              <a:rPr sz="1300" b="0" i="0">
                <a:solidFill>
                  <a:srgbClr val="F0A35E"/>
                </a:solidFill>
                <a:latin typeface="Consolas"/>
              </a:rPr>
              <a:t>"end: "</a:t>
            </a:r>
            <a:r>
              <a:rPr sz="1300" b="0" i="0">
                <a:solidFill>
                  <a:srgbClr val="E8EEE9"/>
                </a:solidFill>
                <a:latin typeface="Consolas"/>
              </a:rPr>
              <a:t> + str(m.end()))</a:t>
            </a:r>
            <a:br/>
            <a:r>
              <a:rPr sz="1300" b="0" i="0">
                <a:solidFill>
                  <a:srgbClr val="E8EEE9"/>
                </a:solidFill>
                <a:latin typeface="Consolas"/>
              </a:rPr>
              <a:t>print(</a:t>
            </a:r>
            <a:r>
              <a:rPr sz="1300" b="0" i="0">
                <a:solidFill>
                  <a:srgbClr val="F0A35E"/>
                </a:solidFill>
                <a:latin typeface="Consolas"/>
              </a:rPr>
              <a:t>"group one start: "</a:t>
            </a:r>
            <a:r>
              <a:rPr sz="1300" b="0" i="0">
                <a:solidFill>
                  <a:srgbClr val="E8EEE9"/>
                </a:solidFill>
                <a:latin typeface="Consolas"/>
              </a:rPr>
              <a:t> + str(m.start(1)))</a:t>
            </a:r>
            <a:br/>
            <a:r>
              <a:rPr sz="1300" b="0" i="0">
                <a:solidFill>
                  <a:srgbClr val="E8EEE9"/>
                </a:solidFill>
                <a:latin typeface="Consolas"/>
              </a:rPr>
              <a:t>print(</a:t>
            </a:r>
            <a:r>
              <a:rPr sz="1300" b="0" i="0">
                <a:solidFill>
                  <a:srgbClr val="F0A35E"/>
                </a:solidFill>
                <a:latin typeface="Consolas"/>
              </a:rPr>
              <a:t>"group one end: "</a:t>
            </a:r>
            <a:r>
              <a:rPr sz="1300" b="0" i="0">
                <a:solidFill>
                  <a:srgbClr val="E8EEE9"/>
                </a:solidFill>
                <a:latin typeface="Consolas"/>
              </a:rPr>
              <a:t> + str(m.end(1)))</a:t>
            </a:r>
            <a:br/>
            <a:r>
              <a:rPr sz="1300" b="0" i="0">
                <a:solidFill>
                  <a:srgbClr val="E8EEE9"/>
                </a:solidFill>
                <a:latin typeface="Consolas"/>
              </a:rPr>
              <a:t>print(</a:t>
            </a:r>
            <a:r>
              <a:rPr sz="1300" b="0" i="0">
                <a:solidFill>
                  <a:srgbClr val="F0A35E"/>
                </a:solidFill>
                <a:latin typeface="Consolas"/>
              </a:rPr>
              <a:t>"group two start: "</a:t>
            </a:r>
            <a:r>
              <a:rPr sz="1300" b="0" i="0">
                <a:solidFill>
                  <a:srgbClr val="E8EEE9"/>
                </a:solidFill>
                <a:latin typeface="Consolas"/>
              </a:rPr>
              <a:t> + str(m.start(2)))</a:t>
            </a:r>
            <a:br/>
            <a:r>
              <a:rPr sz="1300" b="0" i="0">
                <a:solidFill>
                  <a:srgbClr val="E8EEE9"/>
                </a:solidFill>
                <a:latin typeface="Consolas"/>
              </a:rPr>
              <a:t>print(</a:t>
            </a:r>
            <a:r>
              <a:rPr sz="1300" b="0" i="0">
                <a:solidFill>
                  <a:srgbClr val="F0A35E"/>
                </a:solidFill>
                <a:latin typeface="Consolas"/>
              </a:rPr>
              <a:t>"group two end: "</a:t>
            </a:r>
            <a:r>
              <a:rPr sz="1300" b="0" i="0">
                <a:solidFill>
                  <a:srgbClr val="E8EEE9"/>
                </a:solidFill>
                <a:latin typeface="Consolas"/>
              </a:rPr>
              <a:t> + str(m.end(2)))</a:t>
            </a:r>
            <a:endParaRPr sz="1300"/>
          </a:p>
        </p:txBody>
      </p:sp>
      <p:sp>
        <p:nvSpPr>
          <p:cNvPr id="6" name="Rounded Rectangle 5"/>
          <p:cNvSpPr/>
          <p:nvPr/>
        </p:nvSpPr>
        <p:spPr>
          <a:xfrm>
            <a:off x="6083796" y="1708051"/>
            <a:ext cx="5289054" cy="2415381"/>
          </a:xfrm>
          <a:prstGeom prst="roundRect">
            <a:avLst>
              <a:gd name="adj" fmla="val 420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10325100" y="1765201"/>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8" name="Tekst 8x20.15"/>
          <p:cNvSpPr txBox="1"/>
          <p:nvPr/>
        </p:nvSpPr>
        <p:spPr>
          <a:xfrm>
            <a:off x="6344146" y="1892201"/>
            <a:ext cx="4863721"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t>
            </a:r>
            <a:br/>
            <a:r>
              <a:rPr sz="1300" b="0" i="0">
                <a:solidFill>
                  <a:srgbClr val="13262B"/>
                </a:solidFill>
                <a:latin typeface="Consolas"/>
              </a:rPr>
              <a:t> </a:t>
            </a:r>
            <a:br/>
            <a:r>
              <a:rPr sz="1300" b="0" i="0">
                <a:solidFill>
                  <a:srgbClr val="13262B"/>
                </a:solidFill>
                <a:latin typeface="Consolas"/>
              </a:rPr>
              <a:t>start: 2</a:t>
            </a:r>
            <a:br/>
            <a:r>
              <a:rPr sz="1300" b="0" i="0">
                <a:solidFill>
                  <a:srgbClr val="13262B"/>
                </a:solidFill>
                <a:latin typeface="Consolas"/>
              </a:rPr>
              <a:t>end: 13</a:t>
            </a:r>
            <a:br/>
            <a:r>
              <a:rPr sz="1300" b="0" i="0">
                <a:solidFill>
                  <a:srgbClr val="13262B"/>
                </a:solidFill>
                <a:latin typeface="Consolas"/>
              </a:rPr>
              <a:t>group one start: 4</a:t>
            </a:r>
            <a:br/>
            <a:r>
              <a:rPr sz="1300" b="0" i="0">
                <a:solidFill>
                  <a:srgbClr val="13262B"/>
                </a:solidFill>
                <a:latin typeface="Consolas"/>
              </a:rPr>
              <a:t>group one end: 7</a:t>
            </a:r>
            <a:br/>
            <a:r>
              <a:rPr sz="1300" b="0" i="0">
                <a:solidFill>
                  <a:srgbClr val="13262B"/>
                </a:solidFill>
                <a:latin typeface="Consolas"/>
              </a:rPr>
              <a:t>group two start: 9</a:t>
            </a:r>
            <a:br/>
            <a:r>
              <a:rPr sz="1300" b="0" i="0">
                <a:solidFill>
                  <a:srgbClr val="13262B"/>
                </a:solidFill>
                <a:latin typeface="Consolas"/>
              </a:rPr>
              <a:t>group two end: 11</a:t>
            </a:r>
            <a:endParaRPr sz="1300"/>
          </a:p>
        </p:txBody>
      </p:sp>
      <p:sp>
        <p:nvSpPr>
          <p:cNvPr id="9" name="Rounded Rectangle 8"/>
          <p:cNvSpPr/>
          <p:nvPr/>
        </p:nvSpPr>
        <p:spPr>
          <a:xfrm>
            <a:off x="812800" y="4383782"/>
            <a:ext cx="10566400"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800" y="438378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30"/>
          <p:cNvSpPr txBox="1"/>
          <p:nvPr/>
        </p:nvSpPr>
        <p:spPr>
          <a:xfrm>
            <a:off x="1054100" y="4536182"/>
            <a:ext cx="1024382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Broj grupe kao argument metoda </a:t>
            </a:r>
            <a:r>
              <a:rPr sz="1400" b="0" i="0">
                <a:solidFill>
                  <a:srgbClr val="A8521A"/>
                </a:solidFill>
                <a:latin typeface="Arial"/>
              </a:rPr>
              <a:t>start</a:t>
            </a:r>
            <a:r>
              <a:rPr sz="1400" b="0" i="0">
                <a:solidFill>
                  <a:srgbClr val="13262B"/>
                </a:solidFill>
                <a:latin typeface="Arial"/>
              </a:rPr>
              <a:t> i </a:t>
            </a:r>
            <a:r>
              <a:rPr sz="1400" b="0" i="0">
                <a:solidFill>
                  <a:srgbClr val="A8521A"/>
                </a:solidFill>
                <a:latin typeface="Arial"/>
              </a:rPr>
              <a:t>end</a:t>
            </a:r>
            <a:r>
              <a:rPr sz="1400" b="0" i="0">
                <a:solidFill>
                  <a:srgbClr val="13262B"/>
                </a:solidFill>
                <a:latin typeface="Arial"/>
              </a:rPr>
              <a:t> daje pozicije te grupe. Ovde bismo ih mogli i izračunati, ali kod šablona promenljive dužine to nije moguće.</a:t>
            </a:r>
            <a:endParaRPr sz="14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Deljenje i višestruka poklapanja</a:t>
            </a:r>
            <a:endParaRPr sz="3200"/>
          </a:p>
        </p:txBody>
      </p:sp>
      <p:sp>
        <p:nvSpPr>
          <p:cNvPr id="4" name="Rounded Rectangle 3"/>
          <p:cNvSpPr/>
          <p:nvPr/>
        </p:nvSpPr>
        <p:spPr>
          <a:xfrm>
            <a:off x="819150" y="1657251"/>
            <a:ext cx="51308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3x20.15"/>
          <p:cNvSpPr txBox="1"/>
          <p:nvPr/>
        </p:nvSpPr>
        <p:spPr>
          <a:xfrm>
            <a:off x="1079500" y="1841401"/>
            <a:ext cx="470230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re.split: deli string na mestima poklapanja</a:t>
            </a:r>
            <a:br/>
            <a:r>
              <a:rPr sz="1300" b="0" i="0">
                <a:solidFill>
                  <a:srgbClr val="E8EEE9"/>
                </a:solidFill>
                <a:latin typeface="Consolas"/>
              </a:rPr>
              <a:t>dna = </a:t>
            </a:r>
            <a:r>
              <a:rPr sz="1300" b="0" i="0">
                <a:solidFill>
                  <a:srgbClr val="F0A35E"/>
                </a:solidFill>
                <a:latin typeface="Consolas"/>
              </a:rPr>
              <a:t>"ACTNGCATRGCTACGTYACGATSCGAWTCG"</a:t>
            </a:r>
            <a:br/>
            <a:r>
              <a:rPr sz="1300" b="0" i="0">
                <a:solidFill>
                  <a:srgbClr val="E8EEE9"/>
                </a:solidFill>
                <a:latin typeface="Consolas"/>
              </a:rPr>
              <a:t>print(re.split(</a:t>
            </a:r>
            <a:r>
              <a:rPr sz="1300" b="0" i="0">
                <a:solidFill>
                  <a:srgbClr val="F0A35E"/>
                </a:solidFill>
                <a:latin typeface="Consolas"/>
              </a:rPr>
              <a:t>r"[^ATGC]"</a:t>
            </a:r>
            <a:r>
              <a:rPr sz="1300" b="0" i="0">
                <a:solidFill>
                  <a:srgbClr val="E8EEE9"/>
                </a:solidFill>
                <a:latin typeface="Consolas"/>
              </a:rPr>
              <a:t>, dna))</a:t>
            </a:r>
            <a:endParaRPr sz="1300"/>
          </a:p>
        </p:txBody>
      </p:sp>
      <p:sp>
        <p:nvSpPr>
          <p:cNvPr id="6" name="Rounded Rectangle 5"/>
          <p:cNvSpPr/>
          <p:nvPr/>
        </p:nvSpPr>
        <p:spPr>
          <a:xfrm>
            <a:off x="6064250" y="1657251"/>
            <a:ext cx="5308600"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9296400" y="1714401"/>
            <a:ext cx="19431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LISTA DELOVA</a:t>
            </a:r>
            <a:endParaRPr sz="1200"/>
          </a:p>
        </p:txBody>
      </p:sp>
      <p:sp>
        <p:nvSpPr>
          <p:cNvPr id="8" name="Tekst 1x20.15"/>
          <p:cNvSpPr txBox="1"/>
          <p:nvPr/>
        </p:nvSpPr>
        <p:spPr>
          <a:xfrm>
            <a:off x="6324600" y="2353171"/>
            <a:ext cx="4883658"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['ACT', 'GCAT', 'GCTACGT', 'ACGAT', 'CGA', 'TCG']</a:t>
            </a:r>
            <a:endParaRPr sz="1300"/>
          </a:p>
        </p:txBody>
      </p:sp>
      <p:sp>
        <p:nvSpPr>
          <p:cNvPr id="9" name="Rounded Rectangle 8"/>
          <p:cNvSpPr/>
          <p:nvPr/>
        </p:nvSpPr>
        <p:spPr>
          <a:xfrm>
            <a:off x="819150" y="3009106"/>
            <a:ext cx="51308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20.15"/>
          <p:cNvSpPr txBox="1"/>
          <p:nvPr/>
        </p:nvSpPr>
        <p:spPr>
          <a:xfrm>
            <a:off x="1079500" y="3193256"/>
            <a:ext cx="470230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re.findall: lista svih poklapanja</a:t>
            </a:r>
            <a:br/>
            <a:r>
              <a:rPr sz="1300" b="0" i="0">
                <a:solidFill>
                  <a:srgbClr val="E8EEE9"/>
                </a:solidFill>
                <a:latin typeface="Consolas"/>
              </a:rPr>
              <a:t>dna = </a:t>
            </a:r>
            <a:r>
              <a:rPr sz="1300" b="0" i="0">
                <a:solidFill>
                  <a:srgbClr val="F0A35E"/>
                </a:solidFill>
                <a:latin typeface="Consolas"/>
              </a:rPr>
              <a:t>"ACTGCATTATATCGTACGAAATTATACGCGCG"</a:t>
            </a:r>
            <a:br/>
            <a:r>
              <a:rPr sz="1300" b="0" i="0">
                <a:solidFill>
                  <a:srgbClr val="E8EEE9"/>
                </a:solidFill>
                <a:latin typeface="Consolas"/>
              </a:rPr>
              <a:t>print(re.findall(</a:t>
            </a:r>
            <a:r>
              <a:rPr sz="1300" b="0" i="0">
                <a:solidFill>
                  <a:srgbClr val="F0A35E"/>
                </a:solidFill>
                <a:latin typeface="Consolas"/>
              </a:rPr>
              <a:t>r"[AT]{4,100}"</a:t>
            </a:r>
            <a:r>
              <a:rPr sz="1300" b="0" i="0">
                <a:solidFill>
                  <a:srgbClr val="E8EEE9"/>
                </a:solidFill>
                <a:latin typeface="Consolas"/>
              </a:rPr>
              <a:t>, dna))</a:t>
            </a:r>
            <a:endParaRPr sz="1300"/>
          </a:p>
        </p:txBody>
      </p:sp>
      <p:sp>
        <p:nvSpPr>
          <p:cNvPr id="11" name="Rounded Rectangle 10"/>
          <p:cNvSpPr/>
          <p:nvPr/>
        </p:nvSpPr>
        <p:spPr>
          <a:xfrm>
            <a:off x="6064250" y="3009106"/>
            <a:ext cx="5308600"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6.80"/>
          <p:cNvSpPr txBox="1"/>
          <p:nvPr/>
        </p:nvSpPr>
        <p:spPr>
          <a:xfrm>
            <a:off x="8648700" y="3066256"/>
            <a:ext cx="25908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STRINGOVI, BEZ POZICIJA</a:t>
            </a:r>
            <a:endParaRPr sz="1200"/>
          </a:p>
        </p:txBody>
      </p:sp>
      <p:sp>
        <p:nvSpPr>
          <p:cNvPr id="13" name="Tekst 1x20.15"/>
          <p:cNvSpPr txBox="1"/>
          <p:nvPr/>
        </p:nvSpPr>
        <p:spPr>
          <a:xfrm>
            <a:off x="6324600" y="3705027"/>
            <a:ext cx="4883658"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['ATTATAT', 'AAATTATA']</a:t>
            </a:r>
            <a:endParaRPr sz="1300"/>
          </a:p>
        </p:txBody>
      </p:sp>
      <p:sp>
        <p:nvSpPr>
          <p:cNvPr id="14" name="Rounded Rectangle 13"/>
          <p:cNvSpPr/>
          <p:nvPr/>
        </p:nvSpPr>
        <p:spPr>
          <a:xfrm>
            <a:off x="819150" y="4360962"/>
            <a:ext cx="51308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3x20.15"/>
          <p:cNvSpPr txBox="1"/>
          <p:nvPr/>
        </p:nvSpPr>
        <p:spPr>
          <a:xfrm>
            <a:off x="1079500" y="4545112"/>
            <a:ext cx="470230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re.finditer: match objekti, pa i pozicije</a:t>
            </a:r>
            <a:br/>
            <a:r>
              <a:rPr sz="1300" b="0" i="0">
                <a:solidFill>
                  <a:srgbClr val="6FD3C1"/>
                </a:solidFill>
                <a:latin typeface="Consolas"/>
              </a:rPr>
              <a:t>for</a:t>
            </a:r>
            <a:r>
              <a:rPr sz="1300" b="0" i="0">
                <a:solidFill>
                  <a:srgbClr val="E8EEE9"/>
                </a:solidFill>
                <a:latin typeface="Consolas"/>
              </a:rPr>
              <a:t> match </a:t>
            </a:r>
            <a:r>
              <a:rPr sz="1300" b="0" i="0">
                <a:solidFill>
                  <a:srgbClr val="6FD3C1"/>
                </a:solidFill>
                <a:latin typeface="Consolas"/>
              </a:rPr>
              <a:t>in</a:t>
            </a:r>
            <a:r>
              <a:rPr sz="1300" b="0" i="0">
                <a:solidFill>
                  <a:srgbClr val="E8EEE9"/>
                </a:solidFill>
                <a:latin typeface="Consolas"/>
              </a:rPr>
              <a:t> re.finditer(</a:t>
            </a:r>
            <a:r>
              <a:rPr sz="1300" b="0" i="0">
                <a:solidFill>
                  <a:srgbClr val="F0A35E"/>
                </a:solidFill>
                <a:latin typeface="Consolas"/>
              </a:rPr>
              <a:t>r"[AT]{3,100}"</a:t>
            </a:r>
            <a:r>
              <a:rPr sz="1300" b="0" i="0">
                <a:solidFill>
                  <a:srgbClr val="E8EEE9"/>
                </a:solidFill>
                <a:latin typeface="Consolas"/>
              </a:rPr>
              <a:t>, dna):</a:t>
            </a:r>
            <a:br/>
            <a:r>
              <a:rPr sz="1300" b="0" i="0">
                <a:solidFill>
                  <a:srgbClr val="E8EEE9"/>
                </a:solidFill>
                <a:latin typeface="Consolas"/>
              </a:rPr>
              <a:t>    print(match.start(), match.end())</a:t>
            </a:r>
            <a:endParaRPr sz="1300"/>
          </a:p>
        </p:txBody>
      </p:sp>
      <p:sp>
        <p:nvSpPr>
          <p:cNvPr id="16" name="Rounded Rectangle 15"/>
          <p:cNvSpPr/>
          <p:nvPr/>
        </p:nvSpPr>
        <p:spPr>
          <a:xfrm>
            <a:off x="6064250" y="4360962"/>
            <a:ext cx="5308600"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16.80"/>
          <p:cNvSpPr txBox="1"/>
          <p:nvPr/>
        </p:nvSpPr>
        <p:spPr>
          <a:xfrm>
            <a:off x="9296400" y="4418112"/>
            <a:ext cx="19431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POČETAK I KRAJ</a:t>
            </a:r>
            <a:endParaRPr sz="1200"/>
          </a:p>
        </p:txBody>
      </p:sp>
      <p:sp>
        <p:nvSpPr>
          <p:cNvPr id="18" name="Tekst 2x20.15"/>
          <p:cNvSpPr txBox="1"/>
          <p:nvPr/>
        </p:nvSpPr>
        <p:spPr>
          <a:xfrm>
            <a:off x="6324600" y="4800997"/>
            <a:ext cx="4883658"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5 12</a:t>
            </a:r>
            <a:br/>
            <a:r>
              <a:rPr sz="1300" b="0" i="0">
                <a:solidFill>
                  <a:srgbClr val="13262B"/>
                </a:solidFill>
                <a:latin typeface="Consolas"/>
              </a:rPr>
              <a:t>18 26</a:t>
            </a:r>
            <a:endParaRPr sz="13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VEŽBA: PRISTUPNI BROJEVI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Postavka i prvi kriterijumi</a:t>
            </a:r>
            <a:endParaRPr sz="3200"/>
          </a:p>
        </p:txBody>
      </p:sp>
      <p:sp>
        <p:nvSpPr>
          <p:cNvPr id="4" name="Rounded Rectangle 3"/>
          <p:cNvSpPr/>
          <p:nvPr/>
        </p:nvSpPr>
        <p:spPr>
          <a:xfrm>
            <a:off x="819150" y="1708051"/>
            <a:ext cx="5422602"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5x20.15"/>
          <p:cNvSpPr txBox="1"/>
          <p:nvPr/>
        </p:nvSpPr>
        <p:spPr>
          <a:xfrm>
            <a:off x="1079500" y="1892201"/>
            <a:ext cx="4999940"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accs = [</a:t>
            </a:r>
            <a:r>
              <a:rPr sz="1300" b="0" i="0">
                <a:solidFill>
                  <a:srgbClr val="F0A35E"/>
                </a:solidFill>
                <a:latin typeface="Consolas"/>
              </a:rPr>
              <a:t>"xkn59438"</a:t>
            </a:r>
            <a:r>
              <a:rPr sz="1300" b="0" i="0">
                <a:solidFill>
                  <a:srgbClr val="E8EEE9"/>
                </a:solidFill>
                <a:latin typeface="Consolas"/>
              </a:rPr>
              <a:t>, </a:t>
            </a:r>
            <a:r>
              <a:rPr sz="1300" b="0" i="0">
                <a:solidFill>
                  <a:srgbClr val="F0A35E"/>
                </a:solidFill>
                <a:latin typeface="Consolas"/>
              </a:rPr>
              <a:t>"yhdck2"</a:t>
            </a:r>
            <a:r>
              <a:rPr sz="1300" b="0" i="0">
                <a:solidFill>
                  <a:srgbClr val="E8EEE9"/>
                </a:solidFill>
                <a:latin typeface="Consolas"/>
              </a:rPr>
              <a:t>, </a:t>
            </a:r>
            <a:r>
              <a:rPr sz="1300" b="0" i="0">
                <a:solidFill>
                  <a:srgbClr val="F0A35E"/>
                </a:solidFill>
                <a:latin typeface="Consolas"/>
              </a:rPr>
              <a:t>"eihd39d9"</a:t>
            </a:r>
            <a:r>
              <a:rPr sz="1300" b="0" i="0">
                <a:solidFill>
                  <a:srgbClr val="E8EEE9"/>
                </a:solidFill>
                <a:latin typeface="Consolas"/>
              </a:rPr>
              <a:t>, </a:t>
            </a:r>
            <a:r>
              <a:rPr sz="1300" b="0" i="0">
                <a:solidFill>
                  <a:srgbClr val="F0A35E"/>
                </a:solidFill>
                <a:latin typeface="Consolas"/>
              </a:rPr>
              <a:t>"chdsye847"</a:t>
            </a:r>
            <a:r>
              <a:rPr sz="1300" b="0" i="0">
                <a:solidFill>
                  <a:srgbClr val="E8EEE9"/>
                </a:solidFill>
                <a:latin typeface="Consolas"/>
              </a:rPr>
              <a:t>,</a:t>
            </a:r>
            <a:br/>
            <a:r>
              <a:rPr sz="1300" b="0" i="0">
                <a:solidFill>
                  <a:srgbClr val="E8EEE9"/>
                </a:solidFill>
                <a:latin typeface="Consolas"/>
              </a:rPr>
              <a:t>        </a:t>
            </a:r>
            <a:r>
              <a:rPr sz="1300" b="0" i="0">
                <a:solidFill>
                  <a:srgbClr val="F0A35E"/>
                </a:solidFill>
                <a:latin typeface="Consolas"/>
              </a:rPr>
              <a:t>"hedle3455"</a:t>
            </a:r>
            <a:r>
              <a:rPr sz="1300" b="0" i="0">
                <a:solidFill>
                  <a:srgbClr val="E8EEE9"/>
                </a:solidFill>
                <a:latin typeface="Consolas"/>
              </a:rPr>
              <a:t>, </a:t>
            </a:r>
            <a:r>
              <a:rPr sz="1300" b="0" i="0">
                <a:solidFill>
                  <a:srgbClr val="F0A35E"/>
                </a:solidFill>
                <a:latin typeface="Consolas"/>
              </a:rPr>
              <a:t>"xjhd53e"</a:t>
            </a:r>
            <a:r>
              <a:rPr sz="1300" b="0" i="0">
                <a:solidFill>
                  <a:srgbClr val="E8EEE9"/>
                </a:solidFill>
                <a:latin typeface="Consolas"/>
              </a:rPr>
              <a:t>, </a:t>
            </a:r>
            <a:r>
              <a:rPr sz="1300" b="0" i="0">
                <a:solidFill>
                  <a:srgbClr val="F0A35E"/>
                </a:solidFill>
                <a:latin typeface="Consolas"/>
              </a:rPr>
              <a:t>"45da"</a:t>
            </a:r>
            <a:r>
              <a:rPr sz="1300" b="0" i="0">
                <a:solidFill>
                  <a:srgbClr val="E8EEE9"/>
                </a:solidFill>
                <a:latin typeface="Consolas"/>
              </a:rPr>
              <a:t>, </a:t>
            </a:r>
            <a:r>
              <a:rPr sz="1300" b="0" i="0">
                <a:solidFill>
                  <a:srgbClr val="F0A35E"/>
                </a:solidFill>
                <a:latin typeface="Consolas"/>
              </a:rPr>
              <a:t>"de37dp"</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acc </a:t>
            </a:r>
            <a:r>
              <a:rPr sz="1300" b="0" i="0">
                <a:solidFill>
                  <a:srgbClr val="6FD3C1"/>
                </a:solidFill>
                <a:latin typeface="Consolas"/>
              </a:rPr>
              <a:t>in</a:t>
            </a:r>
            <a:r>
              <a:rPr sz="1300" b="0" i="0">
                <a:solidFill>
                  <a:srgbClr val="E8EEE9"/>
                </a:solidFill>
                <a:latin typeface="Consolas"/>
              </a:rPr>
              <a:t> accs: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re.search(</a:t>
            </a:r>
            <a:r>
              <a:rPr sz="1300" b="0" i="0">
                <a:solidFill>
                  <a:srgbClr val="F0A35E"/>
                </a:solidFill>
                <a:latin typeface="Consolas"/>
              </a:rPr>
              <a:t>r"5"</a:t>
            </a:r>
            <a:r>
              <a:rPr sz="1300" b="0" i="0">
                <a:solidFill>
                  <a:srgbClr val="E8EEE9"/>
                </a:solidFill>
                <a:latin typeface="Consolas"/>
              </a:rPr>
              <a:t>, acc):</a:t>
            </a:r>
            <a:br/>
            <a:r>
              <a:rPr sz="1300" b="0" i="0">
                <a:solidFill>
                  <a:srgbClr val="E8EEE9"/>
                </a:solidFill>
                <a:latin typeface="Consolas"/>
              </a:rPr>
              <a:t>        print(acc)</a:t>
            </a:r>
            <a:endParaRPr sz="1300"/>
          </a:p>
        </p:txBody>
      </p:sp>
      <p:sp>
        <p:nvSpPr>
          <p:cNvPr id="6" name="Tekst 2x20.30"/>
          <p:cNvSpPr txBox="1"/>
          <p:nvPr/>
        </p:nvSpPr>
        <p:spPr>
          <a:xfrm>
            <a:off x="6502102" y="2274094"/>
            <a:ext cx="497464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Lista i petlja su lak deo. Za svaki kriterijum menjamo samo šablon u </a:t>
            </a:r>
            <a:r>
              <a:rPr sz="1400" b="0" i="0">
                <a:solidFill>
                  <a:srgbClr val="A8521A"/>
                </a:solidFill>
                <a:latin typeface="Arial"/>
              </a:rPr>
              <a:t>re.search</a:t>
            </a:r>
            <a:r>
              <a:rPr sz="1400" b="0" i="0">
                <a:solidFill>
                  <a:srgbClr val="3D4F52"/>
                </a:solidFill>
                <a:latin typeface="Arial"/>
              </a:rPr>
              <a:t>.</a:t>
            </a:r>
            <a:endParaRPr sz="1400"/>
          </a:p>
        </p:txBody>
      </p:sp>
      <p:sp>
        <p:nvSpPr>
          <p:cNvPr id="7" name="Rectangle 6"/>
          <p:cNvSpPr/>
          <p:nvPr/>
        </p:nvSpPr>
        <p:spPr>
          <a:xfrm>
            <a:off x="812800" y="3892947"/>
            <a:ext cx="2667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6.80"/>
          <p:cNvSpPr txBox="1"/>
          <p:nvPr/>
        </p:nvSpPr>
        <p:spPr>
          <a:xfrm>
            <a:off x="812800" y="3616127"/>
            <a:ext cx="272034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KRITERIJUM</a:t>
            </a:r>
            <a:endParaRPr sz="1200"/>
          </a:p>
        </p:txBody>
      </p:sp>
      <p:sp>
        <p:nvSpPr>
          <p:cNvPr id="9" name="Rectangle 8"/>
          <p:cNvSpPr/>
          <p:nvPr/>
        </p:nvSpPr>
        <p:spPr>
          <a:xfrm>
            <a:off x="3683000" y="3892947"/>
            <a:ext cx="1905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6.80"/>
          <p:cNvSpPr txBox="1"/>
          <p:nvPr/>
        </p:nvSpPr>
        <p:spPr>
          <a:xfrm>
            <a:off x="3683000" y="3616127"/>
            <a:ext cx="19431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ŠABLON</a:t>
            </a:r>
            <a:endParaRPr sz="1200"/>
          </a:p>
        </p:txBody>
      </p:sp>
      <p:sp>
        <p:nvSpPr>
          <p:cNvPr id="11" name="Rectangle 10"/>
          <p:cNvSpPr/>
          <p:nvPr/>
        </p:nvSpPr>
        <p:spPr>
          <a:xfrm>
            <a:off x="5791200" y="3892947"/>
            <a:ext cx="5588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6.80"/>
          <p:cNvSpPr txBox="1"/>
          <p:nvPr/>
        </p:nvSpPr>
        <p:spPr>
          <a:xfrm>
            <a:off x="5791200" y="3616127"/>
            <a:ext cx="569976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ISPISUJE</a:t>
            </a:r>
            <a:endParaRPr sz="1200"/>
          </a:p>
        </p:txBody>
      </p:sp>
      <p:sp>
        <p:nvSpPr>
          <p:cNvPr id="13" name="Rectangle 12"/>
          <p:cNvSpPr/>
          <p:nvPr/>
        </p:nvSpPr>
        <p:spPr>
          <a:xfrm>
            <a:off x="812800" y="4342507"/>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21.00"/>
          <p:cNvSpPr txBox="1"/>
          <p:nvPr/>
        </p:nvSpPr>
        <p:spPr>
          <a:xfrm>
            <a:off x="812800" y="3981847"/>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sadrži cifru 5</a:t>
            </a:r>
            <a:endParaRPr sz="1400"/>
          </a:p>
        </p:txBody>
      </p:sp>
      <p:sp>
        <p:nvSpPr>
          <p:cNvPr id="15" name="Rectangle 14"/>
          <p:cNvSpPr/>
          <p:nvPr/>
        </p:nvSpPr>
        <p:spPr>
          <a:xfrm>
            <a:off x="3683000" y="4342507"/>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22.40"/>
          <p:cNvSpPr txBox="1"/>
          <p:nvPr/>
        </p:nvSpPr>
        <p:spPr>
          <a:xfrm>
            <a:off x="3683000" y="3981847"/>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5</a:t>
            </a:r>
            <a:endParaRPr sz="1400"/>
          </a:p>
        </p:txBody>
      </p:sp>
      <p:sp>
        <p:nvSpPr>
          <p:cNvPr id="17" name="Rectangle 16"/>
          <p:cNvSpPr/>
          <p:nvPr/>
        </p:nvSpPr>
        <p:spPr>
          <a:xfrm>
            <a:off x="5791200" y="4342507"/>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21.00"/>
          <p:cNvSpPr txBox="1"/>
          <p:nvPr/>
        </p:nvSpPr>
        <p:spPr>
          <a:xfrm>
            <a:off x="5791200" y="3981847"/>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xkn59438 hedle3455 xjhd53e 45da</a:t>
            </a:r>
            <a:endParaRPr sz="1200"/>
          </a:p>
        </p:txBody>
      </p:sp>
      <p:sp>
        <p:nvSpPr>
          <p:cNvPr id="19" name="Rectangle 18"/>
          <p:cNvSpPr/>
          <p:nvPr/>
        </p:nvSpPr>
        <p:spPr>
          <a:xfrm>
            <a:off x="812800" y="4785717"/>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21.00"/>
          <p:cNvSpPr txBox="1"/>
          <p:nvPr/>
        </p:nvSpPr>
        <p:spPr>
          <a:xfrm>
            <a:off x="812800" y="4425057"/>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sadrži d ili e</a:t>
            </a:r>
            <a:endParaRPr sz="1400"/>
          </a:p>
        </p:txBody>
      </p:sp>
      <p:sp>
        <p:nvSpPr>
          <p:cNvPr id="21" name="Rectangle 20"/>
          <p:cNvSpPr/>
          <p:nvPr/>
        </p:nvSpPr>
        <p:spPr>
          <a:xfrm>
            <a:off x="3683000" y="4785717"/>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1x22.40"/>
          <p:cNvSpPr txBox="1"/>
          <p:nvPr/>
        </p:nvSpPr>
        <p:spPr>
          <a:xfrm>
            <a:off x="3683000" y="4425057"/>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(d|e)</a:t>
            </a:r>
            <a:endParaRPr sz="1400"/>
          </a:p>
        </p:txBody>
      </p:sp>
      <p:sp>
        <p:nvSpPr>
          <p:cNvPr id="23" name="Rectangle 22"/>
          <p:cNvSpPr/>
          <p:nvPr/>
        </p:nvSpPr>
        <p:spPr>
          <a:xfrm>
            <a:off x="5791200" y="4785717"/>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21.00"/>
          <p:cNvSpPr txBox="1"/>
          <p:nvPr/>
        </p:nvSpPr>
        <p:spPr>
          <a:xfrm>
            <a:off x="5791200" y="4425057"/>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yhdck2 eihd39d9 chdsye847 hedle3455 xjhd53e 45da de37dp</a:t>
            </a:r>
            <a:endParaRPr sz="1200"/>
          </a:p>
        </p:txBody>
      </p:sp>
      <p:sp>
        <p:nvSpPr>
          <p:cNvPr id="25" name="Rectangle 24"/>
          <p:cNvSpPr/>
          <p:nvPr/>
        </p:nvSpPr>
        <p:spPr>
          <a:xfrm>
            <a:off x="812800" y="5228927"/>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kst 1x21.00"/>
          <p:cNvSpPr txBox="1"/>
          <p:nvPr/>
        </p:nvSpPr>
        <p:spPr>
          <a:xfrm>
            <a:off x="812800" y="4868267"/>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d, pa negde posle e</a:t>
            </a:r>
            <a:endParaRPr sz="1400"/>
          </a:p>
        </p:txBody>
      </p:sp>
      <p:sp>
        <p:nvSpPr>
          <p:cNvPr id="27" name="Rectangle 26"/>
          <p:cNvSpPr/>
          <p:nvPr/>
        </p:nvSpPr>
        <p:spPr>
          <a:xfrm>
            <a:off x="3683000" y="5228927"/>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t 1x22.40"/>
          <p:cNvSpPr txBox="1"/>
          <p:nvPr/>
        </p:nvSpPr>
        <p:spPr>
          <a:xfrm>
            <a:off x="3683000" y="4868267"/>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d.*e</a:t>
            </a:r>
            <a:endParaRPr sz="1400"/>
          </a:p>
        </p:txBody>
      </p:sp>
      <p:sp>
        <p:nvSpPr>
          <p:cNvPr id="29" name="Rectangle 28"/>
          <p:cNvSpPr/>
          <p:nvPr/>
        </p:nvSpPr>
        <p:spPr>
          <a:xfrm>
            <a:off x="5791200" y="5228927"/>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kst 1x21.00"/>
          <p:cNvSpPr txBox="1"/>
          <p:nvPr/>
        </p:nvSpPr>
        <p:spPr>
          <a:xfrm>
            <a:off x="5791200" y="4868267"/>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chdsye847 hedle3455 xjhd53e de37dp</a:t>
            </a:r>
            <a:endParaRPr sz="12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VEŽBA: PRISTUPNI BROJEVI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Pažljivo sa kvantifikatorima</a:t>
            </a:r>
            <a:endParaRPr sz="3200"/>
          </a:p>
        </p:txBody>
      </p:sp>
      <p:sp>
        <p:nvSpPr>
          <p:cNvPr id="4" name="Rectangle 3"/>
          <p:cNvSpPr/>
          <p:nvPr/>
        </p:nvSpPr>
        <p:spPr>
          <a:xfrm>
            <a:off x="812800" y="1978521"/>
            <a:ext cx="2667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6.80"/>
          <p:cNvSpPr txBox="1"/>
          <p:nvPr/>
        </p:nvSpPr>
        <p:spPr>
          <a:xfrm>
            <a:off x="812800" y="1701701"/>
            <a:ext cx="272034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KRITERIJUM</a:t>
            </a:r>
            <a:endParaRPr sz="1200"/>
          </a:p>
        </p:txBody>
      </p:sp>
      <p:sp>
        <p:nvSpPr>
          <p:cNvPr id="6" name="Rectangle 5"/>
          <p:cNvSpPr/>
          <p:nvPr/>
        </p:nvSpPr>
        <p:spPr>
          <a:xfrm>
            <a:off x="3683000" y="1978521"/>
            <a:ext cx="1905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3683000" y="1701701"/>
            <a:ext cx="19431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ŠABLON</a:t>
            </a:r>
            <a:endParaRPr sz="1200"/>
          </a:p>
        </p:txBody>
      </p:sp>
      <p:sp>
        <p:nvSpPr>
          <p:cNvPr id="8" name="Rectangle 7"/>
          <p:cNvSpPr/>
          <p:nvPr/>
        </p:nvSpPr>
        <p:spPr>
          <a:xfrm>
            <a:off x="5791200" y="1978521"/>
            <a:ext cx="5588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6.80"/>
          <p:cNvSpPr txBox="1"/>
          <p:nvPr/>
        </p:nvSpPr>
        <p:spPr>
          <a:xfrm>
            <a:off x="5791200" y="1701701"/>
            <a:ext cx="569976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ISPISUJE</a:t>
            </a:r>
            <a:endParaRPr sz="1200"/>
          </a:p>
        </p:txBody>
      </p:sp>
      <p:sp>
        <p:nvSpPr>
          <p:cNvPr id="10" name="Rectangle 9"/>
          <p:cNvSpPr/>
          <p:nvPr/>
        </p:nvSpPr>
        <p:spPr>
          <a:xfrm>
            <a:off x="812800" y="2428081"/>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1.00"/>
          <p:cNvSpPr txBox="1"/>
          <p:nvPr/>
        </p:nvSpPr>
        <p:spPr>
          <a:xfrm>
            <a:off x="812800" y="2067421"/>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zamka: d, pa e</a:t>
            </a:r>
            <a:endParaRPr sz="1400"/>
          </a:p>
        </p:txBody>
      </p:sp>
      <p:sp>
        <p:nvSpPr>
          <p:cNvPr id="12" name="Rectangle 11"/>
          <p:cNvSpPr/>
          <p:nvPr/>
        </p:nvSpPr>
        <p:spPr>
          <a:xfrm>
            <a:off x="3683000" y="2428081"/>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2.40"/>
          <p:cNvSpPr txBox="1"/>
          <p:nvPr/>
        </p:nvSpPr>
        <p:spPr>
          <a:xfrm>
            <a:off x="3683000" y="2067421"/>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d.+e</a:t>
            </a:r>
            <a:endParaRPr sz="1400"/>
          </a:p>
        </p:txBody>
      </p:sp>
      <p:sp>
        <p:nvSpPr>
          <p:cNvPr id="14" name="Rectangle 13"/>
          <p:cNvSpPr/>
          <p:nvPr/>
        </p:nvSpPr>
        <p:spPr>
          <a:xfrm>
            <a:off x="5791200" y="2428081"/>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1.00"/>
          <p:cNvSpPr txBox="1"/>
          <p:nvPr/>
        </p:nvSpPr>
        <p:spPr>
          <a:xfrm>
            <a:off x="5791200" y="2067421"/>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chdsye847 hedle3455 xjhd53e (fali de37dp)</a:t>
            </a:r>
            <a:endParaRPr sz="1200"/>
          </a:p>
        </p:txBody>
      </p:sp>
      <p:sp>
        <p:nvSpPr>
          <p:cNvPr id="16" name="Rectangle 15"/>
          <p:cNvSpPr/>
          <p:nvPr/>
        </p:nvSpPr>
        <p:spPr>
          <a:xfrm>
            <a:off x="812800" y="2871291"/>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21.00"/>
          <p:cNvSpPr txBox="1"/>
          <p:nvPr/>
        </p:nvSpPr>
        <p:spPr>
          <a:xfrm>
            <a:off x="812800" y="2510631"/>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d, tačno jedan znak, pa e</a:t>
            </a:r>
            <a:endParaRPr sz="1400"/>
          </a:p>
        </p:txBody>
      </p:sp>
      <p:sp>
        <p:nvSpPr>
          <p:cNvPr id="18" name="Rectangle 17"/>
          <p:cNvSpPr/>
          <p:nvPr/>
        </p:nvSpPr>
        <p:spPr>
          <a:xfrm>
            <a:off x="3683000" y="2871291"/>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1x22.40"/>
          <p:cNvSpPr txBox="1"/>
          <p:nvPr/>
        </p:nvSpPr>
        <p:spPr>
          <a:xfrm>
            <a:off x="3683000" y="2510631"/>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d.e</a:t>
            </a:r>
            <a:endParaRPr sz="1400"/>
          </a:p>
        </p:txBody>
      </p:sp>
      <p:sp>
        <p:nvSpPr>
          <p:cNvPr id="20" name="Rectangle 19"/>
          <p:cNvSpPr/>
          <p:nvPr/>
        </p:nvSpPr>
        <p:spPr>
          <a:xfrm>
            <a:off x="5791200" y="2871291"/>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1x21.00"/>
          <p:cNvSpPr txBox="1"/>
          <p:nvPr/>
        </p:nvSpPr>
        <p:spPr>
          <a:xfrm>
            <a:off x="5791200" y="2510631"/>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hedle3455</a:t>
            </a:r>
            <a:endParaRPr sz="1200"/>
          </a:p>
        </p:txBody>
      </p:sp>
      <p:sp>
        <p:nvSpPr>
          <p:cNvPr id="22" name="Rectangle 21"/>
          <p:cNvSpPr/>
          <p:nvPr/>
        </p:nvSpPr>
        <p:spPr>
          <a:xfrm>
            <a:off x="812800" y="3314502"/>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t 1x21.00"/>
          <p:cNvSpPr txBox="1"/>
          <p:nvPr/>
        </p:nvSpPr>
        <p:spPr>
          <a:xfrm>
            <a:off x="812800" y="2953841"/>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d i e, bilo kojim redom</a:t>
            </a:r>
            <a:endParaRPr sz="1400"/>
          </a:p>
        </p:txBody>
      </p:sp>
      <p:sp>
        <p:nvSpPr>
          <p:cNvPr id="24" name="Rectangle 23"/>
          <p:cNvSpPr/>
          <p:nvPr/>
        </p:nvSpPr>
        <p:spPr>
          <a:xfrm>
            <a:off x="3683000" y="3314502"/>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1x22.40"/>
          <p:cNvSpPr txBox="1"/>
          <p:nvPr/>
        </p:nvSpPr>
        <p:spPr>
          <a:xfrm>
            <a:off x="3683000" y="2953841"/>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d.*e, e.*d</a:t>
            </a:r>
            <a:endParaRPr sz="1400"/>
          </a:p>
        </p:txBody>
      </p:sp>
      <p:sp>
        <p:nvSpPr>
          <p:cNvPr id="26" name="Rectangle 25"/>
          <p:cNvSpPr/>
          <p:nvPr/>
        </p:nvSpPr>
        <p:spPr>
          <a:xfrm>
            <a:off x="5791200" y="3314502"/>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kst 1x21.00"/>
          <p:cNvSpPr txBox="1"/>
          <p:nvPr/>
        </p:nvSpPr>
        <p:spPr>
          <a:xfrm>
            <a:off x="5791200" y="2953841"/>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eihd39d9 chdsye847 hedle3455 xjhd53e de37dp</a:t>
            </a:r>
            <a:endParaRPr sz="1200"/>
          </a:p>
        </p:txBody>
      </p:sp>
      <p:sp>
        <p:nvSpPr>
          <p:cNvPr id="28" name="Rounded Rectangle 27"/>
          <p:cNvSpPr/>
          <p:nvPr/>
        </p:nvSpPr>
        <p:spPr>
          <a:xfrm>
            <a:off x="819150" y="3581202"/>
            <a:ext cx="5786041"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t 3x20.15"/>
          <p:cNvSpPr txBox="1"/>
          <p:nvPr/>
        </p:nvSpPr>
        <p:spPr>
          <a:xfrm>
            <a:off x="1079500" y="3765352"/>
            <a:ext cx="5370647"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acc </a:t>
            </a:r>
            <a:r>
              <a:rPr sz="1300" b="0" i="0">
                <a:solidFill>
                  <a:srgbClr val="6FD3C1"/>
                </a:solidFill>
                <a:latin typeface="Consolas"/>
              </a:rPr>
              <a:t>in</a:t>
            </a:r>
            <a:r>
              <a:rPr sz="1300" b="0" i="0">
                <a:solidFill>
                  <a:srgbClr val="E8EEE9"/>
                </a:solidFill>
                <a:latin typeface="Consolas"/>
              </a:rPr>
              <a:t> accs: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re.search(</a:t>
            </a:r>
            <a:r>
              <a:rPr sz="1300" b="0" i="0">
                <a:solidFill>
                  <a:srgbClr val="F0A35E"/>
                </a:solidFill>
                <a:latin typeface="Consolas"/>
              </a:rPr>
              <a:t>r"d.*e"</a:t>
            </a:r>
            <a:r>
              <a:rPr sz="1300" b="0" i="0">
                <a:solidFill>
                  <a:srgbClr val="E8EEE9"/>
                </a:solidFill>
                <a:latin typeface="Consolas"/>
              </a:rPr>
              <a:t>, acc) </a:t>
            </a:r>
            <a:r>
              <a:rPr sz="1300" b="0" i="0">
                <a:solidFill>
                  <a:srgbClr val="6FD3C1"/>
                </a:solidFill>
                <a:latin typeface="Consolas"/>
              </a:rPr>
              <a:t>or</a:t>
            </a:r>
            <a:r>
              <a:rPr sz="1300" b="0" i="0">
                <a:solidFill>
                  <a:srgbClr val="E8EEE9"/>
                </a:solidFill>
                <a:latin typeface="Consolas"/>
              </a:rPr>
              <a:t> re.search(</a:t>
            </a:r>
            <a:r>
              <a:rPr sz="1300" b="0" i="0">
                <a:solidFill>
                  <a:srgbClr val="F0A35E"/>
                </a:solidFill>
                <a:latin typeface="Consolas"/>
              </a:rPr>
              <a:t>r"e.*d"</a:t>
            </a:r>
            <a:r>
              <a:rPr sz="1300" b="0" i="0">
                <a:solidFill>
                  <a:srgbClr val="E8EEE9"/>
                </a:solidFill>
                <a:latin typeface="Consolas"/>
              </a:rPr>
              <a:t>, acc):</a:t>
            </a:r>
            <a:br/>
            <a:r>
              <a:rPr sz="1300" b="0" i="0">
                <a:solidFill>
                  <a:srgbClr val="E8EEE9"/>
                </a:solidFill>
                <a:latin typeface="Consolas"/>
              </a:rPr>
              <a:t>        print(acc)</a:t>
            </a:r>
            <a:endParaRPr sz="1300"/>
          </a:p>
        </p:txBody>
      </p:sp>
      <p:sp>
        <p:nvSpPr>
          <p:cNvPr id="30" name="Rounded Rectangle 29"/>
          <p:cNvSpPr/>
          <p:nvPr/>
        </p:nvSpPr>
        <p:spPr>
          <a:xfrm>
            <a:off x="6814741" y="3574852"/>
            <a:ext cx="4564459" cy="1148655"/>
          </a:xfrm>
          <a:prstGeom prst="roundRect">
            <a:avLst>
              <a:gd name="adj" fmla="val 6633"/>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14741" y="3574852"/>
            <a:ext cx="38100" cy="1148655"/>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kst 3x20.30"/>
          <p:cNvSpPr txBox="1"/>
          <p:nvPr/>
        </p:nvSpPr>
        <p:spPr>
          <a:xfrm>
            <a:off x="7030641" y="3762474"/>
            <a:ext cx="4254175"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a:t>
            </a:r>
            <a:r>
              <a:rPr sz="1400" b="0" i="0">
                <a:solidFill>
                  <a:srgbClr val="13262B"/>
                </a:solidFill>
                <a:latin typeface="Arial"/>
              </a:rPr>
              <a:t> traži bar jedan znak između, pa promašuje de37dp, gde e sledi odmah posle d. Zato je potrebno </a:t>
            </a:r>
            <a:r>
              <a:rPr sz="1400" b="0" i="0">
                <a:solidFill>
                  <a:srgbClr val="A8521A"/>
                </a:solidFill>
                <a:latin typeface="Arial"/>
              </a:rPr>
              <a:t>*</a:t>
            </a:r>
            <a:r>
              <a:rPr sz="1400" b="0" i="0">
                <a:solidFill>
                  <a:srgbClr val="13262B"/>
                </a:solidFill>
                <a:latin typeface="Arial"/>
              </a:rPr>
              <a:t>.</a:t>
            </a:r>
            <a:endParaRPr sz="14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VEŽBA: PRISTUPNI BROJEVI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Početak, kraj i ponavljanja</a:t>
            </a:r>
            <a:endParaRPr sz="3200"/>
          </a:p>
        </p:txBody>
      </p:sp>
      <p:sp>
        <p:nvSpPr>
          <p:cNvPr id="4" name="Rectangle 3"/>
          <p:cNvSpPr/>
          <p:nvPr/>
        </p:nvSpPr>
        <p:spPr>
          <a:xfrm>
            <a:off x="812800" y="1978521"/>
            <a:ext cx="2667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6.80"/>
          <p:cNvSpPr txBox="1"/>
          <p:nvPr/>
        </p:nvSpPr>
        <p:spPr>
          <a:xfrm>
            <a:off x="812800" y="1701701"/>
            <a:ext cx="272034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KRITERIJUM</a:t>
            </a:r>
            <a:endParaRPr sz="1200"/>
          </a:p>
        </p:txBody>
      </p:sp>
      <p:sp>
        <p:nvSpPr>
          <p:cNvPr id="6" name="Rectangle 5"/>
          <p:cNvSpPr/>
          <p:nvPr/>
        </p:nvSpPr>
        <p:spPr>
          <a:xfrm>
            <a:off x="3683000" y="1978521"/>
            <a:ext cx="1905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3683000" y="1701701"/>
            <a:ext cx="19431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ŠABLON</a:t>
            </a:r>
            <a:endParaRPr sz="1200"/>
          </a:p>
        </p:txBody>
      </p:sp>
      <p:sp>
        <p:nvSpPr>
          <p:cNvPr id="8" name="Rectangle 7"/>
          <p:cNvSpPr/>
          <p:nvPr/>
        </p:nvSpPr>
        <p:spPr>
          <a:xfrm>
            <a:off x="5791200" y="1978521"/>
            <a:ext cx="5588000" cy="12700"/>
          </a:xfrm>
          <a:prstGeom prst="rect">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6.80"/>
          <p:cNvSpPr txBox="1"/>
          <p:nvPr/>
        </p:nvSpPr>
        <p:spPr>
          <a:xfrm>
            <a:off x="5791200" y="1701701"/>
            <a:ext cx="569976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ISPISUJE</a:t>
            </a:r>
            <a:endParaRPr sz="1200"/>
          </a:p>
        </p:txBody>
      </p:sp>
      <p:sp>
        <p:nvSpPr>
          <p:cNvPr id="10" name="Rectangle 9"/>
          <p:cNvSpPr/>
          <p:nvPr/>
        </p:nvSpPr>
        <p:spPr>
          <a:xfrm>
            <a:off x="812800" y="2428081"/>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1.00"/>
          <p:cNvSpPr txBox="1"/>
          <p:nvPr/>
        </p:nvSpPr>
        <p:spPr>
          <a:xfrm>
            <a:off x="812800" y="2067421"/>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počinje sa x ili y</a:t>
            </a:r>
            <a:endParaRPr sz="1400"/>
          </a:p>
        </p:txBody>
      </p:sp>
      <p:sp>
        <p:nvSpPr>
          <p:cNvPr id="12" name="Rectangle 11"/>
          <p:cNvSpPr/>
          <p:nvPr/>
        </p:nvSpPr>
        <p:spPr>
          <a:xfrm>
            <a:off x="3683000" y="2428081"/>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2.40"/>
          <p:cNvSpPr txBox="1"/>
          <p:nvPr/>
        </p:nvSpPr>
        <p:spPr>
          <a:xfrm>
            <a:off x="3683000" y="2067421"/>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^(x|y)</a:t>
            </a:r>
            <a:endParaRPr sz="1400"/>
          </a:p>
        </p:txBody>
      </p:sp>
      <p:sp>
        <p:nvSpPr>
          <p:cNvPr id="14" name="Rectangle 13"/>
          <p:cNvSpPr/>
          <p:nvPr/>
        </p:nvSpPr>
        <p:spPr>
          <a:xfrm>
            <a:off x="5791200" y="2428081"/>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1.00"/>
          <p:cNvSpPr txBox="1"/>
          <p:nvPr/>
        </p:nvSpPr>
        <p:spPr>
          <a:xfrm>
            <a:off x="5791200" y="2067421"/>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xkn59438 yhdck2 xjhd53e</a:t>
            </a:r>
            <a:endParaRPr sz="1200"/>
          </a:p>
        </p:txBody>
      </p:sp>
      <p:sp>
        <p:nvSpPr>
          <p:cNvPr id="16" name="Rectangle 15"/>
          <p:cNvSpPr/>
          <p:nvPr/>
        </p:nvSpPr>
        <p:spPr>
          <a:xfrm>
            <a:off x="812800" y="3120231"/>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2x21.00"/>
          <p:cNvSpPr txBox="1"/>
          <p:nvPr/>
        </p:nvSpPr>
        <p:spPr>
          <a:xfrm>
            <a:off x="812800" y="2510631"/>
            <a:ext cx="2720340" cy="5334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počinje sa x ili y i završava se sa e</a:t>
            </a:r>
            <a:endParaRPr sz="1400"/>
          </a:p>
        </p:txBody>
      </p:sp>
      <p:sp>
        <p:nvSpPr>
          <p:cNvPr id="18" name="Rectangle 17"/>
          <p:cNvSpPr/>
          <p:nvPr/>
        </p:nvSpPr>
        <p:spPr>
          <a:xfrm>
            <a:off x="3683000" y="3120231"/>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2x22.40"/>
          <p:cNvSpPr txBox="1"/>
          <p:nvPr/>
        </p:nvSpPr>
        <p:spPr>
          <a:xfrm>
            <a:off x="3683000" y="2510631"/>
            <a:ext cx="1943100" cy="53340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^(x|y).*e$</a:t>
            </a:r>
            <a:endParaRPr sz="1400"/>
          </a:p>
        </p:txBody>
      </p:sp>
      <p:sp>
        <p:nvSpPr>
          <p:cNvPr id="20" name="Rectangle 19"/>
          <p:cNvSpPr/>
          <p:nvPr/>
        </p:nvSpPr>
        <p:spPr>
          <a:xfrm>
            <a:off x="5791200" y="3120231"/>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2x21.00"/>
          <p:cNvSpPr txBox="1"/>
          <p:nvPr/>
        </p:nvSpPr>
        <p:spPr>
          <a:xfrm>
            <a:off x="5791200" y="2510631"/>
            <a:ext cx="5699760" cy="53340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xjhd53e</a:t>
            </a:r>
            <a:endParaRPr sz="1200"/>
          </a:p>
        </p:txBody>
      </p:sp>
      <p:sp>
        <p:nvSpPr>
          <p:cNvPr id="22" name="Rectangle 21"/>
          <p:cNvSpPr/>
          <p:nvPr/>
        </p:nvSpPr>
        <p:spPr>
          <a:xfrm>
            <a:off x="812800" y="3563441"/>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t 1x21.00"/>
          <p:cNvSpPr txBox="1"/>
          <p:nvPr/>
        </p:nvSpPr>
        <p:spPr>
          <a:xfrm>
            <a:off x="812800" y="3202781"/>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tri ili više cifara zaredom</a:t>
            </a:r>
            <a:endParaRPr sz="1400"/>
          </a:p>
        </p:txBody>
      </p:sp>
      <p:sp>
        <p:nvSpPr>
          <p:cNvPr id="24" name="Rectangle 23"/>
          <p:cNvSpPr/>
          <p:nvPr/>
        </p:nvSpPr>
        <p:spPr>
          <a:xfrm>
            <a:off x="3683000" y="3563441"/>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1x22.40"/>
          <p:cNvSpPr txBox="1"/>
          <p:nvPr/>
        </p:nvSpPr>
        <p:spPr>
          <a:xfrm>
            <a:off x="3683000" y="3202781"/>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\d{3,}</a:t>
            </a:r>
            <a:endParaRPr sz="1400"/>
          </a:p>
        </p:txBody>
      </p:sp>
      <p:sp>
        <p:nvSpPr>
          <p:cNvPr id="26" name="Rectangle 25"/>
          <p:cNvSpPr/>
          <p:nvPr/>
        </p:nvSpPr>
        <p:spPr>
          <a:xfrm>
            <a:off x="5791200" y="3563441"/>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kst 1x21.00"/>
          <p:cNvSpPr txBox="1"/>
          <p:nvPr/>
        </p:nvSpPr>
        <p:spPr>
          <a:xfrm>
            <a:off x="5791200" y="3202781"/>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xkn59438 chdsye847 hedle3455</a:t>
            </a:r>
            <a:endParaRPr sz="1200"/>
          </a:p>
        </p:txBody>
      </p:sp>
      <p:sp>
        <p:nvSpPr>
          <p:cNvPr id="28" name="Rectangle 27"/>
          <p:cNvSpPr/>
          <p:nvPr/>
        </p:nvSpPr>
        <p:spPr>
          <a:xfrm>
            <a:off x="812800" y="4006652"/>
            <a:ext cx="2667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t 1x21.00"/>
          <p:cNvSpPr txBox="1"/>
          <p:nvPr/>
        </p:nvSpPr>
        <p:spPr>
          <a:xfrm>
            <a:off x="812800" y="3645991"/>
            <a:ext cx="2720340" cy="28446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3D4F52"/>
                </a:solidFill>
                <a:latin typeface="Arial"/>
              </a:rPr>
              <a:t>završava se sa d, pa a, r ili p</a:t>
            </a:r>
            <a:endParaRPr sz="1400"/>
          </a:p>
        </p:txBody>
      </p:sp>
      <p:sp>
        <p:nvSpPr>
          <p:cNvPr id="30" name="Rectangle 29"/>
          <p:cNvSpPr/>
          <p:nvPr/>
        </p:nvSpPr>
        <p:spPr>
          <a:xfrm>
            <a:off x="3683000" y="4006652"/>
            <a:ext cx="1905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kst 1x22.40"/>
          <p:cNvSpPr txBox="1"/>
          <p:nvPr/>
        </p:nvSpPr>
        <p:spPr>
          <a:xfrm>
            <a:off x="3683000" y="3645991"/>
            <a:ext cx="1943100" cy="284460"/>
          </a:xfrm>
          <a:prstGeom prst="rect">
            <a:avLst/>
          </a:prstGeom>
          <a:noFill/>
        </p:spPr>
        <p:txBody>
          <a:bodyPr wrap="square" anchor="t" lIns="0" rIns="0" tIns="0" bIns="0">
            <a:noAutofit/>
          </a:bodyPr>
          <a:lstStyle/>
          <a:p>
            <a:pPr algn="l">
              <a:lnSpc>
                <a:spcPts val="2240"/>
              </a:lnSpc>
              <a:spcBef>
                <a:spcPts val="0"/>
              </a:spcBef>
              <a:spcAft>
                <a:spcPts val="0"/>
              </a:spcAft>
            </a:pPr>
            <a:r>
              <a:rPr sz="1400" b="0" i="0">
                <a:solidFill>
                  <a:srgbClr val="A8521A"/>
                </a:solidFill>
                <a:latin typeface="Consolas"/>
              </a:rPr>
              <a:t>d[arp]$</a:t>
            </a:r>
            <a:endParaRPr sz="1400"/>
          </a:p>
        </p:txBody>
      </p:sp>
      <p:sp>
        <p:nvSpPr>
          <p:cNvPr id="32" name="Rectangle 31"/>
          <p:cNvSpPr/>
          <p:nvPr/>
        </p:nvSpPr>
        <p:spPr>
          <a:xfrm>
            <a:off x="5791200" y="4006652"/>
            <a:ext cx="55880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kst 1x21.00"/>
          <p:cNvSpPr txBox="1"/>
          <p:nvPr/>
        </p:nvSpPr>
        <p:spPr>
          <a:xfrm>
            <a:off x="5791200" y="3645991"/>
            <a:ext cx="5699760" cy="284460"/>
          </a:xfrm>
          <a:prstGeom prst="rect">
            <a:avLst/>
          </a:prstGeom>
          <a:noFill/>
        </p:spPr>
        <p:txBody>
          <a:bodyPr wrap="square" anchor="t" lIns="0" rIns="0" tIns="0" bIns="0">
            <a:noAutofit/>
          </a:bodyPr>
          <a:lstStyle/>
          <a:p>
            <a:pPr algn="l">
              <a:lnSpc>
                <a:spcPts val="2100"/>
              </a:lnSpc>
              <a:spcBef>
                <a:spcPts val="0"/>
              </a:spcBef>
              <a:spcAft>
                <a:spcPts val="0"/>
              </a:spcAft>
            </a:pPr>
            <a:r>
              <a:rPr sz="1200" b="0" i="0">
                <a:solidFill>
                  <a:srgbClr val="13262B"/>
                </a:solidFill>
                <a:latin typeface="Consolas"/>
              </a:rPr>
              <a:t>45da de37dp</a:t>
            </a:r>
            <a:endParaRPr sz="1200"/>
          </a:p>
        </p:txBody>
      </p:sp>
      <p:sp>
        <p:nvSpPr>
          <p:cNvPr id="34" name="Rounded Rectangle 33"/>
          <p:cNvSpPr/>
          <p:nvPr/>
        </p:nvSpPr>
        <p:spPr>
          <a:xfrm>
            <a:off x="812800" y="4267002"/>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2800" y="4267002"/>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kst 1x20.30"/>
          <p:cNvSpPr txBox="1"/>
          <p:nvPr/>
        </p:nvSpPr>
        <p:spPr>
          <a:xfrm>
            <a:off x="1054100" y="4419402"/>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\d</a:t>
            </a:r>
            <a:r>
              <a:rPr sz="1400" b="0" i="0">
                <a:solidFill>
                  <a:srgbClr val="13262B"/>
                </a:solidFill>
                <a:latin typeface="Arial"/>
              </a:rPr>
              <a:t> je skraćenica za grupu svih cifara </a:t>
            </a:r>
            <a:r>
              <a:rPr sz="1400" b="0" i="0">
                <a:solidFill>
                  <a:srgbClr val="A8521A"/>
                </a:solidFill>
                <a:latin typeface="Arial"/>
              </a:rPr>
              <a:t>[0123456789]</a:t>
            </a:r>
            <a:r>
              <a:rPr sz="1400" b="0" i="0">
                <a:solidFill>
                  <a:srgbClr val="13262B"/>
                </a:solidFill>
                <a:latin typeface="Arial"/>
              </a:rPr>
              <a:t>, a </a:t>
            </a:r>
            <a:r>
              <a:rPr sz="1400" b="0" i="0">
                <a:solidFill>
                  <a:srgbClr val="A8521A"/>
                </a:solidFill>
                <a:latin typeface="Arial"/>
              </a:rPr>
              <a:t>{3,}</a:t>
            </a:r>
            <a:r>
              <a:rPr sz="1400" b="0" i="0">
                <a:solidFill>
                  <a:srgbClr val="13262B"/>
                </a:solidFill>
                <a:latin typeface="Arial"/>
              </a:rPr>
              <a:t> znači „tri ili više”, bez gornje granice.</a:t>
            </a:r>
            <a:endParaRPr sz="1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VEŽBA: DVOSTRUKA DIGESTIJA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1: od mesta prepoznavanja do šablona</a:t>
            </a:r>
            <a:endParaRPr sz="3200"/>
          </a:p>
        </p:txBody>
      </p:sp>
      <p:sp>
        <p:nvSpPr>
          <p:cNvPr id="4" name="Rounded Rectangle 3"/>
          <p:cNvSpPr/>
          <p:nvPr/>
        </p:nvSpPr>
        <p:spPr>
          <a:xfrm>
            <a:off x="815975" y="1704876"/>
            <a:ext cx="5175250" cy="1313061"/>
          </a:xfrm>
          <a:prstGeom prst="roundRect">
            <a:avLst>
              <a:gd name="adj" fmla="val 773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AbcI</a:t>
            </a:r>
            <a:endParaRPr sz="1800"/>
          </a:p>
        </p:txBody>
      </p:sp>
      <p:sp>
        <p:nvSpPr>
          <p:cNvPr id="6" name="Tekst 1x21.00"/>
          <p:cNvSpPr txBox="1"/>
          <p:nvPr/>
        </p:nvSpPr>
        <p:spPr>
          <a:xfrm>
            <a:off x="1022350" y="2236291"/>
            <a:ext cx="485775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13262B"/>
                </a:solidFill>
                <a:latin typeface="Consolas"/>
              </a:rPr>
              <a:t>ANT*AAT → </a:t>
            </a:r>
            <a:r>
              <a:rPr sz="1400" b="0" i="0">
                <a:solidFill>
                  <a:srgbClr val="A8521A"/>
                </a:solidFill>
                <a:latin typeface="Consolas"/>
              </a:rPr>
              <a:t>A[ATGC]TAAT</a:t>
            </a:r>
            <a:endParaRPr sz="1400"/>
          </a:p>
        </p:txBody>
      </p:sp>
      <p:sp>
        <p:nvSpPr>
          <p:cNvPr id="7" name="Tekst 1x20.30"/>
          <p:cNvSpPr txBox="1"/>
          <p:nvPr/>
        </p:nvSpPr>
        <p:spPr>
          <a:xfrm>
            <a:off x="1022350" y="2579191"/>
            <a:ext cx="48577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N je bilo koja baza; seče 3 baze posle početka.</a:t>
            </a:r>
            <a:endParaRPr sz="1400"/>
          </a:p>
        </p:txBody>
      </p:sp>
      <p:sp>
        <p:nvSpPr>
          <p:cNvPr id="8" name="Rounded Rectangle 7"/>
          <p:cNvSpPr/>
          <p:nvPr/>
        </p:nvSpPr>
        <p:spPr>
          <a:xfrm>
            <a:off x="6200775" y="1704876"/>
            <a:ext cx="5175250" cy="1313061"/>
          </a:xfrm>
          <a:prstGeom prst="roundRect">
            <a:avLst>
              <a:gd name="adj" fmla="val 773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1.60"/>
          <p:cNvSpPr txBox="1"/>
          <p:nvPr/>
        </p:nvSpPr>
        <p:spPr>
          <a:xfrm>
            <a:off x="6407150" y="188585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AbcII</a:t>
            </a:r>
            <a:endParaRPr sz="1800"/>
          </a:p>
        </p:txBody>
      </p:sp>
      <p:sp>
        <p:nvSpPr>
          <p:cNvPr id="10" name="Tekst 1x21.00"/>
          <p:cNvSpPr txBox="1"/>
          <p:nvPr/>
        </p:nvSpPr>
        <p:spPr>
          <a:xfrm>
            <a:off x="6407150" y="2236291"/>
            <a:ext cx="4857750" cy="266700"/>
          </a:xfrm>
          <a:prstGeom prst="rect">
            <a:avLst/>
          </a:prstGeom>
          <a:noFill/>
        </p:spPr>
        <p:txBody>
          <a:bodyPr wrap="square" anchor="t" lIns="0" rIns="0" tIns="0" bIns="0">
            <a:noAutofit/>
          </a:bodyPr>
          <a:lstStyle/>
          <a:p>
            <a:pPr algn="l">
              <a:lnSpc>
                <a:spcPts val="2100"/>
              </a:lnSpc>
              <a:spcBef>
                <a:spcPts val="0"/>
              </a:spcBef>
              <a:spcAft>
                <a:spcPts val="0"/>
              </a:spcAft>
            </a:pPr>
            <a:r>
              <a:rPr sz="1400" b="0" i="0">
                <a:solidFill>
                  <a:srgbClr val="13262B"/>
                </a:solidFill>
                <a:latin typeface="Consolas"/>
              </a:rPr>
              <a:t>GCRW*TG → </a:t>
            </a:r>
            <a:r>
              <a:rPr sz="1400" b="0" i="0">
                <a:solidFill>
                  <a:srgbClr val="A8521A"/>
                </a:solidFill>
                <a:latin typeface="Consolas"/>
              </a:rPr>
              <a:t>GC[AG][AT]TG</a:t>
            </a:r>
            <a:endParaRPr sz="1400"/>
          </a:p>
        </p:txBody>
      </p:sp>
      <p:sp>
        <p:nvSpPr>
          <p:cNvPr id="11" name="Tekst 1x20.30"/>
          <p:cNvSpPr txBox="1"/>
          <p:nvPr/>
        </p:nvSpPr>
        <p:spPr>
          <a:xfrm>
            <a:off x="6407150" y="2579191"/>
            <a:ext cx="48577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 je A ili G, W je A ili T; seče 4 baze posle početka.</a:t>
            </a:r>
            <a:endParaRPr sz="1400"/>
          </a:p>
        </p:txBody>
      </p:sp>
      <p:sp>
        <p:nvSpPr>
          <p:cNvPr id="12" name="Rounded Rectangle 11"/>
          <p:cNvSpPr/>
          <p:nvPr/>
        </p:nvSpPr>
        <p:spPr>
          <a:xfrm>
            <a:off x="819150" y="3281462"/>
            <a:ext cx="4696619"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5x20.15"/>
          <p:cNvSpPr txBox="1"/>
          <p:nvPr/>
        </p:nvSpPr>
        <p:spPr>
          <a:xfrm>
            <a:off x="1079500" y="3465612"/>
            <a:ext cx="4259437"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import</a:t>
            </a:r>
            <a:r>
              <a:rPr sz="1300" b="0" i="0">
                <a:solidFill>
                  <a:srgbClr val="E8EEE9"/>
                </a:solidFill>
                <a:latin typeface="Consolas"/>
              </a:rPr>
              <a:t> re</a:t>
            </a:r>
            <a:br/>
            <a:r>
              <a:rPr sz="1300" b="0" i="0">
                <a:solidFill>
                  <a:srgbClr val="E8EEE9"/>
                </a:solidFill>
                <a:latin typeface="Consolas"/>
              </a:rPr>
              <a:t>dna = open(</a:t>
            </a:r>
            <a:r>
              <a:rPr sz="1300" b="0" i="0">
                <a:solidFill>
                  <a:srgbClr val="F0A35E"/>
                </a:solidFill>
                <a:latin typeface="Consolas"/>
              </a:rPr>
              <a:t>"dna.txt"</a:t>
            </a:r>
            <a:r>
              <a:rPr sz="1300" b="0" i="0">
                <a:solidFill>
                  <a:srgbClr val="E8EEE9"/>
                </a:solidFill>
                <a:latin typeface="Consolas"/>
              </a:rPr>
              <a:t>).read().rstrip(</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print(</a:t>
            </a:r>
            <a:r>
              <a:rPr sz="1300" b="0" i="0">
                <a:solidFill>
                  <a:srgbClr val="F0A35E"/>
                </a:solidFill>
                <a:latin typeface="Consolas"/>
              </a:rPr>
              <a:t>"AbcI cuts at:"</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match </a:t>
            </a:r>
            <a:r>
              <a:rPr sz="1300" b="0" i="0">
                <a:solidFill>
                  <a:srgbClr val="6FD3C1"/>
                </a:solidFill>
                <a:latin typeface="Consolas"/>
              </a:rPr>
              <a:t>in</a:t>
            </a:r>
            <a:r>
              <a:rPr sz="1300" b="0" i="0">
                <a:solidFill>
                  <a:srgbClr val="E8EEE9"/>
                </a:solidFill>
                <a:latin typeface="Consolas"/>
              </a:rPr>
              <a:t> re.finditer(</a:t>
            </a:r>
            <a:r>
              <a:rPr sz="1300" b="0" i="0">
                <a:solidFill>
                  <a:srgbClr val="F0A35E"/>
                </a:solidFill>
                <a:latin typeface="Consolas"/>
              </a:rPr>
              <a:t>r"A[ATGC]TAAT"</a:t>
            </a:r>
            <a:r>
              <a:rPr sz="1300" b="0" i="0">
                <a:solidFill>
                  <a:srgbClr val="E8EEE9"/>
                </a:solidFill>
                <a:latin typeface="Consolas"/>
              </a:rPr>
              <a:t>, dna):</a:t>
            </a:r>
            <a:br/>
            <a:r>
              <a:rPr sz="1300" b="0" i="0">
                <a:solidFill>
                  <a:srgbClr val="E8EEE9"/>
                </a:solidFill>
                <a:latin typeface="Consolas"/>
              </a:rPr>
              <a:t>    print(match.start() + 3)</a:t>
            </a:r>
            <a:endParaRPr sz="1300"/>
          </a:p>
        </p:txBody>
      </p:sp>
      <p:sp>
        <p:nvSpPr>
          <p:cNvPr id="14" name="Rounded Rectangle 13"/>
          <p:cNvSpPr/>
          <p:nvPr/>
        </p:nvSpPr>
        <p:spPr>
          <a:xfrm>
            <a:off x="5630069" y="3281462"/>
            <a:ext cx="1892300" cy="1647726"/>
          </a:xfrm>
          <a:prstGeom prst="roundRect">
            <a:avLst>
              <a:gd name="adj" fmla="val 616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5x20.15"/>
          <p:cNvSpPr txBox="1"/>
          <p:nvPr/>
        </p:nvSpPr>
        <p:spPr>
          <a:xfrm>
            <a:off x="5890419" y="3465612"/>
            <a:ext cx="1399032"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t>
            </a:r>
            <a:br/>
            <a:r>
              <a:rPr sz="1300" b="0" i="0">
                <a:solidFill>
                  <a:srgbClr val="13262B"/>
                </a:solidFill>
                <a:latin typeface="Consolas"/>
              </a:rPr>
              <a:t> </a:t>
            </a:r>
            <a:br/>
            <a:r>
              <a:rPr sz="1300" b="0" i="0">
                <a:solidFill>
                  <a:srgbClr val="13262B"/>
                </a:solidFill>
                <a:latin typeface="Consolas"/>
              </a:rPr>
              <a:t>AbcI cuts at:</a:t>
            </a:r>
            <a:br/>
            <a:r>
              <a:rPr sz="1300" b="0" i="0">
                <a:solidFill>
                  <a:srgbClr val="13262B"/>
                </a:solidFill>
                <a:latin typeface="Consolas"/>
              </a:rPr>
              <a:t>1143</a:t>
            </a:r>
            <a:br/>
            <a:r>
              <a:rPr sz="1300" b="0" i="0">
                <a:solidFill>
                  <a:srgbClr val="13262B"/>
                </a:solidFill>
                <a:latin typeface="Consolas"/>
              </a:rPr>
              <a:t>1628</a:t>
            </a:r>
            <a:endParaRPr sz="1300"/>
          </a:p>
        </p:txBody>
      </p:sp>
      <p:sp>
        <p:nvSpPr>
          <p:cNvPr id="16" name="Rounded Rectangle 15"/>
          <p:cNvSpPr/>
          <p:nvPr/>
        </p:nvSpPr>
        <p:spPr>
          <a:xfrm>
            <a:off x="7630319" y="3275112"/>
            <a:ext cx="3748881" cy="1660426"/>
          </a:xfrm>
          <a:prstGeom prst="roundRect">
            <a:avLst>
              <a:gd name="adj" fmla="val 4589"/>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30319" y="3275112"/>
            <a:ext cx="38100" cy="1660426"/>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2x20.30"/>
          <p:cNvSpPr txBox="1"/>
          <p:nvPr/>
        </p:nvSpPr>
        <p:spPr>
          <a:xfrm>
            <a:off x="7846219" y="3847505"/>
            <a:ext cx="342228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start()</a:t>
            </a:r>
            <a:r>
              <a:rPr sz="1400" b="0" i="0">
                <a:solidFill>
                  <a:srgbClr val="13262B"/>
                </a:solidFill>
                <a:latin typeface="Arial"/>
              </a:rPr>
              <a:t> daje početak motiva (1140, 1625); enzim seče 3 baze dalje.</a:t>
            </a:r>
            <a:endParaRPr sz="14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VEŽBA: DVOSTRUKA DIGESTIJA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2: lista svih mesta sečenja</a:t>
            </a:r>
            <a:endParaRPr sz="3200"/>
          </a:p>
        </p:txBody>
      </p:sp>
      <p:sp>
        <p:nvSpPr>
          <p:cNvPr id="4" name="Rectangle 3"/>
          <p:cNvSpPr/>
          <p:nvPr/>
        </p:nvSpPr>
        <p:spPr>
          <a:xfrm>
            <a:off x="819150" y="1708051"/>
            <a:ext cx="5988050" cy="464741"/>
          </a:xfrm>
          <a:prstGeom prst="rect">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9.60"/>
          <p:cNvSpPr txBox="1"/>
          <p:nvPr/>
        </p:nvSpPr>
        <p:spPr>
          <a:xfrm>
            <a:off x="825500" y="1816001"/>
            <a:ext cx="597535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13262B"/>
                </a:solidFill>
                <a:latin typeface="Consolas"/>
              </a:rPr>
              <a:t>1143</a:t>
            </a:r>
            <a:endParaRPr sz="1400"/>
          </a:p>
        </p:txBody>
      </p:sp>
      <p:sp>
        <p:nvSpPr>
          <p:cNvPr id="6" name="Rectangle 5"/>
          <p:cNvSpPr/>
          <p:nvPr/>
        </p:nvSpPr>
        <p:spPr>
          <a:xfrm>
            <a:off x="6819900" y="1708051"/>
            <a:ext cx="2533650" cy="464741"/>
          </a:xfrm>
          <a:prstGeom prst="rect">
            <a:avLst/>
          </a:prstGeom>
          <a:solidFill>
            <a:srgbClr val="F0A35E"/>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9.60"/>
          <p:cNvSpPr txBox="1"/>
          <p:nvPr/>
        </p:nvSpPr>
        <p:spPr>
          <a:xfrm>
            <a:off x="6826250" y="1816001"/>
            <a:ext cx="252095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13262B"/>
                </a:solidFill>
                <a:latin typeface="Consolas"/>
              </a:rPr>
              <a:t>485</a:t>
            </a:r>
            <a:endParaRPr sz="1400"/>
          </a:p>
        </p:txBody>
      </p:sp>
      <p:sp>
        <p:nvSpPr>
          <p:cNvPr id="8" name="Rectangle 7"/>
          <p:cNvSpPr/>
          <p:nvPr/>
        </p:nvSpPr>
        <p:spPr>
          <a:xfrm>
            <a:off x="9366250" y="1708051"/>
            <a:ext cx="2006600" cy="464741"/>
          </a:xfrm>
          <a:prstGeom prst="rect">
            <a:avLst/>
          </a:prstGeom>
          <a:solidFill>
            <a:srgbClr val="CFE3DD"/>
          </a:solidFill>
          <a:ln w="12700">
            <a:solidFill>
              <a:srgbClr val="0F7C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9.60"/>
          <p:cNvSpPr txBox="1"/>
          <p:nvPr/>
        </p:nvSpPr>
        <p:spPr>
          <a:xfrm>
            <a:off x="9372600" y="1816001"/>
            <a:ext cx="1993900" cy="248841"/>
          </a:xfrm>
          <a:prstGeom prst="rect">
            <a:avLst/>
          </a:prstGeom>
          <a:noFill/>
        </p:spPr>
        <p:txBody>
          <a:bodyPr wrap="square" anchor="t" lIns="0" rIns="0" tIns="0" bIns="0">
            <a:noAutofit/>
          </a:bodyPr>
          <a:lstStyle/>
          <a:p>
            <a:pPr algn="ctr">
              <a:lnSpc>
                <a:spcPts val="1960"/>
              </a:lnSpc>
              <a:spcBef>
                <a:spcPts val="0"/>
              </a:spcBef>
              <a:spcAft>
                <a:spcPts val="0"/>
              </a:spcAft>
            </a:pPr>
            <a:r>
              <a:rPr sz="1400" b="0" i="0">
                <a:solidFill>
                  <a:srgbClr val="13262B"/>
                </a:solidFill>
                <a:latin typeface="Consolas"/>
              </a:rPr>
              <a:t>384</a:t>
            </a:r>
            <a:endParaRPr sz="1400"/>
          </a:p>
        </p:txBody>
      </p:sp>
      <p:sp>
        <p:nvSpPr>
          <p:cNvPr id="10" name="Tekst 1x16.80"/>
          <p:cNvSpPr txBox="1"/>
          <p:nvPr/>
        </p:nvSpPr>
        <p:spPr>
          <a:xfrm>
            <a:off x="812800" y="2255341"/>
            <a:ext cx="6120765"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0</a:t>
            </a:r>
            <a:endParaRPr sz="1200"/>
          </a:p>
        </p:txBody>
      </p:sp>
      <p:sp>
        <p:nvSpPr>
          <p:cNvPr id="11" name="Tekst 1x16.80"/>
          <p:cNvSpPr txBox="1"/>
          <p:nvPr/>
        </p:nvSpPr>
        <p:spPr>
          <a:xfrm>
            <a:off x="6813550" y="2255341"/>
            <a:ext cx="2597277"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1143</a:t>
            </a:r>
            <a:endParaRPr sz="1200"/>
          </a:p>
        </p:txBody>
      </p:sp>
      <p:sp>
        <p:nvSpPr>
          <p:cNvPr id="12" name="Tekst 1x16.80"/>
          <p:cNvSpPr txBox="1"/>
          <p:nvPr/>
        </p:nvSpPr>
        <p:spPr>
          <a:xfrm>
            <a:off x="9359900" y="2255341"/>
            <a:ext cx="360561"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1628</a:t>
            </a:r>
            <a:endParaRPr sz="1200"/>
          </a:p>
        </p:txBody>
      </p:sp>
      <p:sp>
        <p:nvSpPr>
          <p:cNvPr id="13" name="Tekst 1x16.80"/>
          <p:cNvSpPr txBox="1"/>
          <p:nvPr/>
        </p:nvSpPr>
        <p:spPr>
          <a:xfrm>
            <a:off x="11044039" y="2255341"/>
            <a:ext cx="360561"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5F6F70"/>
                </a:solidFill>
                <a:latin typeface="Consolas"/>
              </a:rPr>
              <a:t>2012</a:t>
            </a:r>
            <a:endParaRPr sz="1200"/>
          </a:p>
        </p:txBody>
      </p:sp>
      <p:sp>
        <p:nvSpPr>
          <p:cNvPr id="14" name="Rounded Rectangle 13"/>
          <p:cNvSpPr/>
          <p:nvPr/>
        </p:nvSpPr>
        <p:spPr>
          <a:xfrm>
            <a:off x="819150" y="2729012"/>
            <a:ext cx="4696619"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5x20.15"/>
          <p:cNvSpPr txBox="1"/>
          <p:nvPr/>
        </p:nvSpPr>
        <p:spPr>
          <a:xfrm>
            <a:off x="1079500" y="2913162"/>
            <a:ext cx="4259437"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all_cuts = [0]</a:t>
            </a:r>
            <a:br/>
            <a:r>
              <a:rPr sz="1300" b="0" i="0">
                <a:solidFill>
                  <a:srgbClr val="6FD3C1"/>
                </a:solidFill>
                <a:latin typeface="Consolas"/>
              </a:rPr>
              <a:t>for</a:t>
            </a:r>
            <a:r>
              <a:rPr sz="1300" b="0" i="0">
                <a:solidFill>
                  <a:srgbClr val="E8EEE9"/>
                </a:solidFill>
                <a:latin typeface="Consolas"/>
              </a:rPr>
              <a:t> match </a:t>
            </a:r>
            <a:r>
              <a:rPr sz="1300" b="0" i="0">
                <a:solidFill>
                  <a:srgbClr val="6FD3C1"/>
                </a:solidFill>
                <a:latin typeface="Consolas"/>
              </a:rPr>
              <a:t>in</a:t>
            </a:r>
            <a:r>
              <a:rPr sz="1300" b="0" i="0">
                <a:solidFill>
                  <a:srgbClr val="E8EEE9"/>
                </a:solidFill>
                <a:latin typeface="Consolas"/>
              </a:rPr>
              <a:t> re.finditer(</a:t>
            </a:r>
            <a:r>
              <a:rPr sz="1300" b="0" i="0">
                <a:solidFill>
                  <a:srgbClr val="F0A35E"/>
                </a:solidFill>
                <a:latin typeface="Consolas"/>
              </a:rPr>
              <a:t>r"A[ATGC]TAAT"</a:t>
            </a:r>
            <a:r>
              <a:rPr sz="1300" b="0" i="0">
                <a:solidFill>
                  <a:srgbClr val="E8EEE9"/>
                </a:solidFill>
                <a:latin typeface="Consolas"/>
              </a:rPr>
              <a:t>, dna):</a:t>
            </a:r>
            <a:br/>
            <a:r>
              <a:rPr sz="1300" b="0" i="0">
                <a:solidFill>
                  <a:srgbClr val="E8EEE9"/>
                </a:solidFill>
                <a:latin typeface="Consolas"/>
              </a:rPr>
              <a:t>    all_cuts.append(match.start() + 3)</a:t>
            </a:r>
            <a:br/>
            <a:r>
              <a:rPr sz="1300" b="0" i="0">
                <a:solidFill>
                  <a:srgbClr val="E8EEE9"/>
                </a:solidFill>
                <a:latin typeface="Consolas"/>
              </a:rPr>
              <a:t>all_cuts.append(len(dna))</a:t>
            </a:r>
            <a:br/>
            <a:r>
              <a:rPr sz="1300" b="0" i="0">
                <a:solidFill>
                  <a:srgbClr val="E8EEE9"/>
                </a:solidFill>
                <a:latin typeface="Consolas"/>
              </a:rPr>
              <a:t>print(all_cuts)</a:t>
            </a:r>
            <a:endParaRPr sz="1300"/>
          </a:p>
        </p:txBody>
      </p:sp>
      <p:sp>
        <p:nvSpPr>
          <p:cNvPr id="16" name="Rounded Rectangle 15"/>
          <p:cNvSpPr/>
          <p:nvPr/>
        </p:nvSpPr>
        <p:spPr>
          <a:xfrm>
            <a:off x="5630069" y="2729012"/>
            <a:ext cx="2654300" cy="1647726"/>
          </a:xfrm>
          <a:prstGeom prst="roundRect">
            <a:avLst>
              <a:gd name="adj" fmla="val 616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20.15"/>
          <p:cNvSpPr txBox="1"/>
          <p:nvPr/>
        </p:nvSpPr>
        <p:spPr>
          <a:xfrm>
            <a:off x="5890419" y="3936702"/>
            <a:ext cx="2176272"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[0, 1143, 1628, 2012]</a:t>
            </a:r>
            <a:endParaRPr sz="1300"/>
          </a:p>
        </p:txBody>
      </p:sp>
      <p:sp>
        <p:nvSpPr>
          <p:cNvPr id="18" name="Rounded Rectangle 17"/>
          <p:cNvSpPr/>
          <p:nvPr/>
        </p:nvSpPr>
        <p:spPr>
          <a:xfrm>
            <a:off x="8392319" y="2722662"/>
            <a:ext cx="2986881" cy="1660426"/>
          </a:xfrm>
          <a:prstGeom prst="roundRect">
            <a:avLst>
              <a:gd name="adj" fmla="val 4589"/>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92319" y="2722662"/>
            <a:ext cx="38100" cy="1660426"/>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2x20.30"/>
          <p:cNvSpPr txBox="1"/>
          <p:nvPr/>
        </p:nvSpPr>
        <p:spPr>
          <a:xfrm>
            <a:off x="8608219" y="3295055"/>
            <a:ext cx="264504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„Zamišljena” mesta sečenja na početku (0) i na kraju (dužina).</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VEŽBA: DVOSTRUKA DIGESTIJA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3: od mesta sečenja do dužina</a:t>
            </a:r>
            <a:endParaRPr sz="3200"/>
          </a:p>
        </p:txBody>
      </p:sp>
      <p:sp>
        <p:nvSpPr>
          <p:cNvPr id="4" name="Rounded Rectangle 3"/>
          <p:cNvSpPr/>
          <p:nvPr/>
        </p:nvSpPr>
        <p:spPr>
          <a:xfrm>
            <a:off x="819150" y="1708051"/>
            <a:ext cx="6057900"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5x20.15"/>
          <p:cNvSpPr txBox="1"/>
          <p:nvPr/>
        </p:nvSpPr>
        <p:spPr>
          <a:xfrm>
            <a:off x="1079500" y="1892201"/>
            <a:ext cx="5647944"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i </a:t>
            </a:r>
            <a:r>
              <a:rPr sz="1300" b="0" i="0">
                <a:solidFill>
                  <a:srgbClr val="6FD3C1"/>
                </a:solidFill>
                <a:latin typeface="Consolas"/>
              </a:rPr>
              <a:t>in</a:t>
            </a:r>
            <a:r>
              <a:rPr sz="1300" b="0" i="0">
                <a:solidFill>
                  <a:srgbClr val="E8EEE9"/>
                </a:solidFill>
                <a:latin typeface="Consolas"/>
              </a:rPr>
              <a:t> range(1, len(all_cuts)):</a:t>
            </a:r>
            <a:br/>
            <a:r>
              <a:rPr sz="1300" b="0" i="0">
                <a:solidFill>
                  <a:srgbClr val="E8EEE9"/>
                </a:solidFill>
                <a:latin typeface="Consolas"/>
              </a:rPr>
              <a:t>    this_cut_position = all_cuts[i]</a:t>
            </a:r>
            <a:br/>
            <a:r>
              <a:rPr sz="1300" b="0" i="0">
                <a:solidFill>
                  <a:srgbClr val="E8EEE9"/>
                </a:solidFill>
                <a:latin typeface="Consolas"/>
              </a:rPr>
              <a:t>    previous_cut_position = all_cuts[i-1]</a:t>
            </a:r>
            <a:br/>
            <a:r>
              <a:rPr sz="1300" b="0" i="0">
                <a:solidFill>
                  <a:srgbClr val="E8EEE9"/>
                </a:solidFill>
                <a:latin typeface="Consolas"/>
              </a:rPr>
              <a:t>    fragment_size = this_cut_position - previous_cut_position</a:t>
            </a:r>
            <a:br/>
            <a:r>
              <a:rPr sz="1300" b="0" i="0">
                <a:solidFill>
                  <a:srgbClr val="E8EEE9"/>
                </a:solidFill>
                <a:latin typeface="Consolas"/>
              </a:rPr>
              <a:t>    print(</a:t>
            </a:r>
            <a:r>
              <a:rPr sz="1300" b="0" i="0">
                <a:solidFill>
                  <a:srgbClr val="F0A35E"/>
                </a:solidFill>
                <a:latin typeface="Consolas"/>
              </a:rPr>
              <a:t>"one fragment size is "</a:t>
            </a:r>
            <a:r>
              <a:rPr sz="1300" b="0" i="0">
                <a:solidFill>
                  <a:srgbClr val="E8EEE9"/>
                </a:solidFill>
                <a:latin typeface="Consolas"/>
              </a:rPr>
              <a:t> + str(fragment_size))</a:t>
            </a:r>
            <a:endParaRPr sz="1300"/>
          </a:p>
        </p:txBody>
      </p:sp>
      <p:sp>
        <p:nvSpPr>
          <p:cNvPr id="6" name="Rounded Rectangle 5"/>
          <p:cNvSpPr/>
          <p:nvPr/>
        </p:nvSpPr>
        <p:spPr>
          <a:xfrm>
            <a:off x="6991350" y="1708051"/>
            <a:ext cx="4381500" cy="1647726"/>
          </a:xfrm>
          <a:prstGeom prst="roundRect">
            <a:avLst>
              <a:gd name="adj" fmla="val 616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3x20.15"/>
          <p:cNvSpPr txBox="1"/>
          <p:nvPr/>
        </p:nvSpPr>
        <p:spPr>
          <a:xfrm>
            <a:off x="7251700" y="2148086"/>
            <a:ext cx="3938016"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one fragment size is 1143</a:t>
            </a:r>
            <a:br/>
            <a:r>
              <a:rPr sz="1300" b="0" i="0">
                <a:solidFill>
                  <a:srgbClr val="13262B"/>
                </a:solidFill>
                <a:latin typeface="Consolas"/>
              </a:rPr>
              <a:t>one fragment size is 485</a:t>
            </a:r>
            <a:br/>
            <a:r>
              <a:rPr sz="1300" b="0" i="0">
                <a:solidFill>
                  <a:srgbClr val="13262B"/>
                </a:solidFill>
                <a:latin typeface="Consolas"/>
              </a:rPr>
              <a:t>one fragment size is 384</a:t>
            </a:r>
            <a:endParaRPr sz="1300"/>
          </a:p>
        </p:txBody>
      </p:sp>
      <p:sp>
        <p:nvSpPr>
          <p:cNvPr id="8" name="Rounded Rectangle 7"/>
          <p:cNvSpPr/>
          <p:nvPr/>
        </p:nvSpPr>
        <p:spPr>
          <a:xfrm>
            <a:off x="815975" y="3619302"/>
            <a:ext cx="3405684" cy="1084461"/>
          </a:xfrm>
          <a:prstGeom prst="roundRect">
            <a:avLst>
              <a:gd name="adj" fmla="val 936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3x20.30"/>
          <p:cNvSpPr txBox="1"/>
          <p:nvPr/>
        </p:nvSpPr>
        <p:spPr>
          <a:xfrm>
            <a:off x="996950" y="3774877"/>
            <a:ext cx="3104608"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range(1, len(all_cuts))</a:t>
            </a:r>
            <a:r>
              <a:rPr sz="1400" b="0" i="0">
                <a:solidFill>
                  <a:srgbClr val="3D4F52"/>
                </a:solidFill>
                <a:latin typeface="Arial"/>
              </a:rPr>
              <a:t>: počinjemo od drugog elementa, jer prvi nema prethodnika.</a:t>
            </a:r>
            <a:endParaRPr sz="1400"/>
          </a:p>
        </p:txBody>
      </p:sp>
      <p:sp>
        <p:nvSpPr>
          <p:cNvPr id="10" name="Rounded Rectangle 9"/>
          <p:cNvSpPr/>
          <p:nvPr/>
        </p:nvSpPr>
        <p:spPr>
          <a:xfrm>
            <a:off x="4380409" y="3619302"/>
            <a:ext cx="3405783" cy="1084461"/>
          </a:xfrm>
          <a:prstGeom prst="roundRect">
            <a:avLst>
              <a:gd name="adj" fmla="val 936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3x20.30"/>
          <p:cNvSpPr txBox="1"/>
          <p:nvPr/>
        </p:nvSpPr>
        <p:spPr>
          <a:xfrm>
            <a:off x="4561384" y="3774877"/>
            <a:ext cx="3104709"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Radimo sa indeksima, a ne sa elementima: element </a:t>
            </a:r>
            <a:r>
              <a:rPr sz="1400" b="0" i="0">
                <a:solidFill>
                  <a:srgbClr val="A8521A"/>
                </a:solidFill>
                <a:latin typeface="Arial"/>
              </a:rPr>
              <a:t>i</a:t>
            </a:r>
            <a:r>
              <a:rPr sz="1400" b="0" i="0">
                <a:solidFill>
                  <a:srgbClr val="3D4F52"/>
                </a:solidFill>
                <a:latin typeface="Arial"/>
              </a:rPr>
              <a:t> i njegov prethodnik </a:t>
            </a:r>
            <a:r>
              <a:rPr sz="1400" b="0" i="0">
                <a:solidFill>
                  <a:srgbClr val="A8521A"/>
                </a:solidFill>
                <a:latin typeface="Arial"/>
              </a:rPr>
              <a:t>i-1</a:t>
            </a:r>
            <a:r>
              <a:rPr sz="1400" b="0" i="0">
                <a:solidFill>
                  <a:srgbClr val="3D4F52"/>
                </a:solidFill>
                <a:latin typeface="Arial"/>
              </a:rPr>
              <a:t>.</a:t>
            </a:r>
            <a:endParaRPr sz="1400"/>
          </a:p>
        </p:txBody>
      </p:sp>
      <p:sp>
        <p:nvSpPr>
          <p:cNvPr id="12" name="Rounded Rectangle 11"/>
          <p:cNvSpPr/>
          <p:nvPr/>
        </p:nvSpPr>
        <p:spPr>
          <a:xfrm>
            <a:off x="7941766" y="3616127"/>
            <a:ext cx="3437434" cy="1090811"/>
          </a:xfrm>
          <a:prstGeom prst="roundRect">
            <a:avLst>
              <a:gd name="adj" fmla="val 698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41766" y="3616127"/>
            <a:ext cx="38100" cy="109081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2x20.30"/>
          <p:cNvSpPr txBox="1"/>
          <p:nvPr/>
        </p:nvSpPr>
        <p:spPr>
          <a:xfrm>
            <a:off x="8157666" y="3768527"/>
            <a:ext cx="310460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Dužina fragmenta je razlika dva susedna mesta sečenja.</a:t>
            </a:r>
            <a:endParaRPr sz="14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VEŽBA: DVOSTRUKA DIGESTIJA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4: dva enzima i sortiranje</a:t>
            </a:r>
            <a:endParaRPr sz="3200"/>
          </a:p>
        </p:txBody>
      </p:sp>
      <p:sp>
        <p:nvSpPr>
          <p:cNvPr id="4" name="Rounded Rectangle 3"/>
          <p:cNvSpPr/>
          <p:nvPr/>
        </p:nvSpPr>
        <p:spPr>
          <a:xfrm>
            <a:off x="819150" y="1708051"/>
            <a:ext cx="4787404" cy="2159496"/>
          </a:xfrm>
          <a:prstGeom prst="roundRect">
            <a:avLst>
              <a:gd name="adj" fmla="val 470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7x20.15"/>
          <p:cNvSpPr txBox="1"/>
          <p:nvPr/>
        </p:nvSpPr>
        <p:spPr>
          <a:xfrm>
            <a:off x="1079500" y="1892201"/>
            <a:ext cx="4352038" cy="179119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all_cuts = [0]</a:t>
            </a:r>
            <a:br/>
            <a:r>
              <a:rPr sz="1300" b="0" i="0">
                <a:solidFill>
                  <a:srgbClr val="6FD3C1"/>
                </a:solidFill>
                <a:latin typeface="Consolas"/>
              </a:rPr>
              <a:t>for</a:t>
            </a:r>
            <a:r>
              <a:rPr sz="1300" b="0" i="0">
                <a:solidFill>
                  <a:srgbClr val="E8EEE9"/>
                </a:solidFill>
                <a:latin typeface="Consolas"/>
              </a:rPr>
              <a:t> match </a:t>
            </a:r>
            <a:r>
              <a:rPr sz="1300" b="0" i="0">
                <a:solidFill>
                  <a:srgbClr val="6FD3C1"/>
                </a:solidFill>
                <a:latin typeface="Consolas"/>
              </a:rPr>
              <a:t>in</a:t>
            </a:r>
            <a:r>
              <a:rPr sz="1300" b="0" i="0">
                <a:solidFill>
                  <a:srgbClr val="E8EEE9"/>
                </a:solidFill>
                <a:latin typeface="Consolas"/>
              </a:rPr>
              <a:t> re.finditer(</a:t>
            </a:r>
            <a:r>
              <a:rPr sz="1300" b="0" i="0">
                <a:solidFill>
                  <a:srgbClr val="F0A35E"/>
                </a:solidFill>
                <a:latin typeface="Consolas"/>
              </a:rPr>
              <a:t>r"A[ATGC]TAAT"</a:t>
            </a:r>
            <a:r>
              <a:rPr sz="1300" b="0" i="0">
                <a:solidFill>
                  <a:srgbClr val="E8EEE9"/>
                </a:solidFill>
                <a:latin typeface="Consolas"/>
              </a:rPr>
              <a:t>, dna):</a:t>
            </a:r>
            <a:br/>
            <a:r>
              <a:rPr sz="1300" b="0" i="0">
                <a:solidFill>
                  <a:srgbClr val="E8EEE9"/>
                </a:solidFill>
                <a:latin typeface="Consolas"/>
              </a:rPr>
              <a:t>    all_cuts.append(match.start() + 3)</a:t>
            </a:r>
            <a:br/>
            <a:r>
              <a:rPr sz="1300" b="0" i="0">
                <a:solidFill>
                  <a:srgbClr val="6FD3C1"/>
                </a:solidFill>
                <a:latin typeface="Consolas"/>
              </a:rPr>
              <a:t>for</a:t>
            </a:r>
            <a:r>
              <a:rPr sz="1300" b="0" i="0">
                <a:solidFill>
                  <a:srgbClr val="E8EEE9"/>
                </a:solidFill>
                <a:latin typeface="Consolas"/>
              </a:rPr>
              <a:t> match </a:t>
            </a:r>
            <a:r>
              <a:rPr sz="1300" b="0" i="0">
                <a:solidFill>
                  <a:srgbClr val="6FD3C1"/>
                </a:solidFill>
                <a:latin typeface="Consolas"/>
              </a:rPr>
              <a:t>in</a:t>
            </a:r>
            <a:r>
              <a:rPr sz="1300" b="0" i="0">
                <a:solidFill>
                  <a:srgbClr val="E8EEE9"/>
                </a:solidFill>
                <a:latin typeface="Consolas"/>
              </a:rPr>
              <a:t> re.finditer(</a:t>
            </a:r>
            <a:r>
              <a:rPr sz="1300" b="0" i="0">
                <a:solidFill>
                  <a:srgbClr val="F0A35E"/>
                </a:solidFill>
                <a:latin typeface="Consolas"/>
              </a:rPr>
              <a:t>r"GC[AG][AT]TG"</a:t>
            </a:r>
            <a:r>
              <a:rPr sz="1300" b="0" i="0">
                <a:solidFill>
                  <a:srgbClr val="E8EEE9"/>
                </a:solidFill>
                <a:latin typeface="Consolas"/>
              </a:rPr>
              <a:t>, dna):</a:t>
            </a:r>
            <a:br/>
            <a:r>
              <a:rPr sz="1300" b="0" i="0">
                <a:solidFill>
                  <a:srgbClr val="E8EEE9"/>
                </a:solidFill>
                <a:latin typeface="Consolas"/>
              </a:rPr>
              <a:t>    all_cuts.append(match.start() + 4)</a:t>
            </a:r>
            <a:br/>
            <a:r>
              <a:rPr sz="1300" b="0" i="0">
                <a:solidFill>
                  <a:srgbClr val="E8EEE9"/>
                </a:solidFill>
                <a:latin typeface="Consolas"/>
              </a:rPr>
              <a:t>all_cuts.append(len(dna))</a:t>
            </a:r>
            <a:br/>
            <a:r>
              <a:rPr sz="1300" b="0" i="0">
                <a:solidFill>
                  <a:srgbClr val="E8EEE9"/>
                </a:solidFill>
                <a:latin typeface="Consolas"/>
              </a:rPr>
              <a:t>sorted_cuts = sorted(all_cuts)</a:t>
            </a:r>
            <a:endParaRPr sz="1300"/>
          </a:p>
        </p:txBody>
      </p:sp>
      <p:sp>
        <p:nvSpPr>
          <p:cNvPr id="6" name="Rounded Rectangle 5"/>
          <p:cNvSpPr/>
          <p:nvPr/>
        </p:nvSpPr>
        <p:spPr>
          <a:xfrm>
            <a:off x="5924054" y="1708051"/>
            <a:ext cx="5448796" cy="1042591"/>
          </a:xfrm>
          <a:prstGeom prst="roundRect">
            <a:avLst>
              <a:gd name="adj" fmla="val 97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6133604" y="1841401"/>
            <a:ext cx="513029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BEZ SORTIRANJA</a:t>
            </a:r>
            <a:endParaRPr sz="1200"/>
          </a:p>
        </p:txBody>
      </p:sp>
      <p:sp>
        <p:nvSpPr>
          <p:cNvPr id="8" name="Tekst 1x20.15"/>
          <p:cNvSpPr txBox="1"/>
          <p:nvPr/>
        </p:nvSpPr>
        <p:spPr>
          <a:xfrm>
            <a:off x="6133604" y="2080121"/>
            <a:ext cx="513029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[0, 1143, 1628, 488, 1577, 2012]</a:t>
            </a:r>
            <a:endParaRPr sz="1300"/>
          </a:p>
        </p:txBody>
      </p:sp>
      <p:sp>
        <p:nvSpPr>
          <p:cNvPr id="9" name="Tekst 1x20.15"/>
          <p:cNvSpPr txBox="1"/>
          <p:nvPr/>
        </p:nvSpPr>
        <p:spPr>
          <a:xfrm>
            <a:off x="6133604" y="2361406"/>
            <a:ext cx="513029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1143, 485, </a:t>
            </a:r>
            <a:r>
              <a:rPr sz="1300" b="0" i="0">
                <a:solidFill>
                  <a:srgbClr val="A8521A"/>
                </a:solidFill>
                <a:latin typeface="Consolas"/>
              </a:rPr>
              <a:t>-1140</a:t>
            </a:r>
            <a:r>
              <a:rPr sz="1300" b="0" i="0">
                <a:solidFill>
                  <a:srgbClr val="13262B"/>
                </a:solidFill>
                <a:latin typeface="Consolas"/>
              </a:rPr>
              <a:t>, 1089, 435</a:t>
            </a:r>
            <a:endParaRPr sz="1300"/>
          </a:p>
        </p:txBody>
      </p:sp>
      <p:sp>
        <p:nvSpPr>
          <p:cNvPr id="10" name="Rounded Rectangle 9"/>
          <p:cNvSpPr/>
          <p:nvPr/>
        </p:nvSpPr>
        <p:spPr>
          <a:xfrm>
            <a:off x="5924054" y="2915741"/>
            <a:ext cx="5448796" cy="1042591"/>
          </a:xfrm>
          <a:prstGeom prst="roundRect">
            <a:avLst>
              <a:gd name="adj" fmla="val 97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16.80"/>
          <p:cNvSpPr txBox="1"/>
          <p:nvPr/>
        </p:nvSpPr>
        <p:spPr>
          <a:xfrm>
            <a:off x="6133604" y="3049091"/>
            <a:ext cx="513029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SA SORTED</a:t>
            </a:r>
            <a:endParaRPr sz="1200"/>
          </a:p>
        </p:txBody>
      </p:sp>
      <p:sp>
        <p:nvSpPr>
          <p:cNvPr id="12" name="Tekst 1x20.15"/>
          <p:cNvSpPr txBox="1"/>
          <p:nvPr/>
        </p:nvSpPr>
        <p:spPr>
          <a:xfrm>
            <a:off x="6133604" y="3287812"/>
            <a:ext cx="513029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[0, 488, 1143, 1577, 1628, 2012]</a:t>
            </a:r>
            <a:endParaRPr sz="1300"/>
          </a:p>
        </p:txBody>
      </p:sp>
      <p:sp>
        <p:nvSpPr>
          <p:cNvPr id="13" name="Tekst 1x20.15"/>
          <p:cNvSpPr txBox="1"/>
          <p:nvPr/>
        </p:nvSpPr>
        <p:spPr>
          <a:xfrm>
            <a:off x="6133604" y="3569097"/>
            <a:ext cx="513029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488, 655, 434, 51, 384</a:t>
            </a:r>
            <a:endParaRPr sz="1300"/>
          </a:p>
        </p:txBody>
      </p:sp>
      <p:sp>
        <p:nvSpPr>
          <p:cNvPr id="14" name="Rounded Rectangle 13"/>
          <p:cNvSpPr/>
          <p:nvPr/>
        </p:nvSpPr>
        <p:spPr>
          <a:xfrm>
            <a:off x="812800" y="4218682"/>
            <a:ext cx="10566400"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800" y="421868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2x20.30"/>
          <p:cNvSpPr txBox="1"/>
          <p:nvPr/>
        </p:nvSpPr>
        <p:spPr>
          <a:xfrm>
            <a:off x="1054100" y="4371082"/>
            <a:ext cx="1024382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Računanje dužina pretpostavlja rastući redosled mesta sečenja. Negativan fragment je jasan znak da nešto nije u redu; </a:t>
            </a:r>
            <a:r>
              <a:rPr sz="1400" b="0" i="0">
                <a:solidFill>
                  <a:srgbClr val="A8521A"/>
                </a:solidFill>
                <a:latin typeface="Arial"/>
              </a:rPr>
              <a:t>sorted</a:t>
            </a:r>
            <a:r>
              <a:rPr sz="1400" b="0" i="0">
                <a:solidFill>
                  <a:srgbClr val="13262B"/>
                </a:solidFill>
                <a:latin typeface="Arial"/>
              </a:rPr>
              <a:t> to rešava.</a:t>
            </a:r>
            <a:endParaRPr sz="14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07 · REGULARNI IZRAZI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Rezime i vežbe</a:t>
            </a:r>
            <a:endParaRPr sz="3200"/>
          </a:p>
        </p:txBody>
      </p:sp>
      <p:sp>
        <p:nvSpPr>
          <p:cNvPr id="4" name="Rounded Rectangle 3"/>
          <p:cNvSpPr/>
          <p:nvPr/>
        </p:nvSpPr>
        <p:spPr>
          <a:xfrm>
            <a:off x="815975" y="1704876"/>
            <a:ext cx="4227810" cy="2284412"/>
          </a:xfrm>
          <a:prstGeom prst="roundRect">
            <a:avLst>
              <a:gd name="adj" fmla="val 444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3891361"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smo naučili</a:t>
            </a:r>
            <a:endParaRPr sz="1800"/>
          </a:p>
        </p:txBody>
      </p:sp>
      <p:sp>
        <p:nvSpPr>
          <p:cNvPr id="6" name="Tekst 6x20.30"/>
          <p:cNvSpPr txBox="1"/>
          <p:nvPr/>
        </p:nvSpPr>
        <p:spPr>
          <a:xfrm>
            <a:off x="1022350" y="2261691"/>
            <a:ext cx="3891361" cy="154662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Moduli i import; sirovi stringovi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re.search, a re.match samo od početka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Alternacija, grupe karaktera, kvantifikatori, pozicije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group, start i end match objekta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re.split, re.findall i re.finditer</a:t>
            </a:r>
            <a:endParaRPr sz="1400"/>
          </a:p>
        </p:txBody>
      </p:sp>
      <p:sp>
        <p:nvSpPr>
          <p:cNvPr id="7" name="Rounded Rectangle 6"/>
          <p:cNvSpPr/>
          <p:nvPr/>
        </p:nvSpPr>
        <p:spPr>
          <a:xfrm>
            <a:off x="5250160" y="1701701"/>
            <a:ext cx="6129040" cy="3454003"/>
          </a:xfrm>
          <a:prstGeom prst="roundRect">
            <a:avLst>
              <a:gd name="adj" fmla="val 2941"/>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5453360" y="1879501"/>
            <a:ext cx="5837093"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Vežbe</a:t>
            </a:r>
            <a:endParaRPr sz="1800"/>
          </a:p>
        </p:txBody>
      </p:sp>
      <p:sp>
        <p:nvSpPr>
          <p:cNvPr id="9" name="Tekst 2x20.30"/>
          <p:cNvSpPr txBox="1"/>
          <p:nvPr/>
        </p:nvSpPr>
        <p:spPr>
          <a:xfrm>
            <a:off x="5453360" y="2229941"/>
            <a:ext cx="5837093"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1. Od pristupnih brojeva ispišite one koji ispunjavaju svaki kriterijum posebno:</a:t>
            </a:r>
            <a:endParaRPr sz="1400"/>
          </a:p>
        </p:txBody>
      </p:sp>
      <p:sp>
        <p:nvSpPr>
          <p:cNvPr id="10" name="Tekst 2x18.00"/>
          <p:cNvSpPr txBox="1"/>
          <p:nvPr/>
        </p:nvSpPr>
        <p:spPr>
          <a:xfrm>
            <a:off x="5453360" y="2821682"/>
            <a:ext cx="5837093" cy="457200"/>
          </a:xfrm>
          <a:prstGeom prst="rect">
            <a:avLst/>
          </a:prstGeom>
          <a:noFill/>
        </p:spPr>
        <p:txBody>
          <a:bodyPr wrap="square" anchor="t" lIns="0" rIns="0" tIns="0" bIns="0">
            <a:noAutofit/>
          </a:bodyPr>
          <a:lstStyle/>
          <a:p>
            <a:pPr algn="l">
              <a:lnSpc>
                <a:spcPts val="1800"/>
              </a:lnSpc>
              <a:spcBef>
                <a:spcPts val="0"/>
              </a:spcBef>
              <a:spcAft>
                <a:spcPts val="0"/>
              </a:spcAft>
            </a:pPr>
            <a:r>
              <a:rPr sz="1200" b="0" i="0">
                <a:solidFill>
                  <a:srgbClr val="A8521A"/>
                </a:solidFill>
                <a:latin typeface="Consolas"/>
              </a:rPr>
              <a:t>xkn59438, yhdck2, eihd39d9, chdsye847, hedle3455, xjhd53e, 45da, de37dp</a:t>
            </a:r>
            <a:endParaRPr sz="1200"/>
          </a:p>
        </p:txBody>
      </p:sp>
      <p:sp>
        <p:nvSpPr>
          <p:cNvPr id="11" name="Tekst 3x20.30"/>
          <p:cNvSpPr txBox="1"/>
          <p:nvPr/>
        </p:nvSpPr>
        <p:spPr>
          <a:xfrm>
            <a:off x="5453360" y="3355082"/>
            <a:ext cx="5837093"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sadrže 5 · sadrže d ili e · sadrže d pa e · d i e sa jednim slovom između · sadrže i d i e · počinju sa x ili y · počinju sa x ili y i završavaju se sa e · tri ili više cifara zaredom · završavaju se sa d pa a, r ili p</a:t>
            </a:r>
            <a:endParaRPr sz="1400"/>
          </a:p>
        </p:txBody>
      </p:sp>
      <p:sp>
        <p:nvSpPr>
          <p:cNvPr id="12" name="Tekst 3x20.30"/>
          <p:cNvSpPr txBox="1"/>
          <p:nvPr/>
        </p:nvSpPr>
        <p:spPr>
          <a:xfrm>
            <a:off x="5453360" y="4204593"/>
            <a:ext cx="5837093"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2. Dvostruka digestija: predvidite dužine fragmenata sekvence iz dna.txt posle sečenja izmišljenim enzimima AbcI (</a:t>
            </a:r>
            <a:r>
              <a:rPr sz="1400" b="0" i="0">
                <a:solidFill>
                  <a:srgbClr val="A8521A"/>
                </a:solidFill>
                <a:latin typeface="Arial"/>
              </a:rPr>
              <a:t>ANT*AAT</a:t>
            </a:r>
            <a:r>
              <a:rPr sz="1400" b="0" i="0">
                <a:solidFill>
                  <a:srgbClr val="13262B"/>
                </a:solidFill>
                <a:latin typeface="Arial"/>
              </a:rPr>
              <a:t>) i AbcII (</a:t>
            </a:r>
            <a:r>
              <a:rPr sz="1400" b="0" i="0">
                <a:solidFill>
                  <a:srgbClr val="A8521A"/>
                </a:solidFill>
                <a:latin typeface="Arial"/>
              </a:rPr>
              <a:t>GCRW*TG</a:t>
            </a:r>
            <a:r>
              <a:rPr sz="1400" b="0" i="0">
                <a:solidFill>
                  <a:srgbClr val="13262B"/>
                </a:solidFill>
                <a:latin typeface="Arial"/>
              </a:rPr>
              <a:t>); * je mesto sečenja.</a:t>
            </a:r>
            <a:endParaRPr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za biologe – Lekcija 7: Regularni izrazi</dc:title>
  <dc:subject>Prema knjizi Martina Jonesa: Python for Biologists</dc:subject>
  <dc:creator>Aleksandar Kartelj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