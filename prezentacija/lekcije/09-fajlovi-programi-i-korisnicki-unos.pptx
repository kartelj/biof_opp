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Ponekad nas ne zanima samo sadržaj fajlova, nego i sami fajlovi i folderi: kopiranje, premeštanje, preimenovanje, brisanje, obrada svih fajlova u folderu. To je posebno važno kada program radi u lancu sa drugim alatima. U Pythonu je to nezgodnije nego što izgleda, jer isti kod mora da radi na Windowsu, Linuxu i macOS-u, koji fajlove tretiraju različito (npr. Linux i macOS imaju dozvole pristupa fajlovima, kojih na Windowsu nema u istom obliku). Moduli os i shutil kriju te razlike od nas.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Funkcije primaju putanje kao stringove. os.rename sa istim imenom fajla u drugom folderu premešta fajl, a radi i za foldere. Premeštanje u folder koji ne postoji daje grešku, pa folder prvo pravimo sa os.mkdir. Napomena uz knjigu: funkcija za pravljenje više ugnežđenih foldera zove se os.makedirs (u knjizi piše os.mkdirs). Primer sa os.path.exists iz knjige: if os.path.exists("/home/martin/email.txt"): print("You have mail!"). Kod ovih funkcija greške mogu dolaziti spolja: fajl ne postoji ili nemamo dozvolu da ga menjamo.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os.rename prima dva stringa, staro i novo ime. Ako je fajl u drugom folderu, navodimo punu putanju; ako u drugom argumentu promenimo folder, a ime ostavimo isto, fajl se premešta, a možemo ga i premestiti i preimenovati u jednom koraku. Premeštanje u folder koji ne postoji daje grešku, pa folder prvo pravimo sa os.mkdir. Za više ugnežđenih foldera odjednom koristi se os.makedirs; u knjizi greškom piše os.mkdirs. Za kopiranje služi modul shutil: copy za fajl, copytree za folder sa sadržajem.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 brisanje postoje tri funkcije, zavisno od toga šta brišemo: os.remove za jedan fajl, os.rmdir za prazan folder i shutil.rmtree za folder sa svim fajlovima u njemu. os.path.exists odgovara na pitanje iz poglavlja 3: kako da proverimo da li fajl postoji pre otvaranja. os.listdir prima putanju foldera kao string; za trenutni folder koristi se ".". Te funkcije pozivamo uz import os i import shutil sa prethodnog slajda.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Pokretanje spoljnih programa se obično ne radi u uvodnim kursevima, ali je za nauku toliko korisno da ga knjiga obrađuje u pojednostavljenom obliku. Putanja do programa zavisi od sistema: na Linuxu npr. /home/martin/software/myprogram, na Windowsu c:\windows\Program files\myprogram\myprogram.exe, na macOS-u /Applications/myprogram; ako je program u PATH-u, dovoljno je ime. Sa opcijama u istom stringu treba shell=True. Razlika u odnosu na knjigu: u Pythonu 3 check_output vraća bajtove; argument text=True daje string. Ako spoljni program da neočekivan izlaz, problem može biti u njemu ili u načinu poziva, a ne u našem kodu.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 iz knjige koristi Linux program date: bez opcija ispisuje datum i vreme, a sa opcijom +%B samo ime meseca. Opcije pišemo u istom stringu i postavljamo shell=True. check_output prima iste argumente kao call. Izlaz programa obično ima novi red na kraju, pa ga pre obrade uklanjamo sa rstrip. Na Windowsu ovaj program ne postoji pod tim imenom; primeri ilustruju princip, a putanju zamenite programom sa svog računara.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sada su podaci bili ili upisani u kod, ili čitani iz fajla čije je ime upisano u kod; u oba slučaja promena ulaza zahteva otvaranje koda. Pravi programi primaju ulazne fajlove i opcije pri pokretanju. Dve situacije koje treba izbeći kod input: dugačak program koji usred rada tiho čeka unos dok je korisnik otišao, i program koji posle dugog rada padne zbog greške u unosu, pa sve mora ispočetka. Interaktivni unos otežava pokretanje bez nadzora u radnom toku, pa su argumenti komandne linije za većinu bioloških analiza bolji izbor. Napomena: u Pythonu 2 ova funkcija se zove raw_input.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prima jedan argument, poruku koja se prikazuje korisniku, i vraća ono što korisnik ukuca, uvek kao string; broj treba ručno pretvoriti. input se ponaša drugačije od drugih funkcija, jer čeka da korisnik nešto ukuca i pritisne Enter. Programi za analizu velikih podataka često rade dugo, pa je važno da korisnik ne mora da ih pokreće ponovo. Provera unosa (validacija) znači da odmah proverimo da li unos ima smisla: da li je broj u zadatom opsegu, da li je DNK bez nejednoznačnih baza, da li fajl postoji; ako nije, korisnik dobija drugu šansu.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Argumenti komandne linije su stringovi koje kucamo posle imena programa; ne mešati ih sa argumentima funkcija, iako rade sličan posao. Prvi element sys.argv je uvek ime samog programa, pa je prvi pravi argument na indeksu 1. Prednosti: sve potrebne informacije su dostupne na početku, pa se provera (npr. da li fajlovi postoje) radi pre bilo kakve obrade; program se može pokretati iz shell skripti; korišćene opcije ostaju u istoriji komandi.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Zadatak: u folderu chapter_9 su fajlovi sa ekstenzijom .dna, sa DNK sekvencama različitih dužina, po jedna u liniji. Treba napraviti devet foldera, za sekvence od 100 do 199 baza, od 200 do 299 i tako dalje, i svaku sekvencu upisati u poseban fajl u odgovarajućem folderu. Prvi korak: listu fajlova daje os.listdir, a proverom ekstenzije biramo samo prave. Zatim svaki takav fajl otvaramo i čitamo liniju po liniju. Sa deset fajlova po deset sekvenci program ispisuje više od sto linija; prikazan je samo početak.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Granice opsega prate pravilan obrazac, pa ih generišemo funkcijom range: donje granice od 100 do 900 sa korakom 100, a gornja granica je donja plus 99. Za svaku sekvencu proveravamo svaki opseg redom. Ovaj kod ide unutar petlje kroz linije fajla, pa program ima pet nivoa uvlačenja, prikazanih levo; knjiga kaže da ga možda treba pročitati nekoliko puta. Prema savetu iz poglavlja 6, ovoliko uvlačenje je znak da bi deo koda vredelo izdvojiti u funkciju. Ispravka uz knjigu: pošto je gornja granica opsega (npr. 199) uključena, uslov mora biti length &lt;= bin_upper.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Folderi se prave samo jednom, na početku programa, istom idejom sa range. Pošto opis vežbe ne propisuje imena fajlova, rešenje iz knjige bira najjednostavnije: prvu sekvencu upisuje u 1.dna, drugu u 2.dna i tako dalje. Za to treba dodatna promenljiva sa rednim brojem, koja se povećava posle svakog upisa. Ako folderi već postoje (npr. pri drugom pokretanju), os.mkdir prijavljuje grešku; tada ih treba obrisati ili prvo proveriti sa os.path.exists.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Ovo je unutrašnji deo konačnog programa: nalazi se u petlji kroz .dna fajlove, posle provere ekstenzije i otvaranja fajla (korak 1), a folderi i brojač napravljeni su ranije (korak 3). Kada znamo opseg kojem sekvenca pripada, ime foldera pravimo istim pravilom kao pri pravljenju foldera, dodajemo redni broj i upisujemo sekvencu. Kosa crta u putanji radi i na Windowsu. Knjiga u ovom programu koristi uvlačenje od dva razmaka da bi kod stao na stranu; ovde su četiri, kao u ostatku slajdova, a uslov je ispravljen na &lt;=.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možemo da prebrojimo k-mere jedne sekvence i odmah ispišemo rezultat, kao kod trinukleotida u poglavlju 8, jer ispisujemo samo k-mere koji se ukupno, u svim sekvencama, javljaju više od zadatog broja puta. Ne znamo koje treba ispisati dok ne obradimo sve sekvence, pa posao delimo u dve faze. Deljenje na preklapajuće k-mere radi kao deljenje na kodone, ali sa korakom 1. Teži deo je kraj opsega: dužina sekvence minus veličina k-mera (da iza početka ostane ceo k-mer), plus jedan (jer kraj nije uključen), što je isto što i len − (kmer_size − 1).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 bi kod za deljenje bilo lakše proveriti i ponovo koristiti, knjiga ga pretvara u funkciju sa dva argumenta: sekvencom (string) i dužinom k-mera (broj). Funkcija vraća listu k-mera, praveći je metodom append. Rezultati za dužine 4, 5 i 6 odgovaraju očekivanju: što je k-mer duži, to ih je manje. U sledećem koraku knjiga funkciju spaja sa petljom kroz fajlove iz prethodne vežbe, brojeve skuplja u rečnik, a dužinu k-mera (6) i prag (23) privremeno upisuje u kod, pre nego što ih zameni argumentima komandne linije.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Rešenje se gradi postepeno: prvo se nađu svi fajlovi sa ekstenzijom .dna (os.listdir i endswith), zatim se svaka sekvenca podeli na k-mere funkcijom split_dna, pa se k-meri broje u rečniku. Dužinu k-mera i prag najpre upišemo u kod, a tek kad sve radi, zamenimo ih argumentima komandne linije. Funkcija split_dna pravi preklapajuće k-mere sa korakom 1, za razliku od kodona, gde je korak 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Spajamo sve iz knjige: os.listdir i endswith za izbor fajlova, petlju kroz linije fajla, rstrip, funkciju split_dna, rečnik sa get kao brojač i items za ispis. U knjizi se nova vrednost brojača prvo čuva u promenljivoj new_count; ovde je to spojeno u jednu liniju. Izlaz je iz knjige i zavisi od fajlova iz foldera chapter_9; sa argumentima 3 i 900 knjiga dobija, na primer, tct : 908 i ttc : 924. Redosled ispisa prati redosled kojim su k-meri prvi put ubačeni u rečnik.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Ovo poglavlje se razlikuje od prethodnih jer zavisi od okruženja: greška ne mora biti u našem kodu. Kod rada sa fajlovima proverite da li fajl postoji i da li imate dozvole; kod spoljnih programa proverite sam program i način na koji ga pozivate. Rešenje druge vežbe je na prethodna dva slajda. Za prvu vežbu: folder se bira na osnovu dužine sekvence, a ime fajla mora biti jedinstveno, npr. sa rednim brojem.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 za brojanje k-mera iz poslednje vežbe koristi gradivo skoro svih poglavlja: fajlove i rstrip (3), liste, petlje i range (4), funkciju (5), uslov (6), rečnik kao brojač (8) i rad sa folderima i argumentima komandne linije (9). Regularni izrazi (7) su alat za fleksibilne šablone, kao u vežbi sa dvostrukom digestijom. Odatle je put ka većim programima i specijalizovanim bibliotekama za naučna izračunavanja, koje knjiga pominje, ali ne obrađuje.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Završna poruka prati filozofiju knjige: eksperimentisanje je ključ napretka u programiranju. Ako se pitate da li je neka varijacija problema rešiva, ili prepoznajete sličan problem iz sopstvenog rada, pokušajte da ga rešite. Zvanična dokumentacija je mesto za potpun spisak mogućnosti Pythona. Sekvenca na vrhu se završava stop kodonom TAA.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62B"/>
        </a:solidFill>
        <a:effectLst/>
      </p:bgPr>
    </p:bg>
    <p:spTree>
      <p:nvGrpSpPr>
        <p:cNvPr id="1" name=""/>
        <p:cNvGrpSpPr/>
        <p:nvPr/>
      </p:nvGrpSpPr>
      <p:grpSpPr/>
      <p:sp>
        <p:nvSpPr>
          <p:cNvPr id="2" name="Tekst 1x16.80"/>
          <p:cNvSpPr txBox="1"/>
          <p:nvPr/>
        </p:nvSpPr>
        <p:spPr>
          <a:xfrm>
            <a:off x="812800" y="711200"/>
            <a:ext cx="647700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6FD3C1"/>
                </a:solidFill>
                <a:latin typeface="Arial"/>
              </a:rPr>
              <a:t>POGLAVLJE 9 OD 9</a:t>
            </a:r>
            <a:endParaRPr sz="1200"/>
          </a:p>
        </p:txBody>
      </p:sp>
      <p:sp>
        <p:nvSpPr>
          <p:cNvPr id="3" name="Tekst 1x100.00"/>
          <p:cNvSpPr txBox="1"/>
          <p:nvPr/>
        </p:nvSpPr>
        <p:spPr>
          <a:xfrm>
            <a:off x="812800" y="2763738"/>
            <a:ext cx="10777728" cy="1270000"/>
          </a:xfrm>
          <a:prstGeom prst="rect">
            <a:avLst/>
          </a:prstGeom>
          <a:noFill/>
        </p:spPr>
        <p:txBody>
          <a:bodyPr wrap="square" anchor="t" lIns="0" rIns="0" tIns="0" bIns="0">
            <a:noAutofit/>
          </a:bodyPr>
          <a:lstStyle/>
          <a:p>
            <a:pPr algn="l">
              <a:lnSpc>
                <a:spcPts val="10000"/>
              </a:lnSpc>
              <a:spcBef>
                <a:spcPts val="0"/>
              </a:spcBef>
              <a:spcAft>
                <a:spcPts val="0"/>
              </a:spcAft>
            </a:pPr>
            <a:r>
              <a:rPr sz="10000" b="1" i="0">
                <a:solidFill>
                  <a:srgbClr val="F0A35E"/>
                </a:solidFill>
                <a:latin typeface="Consolas"/>
              </a:rPr>
              <a:t>09</a:t>
            </a:r>
            <a:endParaRPr sz="10000"/>
          </a:p>
        </p:txBody>
      </p:sp>
      <p:sp>
        <p:nvSpPr>
          <p:cNvPr id="4" name="Tekst 2x54.60"/>
          <p:cNvSpPr txBox="1"/>
          <p:nvPr/>
        </p:nvSpPr>
        <p:spPr>
          <a:xfrm>
            <a:off x="812800" y="4186138"/>
            <a:ext cx="10777728" cy="1386681"/>
          </a:xfrm>
          <a:prstGeom prst="rect">
            <a:avLst/>
          </a:prstGeom>
          <a:noFill/>
        </p:spPr>
        <p:txBody>
          <a:bodyPr wrap="square" anchor="t" lIns="0" rIns="0" tIns="0" bIns="0">
            <a:noAutofit/>
          </a:bodyPr>
          <a:lstStyle/>
          <a:p>
            <a:pPr algn="l">
              <a:lnSpc>
                <a:spcPts val="5460"/>
              </a:lnSpc>
              <a:spcBef>
                <a:spcPts val="0"/>
              </a:spcBef>
              <a:spcAft>
                <a:spcPts val="0"/>
              </a:spcAft>
            </a:pPr>
            <a:r>
              <a:rPr sz="5200" b="1" i="0">
                <a:solidFill>
                  <a:srgbClr val="F6F4EE"/>
                </a:solidFill>
                <a:latin typeface="Arial"/>
              </a:rPr>
              <a:t>Fajlovi, programi i korisnički</a:t>
            </a:r>
            <a:br/>
            <a:r>
              <a:rPr sz="5200" b="1" i="0">
                <a:solidFill>
                  <a:srgbClr val="F6F4EE"/>
                </a:solidFill>
                <a:latin typeface="Arial"/>
              </a:rPr>
              <a:t>unos</a:t>
            </a:r>
            <a:endParaRPr sz="5200"/>
          </a:p>
        </p:txBody>
      </p:sp>
      <p:sp>
        <p:nvSpPr>
          <p:cNvPr id="5" name="Tekst 1x25.20"/>
          <p:cNvSpPr txBox="1"/>
          <p:nvPr/>
        </p:nvSpPr>
        <p:spPr>
          <a:xfrm>
            <a:off x="812800" y="5725220"/>
            <a:ext cx="10777728" cy="319980"/>
          </a:xfrm>
          <a:prstGeom prst="rect">
            <a:avLst/>
          </a:prstGeom>
          <a:noFill/>
        </p:spPr>
        <p:txBody>
          <a:bodyPr wrap="square" anchor="t" lIns="0" rIns="0" tIns="0" bIns="0">
            <a:noAutofit/>
          </a:bodyPr>
          <a:lstStyle/>
          <a:p>
            <a:pPr algn="l">
              <a:lnSpc>
                <a:spcPts val="2520"/>
              </a:lnSpc>
              <a:spcBef>
                <a:spcPts val="0"/>
              </a:spcBef>
              <a:spcAft>
                <a:spcPts val="0"/>
              </a:spcAft>
            </a:pPr>
            <a:r>
              <a:rPr sz="1800" b="0" i="0">
                <a:solidFill>
                  <a:srgbClr val="BFD3CD"/>
                </a:solidFill>
                <a:latin typeface="Arial"/>
              </a:rPr>
              <a:t>Python kao deo radnog toka: fajlovi i folderi, pokretanje drugih alata i ulaz od korisnika</a:t>
            </a:r>
            <a:endParaRPr sz="18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09 · FAJLOVI, PROGRAMI I KORISNIČKI UNOS</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Fajlovi i folderi: os i shutil</a:t>
            </a:r>
            <a:endParaRPr sz="3200"/>
          </a:p>
        </p:txBody>
      </p:sp>
      <p:sp>
        <p:nvSpPr>
          <p:cNvPr id="4" name="Rectangle 3"/>
          <p:cNvSpPr/>
          <p:nvPr/>
        </p:nvSpPr>
        <p:spPr>
          <a:xfrm>
            <a:off x="812800" y="1701701"/>
            <a:ext cx="5130800" cy="330795"/>
          </a:xfrm>
          <a:prstGeom prst="rect">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800" y="2026146"/>
            <a:ext cx="2873177"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1x16.80"/>
          <p:cNvSpPr txBox="1"/>
          <p:nvPr/>
        </p:nvSpPr>
        <p:spPr>
          <a:xfrm>
            <a:off x="919480" y="1763931"/>
            <a:ext cx="2713013" cy="199985"/>
          </a:xfrm>
          <a:prstGeom prst="rect">
            <a:avLst/>
          </a:prstGeom>
          <a:noFill/>
        </p:spPr>
        <p:txBody>
          <a:bodyPr wrap="square" anchor="t" lIns="0" rIns="0" tIns="0" bIns="0">
            <a:noAutofit/>
          </a:bodyPr>
          <a:lstStyle/>
          <a:p>
            <a:pPr algn="l">
              <a:lnSpc>
                <a:spcPts val="1680"/>
              </a:lnSpc>
              <a:spcBef>
                <a:spcPts val="0"/>
              </a:spcBef>
              <a:spcAft>
                <a:spcPts val="0"/>
              </a:spcAft>
            </a:pPr>
            <a:r>
              <a:rPr sz="1400" b="1" i="0">
                <a:solidFill>
                  <a:srgbClr val="3D4F52"/>
                </a:solidFill>
                <a:latin typeface="Arial"/>
              </a:rPr>
              <a:t>Zadatak</a:t>
            </a:r>
            <a:endParaRPr sz="1400"/>
          </a:p>
        </p:txBody>
      </p:sp>
      <p:sp>
        <p:nvSpPr>
          <p:cNvPr id="7" name="Rectangle 6"/>
          <p:cNvSpPr/>
          <p:nvPr/>
        </p:nvSpPr>
        <p:spPr>
          <a:xfrm>
            <a:off x="3685977" y="2026146"/>
            <a:ext cx="225762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16.80"/>
          <p:cNvSpPr txBox="1"/>
          <p:nvPr/>
        </p:nvSpPr>
        <p:spPr>
          <a:xfrm>
            <a:off x="3792657" y="1763931"/>
            <a:ext cx="2085149" cy="199985"/>
          </a:xfrm>
          <a:prstGeom prst="rect">
            <a:avLst/>
          </a:prstGeom>
          <a:noFill/>
        </p:spPr>
        <p:txBody>
          <a:bodyPr wrap="square" anchor="t" lIns="0" rIns="0" tIns="0" bIns="0">
            <a:noAutofit/>
          </a:bodyPr>
          <a:lstStyle/>
          <a:p>
            <a:pPr algn="l">
              <a:lnSpc>
                <a:spcPts val="1680"/>
              </a:lnSpc>
              <a:spcBef>
                <a:spcPts val="0"/>
              </a:spcBef>
              <a:spcAft>
                <a:spcPts val="0"/>
              </a:spcAft>
            </a:pPr>
            <a:r>
              <a:rPr sz="1400" b="1" i="0">
                <a:solidFill>
                  <a:srgbClr val="3D4F52"/>
                </a:solidFill>
                <a:latin typeface="Arial"/>
              </a:rPr>
              <a:t>Funkcija</a:t>
            </a:r>
            <a:endParaRPr sz="1400"/>
          </a:p>
        </p:txBody>
      </p:sp>
      <p:sp>
        <p:nvSpPr>
          <p:cNvPr id="9" name="Rectangle 8"/>
          <p:cNvSpPr/>
          <p:nvPr/>
        </p:nvSpPr>
        <p:spPr>
          <a:xfrm>
            <a:off x="812800" y="2360116"/>
            <a:ext cx="2873177"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16.80"/>
          <p:cNvSpPr txBox="1"/>
          <p:nvPr/>
        </p:nvSpPr>
        <p:spPr>
          <a:xfrm>
            <a:off x="919480" y="2094726"/>
            <a:ext cx="2713013"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preimenuj ili premesti</a:t>
            </a:r>
            <a:endParaRPr sz="1400"/>
          </a:p>
        </p:txBody>
      </p:sp>
      <p:sp>
        <p:nvSpPr>
          <p:cNvPr id="11" name="Rectangle 10"/>
          <p:cNvSpPr/>
          <p:nvPr/>
        </p:nvSpPr>
        <p:spPr>
          <a:xfrm>
            <a:off x="3685977" y="2360116"/>
            <a:ext cx="225762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1x16.80"/>
          <p:cNvSpPr txBox="1"/>
          <p:nvPr/>
        </p:nvSpPr>
        <p:spPr>
          <a:xfrm>
            <a:off x="3792657" y="2094726"/>
            <a:ext cx="2085149"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A8521A"/>
                </a:solidFill>
                <a:latin typeface="Arial"/>
              </a:rPr>
              <a:t>os.rename</a:t>
            </a:r>
            <a:endParaRPr sz="1400"/>
          </a:p>
        </p:txBody>
      </p:sp>
      <p:sp>
        <p:nvSpPr>
          <p:cNvPr id="13" name="Rectangle 12"/>
          <p:cNvSpPr/>
          <p:nvPr/>
        </p:nvSpPr>
        <p:spPr>
          <a:xfrm>
            <a:off x="812800" y="2694087"/>
            <a:ext cx="2873177"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16.80"/>
          <p:cNvSpPr txBox="1"/>
          <p:nvPr/>
        </p:nvSpPr>
        <p:spPr>
          <a:xfrm>
            <a:off x="919480" y="2428696"/>
            <a:ext cx="2713013"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napravi folder</a:t>
            </a:r>
            <a:endParaRPr sz="1400"/>
          </a:p>
        </p:txBody>
      </p:sp>
      <p:sp>
        <p:nvSpPr>
          <p:cNvPr id="15" name="Rectangle 14"/>
          <p:cNvSpPr/>
          <p:nvPr/>
        </p:nvSpPr>
        <p:spPr>
          <a:xfrm>
            <a:off x="3685977" y="2694087"/>
            <a:ext cx="225762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t 1x16.80"/>
          <p:cNvSpPr txBox="1"/>
          <p:nvPr/>
        </p:nvSpPr>
        <p:spPr>
          <a:xfrm>
            <a:off x="3792657" y="2428696"/>
            <a:ext cx="2085149"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A8521A"/>
                </a:solidFill>
                <a:latin typeface="Arial"/>
              </a:rPr>
              <a:t>os.mkdir</a:t>
            </a:r>
            <a:endParaRPr sz="1400"/>
          </a:p>
        </p:txBody>
      </p:sp>
      <p:sp>
        <p:nvSpPr>
          <p:cNvPr id="17" name="Rectangle 16"/>
          <p:cNvSpPr/>
          <p:nvPr/>
        </p:nvSpPr>
        <p:spPr>
          <a:xfrm>
            <a:off x="812800" y="3028057"/>
            <a:ext cx="2873177"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kst 1x16.80"/>
          <p:cNvSpPr txBox="1"/>
          <p:nvPr/>
        </p:nvSpPr>
        <p:spPr>
          <a:xfrm>
            <a:off x="919480" y="2762667"/>
            <a:ext cx="2713013"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napravi više foldera</a:t>
            </a:r>
            <a:endParaRPr sz="1400"/>
          </a:p>
        </p:txBody>
      </p:sp>
      <p:sp>
        <p:nvSpPr>
          <p:cNvPr id="19" name="Rectangle 18"/>
          <p:cNvSpPr/>
          <p:nvPr/>
        </p:nvSpPr>
        <p:spPr>
          <a:xfrm>
            <a:off x="3685977" y="3028057"/>
            <a:ext cx="225762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kst 1x16.80"/>
          <p:cNvSpPr txBox="1"/>
          <p:nvPr/>
        </p:nvSpPr>
        <p:spPr>
          <a:xfrm>
            <a:off x="3792657" y="2762667"/>
            <a:ext cx="2085149"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A8521A"/>
                </a:solidFill>
                <a:latin typeface="Arial"/>
              </a:rPr>
              <a:t>os.makedirs</a:t>
            </a:r>
            <a:endParaRPr sz="1400"/>
          </a:p>
        </p:txBody>
      </p:sp>
      <p:sp>
        <p:nvSpPr>
          <p:cNvPr id="21" name="Rectangle 20"/>
          <p:cNvSpPr/>
          <p:nvPr/>
        </p:nvSpPr>
        <p:spPr>
          <a:xfrm>
            <a:off x="812800" y="3362027"/>
            <a:ext cx="2873177"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kst 1x16.80"/>
          <p:cNvSpPr txBox="1"/>
          <p:nvPr/>
        </p:nvSpPr>
        <p:spPr>
          <a:xfrm>
            <a:off x="919480" y="3096637"/>
            <a:ext cx="2713013"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kopiraj fajl</a:t>
            </a:r>
            <a:endParaRPr sz="1400"/>
          </a:p>
        </p:txBody>
      </p:sp>
      <p:sp>
        <p:nvSpPr>
          <p:cNvPr id="23" name="Rectangle 22"/>
          <p:cNvSpPr/>
          <p:nvPr/>
        </p:nvSpPr>
        <p:spPr>
          <a:xfrm>
            <a:off x="3685977" y="3362027"/>
            <a:ext cx="225762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kst 1x16.80"/>
          <p:cNvSpPr txBox="1"/>
          <p:nvPr/>
        </p:nvSpPr>
        <p:spPr>
          <a:xfrm>
            <a:off x="3792657" y="3096637"/>
            <a:ext cx="2085149"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A8521A"/>
                </a:solidFill>
                <a:latin typeface="Arial"/>
              </a:rPr>
              <a:t>shutil.copy</a:t>
            </a:r>
            <a:endParaRPr sz="1400"/>
          </a:p>
        </p:txBody>
      </p:sp>
      <p:sp>
        <p:nvSpPr>
          <p:cNvPr id="25" name="Rectangle 24"/>
          <p:cNvSpPr/>
          <p:nvPr/>
        </p:nvSpPr>
        <p:spPr>
          <a:xfrm>
            <a:off x="812800" y="3695998"/>
            <a:ext cx="2873177"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kst 1x16.80"/>
          <p:cNvSpPr txBox="1"/>
          <p:nvPr/>
        </p:nvSpPr>
        <p:spPr>
          <a:xfrm>
            <a:off x="919480" y="3430607"/>
            <a:ext cx="2713013"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kopiraj folder</a:t>
            </a:r>
            <a:endParaRPr sz="1400"/>
          </a:p>
        </p:txBody>
      </p:sp>
      <p:sp>
        <p:nvSpPr>
          <p:cNvPr id="27" name="Rectangle 26"/>
          <p:cNvSpPr/>
          <p:nvPr/>
        </p:nvSpPr>
        <p:spPr>
          <a:xfrm>
            <a:off x="3685977" y="3695998"/>
            <a:ext cx="225762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kst 1x16.80"/>
          <p:cNvSpPr txBox="1"/>
          <p:nvPr/>
        </p:nvSpPr>
        <p:spPr>
          <a:xfrm>
            <a:off x="3792657" y="3430607"/>
            <a:ext cx="2085149"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A8521A"/>
                </a:solidFill>
                <a:latin typeface="Arial"/>
              </a:rPr>
              <a:t>shutil.copytree</a:t>
            </a:r>
            <a:endParaRPr sz="1400"/>
          </a:p>
        </p:txBody>
      </p:sp>
      <p:sp>
        <p:nvSpPr>
          <p:cNvPr id="29" name="Rectangle 28"/>
          <p:cNvSpPr/>
          <p:nvPr/>
        </p:nvSpPr>
        <p:spPr>
          <a:xfrm>
            <a:off x="6248400" y="1701701"/>
            <a:ext cx="5130800" cy="330795"/>
          </a:xfrm>
          <a:prstGeom prst="rect">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48400" y="2026146"/>
            <a:ext cx="2873177"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kst 1x16.80"/>
          <p:cNvSpPr txBox="1"/>
          <p:nvPr/>
        </p:nvSpPr>
        <p:spPr>
          <a:xfrm>
            <a:off x="6355080" y="1763931"/>
            <a:ext cx="2713013" cy="199985"/>
          </a:xfrm>
          <a:prstGeom prst="rect">
            <a:avLst/>
          </a:prstGeom>
          <a:noFill/>
        </p:spPr>
        <p:txBody>
          <a:bodyPr wrap="square" anchor="t" lIns="0" rIns="0" tIns="0" bIns="0">
            <a:noAutofit/>
          </a:bodyPr>
          <a:lstStyle/>
          <a:p>
            <a:pPr algn="l">
              <a:lnSpc>
                <a:spcPts val="1680"/>
              </a:lnSpc>
              <a:spcBef>
                <a:spcPts val="0"/>
              </a:spcBef>
              <a:spcAft>
                <a:spcPts val="0"/>
              </a:spcAft>
            </a:pPr>
            <a:r>
              <a:rPr sz="1400" b="1" i="0">
                <a:solidFill>
                  <a:srgbClr val="3D4F52"/>
                </a:solidFill>
                <a:latin typeface="Arial"/>
              </a:rPr>
              <a:t>Zadatak</a:t>
            </a:r>
            <a:endParaRPr sz="1400"/>
          </a:p>
        </p:txBody>
      </p:sp>
      <p:sp>
        <p:nvSpPr>
          <p:cNvPr id="32" name="Rectangle 31"/>
          <p:cNvSpPr/>
          <p:nvPr/>
        </p:nvSpPr>
        <p:spPr>
          <a:xfrm>
            <a:off x="9121577" y="2026146"/>
            <a:ext cx="225762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kst 1x16.80"/>
          <p:cNvSpPr txBox="1"/>
          <p:nvPr/>
        </p:nvSpPr>
        <p:spPr>
          <a:xfrm>
            <a:off x="9228257" y="1763931"/>
            <a:ext cx="2085149" cy="199985"/>
          </a:xfrm>
          <a:prstGeom prst="rect">
            <a:avLst/>
          </a:prstGeom>
          <a:noFill/>
        </p:spPr>
        <p:txBody>
          <a:bodyPr wrap="square" anchor="t" lIns="0" rIns="0" tIns="0" bIns="0">
            <a:noAutofit/>
          </a:bodyPr>
          <a:lstStyle/>
          <a:p>
            <a:pPr algn="l">
              <a:lnSpc>
                <a:spcPts val="1680"/>
              </a:lnSpc>
              <a:spcBef>
                <a:spcPts val="0"/>
              </a:spcBef>
              <a:spcAft>
                <a:spcPts val="0"/>
              </a:spcAft>
            </a:pPr>
            <a:r>
              <a:rPr sz="1400" b="1" i="0">
                <a:solidFill>
                  <a:srgbClr val="3D4F52"/>
                </a:solidFill>
                <a:latin typeface="Arial"/>
              </a:rPr>
              <a:t>Funkcija</a:t>
            </a:r>
            <a:endParaRPr sz="1400"/>
          </a:p>
        </p:txBody>
      </p:sp>
      <p:sp>
        <p:nvSpPr>
          <p:cNvPr id="34" name="Rectangle 33"/>
          <p:cNvSpPr/>
          <p:nvPr/>
        </p:nvSpPr>
        <p:spPr>
          <a:xfrm>
            <a:off x="6248400" y="2360116"/>
            <a:ext cx="2873177"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kst 1x16.80"/>
          <p:cNvSpPr txBox="1"/>
          <p:nvPr/>
        </p:nvSpPr>
        <p:spPr>
          <a:xfrm>
            <a:off x="6355080" y="2094726"/>
            <a:ext cx="2713013"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da li postoji?</a:t>
            </a:r>
            <a:endParaRPr sz="1400"/>
          </a:p>
        </p:txBody>
      </p:sp>
      <p:sp>
        <p:nvSpPr>
          <p:cNvPr id="36" name="Rectangle 35"/>
          <p:cNvSpPr/>
          <p:nvPr/>
        </p:nvSpPr>
        <p:spPr>
          <a:xfrm>
            <a:off x="9121577" y="2360116"/>
            <a:ext cx="225762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kst 1x16.80"/>
          <p:cNvSpPr txBox="1"/>
          <p:nvPr/>
        </p:nvSpPr>
        <p:spPr>
          <a:xfrm>
            <a:off x="9228257" y="2094726"/>
            <a:ext cx="2085149"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A8521A"/>
                </a:solidFill>
                <a:latin typeface="Arial"/>
              </a:rPr>
              <a:t>os.path.exists</a:t>
            </a:r>
            <a:endParaRPr sz="1400"/>
          </a:p>
        </p:txBody>
      </p:sp>
      <p:sp>
        <p:nvSpPr>
          <p:cNvPr id="38" name="Rectangle 37"/>
          <p:cNvSpPr/>
          <p:nvPr/>
        </p:nvSpPr>
        <p:spPr>
          <a:xfrm>
            <a:off x="6248400" y="2694087"/>
            <a:ext cx="2873177"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kst 1x16.80"/>
          <p:cNvSpPr txBox="1"/>
          <p:nvPr/>
        </p:nvSpPr>
        <p:spPr>
          <a:xfrm>
            <a:off x="6355080" y="2428696"/>
            <a:ext cx="2713013"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obriši fajl</a:t>
            </a:r>
            <a:endParaRPr sz="1400"/>
          </a:p>
        </p:txBody>
      </p:sp>
      <p:sp>
        <p:nvSpPr>
          <p:cNvPr id="40" name="Rectangle 39"/>
          <p:cNvSpPr/>
          <p:nvPr/>
        </p:nvSpPr>
        <p:spPr>
          <a:xfrm>
            <a:off x="9121577" y="2694087"/>
            <a:ext cx="225762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kst 1x16.80"/>
          <p:cNvSpPr txBox="1"/>
          <p:nvPr/>
        </p:nvSpPr>
        <p:spPr>
          <a:xfrm>
            <a:off x="9228257" y="2428696"/>
            <a:ext cx="2085149"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A8521A"/>
                </a:solidFill>
                <a:latin typeface="Arial"/>
              </a:rPr>
              <a:t>os.remove</a:t>
            </a:r>
            <a:endParaRPr sz="1400"/>
          </a:p>
        </p:txBody>
      </p:sp>
      <p:sp>
        <p:nvSpPr>
          <p:cNvPr id="42" name="Rectangle 41"/>
          <p:cNvSpPr/>
          <p:nvPr/>
        </p:nvSpPr>
        <p:spPr>
          <a:xfrm>
            <a:off x="6248400" y="3028057"/>
            <a:ext cx="2873177"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kst 1x16.80"/>
          <p:cNvSpPr txBox="1"/>
          <p:nvPr/>
        </p:nvSpPr>
        <p:spPr>
          <a:xfrm>
            <a:off x="6355080" y="2762667"/>
            <a:ext cx="2713013"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obriši prazan folder</a:t>
            </a:r>
            <a:endParaRPr sz="1400"/>
          </a:p>
        </p:txBody>
      </p:sp>
      <p:sp>
        <p:nvSpPr>
          <p:cNvPr id="44" name="Rectangle 43"/>
          <p:cNvSpPr/>
          <p:nvPr/>
        </p:nvSpPr>
        <p:spPr>
          <a:xfrm>
            <a:off x="9121577" y="3028057"/>
            <a:ext cx="225762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kst 1x16.80"/>
          <p:cNvSpPr txBox="1"/>
          <p:nvPr/>
        </p:nvSpPr>
        <p:spPr>
          <a:xfrm>
            <a:off x="9228257" y="2762667"/>
            <a:ext cx="2085149"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A8521A"/>
                </a:solidFill>
                <a:latin typeface="Arial"/>
              </a:rPr>
              <a:t>os.rmdir</a:t>
            </a:r>
            <a:endParaRPr sz="1400"/>
          </a:p>
        </p:txBody>
      </p:sp>
      <p:sp>
        <p:nvSpPr>
          <p:cNvPr id="46" name="Rectangle 45"/>
          <p:cNvSpPr/>
          <p:nvPr/>
        </p:nvSpPr>
        <p:spPr>
          <a:xfrm>
            <a:off x="6248400" y="3362027"/>
            <a:ext cx="2873177"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kst 1x16.80"/>
          <p:cNvSpPr txBox="1"/>
          <p:nvPr/>
        </p:nvSpPr>
        <p:spPr>
          <a:xfrm>
            <a:off x="6355080" y="3096637"/>
            <a:ext cx="2713013"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obriši folder sa sadržajem</a:t>
            </a:r>
            <a:endParaRPr sz="1400"/>
          </a:p>
        </p:txBody>
      </p:sp>
      <p:sp>
        <p:nvSpPr>
          <p:cNvPr id="48" name="Rectangle 47"/>
          <p:cNvSpPr/>
          <p:nvPr/>
        </p:nvSpPr>
        <p:spPr>
          <a:xfrm>
            <a:off x="9121577" y="3362027"/>
            <a:ext cx="225762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kst 1x16.80"/>
          <p:cNvSpPr txBox="1"/>
          <p:nvPr/>
        </p:nvSpPr>
        <p:spPr>
          <a:xfrm>
            <a:off x="9228257" y="3096637"/>
            <a:ext cx="2085149"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A8521A"/>
                </a:solidFill>
                <a:latin typeface="Arial"/>
              </a:rPr>
              <a:t>shutil.rmtree</a:t>
            </a:r>
            <a:endParaRPr sz="1400"/>
          </a:p>
        </p:txBody>
      </p:sp>
      <p:sp>
        <p:nvSpPr>
          <p:cNvPr id="50" name="Rectangle 49"/>
          <p:cNvSpPr/>
          <p:nvPr/>
        </p:nvSpPr>
        <p:spPr>
          <a:xfrm>
            <a:off x="6248400" y="3695998"/>
            <a:ext cx="2873177"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kst 1x16.80"/>
          <p:cNvSpPr txBox="1"/>
          <p:nvPr/>
        </p:nvSpPr>
        <p:spPr>
          <a:xfrm>
            <a:off x="6355080" y="3430607"/>
            <a:ext cx="2713013"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sadržaj foldera</a:t>
            </a:r>
            <a:endParaRPr sz="1400"/>
          </a:p>
        </p:txBody>
      </p:sp>
      <p:sp>
        <p:nvSpPr>
          <p:cNvPr id="52" name="Rectangle 51"/>
          <p:cNvSpPr/>
          <p:nvPr/>
        </p:nvSpPr>
        <p:spPr>
          <a:xfrm>
            <a:off x="9121577" y="3695998"/>
            <a:ext cx="225762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kst 1x16.80"/>
          <p:cNvSpPr txBox="1"/>
          <p:nvPr/>
        </p:nvSpPr>
        <p:spPr>
          <a:xfrm>
            <a:off x="9228257" y="3430607"/>
            <a:ext cx="2085149"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A8521A"/>
                </a:solidFill>
                <a:latin typeface="Arial"/>
              </a:rPr>
              <a:t>os.listdir</a:t>
            </a:r>
            <a:endParaRPr sz="1400"/>
          </a:p>
        </p:txBody>
      </p:sp>
      <p:sp>
        <p:nvSpPr>
          <p:cNvPr id="54" name="Rounded Rectangle 53"/>
          <p:cNvSpPr/>
          <p:nvPr/>
        </p:nvSpPr>
        <p:spPr>
          <a:xfrm>
            <a:off x="819150" y="3965873"/>
            <a:ext cx="5241032" cy="1391841"/>
          </a:xfrm>
          <a:prstGeom prst="roundRect">
            <a:avLst>
              <a:gd name="adj" fmla="val 729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kst 4x20.15"/>
          <p:cNvSpPr txBox="1"/>
          <p:nvPr/>
        </p:nvSpPr>
        <p:spPr>
          <a:xfrm>
            <a:off x="1079500" y="4150023"/>
            <a:ext cx="4814739"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import</a:t>
            </a:r>
            <a:r>
              <a:rPr sz="1300" b="0" i="0">
                <a:solidFill>
                  <a:srgbClr val="E8EEE9"/>
                </a:solidFill>
                <a:latin typeface="Consolas"/>
              </a:rPr>
              <a:t> os</a:t>
            </a:r>
            <a:br/>
            <a:r>
              <a:rPr sz="1300" b="0" i="0">
                <a:solidFill>
                  <a:srgbClr val="6FD3C1"/>
                </a:solidFill>
                <a:latin typeface="Consolas"/>
              </a:rPr>
              <a:t>for</a:t>
            </a:r>
            <a:r>
              <a:rPr sz="1300" b="0" i="0">
                <a:solidFill>
                  <a:srgbClr val="E8EEE9"/>
                </a:solidFill>
                <a:latin typeface="Consolas"/>
              </a:rPr>
              <a:t> file_name </a:t>
            </a:r>
            <a:r>
              <a:rPr sz="1300" b="0" i="0">
                <a:solidFill>
                  <a:srgbClr val="6FD3C1"/>
                </a:solidFill>
                <a:latin typeface="Consolas"/>
              </a:rPr>
              <a:t>in</a:t>
            </a:r>
            <a:r>
              <a:rPr sz="1300" b="0" i="0">
                <a:solidFill>
                  <a:srgbClr val="E8EEE9"/>
                </a:solidFill>
                <a:latin typeface="Consolas"/>
              </a:rPr>
              <a:t> os.listdir(</a:t>
            </a:r>
            <a:r>
              <a:rPr sz="1300" b="0" i="0">
                <a:solidFill>
                  <a:srgbClr val="F0A35E"/>
                </a:solidFill>
                <a:latin typeface="Consolas"/>
              </a:rPr>
              <a:t>"."</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file_name.endswith(</a:t>
            </a:r>
            <a:r>
              <a:rPr sz="1300" b="0" i="0">
                <a:solidFill>
                  <a:srgbClr val="F0A35E"/>
                </a:solidFill>
                <a:latin typeface="Consolas"/>
              </a:rPr>
              <a:t>".dna"</a:t>
            </a:r>
            <a:r>
              <a:rPr sz="1300" b="0" i="0">
                <a:solidFill>
                  <a:srgbClr val="E8EEE9"/>
                </a:solidFill>
                <a:latin typeface="Consolas"/>
              </a:rPr>
              <a:t>):</a:t>
            </a:r>
            <a:br/>
            <a:r>
              <a:rPr sz="1300" b="0" i="0">
                <a:solidFill>
                  <a:srgbClr val="E8EEE9"/>
                </a:solidFill>
                <a:latin typeface="Consolas"/>
              </a:rPr>
              <a:t>        print(</a:t>
            </a:r>
            <a:r>
              <a:rPr sz="1300" b="0" i="0">
                <a:solidFill>
                  <a:srgbClr val="F0A35E"/>
                </a:solidFill>
                <a:latin typeface="Consolas"/>
              </a:rPr>
              <a:t>"reading sequences from "</a:t>
            </a:r>
            <a:r>
              <a:rPr sz="1300" b="0" i="0">
                <a:solidFill>
                  <a:srgbClr val="E8EEE9"/>
                </a:solidFill>
                <a:latin typeface="Consolas"/>
              </a:rPr>
              <a:t> + file_name)</a:t>
            </a:r>
            <a:endParaRPr sz="1300"/>
          </a:p>
        </p:txBody>
      </p:sp>
      <p:sp>
        <p:nvSpPr>
          <p:cNvPr id="56" name="Tekst 2x20.30"/>
          <p:cNvSpPr txBox="1"/>
          <p:nvPr/>
        </p:nvSpPr>
        <p:spPr>
          <a:xfrm>
            <a:off x="6320532" y="4404023"/>
            <a:ext cx="5159841"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Isti kod radi na Linuxu, macOS-u i Windowsu. Putanje se ipak razlikuju; </a:t>
            </a:r>
            <a:r>
              <a:rPr sz="1400" b="0" i="0">
                <a:solidFill>
                  <a:srgbClr val="A8521A"/>
                </a:solidFill>
                <a:latin typeface="Arial"/>
              </a:rPr>
              <a:t>"."</a:t>
            </a:r>
            <a:r>
              <a:rPr sz="1400" b="0" i="0">
                <a:solidFill>
                  <a:srgbClr val="3D4F52"/>
                </a:solidFill>
                <a:latin typeface="Arial"/>
              </a:rPr>
              <a:t> je trenutni folder.</a:t>
            </a:r>
            <a:endParaRPr sz="14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09 · FAJLOVI, PROGRAMI I KORISNIČKI UNOS</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Preimenovanje, premeštanje i kopiranje</a:t>
            </a:r>
            <a:endParaRPr sz="3200"/>
          </a:p>
        </p:txBody>
      </p:sp>
      <p:sp>
        <p:nvSpPr>
          <p:cNvPr id="4" name="Rounded Rectangle 3"/>
          <p:cNvSpPr/>
          <p:nvPr/>
        </p:nvSpPr>
        <p:spPr>
          <a:xfrm>
            <a:off x="819150" y="1708051"/>
            <a:ext cx="7328793" cy="3694807"/>
          </a:xfrm>
          <a:prstGeom prst="roundRect">
            <a:avLst>
              <a:gd name="adj" fmla="val 274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3x20.15"/>
          <p:cNvSpPr txBox="1"/>
          <p:nvPr/>
        </p:nvSpPr>
        <p:spPr>
          <a:xfrm>
            <a:off x="1079500" y="1892201"/>
            <a:ext cx="6944255" cy="3326507"/>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import</a:t>
            </a:r>
            <a:r>
              <a:rPr sz="1300" b="0" i="0">
                <a:solidFill>
                  <a:srgbClr val="E8EEE9"/>
                </a:solidFill>
                <a:latin typeface="Consolas"/>
              </a:rPr>
              <a:t> os</a:t>
            </a:r>
            <a:br/>
            <a:r>
              <a:rPr sz="1300" b="0" i="0">
                <a:solidFill>
                  <a:srgbClr val="6FD3C1"/>
                </a:solidFill>
                <a:latin typeface="Consolas"/>
              </a:rPr>
              <a:t>import</a:t>
            </a:r>
            <a:r>
              <a:rPr sz="1300" b="0" i="0">
                <a:solidFill>
                  <a:srgbClr val="E8EEE9"/>
                </a:solidFill>
                <a:latin typeface="Consolas"/>
              </a:rPr>
              <a:t> shutil</a:t>
            </a:r>
            <a:br/>
            <a:r>
              <a:rPr sz="1300" b="0" i="0">
                <a:solidFill>
                  <a:srgbClr val="8FB3AA"/>
                </a:solidFill>
                <a:latin typeface="Consolas"/>
              </a:rPr>
              <a:t># preimenovanje u istom folderu</a:t>
            </a:r>
            <a:br/>
            <a:r>
              <a:rPr sz="1300" b="0" i="0">
                <a:solidFill>
                  <a:srgbClr val="E8EEE9"/>
                </a:solidFill>
                <a:latin typeface="Consolas"/>
              </a:rPr>
              <a:t>os.rename(</a:t>
            </a:r>
            <a:r>
              <a:rPr sz="1300" b="0" i="0">
                <a:solidFill>
                  <a:srgbClr val="F0A35E"/>
                </a:solidFill>
                <a:latin typeface="Consolas"/>
              </a:rPr>
              <a:t>"old.txt"</a:t>
            </a:r>
            <a:r>
              <a:rPr sz="1300" b="0" i="0">
                <a:solidFill>
                  <a:srgbClr val="E8EEE9"/>
                </a:solidFill>
                <a:latin typeface="Consolas"/>
              </a:rPr>
              <a:t>, </a:t>
            </a:r>
            <a:r>
              <a:rPr sz="1300" b="0" i="0">
                <a:solidFill>
                  <a:srgbClr val="F0A35E"/>
                </a:solidFill>
                <a:latin typeface="Consolas"/>
              </a:rPr>
              <a:t>"new.txt"</a:t>
            </a:r>
            <a:r>
              <a:rPr sz="1300" b="0" i="0">
                <a:solidFill>
                  <a:srgbClr val="E8EEE9"/>
                </a:solidFill>
                <a:latin typeface="Consolas"/>
              </a:rPr>
              <a:t>)</a:t>
            </a:r>
            <a:br/>
            <a:r>
              <a:rPr sz="1300" b="0" i="0">
                <a:solidFill>
                  <a:srgbClr val="8FB3AA"/>
                </a:solidFill>
                <a:latin typeface="Consolas"/>
              </a:rPr>
              <a:t># ciljni folder mora da postoji</a:t>
            </a:r>
            <a:br/>
            <a:r>
              <a:rPr sz="1300" b="0" i="0">
                <a:solidFill>
                  <a:srgbClr val="E8EEE9"/>
                </a:solidFill>
                <a:latin typeface="Consolas"/>
              </a:rPr>
              <a:t>os.mkdir(</a:t>
            </a:r>
            <a:r>
              <a:rPr sz="1300" b="0" i="0">
                <a:solidFill>
                  <a:srgbClr val="F0A35E"/>
                </a:solidFill>
                <a:latin typeface="Consolas"/>
              </a:rPr>
              <a:t>"/home/martin/python"</a:t>
            </a:r>
            <a:r>
              <a:rPr sz="1300" b="0" i="0">
                <a:solidFill>
                  <a:srgbClr val="E8EEE9"/>
                </a:solidFill>
                <a:latin typeface="Consolas"/>
              </a:rPr>
              <a:t>)</a:t>
            </a:r>
            <a:br/>
            <a:r>
              <a:rPr sz="1300" b="0" i="0">
                <a:solidFill>
                  <a:srgbClr val="8FB3AA"/>
                </a:solidFill>
                <a:latin typeface="Consolas"/>
              </a:rPr>
              <a:t># isto ime, drugi folder: premeštanje</a:t>
            </a:r>
            <a:br/>
            <a:r>
              <a:rPr sz="1300" b="0" i="0">
                <a:solidFill>
                  <a:srgbClr val="E8EEE9"/>
                </a:solidFill>
                <a:latin typeface="Consolas"/>
              </a:rPr>
              <a:t>os.rename(</a:t>
            </a:r>
            <a:r>
              <a:rPr sz="1300" b="0" i="0">
                <a:solidFill>
                  <a:srgbClr val="F0A35E"/>
                </a:solidFill>
                <a:latin typeface="Consolas"/>
              </a:rPr>
              <a:t>"/home/martin/biology/old.txt"</a:t>
            </a:r>
            <a:r>
              <a:rPr sz="1300" b="0" i="0">
                <a:solidFill>
                  <a:srgbClr val="E8EEE9"/>
                </a:solidFill>
                <a:latin typeface="Consolas"/>
              </a:rPr>
              <a:t>, </a:t>
            </a:r>
            <a:r>
              <a:rPr sz="1300" b="0" i="0">
                <a:solidFill>
                  <a:srgbClr val="F0A35E"/>
                </a:solidFill>
                <a:latin typeface="Consolas"/>
              </a:rPr>
              <a:t>"/home/martin/python/old.txt"</a:t>
            </a:r>
            <a:r>
              <a:rPr sz="1300" b="0" i="0">
                <a:solidFill>
                  <a:srgbClr val="E8EEE9"/>
                </a:solidFill>
                <a:latin typeface="Consolas"/>
              </a:rPr>
              <a:t>)</a:t>
            </a:r>
            <a:br/>
            <a:r>
              <a:rPr sz="1300" b="0" i="0">
                <a:solidFill>
                  <a:srgbClr val="8FB3AA"/>
                </a:solidFill>
                <a:latin typeface="Consolas"/>
              </a:rPr>
              <a:t># više ugnežđenih foldera odjednom</a:t>
            </a:r>
            <a:br/>
            <a:r>
              <a:rPr sz="1300" b="0" i="0">
                <a:solidFill>
                  <a:srgbClr val="E8EEE9"/>
                </a:solidFill>
                <a:latin typeface="Consolas"/>
              </a:rPr>
              <a:t>os.makedirs(</a:t>
            </a:r>
            <a:r>
              <a:rPr sz="1300" b="0" i="0">
                <a:solidFill>
                  <a:srgbClr val="F0A35E"/>
                </a:solidFill>
                <a:latin typeface="Consolas"/>
              </a:rPr>
              <a:t>"/a/long/path/with/lots/of/folders"</a:t>
            </a:r>
            <a:r>
              <a:rPr sz="1300" b="0" i="0">
                <a:solidFill>
                  <a:srgbClr val="E8EEE9"/>
                </a:solidFill>
                <a:latin typeface="Consolas"/>
              </a:rPr>
              <a:t>)</a:t>
            </a:r>
            <a:br/>
            <a:r>
              <a:rPr sz="1300" b="0" i="0">
                <a:solidFill>
                  <a:srgbClr val="8FB3AA"/>
                </a:solidFill>
                <a:latin typeface="Consolas"/>
              </a:rPr>
              <a:t># kopiranje fajla i celog foldera</a:t>
            </a:r>
            <a:br/>
            <a:r>
              <a:rPr sz="1300" b="0" i="0">
                <a:solidFill>
                  <a:srgbClr val="E8EEE9"/>
                </a:solidFill>
                <a:latin typeface="Consolas"/>
              </a:rPr>
              <a:t>shutil.copy(</a:t>
            </a:r>
            <a:r>
              <a:rPr sz="1300" b="0" i="0">
                <a:solidFill>
                  <a:srgbClr val="F0A35E"/>
                </a:solidFill>
                <a:latin typeface="Consolas"/>
              </a:rPr>
              <a:t>"/home/martin/original.txt"</a:t>
            </a:r>
            <a:r>
              <a:rPr sz="1300" b="0" i="0">
                <a:solidFill>
                  <a:srgbClr val="E8EEE9"/>
                </a:solidFill>
                <a:latin typeface="Consolas"/>
              </a:rPr>
              <a:t>, </a:t>
            </a:r>
            <a:r>
              <a:rPr sz="1300" b="0" i="0">
                <a:solidFill>
                  <a:srgbClr val="F0A35E"/>
                </a:solidFill>
                <a:latin typeface="Consolas"/>
              </a:rPr>
              <a:t>"/home/martin/copy.txt"</a:t>
            </a:r>
            <a:r>
              <a:rPr sz="1300" b="0" i="0">
                <a:solidFill>
                  <a:srgbClr val="E8EEE9"/>
                </a:solidFill>
                <a:latin typeface="Consolas"/>
              </a:rPr>
              <a:t>)</a:t>
            </a:r>
            <a:br/>
            <a:r>
              <a:rPr sz="1300" b="0" i="0">
                <a:solidFill>
                  <a:srgbClr val="E8EEE9"/>
                </a:solidFill>
                <a:latin typeface="Consolas"/>
              </a:rPr>
              <a:t>shutil.copytree(</a:t>
            </a:r>
            <a:r>
              <a:rPr sz="1300" b="0" i="0">
                <a:solidFill>
                  <a:srgbClr val="F0A35E"/>
                </a:solidFill>
                <a:latin typeface="Consolas"/>
              </a:rPr>
              <a:t>"/home/martin/original_folder"</a:t>
            </a:r>
            <a:r>
              <a:rPr sz="1300" b="0" i="0">
                <a:solidFill>
                  <a:srgbClr val="E8EEE9"/>
                </a:solidFill>
                <a:latin typeface="Consolas"/>
              </a:rPr>
              <a:t>, </a:t>
            </a:r>
            <a:r>
              <a:rPr sz="1300" b="0" i="0">
                <a:solidFill>
                  <a:srgbClr val="F0A35E"/>
                </a:solidFill>
                <a:latin typeface="Consolas"/>
              </a:rPr>
              <a:t>"/home/martin/copy_folder"</a:t>
            </a:r>
            <a:r>
              <a:rPr sz="1300" b="0" i="0">
                <a:solidFill>
                  <a:srgbClr val="E8EEE9"/>
                </a:solidFill>
                <a:latin typeface="Consolas"/>
              </a:rPr>
              <a:t>)</a:t>
            </a:r>
            <a:endParaRPr sz="1300"/>
          </a:p>
        </p:txBody>
      </p:sp>
      <p:sp>
        <p:nvSpPr>
          <p:cNvPr id="6" name="Rounded Rectangle 5"/>
          <p:cNvSpPr/>
          <p:nvPr/>
        </p:nvSpPr>
        <p:spPr>
          <a:xfrm>
            <a:off x="8408293" y="1701701"/>
            <a:ext cx="2970907" cy="562570"/>
          </a:xfrm>
          <a:prstGeom prst="roundRect">
            <a:avLst>
              <a:gd name="adj" fmla="val 13544"/>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08293" y="1701701"/>
            <a:ext cx="38100" cy="5625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20.30"/>
          <p:cNvSpPr txBox="1"/>
          <p:nvPr/>
        </p:nvSpPr>
        <p:spPr>
          <a:xfrm>
            <a:off x="8624193" y="1854101"/>
            <a:ext cx="2628751"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rename radi i za foldere.</a:t>
            </a:r>
            <a:endParaRPr sz="1400"/>
          </a:p>
        </p:txBody>
      </p:sp>
      <p:sp>
        <p:nvSpPr>
          <p:cNvPr id="9" name="Tekst 2x20.30"/>
          <p:cNvSpPr txBox="1"/>
          <p:nvPr/>
        </p:nvSpPr>
        <p:spPr>
          <a:xfrm>
            <a:off x="8408293" y="2365871"/>
            <a:ext cx="3030325"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Putanje su sa autorovog računara (Linux). Za probu ih zamenite svojim.</a:t>
            </a:r>
            <a:endParaRPr sz="14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09 · FAJLOVI, PROGRAMI I KORISNIČKI UNOS</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Provera, brisanje i listanje</a:t>
            </a:r>
            <a:endParaRPr sz="3200"/>
          </a:p>
        </p:txBody>
      </p:sp>
      <p:sp>
        <p:nvSpPr>
          <p:cNvPr id="4" name="Rounded Rectangle 3"/>
          <p:cNvSpPr/>
          <p:nvPr/>
        </p:nvSpPr>
        <p:spPr>
          <a:xfrm>
            <a:off x="819150" y="1708051"/>
            <a:ext cx="4514949" cy="2671266"/>
          </a:xfrm>
          <a:prstGeom prst="roundRect">
            <a:avLst>
              <a:gd name="adj" fmla="val 3803"/>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9x20.15"/>
          <p:cNvSpPr txBox="1"/>
          <p:nvPr/>
        </p:nvSpPr>
        <p:spPr>
          <a:xfrm>
            <a:off x="1079500" y="1892201"/>
            <a:ext cx="4074134" cy="230296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if</a:t>
            </a:r>
            <a:r>
              <a:rPr sz="1300" b="0" i="0">
                <a:solidFill>
                  <a:srgbClr val="E8EEE9"/>
                </a:solidFill>
                <a:latin typeface="Consolas"/>
              </a:rPr>
              <a:t> os.path.exists(</a:t>
            </a:r>
            <a:r>
              <a:rPr sz="1300" b="0" i="0">
                <a:solidFill>
                  <a:srgbClr val="F0A35E"/>
                </a:solidFill>
                <a:latin typeface="Consolas"/>
              </a:rPr>
              <a:t>"/home/martin/email.txt"</a:t>
            </a:r>
            <a:r>
              <a:rPr sz="1300" b="0" i="0">
                <a:solidFill>
                  <a:srgbClr val="E8EEE9"/>
                </a:solidFill>
                <a:latin typeface="Consolas"/>
              </a:rPr>
              <a:t>):</a:t>
            </a:r>
            <a:br/>
            <a:r>
              <a:rPr sz="1300" b="0" i="0">
                <a:solidFill>
                  <a:srgbClr val="E8EEE9"/>
                </a:solidFill>
                <a:latin typeface="Consolas"/>
              </a:rPr>
              <a:t>    print(</a:t>
            </a:r>
            <a:r>
              <a:rPr sz="1300" b="0" i="0">
                <a:solidFill>
                  <a:srgbClr val="F0A35E"/>
                </a:solidFill>
                <a:latin typeface="Consolas"/>
              </a:rPr>
              <a:t>"You have mail!"</a:t>
            </a:r>
            <a:r>
              <a:rPr sz="1300" b="0" i="0">
                <a:solidFill>
                  <a:srgbClr val="E8EEE9"/>
                </a:solidFill>
                <a:latin typeface="Consolas"/>
              </a:rPr>
              <a:t>)</a:t>
            </a:r>
            <a:br/>
            <a:r>
              <a:rPr sz="1300" b="0" i="0">
                <a:solidFill>
                  <a:srgbClr val="8FB3AA"/>
                </a:solidFill>
                <a:latin typeface="Consolas"/>
              </a:rPr>
              <a:t># fajl, prazan folder, folder sa sadržajem</a:t>
            </a:r>
            <a:br/>
            <a:r>
              <a:rPr sz="1300" b="0" i="0">
                <a:solidFill>
                  <a:srgbClr val="E8EEE9"/>
                </a:solidFill>
                <a:latin typeface="Consolas"/>
              </a:rPr>
              <a:t>os.remove(</a:t>
            </a:r>
            <a:r>
              <a:rPr sz="1300" b="0" i="0">
                <a:solidFill>
                  <a:srgbClr val="F0A35E"/>
                </a:solidFill>
                <a:latin typeface="Consolas"/>
              </a:rPr>
              <a:t>"/home/martin/unwanted_file.txt"</a:t>
            </a:r>
            <a:r>
              <a:rPr sz="1300" b="0" i="0">
                <a:solidFill>
                  <a:srgbClr val="E8EEE9"/>
                </a:solidFill>
                <a:latin typeface="Consolas"/>
              </a:rPr>
              <a:t>)</a:t>
            </a:r>
            <a:br/>
            <a:r>
              <a:rPr sz="1300" b="0" i="0">
                <a:solidFill>
                  <a:srgbClr val="E8EEE9"/>
                </a:solidFill>
                <a:latin typeface="Consolas"/>
              </a:rPr>
              <a:t>os.rmdir(</a:t>
            </a:r>
            <a:r>
              <a:rPr sz="1300" b="0" i="0">
                <a:solidFill>
                  <a:srgbClr val="F0A35E"/>
                </a:solidFill>
                <a:latin typeface="Consolas"/>
              </a:rPr>
              <a:t>"/home/martin/empty"</a:t>
            </a:r>
            <a:r>
              <a:rPr sz="1300" b="0" i="0">
                <a:solidFill>
                  <a:srgbClr val="E8EEE9"/>
                </a:solidFill>
                <a:latin typeface="Consolas"/>
              </a:rPr>
              <a:t>)</a:t>
            </a:r>
            <a:br/>
            <a:r>
              <a:rPr sz="1300" b="0" i="0">
                <a:solidFill>
                  <a:srgbClr val="E8EEE9"/>
                </a:solidFill>
                <a:latin typeface="Consolas"/>
              </a:rPr>
              <a:t>shutil.rmtree(</a:t>
            </a:r>
            <a:r>
              <a:rPr sz="1300" b="0" i="0">
                <a:solidFill>
                  <a:srgbClr val="F0A35E"/>
                </a:solidFill>
                <a:latin typeface="Consolas"/>
              </a:rPr>
              <a:t>"/home/martin/full"</a:t>
            </a:r>
            <a:r>
              <a:rPr sz="1300" b="0" i="0">
                <a:solidFill>
                  <a:srgbClr val="E8EEE9"/>
                </a:solidFill>
                <a:latin typeface="Consolas"/>
              </a:rPr>
              <a:t>)</a:t>
            </a:r>
            <a:br/>
            <a:r>
              <a:rPr sz="1300" b="0" i="0">
                <a:solidFill>
                  <a:srgbClr val="8FB3AA"/>
                </a:solidFill>
                <a:latin typeface="Consolas"/>
              </a:rPr>
              <a:t># sadržaj foldera; "." je trenutni folder</a:t>
            </a:r>
            <a:br/>
            <a:r>
              <a:rPr sz="1300" b="0" i="0">
                <a:solidFill>
                  <a:srgbClr val="6FD3C1"/>
                </a:solidFill>
                <a:latin typeface="Consolas"/>
              </a:rPr>
              <a:t>for</a:t>
            </a:r>
            <a:r>
              <a:rPr sz="1300" b="0" i="0">
                <a:solidFill>
                  <a:srgbClr val="E8EEE9"/>
                </a:solidFill>
                <a:latin typeface="Consolas"/>
              </a:rPr>
              <a:t> file_name </a:t>
            </a:r>
            <a:r>
              <a:rPr sz="1300" b="0" i="0">
                <a:solidFill>
                  <a:srgbClr val="6FD3C1"/>
                </a:solidFill>
                <a:latin typeface="Consolas"/>
              </a:rPr>
              <a:t>in</a:t>
            </a:r>
            <a:r>
              <a:rPr sz="1300" b="0" i="0">
                <a:solidFill>
                  <a:srgbClr val="E8EEE9"/>
                </a:solidFill>
                <a:latin typeface="Consolas"/>
              </a:rPr>
              <a:t> os.listdir(</a:t>
            </a:r>
            <a:r>
              <a:rPr sz="1300" b="0" i="0">
                <a:solidFill>
                  <a:srgbClr val="F0A35E"/>
                </a:solidFill>
                <a:latin typeface="Consolas"/>
              </a:rPr>
              <a:t>"/home/martin"</a:t>
            </a:r>
            <a:r>
              <a:rPr sz="1300" b="0" i="0">
                <a:solidFill>
                  <a:srgbClr val="E8EEE9"/>
                </a:solidFill>
                <a:latin typeface="Consolas"/>
              </a:rPr>
              <a:t>):</a:t>
            </a:r>
            <a:br/>
            <a:r>
              <a:rPr sz="1300" b="0" i="0">
                <a:solidFill>
                  <a:srgbClr val="E8EEE9"/>
                </a:solidFill>
                <a:latin typeface="Consolas"/>
              </a:rPr>
              <a:t>    print(</a:t>
            </a:r>
            <a:r>
              <a:rPr sz="1300" b="0" i="0">
                <a:solidFill>
                  <a:srgbClr val="F0A35E"/>
                </a:solidFill>
                <a:latin typeface="Consolas"/>
              </a:rPr>
              <a:t>"one file name is "</a:t>
            </a:r>
            <a:r>
              <a:rPr sz="1300" b="0" i="0">
                <a:solidFill>
                  <a:srgbClr val="E8EEE9"/>
                </a:solidFill>
                <a:latin typeface="Consolas"/>
              </a:rPr>
              <a:t> + file_name)</a:t>
            </a:r>
            <a:endParaRPr sz="1300"/>
          </a:p>
        </p:txBody>
      </p:sp>
      <p:sp>
        <p:nvSpPr>
          <p:cNvPr id="6" name="Rounded Rectangle 5"/>
          <p:cNvSpPr/>
          <p:nvPr/>
        </p:nvSpPr>
        <p:spPr>
          <a:xfrm>
            <a:off x="5648424" y="1704876"/>
            <a:ext cx="5727601" cy="568920"/>
          </a:xfrm>
          <a:prstGeom prst="roundRect">
            <a:avLst>
              <a:gd name="adj" fmla="val 17858"/>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20.30"/>
          <p:cNvSpPr txBox="1"/>
          <p:nvPr/>
        </p:nvSpPr>
        <p:spPr>
          <a:xfrm>
            <a:off x="5829399" y="1860451"/>
            <a:ext cx="5472331"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os.path.exists</a:t>
            </a:r>
            <a:r>
              <a:rPr sz="1400" b="0" i="0">
                <a:solidFill>
                  <a:srgbClr val="3D4F52"/>
                </a:solidFill>
                <a:latin typeface="Arial"/>
              </a:rPr>
              <a:t> vraća True ili False, pa ide direktno u if.</a:t>
            </a:r>
            <a:endParaRPr sz="1400"/>
          </a:p>
        </p:txBody>
      </p:sp>
      <p:sp>
        <p:nvSpPr>
          <p:cNvPr id="8" name="Rounded Rectangle 7"/>
          <p:cNvSpPr/>
          <p:nvPr/>
        </p:nvSpPr>
        <p:spPr>
          <a:xfrm>
            <a:off x="5648424" y="2381746"/>
            <a:ext cx="5727601" cy="568920"/>
          </a:xfrm>
          <a:prstGeom prst="roundRect">
            <a:avLst>
              <a:gd name="adj" fmla="val 17858"/>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20.30"/>
          <p:cNvSpPr txBox="1"/>
          <p:nvPr/>
        </p:nvSpPr>
        <p:spPr>
          <a:xfrm>
            <a:off x="5829399" y="2537321"/>
            <a:ext cx="5472331"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os.listdir</a:t>
            </a:r>
            <a:r>
              <a:rPr sz="1400" b="0" i="0">
                <a:solidFill>
                  <a:srgbClr val="3D4F52"/>
                </a:solidFill>
                <a:latin typeface="Arial"/>
              </a:rPr>
              <a:t> vraća listu imena, pa kroz nju prolazimo petljom.</a:t>
            </a:r>
            <a:endParaRPr sz="1400"/>
          </a:p>
        </p:txBody>
      </p:sp>
      <p:sp>
        <p:nvSpPr>
          <p:cNvPr id="10" name="Rounded Rectangle 9"/>
          <p:cNvSpPr/>
          <p:nvPr/>
        </p:nvSpPr>
        <p:spPr>
          <a:xfrm>
            <a:off x="5645249" y="3055441"/>
            <a:ext cx="5733951" cy="562570"/>
          </a:xfrm>
          <a:prstGeom prst="roundRect">
            <a:avLst>
              <a:gd name="adj" fmla="val 13544"/>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45249" y="3055441"/>
            <a:ext cx="38100" cy="5625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1x20.30"/>
          <p:cNvSpPr txBox="1"/>
          <p:nvPr/>
        </p:nvSpPr>
        <p:spPr>
          <a:xfrm>
            <a:off x="5861149" y="3207841"/>
            <a:ext cx="5446931"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Brisanje je trajno: fajlovi ne idu u korpu za otpatke.</a:t>
            </a:r>
            <a:endParaRPr sz="14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09 · FAJLOVI, PROGRAMI I KORISNIČKI UNOS</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Pokretanje spoljnih programa: subprocess</a:t>
            </a:r>
            <a:endParaRPr sz="3200"/>
          </a:p>
        </p:txBody>
      </p:sp>
      <p:sp>
        <p:nvSpPr>
          <p:cNvPr id="4" name="Rounded Rectangle 3"/>
          <p:cNvSpPr/>
          <p:nvPr/>
        </p:nvSpPr>
        <p:spPr>
          <a:xfrm>
            <a:off x="819150" y="1708051"/>
            <a:ext cx="4514850" cy="2415381"/>
          </a:xfrm>
          <a:prstGeom prst="roundRect">
            <a:avLst>
              <a:gd name="adj" fmla="val 420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8x20.15"/>
          <p:cNvSpPr txBox="1"/>
          <p:nvPr/>
        </p:nvSpPr>
        <p:spPr>
          <a:xfrm>
            <a:off x="1079500" y="1892201"/>
            <a:ext cx="4074033" cy="204708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import</a:t>
            </a:r>
            <a:r>
              <a:rPr sz="1300" b="0" i="0">
                <a:solidFill>
                  <a:srgbClr val="E8EEE9"/>
                </a:solidFill>
                <a:latin typeface="Consolas"/>
              </a:rPr>
              <a:t> subprocess</a:t>
            </a:r>
            <a:br/>
            <a:r>
              <a:rPr sz="1300" b="0" i="0">
                <a:solidFill>
                  <a:srgbClr val="8FB3AA"/>
                </a:solidFill>
                <a:latin typeface="Consolas"/>
              </a:rPr>
              <a:t># pokreni program; izlaz ide na ekran</a:t>
            </a:r>
            <a:br/>
            <a:r>
              <a:rPr sz="1300" b="0" i="0">
                <a:solidFill>
                  <a:srgbClr val="E8EEE9"/>
                </a:solidFill>
                <a:latin typeface="Consolas"/>
              </a:rPr>
              <a:t>subprocess.call(</a:t>
            </a:r>
            <a:r>
              <a:rPr sz="1300" b="0" i="0">
                <a:solidFill>
                  <a:srgbClr val="F0A35E"/>
                </a:solidFill>
                <a:latin typeface="Consolas"/>
              </a:rPr>
              <a:t>"/bin/date"</a:t>
            </a:r>
            <a:r>
              <a:rPr sz="1300" b="0" i="0">
                <a:solidFill>
                  <a:srgbClr val="E8EEE9"/>
                </a:solidFill>
                <a:latin typeface="Consolas"/>
              </a:rPr>
              <a:t>)</a:t>
            </a:r>
            <a:br/>
            <a:r>
              <a:rPr sz="1300" b="0" i="0">
                <a:solidFill>
                  <a:srgbClr val="8FB3AA"/>
                </a:solidFill>
                <a:latin typeface="Consolas"/>
              </a:rPr>
              <a:t># sa opcijama komandne linije</a:t>
            </a:r>
            <a:br/>
            <a:r>
              <a:rPr sz="1300" b="0" i="0">
                <a:solidFill>
                  <a:srgbClr val="E8EEE9"/>
                </a:solidFill>
                <a:latin typeface="Consolas"/>
              </a:rPr>
              <a:t>subprocess.call(</a:t>
            </a:r>
            <a:r>
              <a:rPr sz="1300" b="0" i="0">
                <a:solidFill>
                  <a:srgbClr val="F0A35E"/>
                </a:solidFill>
                <a:latin typeface="Consolas"/>
              </a:rPr>
              <a:t>"/bin/date +%B"</a:t>
            </a:r>
            <a:r>
              <a:rPr sz="1300" b="0" i="0">
                <a:solidFill>
                  <a:srgbClr val="E8EEE9"/>
                </a:solidFill>
                <a:latin typeface="Consolas"/>
              </a:rPr>
              <a:t>, shell=True)</a:t>
            </a:r>
            <a:br/>
            <a:r>
              <a:rPr sz="1300" b="0" i="0">
                <a:solidFill>
                  <a:srgbClr val="8FB3AA"/>
                </a:solidFill>
                <a:latin typeface="Consolas"/>
              </a:rPr>
              <a:t># sačuvaj izlaz u promenljivoj</a:t>
            </a:r>
            <a:br/>
            <a:r>
              <a:rPr sz="1300" b="0" i="0">
                <a:solidFill>
                  <a:srgbClr val="E8EEE9"/>
                </a:solidFill>
                <a:latin typeface="Consolas"/>
              </a:rPr>
              <a:t>current_month = subprocess.check_output(</a:t>
            </a:r>
            <a:br/>
            <a:r>
              <a:rPr sz="1300" b="0" i="0">
                <a:solidFill>
                  <a:srgbClr val="E8EEE9"/>
                </a:solidFill>
                <a:latin typeface="Consolas"/>
              </a:rPr>
              <a:t>    </a:t>
            </a:r>
            <a:r>
              <a:rPr sz="1300" b="0" i="0">
                <a:solidFill>
                  <a:srgbClr val="F0A35E"/>
                </a:solidFill>
                <a:latin typeface="Consolas"/>
              </a:rPr>
              <a:t>"/bin/date +%B"</a:t>
            </a:r>
            <a:r>
              <a:rPr sz="1300" b="0" i="0">
                <a:solidFill>
                  <a:srgbClr val="E8EEE9"/>
                </a:solidFill>
                <a:latin typeface="Consolas"/>
              </a:rPr>
              <a:t>, shell=True, text=True)</a:t>
            </a:r>
            <a:endParaRPr sz="1300"/>
          </a:p>
        </p:txBody>
      </p:sp>
      <p:sp>
        <p:nvSpPr>
          <p:cNvPr id="6" name="Rounded Rectangle 5"/>
          <p:cNvSpPr/>
          <p:nvPr/>
        </p:nvSpPr>
        <p:spPr>
          <a:xfrm>
            <a:off x="5648325" y="1704876"/>
            <a:ext cx="5727700" cy="1227931"/>
          </a:xfrm>
          <a:prstGeom prst="roundRect">
            <a:avLst>
              <a:gd name="adj" fmla="val 8274"/>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21.60"/>
          <p:cNvSpPr txBox="1"/>
          <p:nvPr/>
        </p:nvSpPr>
        <p:spPr>
          <a:xfrm>
            <a:off x="5854700" y="1885851"/>
            <a:ext cx="5421249"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Zašto?</a:t>
            </a:r>
            <a:endParaRPr sz="1800"/>
          </a:p>
        </p:txBody>
      </p:sp>
      <p:sp>
        <p:nvSpPr>
          <p:cNvPr id="8" name="Tekst 2x20.30"/>
          <p:cNvSpPr txBox="1"/>
          <p:nvPr/>
        </p:nvSpPr>
        <p:spPr>
          <a:xfrm>
            <a:off x="5854700" y="2236291"/>
            <a:ext cx="5421249"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Postojeće alate bi često bilo sporo ili teško pisati iznova. Python ih povezuje u radni tok.</a:t>
            </a:r>
            <a:endParaRPr sz="1400"/>
          </a:p>
        </p:txBody>
      </p:sp>
      <p:sp>
        <p:nvSpPr>
          <p:cNvPr id="9" name="Rounded Rectangle 8"/>
          <p:cNvSpPr/>
          <p:nvPr/>
        </p:nvSpPr>
        <p:spPr>
          <a:xfrm>
            <a:off x="5648325" y="3091557"/>
            <a:ext cx="5727700" cy="1227931"/>
          </a:xfrm>
          <a:prstGeom prst="roundRect">
            <a:avLst>
              <a:gd name="adj" fmla="val 8274"/>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21.60"/>
          <p:cNvSpPr txBox="1"/>
          <p:nvPr/>
        </p:nvSpPr>
        <p:spPr>
          <a:xfrm>
            <a:off x="5854700" y="3272532"/>
            <a:ext cx="5421249"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Proces i potproces</a:t>
            </a:r>
            <a:endParaRPr sz="1800"/>
          </a:p>
        </p:txBody>
      </p:sp>
      <p:sp>
        <p:nvSpPr>
          <p:cNvPr id="11" name="Tekst 2x20.30"/>
          <p:cNvSpPr txBox="1"/>
          <p:nvPr/>
        </p:nvSpPr>
        <p:spPr>
          <a:xfrm>
            <a:off x="5854700" y="3622973"/>
            <a:ext cx="5421249"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Pokrenut program je proces, a program koji pokrene drugi program pravi potproces (subprocess).</a:t>
            </a:r>
            <a:endParaRPr sz="1400"/>
          </a:p>
        </p:txBody>
      </p:sp>
      <p:sp>
        <p:nvSpPr>
          <p:cNvPr id="12" name="Rounded Rectangle 11"/>
          <p:cNvSpPr/>
          <p:nvPr/>
        </p:nvSpPr>
        <p:spPr>
          <a:xfrm>
            <a:off x="5645150" y="4475063"/>
            <a:ext cx="5734050" cy="820341"/>
          </a:xfrm>
          <a:prstGeom prst="roundRect">
            <a:avLst>
              <a:gd name="adj" fmla="val 928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45150" y="4475063"/>
            <a:ext cx="38100" cy="8203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2x20.30"/>
          <p:cNvSpPr txBox="1"/>
          <p:nvPr/>
        </p:nvSpPr>
        <p:spPr>
          <a:xfrm>
            <a:off x="5886450" y="4627463"/>
            <a:ext cx="5395341"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Izlaz programa obično ima novi red na kraju: </a:t>
            </a:r>
            <a:r>
              <a:rPr sz="1400" b="0" i="0">
                <a:solidFill>
                  <a:srgbClr val="A8521A"/>
                </a:solidFill>
                <a:latin typeface="Arial"/>
              </a:rPr>
              <a:t>rstrip</a:t>
            </a:r>
            <a:r>
              <a:rPr sz="1400" b="0" i="0">
                <a:solidFill>
                  <a:srgbClr val="13262B"/>
                </a:solidFill>
                <a:latin typeface="Arial"/>
              </a:rPr>
              <a:t> pre dalje obrade.</a:t>
            </a:r>
            <a:endParaRPr sz="14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09 · FAJLOVI, PROGRAMI I KORISNIČKI UNOS</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call ispisuje, check_output vraća</a:t>
            </a:r>
            <a:endParaRPr sz="3200"/>
          </a:p>
        </p:txBody>
      </p:sp>
      <p:sp>
        <p:nvSpPr>
          <p:cNvPr id="4" name="Rounded Rectangle 3"/>
          <p:cNvSpPr/>
          <p:nvPr/>
        </p:nvSpPr>
        <p:spPr>
          <a:xfrm>
            <a:off x="819150" y="1606451"/>
            <a:ext cx="6972300" cy="624185"/>
          </a:xfrm>
          <a:prstGeom prst="roundRect">
            <a:avLst>
              <a:gd name="adj" fmla="val 16277"/>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20.15"/>
          <p:cNvSpPr txBox="1"/>
          <p:nvPr/>
        </p:nvSpPr>
        <p:spPr>
          <a:xfrm>
            <a:off x="1079500" y="1790601"/>
            <a:ext cx="6580632"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subprocess.call(</a:t>
            </a:r>
            <a:r>
              <a:rPr sz="1300" b="0" i="0">
                <a:solidFill>
                  <a:srgbClr val="F0A35E"/>
                </a:solidFill>
                <a:latin typeface="Consolas"/>
              </a:rPr>
              <a:t>"/bin/date"</a:t>
            </a:r>
            <a:r>
              <a:rPr sz="1300" b="0" i="0">
                <a:solidFill>
                  <a:srgbClr val="E8EEE9"/>
                </a:solidFill>
                <a:latin typeface="Consolas"/>
              </a:rPr>
              <a:t>)</a:t>
            </a:r>
            <a:endParaRPr sz="1300"/>
          </a:p>
        </p:txBody>
      </p:sp>
      <p:sp>
        <p:nvSpPr>
          <p:cNvPr id="6" name="Rounded Rectangle 5"/>
          <p:cNvSpPr/>
          <p:nvPr/>
        </p:nvSpPr>
        <p:spPr>
          <a:xfrm>
            <a:off x="7905750" y="1606451"/>
            <a:ext cx="3467100" cy="624185"/>
          </a:xfrm>
          <a:prstGeom prst="roundRect">
            <a:avLst>
              <a:gd name="adj" fmla="val 16277"/>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20.15"/>
          <p:cNvSpPr txBox="1"/>
          <p:nvPr/>
        </p:nvSpPr>
        <p:spPr>
          <a:xfrm>
            <a:off x="8115300" y="1790601"/>
            <a:ext cx="3108960"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Fri Jul 26 15:15:26 BST 2013</a:t>
            </a:r>
            <a:endParaRPr sz="1300"/>
          </a:p>
        </p:txBody>
      </p:sp>
      <p:sp>
        <p:nvSpPr>
          <p:cNvPr id="8" name="Rounded Rectangle 7"/>
          <p:cNvSpPr/>
          <p:nvPr/>
        </p:nvSpPr>
        <p:spPr>
          <a:xfrm>
            <a:off x="819150" y="2395736"/>
            <a:ext cx="6972300" cy="624185"/>
          </a:xfrm>
          <a:prstGeom prst="roundRect">
            <a:avLst>
              <a:gd name="adj" fmla="val 16277"/>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20.15"/>
          <p:cNvSpPr txBox="1"/>
          <p:nvPr/>
        </p:nvSpPr>
        <p:spPr>
          <a:xfrm>
            <a:off x="1079500" y="2579886"/>
            <a:ext cx="6580632"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subprocess.call(</a:t>
            </a:r>
            <a:r>
              <a:rPr sz="1300" b="0" i="0">
                <a:solidFill>
                  <a:srgbClr val="F0A35E"/>
                </a:solidFill>
                <a:latin typeface="Consolas"/>
              </a:rPr>
              <a:t>"/bin/date +%B"</a:t>
            </a:r>
            <a:r>
              <a:rPr sz="1300" b="0" i="0">
                <a:solidFill>
                  <a:srgbClr val="E8EEE9"/>
                </a:solidFill>
                <a:latin typeface="Consolas"/>
              </a:rPr>
              <a:t>, shell=True)</a:t>
            </a:r>
            <a:endParaRPr sz="1300"/>
          </a:p>
        </p:txBody>
      </p:sp>
      <p:sp>
        <p:nvSpPr>
          <p:cNvPr id="10" name="Rounded Rectangle 9"/>
          <p:cNvSpPr/>
          <p:nvPr/>
        </p:nvSpPr>
        <p:spPr>
          <a:xfrm>
            <a:off x="7905750" y="2395736"/>
            <a:ext cx="3467100" cy="624185"/>
          </a:xfrm>
          <a:prstGeom prst="roundRect">
            <a:avLst>
              <a:gd name="adj" fmla="val 16277"/>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1x20.15"/>
          <p:cNvSpPr txBox="1"/>
          <p:nvPr/>
        </p:nvSpPr>
        <p:spPr>
          <a:xfrm>
            <a:off x="8115300" y="2579886"/>
            <a:ext cx="3108960"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July</a:t>
            </a:r>
            <a:endParaRPr sz="1300"/>
          </a:p>
        </p:txBody>
      </p:sp>
      <p:sp>
        <p:nvSpPr>
          <p:cNvPr id="12" name="Rounded Rectangle 11"/>
          <p:cNvSpPr/>
          <p:nvPr/>
        </p:nvSpPr>
        <p:spPr>
          <a:xfrm>
            <a:off x="819150" y="3185021"/>
            <a:ext cx="6972300"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3x20.15"/>
          <p:cNvSpPr txBox="1"/>
          <p:nvPr/>
        </p:nvSpPr>
        <p:spPr>
          <a:xfrm>
            <a:off x="1079500" y="3369171"/>
            <a:ext cx="6580632"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current_month = subprocess.check_output(</a:t>
            </a:r>
            <a:r>
              <a:rPr sz="1300" b="0" i="0">
                <a:solidFill>
                  <a:srgbClr val="F0A35E"/>
                </a:solidFill>
                <a:latin typeface="Consolas"/>
              </a:rPr>
              <a:t>"/bin/date +%B"</a:t>
            </a:r>
            <a:r>
              <a:rPr sz="1300" b="0" i="0">
                <a:solidFill>
                  <a:srgbClr val="E8EEE9"/>
                </a:solidFill>
                <a:latin typeface="Consolas"/>
              </a:rPr>
              <a:t>,</a:t>
            </a:r>
            <a:br/>
            <a:r>
              <a:rPr sz="1300" b="0" i="0">
                <a:solidFill>
                  <a:srgbClr val="E8EEE9"/>
                </a:solidFill>
                <a:latin typeface="Consolas"/>
              </a:rPr>
              <a:t>    shell=True, text=True)</a:t>
            </a:r>
            <a:br/>
            <a:r>
              <a:rPr sz="1300" b="0" i="0">
                <a:solidFill>
                  <a:srgbClr val="E8EEE9"/>
                </a:solidFill>
                <a:latin typeface="Consolas"/>
              </a:rPr>
              <a:t>print(current_month.rstrip(</a:t>
            </a:r>
            <a:r>
              <a:rPr sz="1300" b="0" i="0">
                <a:solidFill>
                  <a:srgbClr val="F0A35E"/>
                </a:solidFill>
                <a:latin typeface="Consolas"/>
              </a:rPr>
              <a:t>"\n"</a:t>
            </a:r>
            <a:r>
              <a:rPr sz="1300" b="0" i="0">
                <a:solidFill>
                  <a:srgbClr val="E8EEE9"/>
                </a:solidFill>
                <a:latin typeface="Consolas"/>
              </a:rPr>
              <a:t>))</a:t>
            </a:r>
            <a:endParaRPr sz="1300"/>
          </a:p>
        </p:txBody>
      </p:sp>
      <p:sp>
        <p:nvSpPr>
          <p:cNvPr id="14" name="Rounded Rectangle 13"/>
          <p:cNvSpPr/>
          <p:nvPr/>
        </p:nvSpPr>
        <p:spPr>
          <a:xfrm>
            <a:off x="7905750" y="3185021"/>
            <a:ext cx="3467100" cy="1135955"/>
          </a:xfrm>
          <a:prstGeom prst="roundRect">
            <a:avLst>
              <a:gd name="adj" fmla="val 894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kst 1x20.15"/>
          <p:cNvSpPr txBox="1"/>
          <p:nvPr/>
        </p:nvSpPr>
        <p:spPr>
          <a:xfrm>
            <a:off x="8115300" y="3880941"/>
            <a:ext cx="3108960"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July</a:t>
            </a:r>
            <a:endParaRPr sz="1300"/>
          </a:p>
        </p:txBody>
      </p:sp>
      <p:sp>
        <p:nvSpPr>
          <p:cNvPr id="16" name="Rounded Rectangle 15"/>
          <p:cNvSpPr/>
          <p:nvPr/>
        </p:nvSpPr>
        <p:spPr>
          <a:xfrm>
            <a:off x="812800" y="4479727"/>
            <a:ext cx="10566400" cy="511770"/>
          </a:xfrm>
          <a:prstGeom prst="roundRect">
            <a:avLst>
              <a:gd name="adj" fmla="val 14889"/>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800" y="4479727"/>
            <a:ext cx="38100" cy="5117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kst 1x20.30"/>
          <p:cNvSpPr txBox="1"/>
          <p:nvPr/>
        </p:nvSpPr>
        <p:spPr>
          <a:xfrm>
            <a:off x="1054100" y="4606727"/>
            <a:ext cx="1024382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Izlaz programa koji pokrene </a:t>
            </a:r>
            <a:r>
              <a:rPr sz="1400" b="0" i="0">
                <a:solidFill>
                  <a:srgbClr val="A8521A"/>
                </a:solidFill>
                <a:latin typeface="Arial"/>
              </a:rPr>
              <a:t>call</a:t>
            </a:r>
            <a:r>
              <a:rPr sz="1400" b="0" i="0">
                <a:solidFill>
                  <a:srgbClr val="13262B"/>
                </a:solidFill>
                <a:latin typeface="Arial"/>
              </a:rPr>
              <a:t> ide pravo na ekran. </a:t>
            </a:r>
            <a:r>
              <a:rPr sz="1400" b="0" i="0">
                <a:solidFill>
                  <a:srgbClr val="A8521A"/>
                </a:solidFill>
                <a:latin typeface="Arial"/>
              </a:rPr>
              <a:t>check_output</a:t>
            </a:r>
            <a:r>
              <a:rPr sz="1400" b="0" i="0">
                <a:solidFill>
                  <a:srgbClr val="13262B"/>
                </a:solidFill>
                <a:latin typeface="Arial"/>
              </a:rPr>
              <a:t> ga vraća kao vrednost koju možemo da sačuvamo i obradimo.</a:t>
            </a:r>
            <a:endParaRPr sz="14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09 · FAJLOVI, PROGRAMI I KORISNIČKI UNOS</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Tri načina da podaci uđu u program</a:t>
            </a:r>
            <a:endParaRPr sz="3200"/>
          </a:p>
        </p:txBody>
      </p:sp>
      <p:sp>
        <p:nvSpPr>
          <p:cNvPr id="4" name="Tekst 2x19.60"/>
          <p:cNvSpPr txBox="1"/>
          <p:nvPr/>
        </p:nvSpPr>
        <p:spPr>
          <a:xfrm>
            <a:off x="812800" y="1701701"/>
            <a:ext cx="2331720" cy="497681"/>
          </a:xfrm>
          <a:prstGeom prst="rect">
            <a:avLst/>
          </a:prstGeom>
          <a:noFill/>
        </p:spPr>
        <p:txBody>
          <a:bodyPr wrap="square" anchor="t" lIns="0" rIns="0" tIns="0" bIns="0">
            <a:noAutofit/>
          </a:bodyPr>
          <a:lstStyle/>
          <a:p>
            <a:pPr algn="l">
              <a:lnSpc>
                <a:spcPts val="1960"/>
              </a:lnSpc>
              <a:spcBef>
                <a:spcPts val="0"/>
              </a:spcBef>
              <a:spcAft>
                <a:spcPts val="0"/>
              </a:spcAft>
            </a:pPr>
            <a:r>
              <a:rPr sz="1400" b="1" i="0">
                <a:solidFill>
                  <a:srgbClr val="13262B"/>
                </a:solidFill>
                <a:latin typeface="Arial"/>
              </a:rPr>
              <a:t>Ugrađeno u kod (hard-coded)</a:t>
            </a:r>
            <a:endParaRPr sz="1400"/>
          </a:p>
        </p:txBody>
      </p:sp>
      <p:sp>
        <p:nvSpPr>
          <p:cNvPr id="5" name="Rounded Rectangle 4"/>
          <p:cNvSpPr/>
          <p:nvPr/>
        </p:nvSpPr>
        <p:spPr>
          <a:xfrm>
            <a:off x="3302000" y="1720949"/>
            <a:ext cx="5207000" cy="459085"/>
          </a:xfrm>
          <a:prstGeom prst="roundRect">
            <a:avLst>
              <a:gd name="adj" fmla="val 16598"/>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1x20.15"/>
          <p:cNvSpPr txBox="1"/>
          <p:nvPr/>
        </p:nvSpPr>
        <p:spPr>
          <a:xfrm>
            <a:off x="3479800" y="1822549"/>
            <a:ext cx="4948428"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dna = </a:t>
            </a:r>
            <a:r>
              <a:rPr sz="1300" b="0" i="0">
                <a:solidFill>
                  <a:srgbClr val="F0A35E"/>
                </a:solidFill>
                <a:latin typeface="Consolas"/>
              </a:rPr>
              <a:t>"ATCGATCGTGACTAGCTACG"</a:t>
            </a:r>
            <a:endParaRPr sz="1300"/>
          </a:p>
        </p:txBody>
      </p:sp>
      <p:sp>
        <p:nvSpPr>
          <p:cNvPr id="7" name="Tekst 2x19.60"/>
          <p:cNvSpPr txBox="1"/>
          <p:nvPr/>
        </p:nvSpPr>
        <p:spPr>
          <a:xfrm>
            <a:off x="8712200" y="1701701"/>
            <a:ext cx="2720340" cy="497681"/>
          </a:xfrm>
          <a:prstGeom prst="rect">
            <a:avLst/>
          </a:prstGeom>
          <a:noFill/>
        </p:spPr>
        <p:txBody>
          <a:bodyPr wrap="square" anchor="t" lIns="0" rIns="0" tIns="0" bIns="0">
            <a:noAutofit/>
          </a:bodyPr>
          <a:lstStyle/>
          <a:p>
            <a:pPr algn="l">
              <a:lnSpc>
                <a:spcPts val="1960"/>
              </a:lnSpc>
              <a:spcBef>
                <a:spcPts val="0"/>
              </a:spcBef>
              <a:spcAft>
                <a:spcPts val="0"/>
              </a:spcAft>
            </a:pPr>
            <a:r>
              <a:rPr sz="1400" b="0" i="0">
                <a:solidFill>
                  <a:srgbClr val="3D4F52"/>
                </a:solidFill>
                <a:latin typeface="Arial"/>
              </a:rPr>
              <a:t>Promena ulaza znači izmenu koda.</a:t>
            </a:r>
            <a:endParaRPr sz="1400"/>
          </a:p>
        </p:txBody>
      </p:sp>
      <p:sp>
        <p:nvSpPr>
          <p:cNvPr id="8" name="Tekst 1x19.60"/>
          <p:cNvSpPr txBox="1"/>
          <p:nvPr/>
        </p:nvSpPr>
        <p:spPr>
          <a:xfrm>
            <a:off x="812800" y="2425402"/>
            <a:ext cx="2331720" cy="248841"/>
          </a:xfrm>
          <a:prstGeom prst="rect">
            <a:avLst/>
          </a:prstGeom>
          <a:noFill/>
        </p:spPr>
        <p:txBody>
          <a:bodyPr wrap="square" anchor="t" lIns="0" rIns="0" tIns="0" bIns="0">
            <a:noAutofit/>
          </a:bodyPr>
          <a:lstStyle/>
          <a:p>
            <a:pPr algn="l">
              <a:lnSpc>
                <a:spcPts val="1960"/>
              </a:lnSpc>
              <a:spcBef>
                <a:spcPts val="0"/>
              </a:spcBef>
              <a:spcAft>
                <a:spcPts val="0"/>
              </a:spcAft>
            </a:pPr>
            <a:r>
              <a:rPr sz="1400" b="1" i="0">
                <a:solidFill>
                  <a:srgbClr val="13262B"/>
                </a:solidFill>
                <a:latin typeface="Arial"/>
              </a:rPr>
              <a:t>Interaktivno: input</a:t>
            </a:r>
            <a:endParaRPr sz="1400"/>
          </a:p>
        </p:txBody>
      </p:sp>
      <p:sp>
        <p:nvSpPr>
          <p:cNvPr id="9" name="Rounded Rectangle 8"/>
          <p:cNvSpPr/>
          <p:nvPr/>
        </p:nvSpPr>
        <p:spPr>
          <a:xfrm>
            <a:off x="3302000" y="2320230"/>
            <a:ext cx="5207000" cy="459085"/>
          </a:xfrm>
          <a:prstGeom prst="roundRect">
            <a:avLst>
              <a:gd name="adj" fmla="val 16598"/>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20.15"/>
          <p:cNvSpPr txBox="1"/>
          <p:nvPr/>
        </p:nvSpPr>
        <p:spPr>
          <a:xfrm>
            <a:off x="3479800" y="2421830"/>
            <a:ext cx="4948428"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accession = input(</a:t>
            </a:r>
            <a:r>
              <a:rPr sz="1300" b="0" i="0">
                <a:solidFill>
                  <a:srgbClr val="F0A35E"/>
                </a:solidFill>
                <a:latin typeface="Consolas"/>
              </a:rPr>
              <a:t>"Enter the accession name"</a:t>
            </a:r>
            <a:r>
              <a:rPr sz="1300" b="0" i="0">
                <a:solidFill>
                  <a:srgbClr val="E8EEE9"/>
                </a:solidFill>
                <a:latin typeface="Consolas"/>
              </a:rPr>
              <a:t>)</a:t>
            </a:r>
            <a:endParaRPr sz="1300"/>
          </a:p>
        </p:txBody>
      </p:sp>
      <p:sp>
        <p:nvSpPr>
          <p:cNvPr id="11" name="Tekst 2x19.60"/>
          <p:cNvSpPr txBox="1"/>
          <p:nvPr/>
        </p:nvSpPr>
        <p:spPr>
          <a:xfrm>
            <a:off x="8712200" y="2300982"/>
            <a:ext cx="2720340" cy="497681"/>
          </a:xfrm>
          <a:prstGeom prst="rect">
            <a:avLst/>
          </a:prstGeom>
          <a:noFill/>
        </p:spPr>
        <p:txBody>
          <a:bodyPr wrap="square" anchor="t" lIns="0" rIns="0" tIns="0" bIns="0">
            <a:noAutofit/>
          </a:bodyPr>
          <a:lstStyle/>
          <a:p>
            <a:pPr algn="l">
              <a:lnSpc>
                <a:spcPts val="1960"/>
              </a:lnSpc>
              <a:spcBef>
                <a:spcPts val="0"/>
              </a:spcBef>
              <a:spcAft>
                <a:spcPts val="0"/>
              </a:spcAft>
            </a:pPr>
            <a:r>
              <a:rPr sz="1400" b="0" i="0">
                <a:solidFill>
                  <a:srgbClr val="3D4F52"/>
                </a:solidFill>
                <a:latin typeface="Arial"/>
              </a:rPr>
              <a:t>Program čeka korisnika; uvek dobija string.</a:t>
            </a:r>
            <a:endParaRPr sz="1400"/>
          </a:p>
        </p:txBody>
      </p:sp>
      <p:sp>
        <p:nvSpPr>
          <p:cNvPr id="12" name="Tekst 1x19.60"/>
          <p:cNvSpPr txBox="1"/>
          <p:nvPr/>
        </p:nvSpPr>
        <p:spPr>
          <a:xfrm>
            <a:off x="812800" y="3005336"/>
            <a:ext cx="2331720" cy="248841"/>
          </a:xfrm>
          <a:prstGeom prst="rect">
            <a:avLst/>
          </a:prstGeom>
          <a:noFill/>
        </p:spPr>
        <p:txBody>
          <a:bodyPr wrap="square" anchor="t" lIns="0" rIns="0" tIns="0" bIns="0">
            <a:noAutofit/>
          </a:bodyPr>
          <a:lstStyle/>
          <a:p>
            <a:pPr algn="l">
              <a:lnSpc>
                <a:spcPts val="1960"/>
              </a:lnSpc>
              <a:spcBef>
                <a:spcPts val="0"/>
              </a:spcBef>
              <a:spcAft>
                <a:spcPts val="0"/>
              </a:spcAft>
            </a:pPr>
            <a:r>
              <a:rPr sz="1400" b="1" i="0">
                <a:solidFill>
                  <a:srgbClr val="13262B"/>
                </a:solidFill>
                <a:latin typeface="Arial"/>
              </a:rPr>
              <a:t>Komandna linija: sys.argv</a:t>
            </a:r>
            <a:endParaRPr sz="1400"/>
          </a:p>
        </p:txBody>
      </p:sp>
      <p:sp>
        <p:nvSpPr>
          <p:cNvPr id="13" name="Rounded Rectangle 12"/>
          <p:cNvSpPr/>
          <p:nvPr/>
        </p:nvSpPr>
        <p:spPr>
          <a:xfrm>
            <a:off x="3302000" y="2900263"/>
            <a:ext cx="5207000" cy="459085"/>
          </a:xfrm>
          <a:prstGeom prst="roundRect">
            <a:avLst>
              <a:gd name="adj" fmla="val 16598"/>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20.15"/>
          <p:cNvSpPr txBox="1"/>
          <p:nvPr/>
        </p:nvSpPr>
        <p:spPr>
          <a:xfrm>
            <a:off x="3479800" y="3001863"/>
            <a:ext cx="4948428"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 python myprogram.py one two three</a:t>
            </a:r>
            <a:endParaRPr sz="1300"/>
          </a:p>
        </p:txBody>
      </p:sp>
      <p:sp>
        <p:nvSpPr>
          <p:cNvPr id="15" name="Tekst 1x19.60"/>
          <p:cNvSpPr txBox="1"/>
          <p:nvPr/>
        </p:nvSpPr>
        <p:spPr>
          <a:xfrm>
            <a:off x="8712200" y="3005336"/>
            <a:ext cx="2720340" cy="248841"/>
          </a:xfrm>
          <a:prstGeom prst="rect">
            <a:avLst/>
          </a:prstGeom>
          <a:noFill/>
        </p:spPr>
        <p:txBody>
          <a:bodyPr wrap="square" anchor="t" lIns="0" rIns="0" tIns="0" bIns="0">
            <a:noAutofit/>
          </a:bodyPr>
          <a:lstStyle/>
          <a:p>
            <a:pPr algn="l">
              <a:lnSpc>
                <a:spcPts val="1960"/>
              </a:lnSpc>
              <a:spcBef>
                <a:spcPts val="0"/>
              </a:spcBef>
              <a:spcAft>
                <a:spcPts val="0"/>
              </a:spcAft>
            </a:pPr>
            <a:r>
              <a:rPr sz="1400" b="0" i="0">
                <a:solidFill>
                  <a:srgbClr val="3D4F52"/>
                </a:solidFill>
                <a:latin typeface="Arial"/>
              </a:rPr>
              <a:t>Najbolje za naučne radne tokove.</a:t>
            </a:r>
            <a:endParaRPr sz="1400"/>
          </a:p>
        </p:txBody>
      </p:sp>
      <p:sp>
        <p:nvSpPr>
          <p:cNvPr id="16" name="Rounded Rectangle 15"/>
          <p:cNvSpPr/>
          <p:nvPr/>
        </p:nvSpPr>
        <p:spPr>
          <a:xfrm>
            <a:off x="815975" y="3616523"/>
            <a:ext cx="10560050" cy="1511102"/>
          </a:xfrm>
          <a:prstGeom prst="roundRect">
            <a:avLst>
              <a:gd name="adj" fmla="val 6723"/>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kst 1x21.60"/>
          <p:cNvSpPr txBox="1"/>
          <p:nvPr/>
        </p:nvSpPr>
        <p:spPr>
          <a:xfrm>
            <a:off x="1022350" y="3797498"/>
            <a:ext cx="1026922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Saveti za korisnički unos</a:t>
            </a:r>
            <a:endParaRPr sz="1800"/>
          </a:p>
        </p:txBody>
      </p:sp>
      <p:sp>
        <p:nvSpPr>
          <p:cNvPr id="18" name="Tekst 3x20.30"/>
          <p:cNvSpPr txBox="1"/>
          <p:nvPr/>
        </p:nvSpPr>
        <p:spPr>
          <a:xfrm>
            <a:off x="1022350" y="4173339"/>
            <a:ext cx="10269220" cy="773311"/>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Prikupite sav unos na početku, pre dugih izračunavanja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Proverite unos čim stigne (validacija) i dajte korisniku drugu šansu</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Napišite jasna uputstva: program će koristiti i kolege, recenzenti ili vi sami za nekoliko meseci</a:t>
            </a:r>
            <a:endParaRPr sz="14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09 · FAJLOVI, PROGRAMI I KORISNIČKI UNOS</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Dve zamke interaktivnog unosa</a:t>
            </a:r>
            <a:endParaRPr sz="3200"/>
          </a:p>
        </p:txBody>
      </p:sp>
      <p:sp>
        <p:nvSpPr>
          <p:cNvPr id="4" name="Rounded Rectangle 3"/>
          <p:cNvSpPr/>
          <p:nvPr/>
        </p:nvSpPr>
        <p:spPr>
          <a:xfrm>
            <a:off x="815975" y="1704876"/>
            <a:ext cx="5175250" cy="1761331"/>
          </a:xfrm>
          <a:prstGeom prst="roundRect">
            <a:avLst>
              <a:gd name="adj" fmla="val 5768"/>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kona-input-zamke-0.png"/>
          <p:cNvPicPr>
            <a:picLocks noChangeAspect="1"/>
          </p:cNvPicPr>
          <p:nvPr/>
        </p:nvPicPr>
        <p:blipFill>
          <a:blip r:embed="rId2"/>
          <a:stretch>
            <a:fillRect/>
          </a:stretch>
        </p:blipFill>
        <p:spPr>
          <a:xfrm>
            <a:off x="1022350" y="1911251"/>
            <a:ext cx="355600" cy="355600"/>
          </a:xfrm>
          <a:prstGeom prst="rect">
            <a:avLst/>
          </a:prstGeom>
        </p:spPr>
      </p:pic>
      <p:sp>
        <p:nvSpPr>
          <p:cNvPr id="6" name="Tekst 1x21.60"/>
          <p:cNvSpPr txBox="1"/>
          <p:nvPr/>
        </p:nvSpPr>
        <p:spPr>
          <a:xfrm>
            <a:off x="1022350" y="2368451"/>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Program tiho čeka</a:t>
            </a:r>
            <a:endParaRPr sz="1800"/>
          </a:p>
        </p:txBody>
      </p:sp>
      <p:sp>
        <p:nvSpPr>
          <p:cNvPr id="7" name="Tekst 2x20.30"/>
          <p:cNvSpPr txBox="1"/>
          <p:nvPr/>
        </p:nvSpPr>
        <p:spPr>
          <a:xfrm>
            <a:off x="1022350" y="2744291"/>
            <a:ext cx="485775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Posle dugog računanja program traži unos, a korisnik je otišao, misleći da sve radi. Program satima stoji.</a:t>
            </a:r>
            <a:endParaRPr sz="1400"/>
          </a:p>
        </p:txBody>
      </p:sp>
      <p:sp>
        <p:nvSpPr>
          <p:cNvPr id="8" name="Rounded Rectangle 7"/>
          <p:cNvSpPr/>
          <p:nvPr/>
        </p:nvSpPr>
        <p:spPr>
          <a:xfrm>
            <a:off x="6200775" y="1704876"/>
            <a:ext cx="5175250" cy="1761331"/>
          </a:xfrm>
          <a:prstGeom prst="roundRect">
            <a:avLst>
              <a:gd name="adj" fmla="val 5768"/>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kona-input-zamke-1.png"/>
          <p:cNvPicPr>
            <a:picLocks noChangeAspect="1"/>
          </p:cNvPicPr>
          <p:nvPr/>
        </p:nvPicPr>
        <p:blipFill>
          <a:blip r:embed="rId3"/>
          <a:stretch>
            <a:fillRect/>
          </a:stretch>
        </p:blipFill>
        <p:spPr>
          <a:xfrm>
            <a:off x="6407150" y="1911251"/>
            <a:ext cx="355600" cy="355600"/>
          </a:xfrm>
          <a:prstGeom prst="rect">
            <a:avLst/>
          </a:prstGeom>
        </p:spPr>
      </p:pic>
      <p:sp>
        <p:nvSpPr>
          <p:cNvPr id="10" name="Tekst 1x21.60"/>
          <p:cNvSpPr txBox="1"/>
          <p:nvPr/>
        </p:nvSpPr>
        <p:spPr>
          <a:xfrm>
            <a:off x="6407150" y="2368451"/>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Greška u kucanju na kraju</a:t>
            </a:r>
            <a:endParaRPr sz="1800"/>
          </a:p>
        </p:txBody>
      </p:sp>
      <p:sp>
        <p:nvSpPr>
          <p:cNvPr id="11" name="Tekst 2x20.30"/>
          <p:cNvSpPr txBox="1"/>
          <p:nvPr/>
        </p:nvSpPr>
        <p:spPr>
          <a:xfrm>
            <a:off x="6407150" y="2744291"/>
            <a:ext cx="485775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Program dugo radi, pa traži unos, a pogrešan unos ga obori. Sve mora ispočetka.</a:t>
            </a:r>
            <a:endParaRPr sz="1400"/>
          </a:p>
        </p:txBody>
      </p:sp>
      <p:sp>
        <p:nvSpPr>
          <p:cNvPr id="12" name="Rounded Rectangle 11"/>
          <p:cNvSpPr/>
          <p:nvPr/>
        </p:nvSpPr>
        <p:spPr>
          <a:xfrm>
            <a:off x="812800" y="3723382"/>
            <a:ext cx="10566400" cy="871141"/>
          </a:xfrm>
          <a:prstGeom prst="roundRect">
            <a:avLst>
              <a:gd name="adj" fmla="val 11662"/>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2x20.30"/>
          <p:cNvSpPr txBox="1"/>
          <p:nvPr/>
        </p:nvSpPr>
        <p:spPr>
          <a:xfrm>
            <a:off x="1041400" y="3901182"/>
            <a:ext cx="1024636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F6F4EE"/>
                </a:solidFill>
                <a:latin typeface="Arial"/>
              </a:rPr>
              <a:t>Rešenje: sav unos prikupite na početku i odmah ga proverite. Za rad bez nadzora, u lancu alata, koristite argumente komandne linije.</a:t>
            </a:r>
            <a:endParaRPr sz="14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09 · FAJLOVI, PROGRAMI I KORISNIČKI UNOS</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Argumenti komandne linije: sys.argv</a:t>
            </a:r>
            <a:endParaRPr sz="3200"/>
          </a:p>
        </p:txBody>
      </p:sp>
      <p:sp>
        <p:nvSpPr>
          <p:cNvPr id="4" name="Rounded Rectangle 3"/>
          <p:cNvSpPr/>
          <p:nvPr/>
        </p:nvSpPr>
        <p:spPr>
          <a:xfrm>
            <a:off x="819150" y="1708051"/>
            <a:ext cx="1882378" cy="1159470"/>
          </a:xfrm>
          <a:prstGeom prst="roundRect">
            <a:avLst>
              <a:gd name="adj" fmla="val 8762"/>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3x20.15"/>
          <p:cNvSpPr txBox="1"/>
          <p:nvPr/>
        </p:nvSpPr>
        <p:spPr>
          <a:xfrm>
            <a:off x="1079500" y="1892201"/>
            <a:ext cx="1388912"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myprogram.py</a:t>
            </a:r>
            <a:br/>
            <a:r>
              <a:rPr sz="1300" b="0" i="0">
                <a:solidFill>
                  <a:srgbClr val="6FD3C1"/>
                </a:solidFill>
                <a:latin typeface="Consolas"/>
              </a:rPr>
              <a:t>import</a:t>
            </a:r>
            <a:r>
              <a:rPr sz="1300" b="0" i="0">
                <a:solidFill>
                  <a:srgbClr val="E8EEE9"/>
                </a:solidFill>
                <a:latin typeface="Consolas"/>
              </a:rPr>
              <a:t> sys</a:t>
            </a:r>
            <a:br/>
            <a:r>
              <a:rPr sz="1300" b="0" i="0">
                <a:solidFill>
                  <a:srgbClr val="E8EEE9"/>
                </a:solidFill>
                <a:latin typeface="Consolas"/>
              </a:rPr>
              <a:t>print(sys.argv)</a:t>
            </a:r>
            <a:endParaRPr sz="1300"/>
          </a:p>
        </p:txBody>
      </p:sp>
      <p:sp>
        <p:nvSpPr>
          <p:cNvPr id="6" name="Rounded Rectangle 5"/>
          <p:cNvSpPr/>
          <p:nvPr/>
        </p:nvSpPr>
        <p:spPr>
          <a:xfrm>
            <a:off x="2866628" y="1708051"/>
            <a:ext cx="8506222" cy="522585"/>
          </a:xfrm>
          <a:prstGeom prst="roundRect">
            <a:avLst>
              <a:gd name="adj" fmla="val 19441"/>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20.15"/>
          <p:cNvSpPr txBox="1"/>
          <p:nvPr/>
        </p:nvSpPr>
        <p:spPr>
          <a:xfrm>
            <a:off x="3126978" y="1841401"/>
            <a:ext cx="8137922"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 python myprogram.py one two three</a:t>
            </a:r>
            <a:endParaRPr sz="1300"/>
          </a:p>
        </p:txBody>
      </p:sp>
      <p:sp>
        <p:nvSpPr>
          <p:cNvPr id="8" name="Rounded Rectangle 7"/>
          <p:cNvSpPr/>
          <p:nvPr/>
        </p:nvSpPr>
        <p:spPr>
          <a:xfrm>
            <a:off x="2866628" y="2344936"/>
            <a:ext cx="8506222" cy="522585"/>
          </a:xfrm>
          <a:prstGeom prst="roundRect">
            <a:avLst>
              <a:gd name="adj" fmla="val 19441"/>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16.80"/>
          <p:cNvSpPr txBox="1"/>
          <p:nvPr/>
        </p:nvSpPr>
        <p:spPr>
          <a:xfrm>
            <a:off x="10325100" y="2402086"/>
            <a:ext cx="9144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a:t>
            </a:r>
            <a:endParaRPr sz="1200"/>
          </a:p>
        </p:txBody>
      </p:sp>
      <p:sp>
        <p:nvSpPr>
          <p:cNvPr id="10" name="Tekst 1x20.15"/>
          <p:cNvSpPr txBox="1"/>
          <p:nvPr/>
        </p:nvSpPr>
        <p:spPr>
          <a:xfrm>
            <a:off x="3126978" y="2478286"/>
            <a:ext cx="8137922"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['myprogram.py', 'one', 'two', 'three']</a:t>
            </a:r>
            <a:endParaRPr sz="1300"/>
          </a:p>
        </p:txBody>
      </p:sp>
      <p:sp>
        <p:nvSpPr>
          <p:cNvPr id="11" name="Tekst 1x18.20"/>
          <p:cNvSpPr txBox="1"/>
          <p:nvPr/>
        </p:nvSpPr>
        <p:spPr>
          <a:xfrm>
            <a:off x="1596231" y="3127871"/>
            <a:ext cx="1023938" cy="231080"/>
          </a:xfrm>
          <a:prstGeom prst="rect">
            <a:avLst/>
          </a:prstGeom>
          <a:noFill/>
        </p:spPr>
        <p:txBody>
          <a:bodyPr wrap="square" anchor="t" lIns="0" rIns="0" tIns="0" bIns="0">
            <a:noAutofit/>
          </a:bodyPr>
          <a:lstStyle/>
          <a:p>
            <a:pPr algn="l">
              <a:lnSpc>
                <a:spcPts val="1820"/>
              </a:lnSpc>
              <a:spcBef>
                <a:spcPts val="0"/>
              </a:spcBef>
              <a:spcAft>
                <a:spcPts val="0"/>
              </a:spcAft>
            </a:pPr>
            <a:r>
              <a:rPr sz="1300" b="1" i="0">
                <a:solidFill>
                  <a:srgbClr val="A8521A"/>
                </a:solidFill>
                <a:latin typeface="Consolas"/>
              </a:rPr>
              <a:t>sys.argv[0]</a:t>
            </a:r>
            <a:endParaRPr sz="1300"/>
          </a:p>
        </p:txBody>
      </p:sp>
      <p:sp>
        <p:nvSpPr>
          <p:cNvPr id="12" name="Rounded Rectangle 11"/>
          <p:cNvSpPr/>
          <p:nvPr/>
        </p:nvSpPr>
        <p:spPr>
          <a:xfrm>
            <a:off x="819150" y="3416102"/>
            <a:ext cx="2552700" cy="446980"/>
          </a:xfrm>
          <a:prstGeom prst="roundRect">
            <a:avLst>
              <a:gd name="adj" fmla="val 17047"/>
            </a:avLst>
          </a:prstGeom>
          <a:solidFill>
            <a:srgbClr val="FCFBF7"/>
          </a:solid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1x18.20"/>
          <p:cNvSpPr txBox="1"/>
          <p:nvPr/>
        </p:nvSpPr>
        <p:spPr>
          <a:xfrm>
            <a:off x="851916" y="3524052"/>
            <a:ext cx="2487168" cy="231080"/>
          </a:xfrm>
          <a:prstGeom prst="rect">
            <a:avLst/>
          </a:prstGeom>
          <a:noFill/>
        </p:spPr>
        <p:txBody>
          <a:bodyPr wrap="square" anchor="t" lIns="0" rIns="0" tIns="0" bIns="0">
            <a:noAutofit/>
          </a:bodyPr>
          <a:lstStyle/>
          <a:p>
            <a:pPr algn="ctr">
              <a:lnSpc>
                <a:spcPts val="1820"/>
              </a:lnSpc>
              <a:spcBef>
                <a:spcPts val="0"/>
              </a:spcBef>
              <a:spcAft>
                <a:spcPts val="0"/>
              </a:spcAft>
            </a:pPr>
            <a:r>
              <a:rPr sz="1400" b="0" i="0">
                <a:solidFill>
                  <a:srgbClr val="13262B"/>
                </a:solidFill>
                <a:latin typeface="Consolas"/>
              </a:rPr>
              <a:t>'myprogram.py'</a:t>
            </a:r>
            <a:endParaRPr sz="1400"/>
          </a:p>
        </p:txBody>
      </p:sp>
      <p:sp>
        <p:nvSpPr>
          <p:cNvPr id="14" name="Tekst 1x19.60"/>
          <p:cNvSpPr txBox="1"/>
          <p:nvPr/>
        </p:nvSpPr>
        <p:spPr>
          <a:xfrm>
            <a:off x="1547019" y="3920232"/>
            <a:ext cx="1122263" cy="248841"/>
          </a:xfrm>
          <a:prstGeom prst="rect">
            <a:avLst/>
          </a:prstGeom>
          <a:noFill/>
        </p:spPr>
        <p:txBody>
          <a:bodyPr wrap="square" anchor="t" lIns="0" rIns="0" tIns="0" bIns="0">
            <a:noAutofit/>
          </a:bodyPr>
          <a:lstStyle/>
          <a:p>
            <a:pPr algn="l">
              <a:lnSpc>
                <a:spcPts val="1960"/>
              </a:lnSpc>
              <a:spcBef>
                <a:spcPts val="0"/>
              </a:spcBef>
              <a:spcAft>
                <a:spcPts val="0"/>
              </a:spcAft>
            </a:pPr>
            <a:r>
              <a:rPr sz="1400" b="0" i="0">
                <a:solidFill>
                  <a:srgbClr val="5F6F70"/>
                </a:solidFill>
                <a:latin typeface="Arial"/>
              </a:rPr>
              <a:t>ime programa</a:t>
            </a:r>
            <a:endParaRPr sz="1400"/>
          </a:p>
        </p:txBody>
      </p:sp>
      <p:sp>
        <p:nvSpPr>
          <p:cNvPr id="15" name="Tekst 1x18.20"/>
          <p:cNvSpPr txBox="1"/>
          <p:nvPr/>
        </p:nvSpPr>
        <p:spPr>
          <a:xfrm>
            <a:off x="4263231" y="3127871"/>
            <a:ext cx="1023938" cy="231080"/>
          </a:xfrm>
          <a:prstGeom prst="rect">
            <a:avLst/>
          </a:prstGeom>
          <a:noFill/>
        </p:spPr>
        <p:txBody>
          <a:bodyPr wrap="square" anchor="t" lIns="0" rIns="0" tIns="0" bIns="0">
            <a:noAutofit/>
          </a:bodyPr>
          <a:lstStyle/>
          <a:p>
            <a:pPr algn="l">
              <a:lnSpc>
                <a:spcPts val="1820"/>
              </a:lnSpc>
              <a:spcBef>
                <a:spcPts val="0"/>
              </a:spcBef>
              <a:spcAft>
                <a:spcPts val="0"/>
              </a:spcAft>
            </a:pPr>
            <a:r>
              <a:rPr sz="1300" b="1" i="0">
                <a:solidFill>
                  <a:srgbClr val="A8521A"/>
                </a:solidFill>
                <a:latin typeface="Consolas"/>
              </a:rPr>
              <a:t>sys.argv[1]</a:t>
            </a:r>
            <a:endParaRPr sz="1300"/>
          </a:p>
        </p:txBody>
      </p:sp>
      <p:sp>
        <p:nvSpPr>
          <p:cNvPr id="16" name="Rounded Rectangle 15"/>
          <p:cNvSpPr/>
          <p:nvPr/>
        </p:nvSpPr>
        <p:spPr>
          <a:xfrm>
            <a:off x="3486150" y="3416102"/>
            <a:ext cx="2552700" cy="446980"/>
          </a:xfrm>
          <a:prstGeom prst="roundRect">
            <a:avLst>
              <a:gd name="adj" fmla="val 17047"/>
            </a:avLst>
          </a:prstGeom>
          <a:solidFill>
            <a:srgbClr val="FCFBF7"/>
          </a:solid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kst 1x18.20"/>
          <p:cNvSpPr txBox="1"/>
          <p:nvPr/>
        </p:nvSpPr>
        <p:spPr>
          <a:xfrm>
            <a:off x="3518916" y="3524052"/>
            <a:ext cx="2487168" cy="231080"/>
          </a:xfrm>
          <a:prstGeom prst="rect">
            <a:avLst/>
          </a:prstGeom>
          <a:noFill/>
        </p:spPr>
        <p:txBody>
          <a:bodyPr wrap="square" anchor="t" lIns="0" rIns="0" tIns="0" bIns="0">
            <a:noAutofit/>
          </a:bodyPr>
          <a:lstStyle/>
          <a:p>
            <a:pPr algn="ctr">
              <a:lnSpc>
                <a:spcPts val="1820"/>
              </a:lnSpc>
              <a:spcBef>
                <a:spcPts val="0"/>
              </a:spcBef>
              <a:spcAft>
                <a:spcPts val="0"/>
              </a:spcAft>
            </a:pPr>
            <a:r>
              <a:rPr sz="1400" b="0" i="0">
                <a:solidFill>
                  <a:srgbClr val="13262B"/>
                </a:solidFill>
                <a:latin typeface="Consolas"/>
              </a:rPr>
              <a:t>'one'</a:t>
            </a:r>
            <a:endParaRPr sz="1400"/>
          </a:p>
        </p:txBody>
      </p:sp>
      <p:sp>
        <p:nvSpPr>
          <p:cNvPr id="18" name="Tekst 1x19.60"/>
          <p:cNvSpPr txBox="1"/>
          <p:nvPr/>
        </p:nvSpPr>
        <p:spPr>
          <a:xfrm>
            <a:off x="4218980" y="3920232"/>
            <a:ext cx="1112441" cy="248841"/>
          </a:xfrm>
          <a:prstGeom prst="rect">
            <a:avLst/>
          </a:prstGeom>
          <a:noFill/>
        </p:spPr>
        <p:txBody>
          <a:bodyPr wrap="square" anchor="t" lIns="0" rIns="0" tIns="0" bIns="0">
            <a:noAutofit/>
          </a:bodyPr>
          <a:lstStyle/>
          <a:p>
            <a:pPr algn="l">
              <a:lnSpc>
                <a:spcPts val="1960"/>
              </a:lnSpc>
              <a:spcBef>
                <a:spcPts val="0"/>
              </a:spcBef>
              <a:spcAft>
                <a:spcPts val="0"/>
              </a:spcAft>
            </a:pPr>
            <a:r>
              <a:rPr sz="1400" b="0" i="0">
                <a:solidFill>
                  <a:srgbClr val="5F6F70"/>
                </a:solidFill>
                <a:latin typeface="Arial"/>
              </a:rPr>
              <a:t>prvi argument</a:t>
            </a:r>
            <a:endParaRPr sz="1400"/>
          </a:p>
        </p:txBody>
      </p:sp>
      <p:sp>
        <p:nvSpPr>
          <p:cNvPr id="19" name="Tekst 1x18.20"/>
          <p:cNvSpPr txBox="1"/>
          <p:nvPr/>
        </p:nvSpPr>
        <p:spPr>
          <a:xfrm>
            <a:off x="6930231" y="3127871"/>
            <a:ext cx="1023938" cy="231080"/>
          </a:xfrm>
          <a:prstGeom prst="rect">
            <a:avLst/>
          </a:prstGeom>
          <a:noFill/>
        </p:spPr>
        <p:txBody>
          <a:bodyPr wrap="square" anchor="t" lIns="0" rIns="0" tIns="0" bIns="0">
            <a:noAutofit/>
          </a:bodyPr>
          <a:lstStyle/>
          <a:p>
            <a:pPr algn="l">
              <a:lnSpc>
                <a:spcPts val="1820"/>
              </a:lnSpc>
              <a:spcBef>
                <a:spcPts val="0"/>
              </a:spcBef>
              <a:spcAft>
                <a:spcPts val="0"/>
              </a:spcAft>
            </a:pPr>
            <a:r>
              <a:rPr sz="1300" b="1" i="0">
                <a:solidFill>
                  <a:srgbClr val="A8521A"/>
                </a:solidFill>
                <a:latin typeface="Consolas"/>
              </a:rPr>
              <a:t>sys.argv[2]</a:t>
            </a:r>
            <a:endParaRPr sz="1300"/>
          </a:p>
        </p:txBody>
      </p:sp>
      <p:sp>
        <p:nvSpPr>
          <p:cNvPr id="20" name="Rounded Rectangle 19"/>
          <p:cNvSpPr/>
          <p:nvPr/>
        </p:nvSpPr>
        <p:spPr>
          <a:xfrm>
            <a:off x="6153150" y="3416102"/>
            <a:ext cx="2552700" cy="446980"/>
          </a:xfrm>
          <a:prstGeom prst="roundRect">
            <a:avLst>
              <a:gd name="adj" fmla="val 17047"/>
            </a:avLst>
          </a:prstGeom>
          <a:solidFill>
            <a:srgbClr val="FCFBF7"/>
          </a:solid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kst 1x18.20"/>
          <p:cNvSpPr txBox="1"/>
          <p:nvPr/>
        </p:nvSpPr>
        <p:spPr>
          <a:xfrm>
            <a:off x="6185916" y="3524052"/>
            <a:ext cx="2487168" cy="231080"/>
          </a:xfrm>
          <a:prstGeom prst="rect">
            <a:avLst/>
          </a:prstGeom>
          <a:noFill/>
        </p:spPr>
        <p:txBody>
          <a:bodyPr wrap="square" anchor="t" lIns="0" rIns="0" tIns="0" bIns="0">
            <a:noAutofit/>
          </a:bodyPr>
          <a:lstStyle/>
          <a:p>
            <a:pPr algn="ctr">
              <a:lnSpc>
                <a:spcPts val="1820"/>
              </a:lnSpc>
              <a:spcBef>
                <a:spcPts val="0"/>
              </a:spcBef>
              <a:spcAft>
                <a:spcPts val="0"/>
              </a:spcAft>
            </a:pPr>
            <a:r>
              <a:rPr sz="1400" b="0" i="0">
                <a:solidFill>
                  <a:srgbClr val="13262B"/>
                </a:solidFill>
                <a:latin typeface="Consolas"/>
              </a:rPr>
              <a:t>'two'</a:t>
            </a:r>
            <a:endParaRPr sz="1400"/>
          </a:p>
        </p:txBody>
      </p:sp>
      <p:sp>
        <p:nvSpPr>
          <p:cNvPr id="22" name="Tekst 1x19.60"/>
          <p:cNvSpPr txBox="1"/>
          <p:nvPr/>
        </p:nvSpPr>
        <p:spPr>
          <a:xfrm>
            <a:off x="6831509" y="3920232"/>
            <a:ext cx="1221383" cy="248841"/>
          </a:xfrm>
          <a:prstGeom prst="rect">
            <a:avLst/>
          </a:prstGeom>
          <a:noFill/>
        </p:spPr>
        <p:txBody>
          <a:bodyPr wrap="square" anchor="t" lIns="0" rIns="0" tIns="0" bIns="0">
            <a:noAutofit/>
          </a:bodyPr>
          <a:lstStyle/>
          <a:p>
            <a:pPr algn="l">
              <a:lnSpc>
                <a:spcPts val="1960"/>
              </a:lnSpc>
              <a:spcBef>
                <a:spcPts val="0"/>
              </a:spcBef>
              <a:spcAft>
                <a:spcPts val="0"/>
              </a:spcAft>
            </a:pPr>
            <a:r>
              <a:rPr sz="1400" b="0" i="0">
                <a:solidFill>
                  <a:srgbClr val="5F6F70"/>
                </a:solidFill>
                <a:latin typeface="Arial"/>
              </a:rPr>
              <a:t>drugi argument</a:t>
            </a:r>
            <a:endParaRPr sz="1400"/>
          </a:p>
        </p:txBody>
      </p:sp>
      <p:sp>
        <p:nvSpPr>
          <p:cNvPr id="23" name="Tekst 1x18.20"/>
          <p:cNvSpPr txBox="1"/>
          <p:nvPr/>
        </p:nvSpPr>
        <p:spPr>
          <a:xfrm>
            <a:off x="9597231" y="3127871"/>
            <a:ext cx="1023938" cy="231080"/>
          </a:xfrm>
          <a:prstGeom prst="rect">
            <a:avLst/>
          </a:prstGeom>
          <a:noFill/>
        </p:spPr>
        <p:txBody>
          <a:bodyPr wrap="square" anchor="t" lIns="0" rIns="0" tIns="0" bIns="0">
            <a:noAutofit/>
          </a:bodyPr>
          <a:lstStyle/>
          <a:p>
            <a:pPr algn="l">
              <a:lnSpc>
                <a:spcPts val="1820"/>
              </a:lnSpc>
              <a:spcBef>
                <a:spcPts val="0"/>
              </a:spcBef>
              <a:spcAft>
                <a:spcPts val="0"/>
              </a:spcAft>
            </a:pPr>
            <a:r>
              <a:rPr sz="1300" b="1" i="0">
                <a:solidFill>
                  <a:srgbClr val="A8521A"/>
                </a:solidFill>
                <a:latin typeface="Consolas"/>
              </a:rPr>
              <a:t>sys.argv[3]</a:t>
            </a:r>
            <a:endParaRPr sz="1300"/>
          </a:p>
        </p:txBody>
      </p:sp>
      <p:sp>
        <p:nvSpPr>
          <p:cNvPr id="24" name="Rounded Rectangle 23"/>
          <p:cNvSpPr/>
          <p:nvPr/>
        </p:nvSpPr>
        <p:spPr>
          <a:xfrm>
            <a:off x="8820150" y="3416102"/>
            <a:ext cx="2552700" cy="446980"/>
          </a:xfrm>
          <a:prstGeom prst="roundRect">
            <a:avLst>
              <a:gd name="adj" fmla="val 17047"/>
            </a:avLst>
          </a:prstGeom>
          <a:solidFill>
            <a:srgbClr val="FCFBF7"/>
          </a:solid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kst 1x18.20"/>
          <p:cNvSpPr txBox="1"/>
          <p:nvPr/>
        </p:nvSpPr>
        <p:spPr>
          <a:xfrm>
            <a:off x="8852916" y="3524052"/>
            <a:ext cx="2487168" cy="231080"/>
          </a:xfrm>
          <a:prstGeom prst="rect">
            <a:avLst/>
          </a:prstGeom>
          <a:noFill/>
        </p:spPr>
        <p:txBody>
          <a:bodyPr wrap="square" anchor="t" lIns="0" rIns="0" tIns="0" bIns="0">
            <a:noAutofit/>
          </a:bodyPr>
          <a:lstStyle/>
          <a:p>
            <a:pPr algn="ctr">
              <a:lnSpc>
                <a:spcPts val="1820"/>
              </a:lnSpc>
              <a:spcBef>
                <a:spcPts val="0"/>
              </a:spcBef>
              <a:spcAft>
                <a:spcPts val="0"/>
              </a:spcAft>
            </a:pPr>
            <a:r>
              <a:rPr sz="1400" b="0" i="0">
                <a:solidFill>
                  <a:srgbClr val="13262B"/>
                </a:solidFill>
                <a:latin typeface="Consolas"/>
              </a:rPr>
              <a:t>'three'</a:t>
            </a:r>
            <a:endParaRPr sz="1400"/>
          </a:p>
        </p:txBody>
      </p:sp>
      <p:sp>
        <p:nvSpPr>
          <p:cNvPr id="26" name="Tekst 1x19.60"/>
          <p:cNvSpPr txBox="1"/>
          <p:nvPr/>
        </p:nvSpPr>
        <p:spPr>
          <a:xfrm>
            <a:off x="9528274" y="3920232"/>
            <a:ext cx="1161852" cy="248841"/>
          </a:xfrm>
          <a:prstGeom prst="rect">
            <a:avLst/>
          </a:prstGeom>
          <a:noFill/>
        </p:spPr>
        <p:txBody>
          <a:bodyPr wrap="square" anchor="t" lIns="0" rIns="0" tIns="0" bIns="0">
            <a:noAutofit/>
          </a:bodyPr>
          <a:lstStyle/>
          <a:p>
            <a:pPr algn="l">
              <a:lnSpc>
                <a:spcPts val="1960"/>
              </a:lnSpc>
              <a:spcBef>
                <a:spcPts val="0"/>
              </a:spcBef>
              <a:spcAft>
                <a:spcPts val="0"/>
              </a:spcAft>
            </a:pPr>
            <a:r>
              <a:rPr sz="1400" b="0" i="0">
                <a:solidFill>
                  <a:srgbClr val="5F6F70"/>
                </a:solidFill>
                <a:latin typeface="Arial"/>
              </a:rPr>
              <a:t>treći argument</a:t>
            </a:r>
            <a:endParaRPr sz="1400"/>
          </a:p>
        </p:txBody>
      </p:sp>
      <p:sp>
        <p:nvSpPr>
          <p:cNvPr id="27" name="Rounded Rectangle 26"/>
          <p:cNvSpPr/>
          <p:nvPr/>
        </p:nvSpPr>
        <p:spPr>
          <a:xfrm>
            <a:off x="812800" y="4423073"/>
            <a:ext cx="5181600" cy="562570"/>
          </a:xfrm>
          <a:prstGeom prst="roundRect">
            <a:avLst>
              <a:gd name="adj" fmla="val 13544"/>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2800" y="4423073"/>
            <a:ext cx="38100" cy="5625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kst 1x20.30"/>
          <p:cNvSpPr txBox="1"/>
          <p:nvPr/>
        </p:nvSpPr>
        <p:spPr>
          <a:xfrm>
            <a:off x="1054100" y="4575473"/>
            <a:ext cx="4831842"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Svi argumenti su stringovi: broj dobijamo sa </a:t>
            </a:r>
            <a:r>
              <a:rPr sz="1400" b="0" i="0">
                <a:solidFill>
                  <a:srgbClr val="A8521A"/>
                </a:solidFill>
                <a:latin typeface="Arial"/>
              </a:rPr>
              <a:t>int(sys.argv[1])</a:t>
            </a:r>
            <a:r>
              <a:rPr sz="1400" b="0" i="0">
                <a:solidFill>
                  <a:srgbClr val="13262B"/>
                </a:solidFill>
                <a:latin typeface="Arial"/>
              </a:rPr>
              <a:t>.</a:t>
            </a:r>
            <a:endParaRPr sz="1400"/>
          </a:p>
        </p:txBody>
      </p:sp>
      <p:sp>
        <p:nvSpPr>
          <p:cNvPr id="30" name="Rounded Rectangle 29"/>
          <p:cNvSpPr/>
          <p:nvPr/>
        </p:nvSpPr>
        <p:spPr>
          <a:xfrm>
            <a:off x="6197600" y="4423073"/>
            <a:ext cx="5181600" cy="562570"/>
          </a:xfrm>
          <a:prstGeom prst="roundRect">
            <a:avLst>
              <a:gd name="adj" fmla="val 13544"/>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97600" y="4423073"/>
            <a:ext cx="38100" cy="5625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kst 1x20.30"/>
          <p:cNvSpPr txBox="1"/>
          <p:nvPr/>
        </p:nvSpPr>
        <p:spPr>
          <a:xfrm>
            <a:off x="6438900" y="4575473"/>
            <a:ext cx="4831842"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Sav ulaz je poznat odmah, pa ga proveravamo pre obrade.</a:t>
            </a:r>
            <a:endParaRPr sz="14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09 · VEŽBA: RAZVRSTAVANJE SEKVENCI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1: pronađi fajlove i dužine sekvenci</a:t>
            </a:r>
            <a:endParaRPr sz="3200"/>
          </a:p>
        </p:txBody>
      </p:sp>
      <p:sp>
        <p:nvSpPr>
          <p:cNvPr id="4" name="Rounded Rectangle 3"/>
          <p:cNvSpPr/>
          <p:nvPr/>
        </p:nvSpPr>
        <p:spPr>
          <a:xfrm>
            <a:off x="819150" y="1708051"/>
            <a:ext cx="6066135" cy="2493566"/>
          </a:xfrm>
          <a:prstGeom prst="roundRect">
            <a:avLst>
              <a:gd name="adj" fmla="val 407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9x18.60"/>
          <p:cNvSpPr txBox="1"/>
          <p:nvPr/>
        </p:nvSpPr>
        <p:spPr>
          <a:xfrm>
            <a:off x="1003300" y="1892201"/>
            <a:ext cx="5804515" cy="2125266"/>
          </a:xfrm>
          <a:prstGeom prst="rect">
            <a:avLst/>
          </a:prstGeom>
          <a:noFill/>
        </p:spPr>
        <p:txBody>
          <a:bodyPr wrap="none" anchor="t" lIns="0" rIns="0" tIns="0" bIns="0">
            <a:noAutofit/>
          </a:bodyPr>
          <a:lstStyle/>
          <a:p>
            <a:pPr algn="l">
              <a:lnSpc>
                <a:spcPts val="1860"/>
              </a:lnSpc>
              <a:spcBef>
                <a:spcPts val="0"/>
              </a:spcBef>
              <a:spcAft>
                <a:spcPts val="0"/>
              </a:spcAft>
            </a:pPr>
            <a:r>
              <a:rPr sz="1200" b="0" i="0">
                <a:solidFill>
                  <a:srgbClr val="6FD3C1"/>
                </a:solidFill>
                <a:latin typeface="Consolas"/>
              </a:rPr>
              <a:t>import</a:t>
            </a:r>
            <a:r>
              <a:rPr sz="1200" b="0" i="0">
                <a:solidFill>
                  <a:srgbClr val="E8EEE9"/>
                </a:solidFill>
                <a:latin typeface="Consolas"/>
              </a:rPr>
              <a:t> os</a:t>
            </a:r>
            <a:br/>
            <a:r>
              <a:rPr sz="1200" b="0" i="0">
                <a:solidFill>
                  <a:srgbClr val="6FD3C1"/>
                </a:solidFill>
                <a:latin typeface="Consolas"/>
              </a:rPr>
              <a:t>for</a:t>
            </a:r>
            <a:r>
              <a:rPr sz="1200" b="0" i="0">
                <a:solidFill>
                  <a:srgbClr val="E8EEE9"/>
                </a:solidFill>
                <a:latin typeface="Consolas"/>
              </a:rPr>
              <a:t> file_name </a:t>
            </a:r>
            <a:r>
              <a:rPr sz="1200" b="0" i="0">
                <a:solidFill>
                  <a:srgbClr val="6FD3C1"/>
                </a:solidFill>
                <a:latin typeface="Consolas"/>
              </a:rPr>
              <a:t>in</a:t>
            </a:r>
            <a:r>
              <a:rPr sz="1200" b="0" i="0">
                <a:solidFill>
                  <a:srgbClr val="E8EEE9"/>
                </a:solidFill>
                <a:latin typeface="Consolas"/>
              </a:rPr>
              <a:t> os.listdir(</a:t>
            </a:r>
            <a:r>
              <a:rPr sz="1200" b="0" i="0">
                <a:solidFill>
                  <a:srgbClr val="F0A35E"/>
                </a:solidFill>
                <a:latin typeface="Consolas"/>
              </a:rPr>
              <a:t>"."</a:t>
            </a:r>
            <a:r>
              <a:rPr sz="1200" b="0" i="0">
                <a:solidFill>
                  <a:srgbClr val="E8EEE9"/>
                </a:solidFill>
                <a:latin typeface="Consolas"/>
              </a:rPr>
              <a:t>):</a:t>
            </a:r>
            <a:br/>
            <a:r>
              <a:rPr sz="1200" b="0" i="0">
                <a:solidFill>
                  <a:srgbClr val="E8EEE9"/>
                </a:solidFill>
                <a:latin typeface="Consolas"/>
              </a:rPr>
              <a:t>    </a:t>
            </a:r>
            <a:r>
              <a:rPr sz="1200" b="0" i="0">
                <a:solidFill>
                  <a:srgbClr val="6FD3C1"/>
                </a:solidFill>
                <a:latin typeface="Consolas"/>
              </a:rPr>
              <a:t>if</a:t>
            </a:r>
            <a:r>
              <a:rPr sz="1200" b="0" i="0">
                <a:solidFill>
                  <a:srgbClr val="E8EEE9"/>
                </a:solidFill>
                <a:latin typeface="Consolas"/>
              </a:rPr>
              <a:t> file_name.endswith(</a:t>
            </a:r>
            <a:r>
              <a:rPr sz="1200" b="0" i="0">
                <a:solidFill>
                  <a:srgbClr val="F0A35E"/>
                </a:solidFill>
                <a:latin typeface="Consolas"/>
              </a:rPr>
              <a:t>".dna"</a:t>
            </a:r>
            <a:r>
              <a:rPr sz="1200" b="0" i="0">
                <a:solidFill>
                  <a:srgbClr val="E8EEE9"/>
                </a:solidFill>
                <a:latin typeface="Consolas"/>
              </a:rPr>
              <a:t>):</a:t>
            </a:r>
            <a:br/>
            <a:r>
              <a:rPr sz="1200" b="0" i="0">
                <a:solidFill>
                  <a:srgbClr val="E8EEE9"/>
                </a:solidFill>
                <a:latin typeface="Consolas"/>
              </a:rPr>
              <a:t>        print(</a:t>
            </a:r>
            <a:r>
              <a:rPr sz="1200" b="0" i="0">
                <a:solidFill>
                  <a:srgbClr val="F0A35E"/>
                </a:solidFill>
                <a:latin typeface="Consolas"/>
              </a:rPr>
              <a:t>"reading sequences from "</a:t>
            </a:r>
            <a:r>
              <a:rPr sz="1200" b="0" i="0">
                <a:solidFill>
                  <a:srgbClr val="E8EEE9"/>
                </a:solidFill>
                <a:latin typeface="Consolas"/>
              </a:rPr>
              <a:t> + file_name)</a:t>
            </a:r>
            <a:br/>
            <a:r>
              <a:rPr sz="1200" b="0" i="0">
                <a:solidFill>
                  <a:srgbClr val="E8EEE9"/>
                </a:solidFill>
                <a:latin typeface="Consolas"/>
              </a:rPr>
              <a:t>        dna_file = open(file_name)</a:t>
            </a:r>
            <a:br/>
            <a:r>
              <a:rPr sz="1200" b="0" i="0">
                <a:solidFill>
                  <a:srgbClr val="E8EEE9"/>
                </a:solidFill>
                <a:latin typeface="Consolas"/>
              </a:rPr>
              <a:t>        </a:t>
            </a:r>
            <a:r>
              <a:rPr sz="1200" b="0" i="0">
                <a:solidFill>
                  <a:srgbClr val="6FD3C1"/>
                </a:solidFill>
                <a:latin typeface="Consolas"/>
              </a:rPr>
              <a:t>for</a:t>
            </a:r>
            <a:r>
              <a:rPr sz="1200" b="0" i="0">
                <a:solidFill>
                  <a:srgbClr val="E8EEE9"/>
                </a:solidFill>
                <a:latin typeface="Consolas"/>
              </a:rPr>
              <a:t> line </a:t>
            </a:r>
            <a:r>
              <a:rPr sz="1200" b="0" i="0">
                <a:solidFill>
                  <a:srgbClr val="6FD3C1"/>
                </a:solidFill>
                <a:latin typeface="Consolas"/>
              </a:rPr>
              <a:t>in</a:t>
            </a:r>
            <a:r>
              <a:rPr sz="1200" b="0" i="0">
                <a:solidFill>
                  <a:srgbClr val="E8EEE9"/>
                </a:solidFill>
                <a:latin typeface="Consolas"/>
              </a:rPr>
              <a:t> dna_file:</a:t>
            </a:r>
            <a:br/>
            <a:r>
              <a:rPr sz="1200" b="0" i="0">
                <a:solidFill>
                  <a:srgbClr val="E8EEE9"/>
                </a:solidFill>
                <a:latin typeface="Consolas"/>
              </a:rPr>
              <a:t>            dna = line.rstrip(</a:t>
            </a:r>
            <a:r>
              <a:rPr sz="1200" b="0" i="0">
                <a:solidFill>
                  <a:srgbClr val="F0A35E"/>
                </a:solidFill>
                <a:latin typeface="Consolas"/>
              </a:rPr>
              <a:t>"\n"</a:t>
            </a:r>
            <a:r>
              <a:rPr sz="1200" b="0" i="0">
                <a:solidFill>
                  <a:srgbClr val="E8EEE9"/>
                </a:solidFill>
                <a:latin typeface="Consolas"/>
              </a:rPr>
              <a:t>)</a:t>
            </a:r>
            <a:br/>
            <a:r>
              <a:rPr sz="1200" b="0" i="0">
                <a:solidFill>
                  <a:srgbClr val="E8EEE9"/>
                </a:solidFill>
                <a:latin typeface="Consolas"/>
              </a:rPr>
              <a:t>            length = len(dna)</a:t>
            </a:r>
            <a:br/>
            <a:r>
              <a:rPr sz="1200" b="0" i="0">
                <a:solidFill>
                  <a:srgbClr val="E8EEE9"/>
                </a:solidFill>
                <a:latin typeface="Consolas"/>
              </a:rPr>
              <a:t>            print(</a:t>
            </a:r>
            <a:r>
              <a:rPr sz="1200" b="0" i="0">
                <a:solidFill>
                  <a:srgbClr val="F0A35E"/>
                </a:solidFill>
                <a:latin typeface="Consolas"/>
              </a:rPr>
              <a:t>"found a dna sequence with length "</a:t>
            </a:r>
            <a:r>
              <a:rPr sz="1200" b="0" i="0">
                <a:solidFill>
                  <a:srgbClr val="E8EEE9"/>
                </a:solidFill>
                <a:latin typeface="Consolas"/>
              </a:rPr>
              <a:t> + str(length))</a:t>
            </a:r>
            <a:endParaRPr sz="1200"/>
          </a:p>
        </p:txBody>
      </p:sp>
      <p:sp>
        <p:nvSpPr>
          <p:cNvPr id="6" name="Rounded Rectangle 5"/>
          <p:cNvSpPr/>
          <p:nvPr/>
        </p:nvSpPr>
        <p:spPr>
          <a:xfrm>
            <a:off x="7050385" y="1708051"/>
            <a:ext cx="4322465" cy="2021284"/>
          </a:xfrm>
          <a:prstGeom prst="roundRect">
            <a:avLst>
              <a:gd name="adj" fmla="val 5026"/>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7x18.60"/>
          <p:cNvSpPr txBox="1"/>
          <p:nvPr/>
        </p:nvSpPr>
        <p:spPr>
          <a:xfrm>
            <a:off x="7234535" y="1892201"/>
            <a:ext cx="4033248" cy="1652984"/>
          </a:xfrm>
          <a:prstGeom prst="rect">
            <a:avLst/>
          </a:prstGeom>
          <a:noFill/>
        </p:spPr>
        <p:txBody>
          <a:bodyPr wrap="none" anchor="t" lIns="0" rIns="0" tIns="0" bIns="0">
            <a:noAutofit/>
          </a:bodyPr>
          <a:lstStyle/>
          <a:p>
            <a:pPr algn="l">
              <a:lnSpc>
                <a:spcPts val="1860"/>
              </a:lnSpc>
              <a:spcBef>
                <a:spcPts val="0"/>
              </a:spcBef>
              <a:spcAft>
                <a:spcPts val="0"/>
              </a:spcAft>
            </a:pPr>
            <a:r>
              <a:rPr sz="1200" b="0" i="0">
                <a:solidFill>
                  <a:srgbClr val="13262B"/>
                </a:solidFill>
                <a:latin typeface="Consolas"/>
              </a:rPr>
              <a:t>reading sequences from xag.dna</a:t>
            </a:r>
            <a:br/>
            <a:r>
              <a:rPr sz="1200" b="0" i="0">
                <a:solidFill>
                  <a:srgbClr val="13262B"/>
                </a:solidFill>
                <a:latin typeface="Consolas"/>
              </a:rPr>
              <a:t>found a dna sequence with length 432</a:t>
            </a:r>
            <a:br/>
            <a:r>
              <a:rPr sz="1200" b="0" i="0">
                <a:solidFill>
                  <a:srgbClr val="13262B"/>
                </a:solidFill>
                <a:latin typeface="Consolas"/>
              </a:rPr>
              <a:t>found a dna sequence with length 818</a:t>
            </a:r>
            <a:br/>
            <a:r>
              <a:rPr sz="1200" b="0" i="0">
                <a:solidFill>
                  <a:srgbClr val="13262B"/>
                </a:solidFill>
                <a:latin typeface="Consolas"/>
              </a:rPr>
              <a:t>found a dna sequence with length 604</a:t>
            </a:r>
            <a:br/>
            <a:r>
              <a:rPr sz="1200" b="0" i="0">
                <a:solidFill>
                  <a:srgbClr val="13262B"/>
                </a:solidFill>
                <a:latin typeface="Consolas"/>
              </a:rPr>
              <a:t>found a dna sequence with length 879</a:t>
            </a:r>
            <a:br/>
            <a:r>
              <a:rPr sz="1200" b="0" i="0">
                <a:solidFill>
                  <a:srgbClr val="13262B"/>
                </a:solidFill>
                <a:latin typeface="Consolas"/>
              </a:rPr>
              <a:t>found a dna sequence with length 619</a:t>
            </a:r>
            <a:br/>
            <a:r>
              <a:rPr sz="1200" b="0" i="0">
                <a:solidFill>
                  <a:srgbClr val="13262B"/>
                </a:solidFill>
                <a:latin typeface="Consolas"/>
              </a:rPr>
              <a:t>…</a:t>
            </a:r>
            <a:endParaRPr sz="1200"/>
          </a:p>
        </p:txBody>
      </p:sp>
      <p:sp>
        <p:nvSpPr>
          <p:cNvPr id="8" name="Rounded Rectangle 7"/>
          <p:cNvSpPr/>
          <p:nvPr/>
        </p:nvSpPr>
        <p:spPr>
          <a:xfrm>
            <a:off x="815975" y="4465141"/>
            <a:ext cx="5175250" cy="826691"/>
          </a:xfrm>
          <a:prstGeom prst="roundRect">
            <a:avLst>
              <a:gd name="adj" fmla="val 1228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2x20.30"/>
          <p:cNvSpPr txBox="1"/>
          <p:nvPr/>
        </p:nvSpPr>
        <p:spPr>
          <a:xfrm>
            <a:off x="996950" y="4620716"/>
            <a:ext cx="4909566"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endswith(".dna")</a:t>
            </a:r>
            <a:r>
              <a:rPr sz="1400" b="0" i="0">
                <a:solidFill>
                  <a:srgbClr val="3D4F52"/>
                </a:solidFill>
                <a:latin typeface="Arial"/>
              </a:rPr>
              <a:t>: čitamo samo fajlove sa pravom ekstenzijom.</a:t>
            </a:r>
            <a:endParaRPr sz="1400"/>
          </a:p>
        </p:txBody>
      </p:sp>
      <p:sp>
        <p:nvSpPr>
          <p:cNvPr id="10" name="Rounded Rectangle 9"/>
          <p:cNvSpPr/>
          <p:nvPr/>
        </p:nvSpPr>
        <p:spPr>
          <a:xfrm>
            <a:off x="6200775" y="4465141"/>
            <a:ext cx="5175250" cy="826691"/>
          </a:xfrm>
          <a:prstGeom prst="roundRect">
            <a:avLst>
              <a:gd name="adj" fmla="val 1228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1x20.30"/>
          <p:cNvSpPr txBox="1"/>
          <p:nvPr/>
        </p:nvSpPr>
        <p:spPr>
          <a:xfrm>
            <a:off x="6381750" y="4620716"/>
            <a:ext cx="4909566"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rstrip</a:t>
            </a:r>
            <a:r>
              <a:rPr sz="1400" b="0" i="0">
                <a:solidFill>
                  <a:srgbClr val="3D4F52"/>
                </a:solidFill>
                <a:latin typeface="Arial"/>
              </a:rPr>
              <a:t>: novi red nije baza, pa ga ne računamo u dužinu.</a:t>
            </a:r>
            <a:endParaRPr sz="14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09 · VEŽBA: RAZVRSTAVANJE SEKVENCI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2: u koji opseg spada sekvenca?</a:t>
            </a:r>
            <a:endParaRPr sz="3200"/>
          </a:p>
        </p:txBody>
      </p:sp>
      <p:sp>
        <p:nvSpPr>
          <p:cNvPr id="4" name="Rounded Rectangle 3"/>
          <p:cNvSpPr/>
          <p:nvPr/>
        </p:nvSpPr>
        <p:spPr>
          <a:xfrm>
            <a:off x="819150" y="1708051"/>
            <a:ext cx="10553700" cy="1647726"/>
          </a:xfrm>
          <a:prstGeom prst="roundRect">
            <a:avLst>
              <a:gd name="adj" fmla="val 616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5x20.15"/>
          <p:cNvSpPr txBox="1"/>
          <p:nvPr/>
        </p:nvSpPr>
        <p:spPr>
          <a:xfrm>
            <a:off x="1079500" y="1892201"/>
            <a:ext cx="10185400"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za svaku sekvencu: proveri svaki opseg</a:t>
            </a:r>
            <a:br/>
            <a:r>
              <a:rPr sz="1300" b="0" i="0">
                <a:solidFill>
                  <a:srgbClr val="6FD3C1"/>
                </a:solidFill>
                <a:latin typeface="Consolas"/>
              </a:rPr>
              <a:t>for</a:t>
            </a:r>
            <a:r>
              <a:rPr sz="1300" b="0" i="0">
                <a:solidFill>
                  <a:srgbClr val="E8EEE9"/>
                </a:solidFill>
                <a:latin typeface="Consolas"/>
              </a:rPr>
              <a:t> bin_lower </a:t>
            </a:r>
            <a:r>
              <a:rPr sz="1300" b="0" i="0">
                <a:solidFill>
                  <a:srgbClr val="6FD3C1"/>
                </a:solidFill>
                <a:latin typeface="Consolas"/>
              </a:rPr>
              <a:t>in</a:t>
            </a:r>
            <a:r>
              <a:rPr sz="1300" b="0" i="0">
                <a:solidFill>
                  <a:srgbClr val="E8EEE9"/>
                </a:solidFill>
                <a:latin typeface="Consolas"/>
              </a:rPr>
              <a:t> range(100, 1000, 100):</a:t>
            </a:r>
            <a:br/>
            <a:r>
              <a:rPr sz="1300" b="0" i="0">
                <a:solidFill>
                  <a:srgbClr val="E8EEE9"/>
                </a:solidFill>
                <a:latin typeface="Consolas"/>
              </a:rPr>
              <a:t>    bin_upper = bin_lower + 99</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length &gt;= bin_lower </a:t>
            </a:r>
            <a:r>
              <a:rPr sz="1300" b="0" i="0">
                <a:solidFill>
                  <a:srgbClr val="6FD3C1"/>
                </a:solidFill>
                <a:latin typeface="Consolas"/>
              </a:rPr>
              <a:t>and</a:t>
            </a:r>
            <a:r>
              <a:rPr sz="1300" b="0" i="0">
                <a:solidFill>
                  <a:srgbClr val="E8EEE9"/>
                </a:solidFill>
                <a:latin typeface="Consolas"/>
              </a:rPr>
              <a:t> length &lt;= bin_upper:</a:t>
            </a:r>
            <a:br/>
            <a:r>
              <a:rPr sz="1300" b="0" i="0">
                <a:solidFill>
                  <a:srgbClr val="E8EEE9"/>
                </a:solidFill>
                <a:latin typeface="Consolas"/>
              </a:rPr>
              <a:t>        print(</a:t>
            </a:r>
            <a:r>
              <a:rPr sz="1300" b="0" i="0">
                <a:solidFill>
                  <a:srgbClr val="F0A35E"/>
                </a:solidFill>
                <a:latin typeface="Consolas"/>
              </a:rPr>
              <a:t>"bin is "</a:t>
            </a:r>
            <a:r>
              <a:rPr sz="1300" b="0" i="0">
                <a:solidFill>
                  <a:srgbClr val="E8EEE9"/>
                </a:solidFill>
                <a:latin typeface="Consolas"/>
              </a:rPr>
              <a:t> + str(bin_lower) + </a:t>
            </a:r>
            <a:r>
              <a:rPr sz="1300" b="0" i="0">
                <a:solidFill>
                  <a:srgbClr val="F0A35E"/>
                </a:solidFill>
                <a:latin typeface="Consolas"/>
              </a:rPr>
              <a:t>" to "</a:t>
            </a:r>
            <a:r>
              <a:rPr sz="1300" b="0" i="0">
                <a:solidFill>
                  <a:srgbClr val="E8EEE9"/>
                </a:solidFill>
                <a:latin typeface="Consolas"/>
              </a:rPr>
              <a:t> + str(bin_upper))</a:t>
            </a:r>
            <a:endParaRPr sz="1300"/>
          </a:p>
        </p:txBody>
      </p:sp>
      <p:sp>
        <p:nvSpPr>
          <p:cNvPr id="6" name="Tekst 1x16.80"/>
          <p:cNvSpPr txBox="1"/>
          <p:nvPr/>
        </p:nvSpPr>
        <p:spPr>
          <a:xfrm>
            <a:off x="812800" y="3616127"/>
            <a:ext cx="453390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PET NIVOA UVLAČENJA</a:t>
            </a:r>
            <a:endParaRPr sz="1200"/>
          </a:p>
        </p:txBody>
      </p:sp>
      <p:sp>
        <p:nvSpPr>
          <p:cNvPr id="7" name="Rounded Rectangle 6"/>
          <p:cNvSpPr/>
          <p:nvPr/>
        </p:nvSpPr>
        <p:spPr>
          <a:xfrm>
            <a:off x="812800" y="3880247"/>
            <a:ext cx="4445000" cy="358080"/>
          </a:xfrm>
          <a:prstGeom prst="roundRect">
            <a:avLst>
              <a:gd name="adj" fmla="val 14186"/>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18.20"/>
          <p:cNvSpPr txBox="1"/>
          <p:nvPr/>
        </p:nvSpPr>
        <p:spPr>
          <a:xfrm>
            <a:off x="939800" y="3943747"/>
            <a:ext cx="4274820" cy="231080"/>
          </a:xfrm>
          <a:prstGeom prst="rect">
            <a:avLst/>
          </a:prstGeom>
          <a:noFill/>
        </p:spPr>
        <p:txBody>
          <a:bodyPr wrap="square" anchor="t" lIns="0" rIns="0" tIns="0" bIns="0">
            <a:noAutofit/>
          </a:bodyPr>
          <a:lstStyle/>
          <a:p>
            <a:pPr algn="l">
              <a:lnSpc>
                <a:spcPts val="1820"/>
              </a:lnSpc>
              <a:spcBef>
                <a:spcPts val="0"/>
              </a:spcBef>
              <a:spcAft>
                <a:spcPts val="0"/>
              </a:spcAft>
            </a:pPr>
            <a:r>
              <a:rPr sz="1400" b="0" i="0">
                <a:solidFill>
                  <a:srgbClr val="F6F4EE"/>
                </a:solidFill>
                <a:latin typeface="Arial"/>
              </a:rPr>
              <a:t>petlja kroz fajlove</a:t>
            </a:r>
            <a:endParaRPr sz="1400"/>
          </a:p>
        </p:txBody>
      </p:sp>
      <p:sp>
        <p:nvSpPr>
          <p:cNvPr id="9" name="Rounded Rectangle 8"/>
          <p:cNvSpPr/>
          <p:nvPr/>
        </p:nvSpPr>
        <p:spPr>
          <a:xfrm>
            <a:off x="1066800" y="4289127"/>
            <a:ext cx="4191000" cy="358080"/>
          </a:xfrm>
          <a:prstGeom prst="roundRect">
            <a:avLst>
              <a:gd name="adj" fmla="val 14186"/>
            </a:avLst>
          </a:prstGeom>
          <a:solidFill>
            <a:srgbClr val="2B4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18.20"/>
          <p:cNvSpPr txBox="1"/>
          <p:nvPr/>
        </p:nvSpPr>
        <p:spPr>
          <a:xfrm>
            <a:off x="1193800" y="4352627"/>
            <a:ext cx="4015740" cy="231080"/>
          </a:xfrm>
          <a:prstGeom prst="rect">
            <a:avLst/>
          </a:prstGeom>
          <a:noFill/>
        </p:spPr>
        <p:txBody>
          <a:bodyPr wrap="square" anchor="t" lIns="0" rIns="0" tIns="0" bIns="0">
            <a:noAutofit/>
          </a:bodyPr>
          <a:lstStyle/>
          <a:p>
            <a:pPr algn="l">
              <a:lnSpc>
                <a:spcPts val="1820"/>
              </a:lnSpc>
              <a:spcBef>
                <a:spcPts val="0"/>
              </a:spcBef>
              <a:spcAft>
                <a:spcPts val="0"/>
              </a:spcAft>
            </a:pPr>
            <a:r>
              <a:rPr sz="1400" b="0" i="0">
                <a:solidFill>
                  <a:srgbClr val="F6F4EE"/>
                </a:solidFill>
                <a:latin typeface="Arial"/>
              </a:rPr>
              <a:t>if: ime se završava sa .dna</a:t>
            </a:r>
            <a:endParaRPr sz="1400"/>
          </a:p>
        </p:txBody>
      </p:sp>
      <p:sp>
        <p:nvSpPr>
          <p:cNvPr id="11" name="Rounded Rectangle 10"/>
          <p:cNvSpPr/>
          <p:nvPr/>
        </p:nvSpPr>
        <p:spPr>
          <a:xfrm>
            <a:off x="1320800" y="4698008"/>
            <a:ext cx="3937000" cy="358080"/>
          </a:xfrm>
          <a:prstGeom prst="roundRect">
            <a:avLst>
              <a:gd name="adj" fmla="val 14186"/>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1x18.20"/>
          <p:cNvSpPr txBox="1"/>
          <p:nvPr/>
        </p:nvSpPr>
        <p:spPr>
          <a:xfrm>
            <a:off x="1447800" y="4761508"/>
            <a:ext cx="3756660" cy="231080"/>
          </a:xfrm>
          <a:prstGeom prst="rect">
            <a:avLst/>
          </a:prstGeom>
          <a:noFill/>
        </p:spPr>
        <p:txBody>
          <a:bodyPr wrap="square" anchor="t" lIns="0" rIns="0" tIns="0" bIns="0">
            <a:noAutofit/>
          </a:bodyPr>
          <a:lstStyle/>
          <a:p>
            <a:pPr algn="l">
              <a:lnSpc>
                <a:spcPts val="1820"/>
              </a:lnSpc>
              <a:spcBef>
                <a:spcPts val="0"/>
              </a:spcBef>
              <a:spcAft>
                <a:spcPts val="0"/>
              </a:spcAft>
            </a:pPr>
            <a:r>
              <a:rPr sz="1400" b="0" i="0">
                <a:solidFill>
                  <a:srgbClr val="F6F4EE"/>
                </a:solidFill>
                <a:latin typeface="Arial"/>
              </a:rPr>
              <a:t>petlja kroz sekvence u fajlu</a:t>
            </a:r>
            <a:endParaRPr sz="1400"/>
          </a:p>
        </p:txBody>
      </p:sp>
      <p:sp>
        <p:nvSpPr>
          <p:cNvPr id="13" name="Rounded Rectangle 12"/>
          <p:cNvSpPr/>
          <p:nvPr/>
        </p:nvSpPr>
        <p:spPr>
          <a:xfrm>
            <a:off x="1574800" y="5106888"/>
            <a:ext cx="3683000" cy="358080"/>
          </a:xfrm>
          <a:prstGeom prst="roundRect">
            <a:avLst>
              <a:gd name="adj" fmla="val 14186"/>
            </a:avLst>
          </a:prstGeom>
          <a:solidFill>
            <a:srgbClr val="CF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18.20"/>
          <p:cNvSpPr txBox="1"/>
          <p:nvPr/>
        </p:nvSpPr>
        <p:spPr>
          <a:xfrm>
            <a:off x="1701800" y="5170388"/>
            <a:ext cx="3497580" cy="231080"/>
          </a:xfrm>
          <a:prstGeom prst="rect">
            <a:avLst/>
          </a:prstGeom>
          <a:noFill/>
        </p:spPr>
        <p:txBody>
          <a:bodyPr wrap="square" anchor="t" lIns="0" rIns="0" tIns="0" bIns="0">
            <a:noAutofit/>
          </a:bodyPr>
          <a:lstStyle/>
          <a:p>
            <a:pPr algn="l">
              <a:lnSpc>
                <a:spcPts val="1820"/>
              </a:lnSpc>
              <a:spcBef>
                <a:spcPts val="0"/>
              </a:spcBef>
              <a:spcAft>
                <a:spcPts val="0"/>
              </a:spcAft>
            </a:pPr>
            <a:r>
              <a:rPr sz="1400" b="0" i="0">
                <a:solidFill>
                  <a:srgbClr val="13262B"/>
                </a:solidFill>
                <a:latin typeface="Arial"/>
              </a:rPr>
              <a:t>petlja kroz opsege</a:t>
            </a:r>
            <a:endParaRPr sz="1400"/>
          </a:p>
        </p:txBody>
      </p:sp>
      <p:sp>
        <p:nvSpPr>
          <p:cNvPr id="15" name="Rounded Rectangle 14"/>
          <p:cNvSpPr/>
          <p:nvPr/>
        </p:nvSpPr>
        <p:spPr>
          <a:xfrm>
            <a:off x="1828800" y="5515769"/>
            <a:ext cx="3429000" cy="358080"/>
          </a:xfrm>
          <a:prstGeom prst="roundRect">
            <a:avLst>
              <a:gd name="adj" fmla="val 14186"/>
            </a:avLst>
          </a:prstGeom>
          <a:solidFill>
            <a:srgbClr val="F0A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t 1x18.20"/>
          <p:cNvSpPr txBox="1"/>
          <p:nvPr/>
        </p:nvSpPr>
        <p:spPr>
          <a:xfrm>
            <a:off x="1955800" y="5579269"/>
            <a:ext cx="3238500" cy="231080"/>
          </a:xfrm>
          <a:prstGeom prst="rect">
            <a:avLst/>
          </a:prstGeom>
          <a:noFill/>
        </p:spPr>
        <p:txBody>
          <a:bodyPr wrap="square" anchor="t" lIns="0" rIns="0" tIns="0" bIns="0">
            <a:noAutofit/>
          </a:bodyPr>
          <a:lstStyle/>
          <a:p>
            <a:pPr algn="l">
              <a:lnSpc>
                <a:spcPts val="1820"/>
              </a:lnSpc>
              <a:spcBef>
                <a:spcPts val="0"/>
              </a:spcBef>
              <a:spcAft>
                <a:spcPts val="0"/>
              </a:spcAft>
            </a:pPr>
            <a:r>
              <a:rPr sz="1400" b="0" i="0">
                <a:solidFill>
                  <a:srgbClr val="13262B"/>
                </a:solidFill>
                <a:latin typeface="Arial"/>
              </a:rPr>
              <a:t>if: sekvenca je u opsegu</a:t>
            </a:r>
            <a:endParaRPr sz="1400"/>
          </a:p>
        </p:txBody>
      </p:sp>
      <p:sp>
        <p:nvSpPr>
          <p:cNvPr id="17" name="Rounded Rectangle 16"/>
          <p:cNvSpPr/>
          <p:nvPr/>
        </p:nvSpPr>
        <p:spPr>
          <a:xfrm>
            <a:off x="5568950" y="3622477"/>
            <a:ext cx="5803900" cy="1341041"/>
          </a:xfrm>
          <a:prstGeom prst="roundRect">
            <a:avLst>
              <a:gd name="adj" fmla="val 7576"/>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kst 4x20.15"/>
          <p:cNvSpPr txBox="1"/>
          <p:nvPr/>
        </p:nvSpPr>
        <p:spPr>
          <a:xfrm>
            <a:off x="5778500" y="3781227"/>
            <a:ext cx="5492496"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sequence length is 432</a:t>
            </a:r>
            <a:br/>
            <a:r>
              <a:rPr sz="1300" b="0" i="0">
                <a:solidFill>
                  <a:srgbClr val="13262B"/>
                </a:solidFill>
                <a:latin typeface="Consolas"/>
              </a:rPr>
              <a:t>bin is 400 to 499</a:t>
            </a:r>
            <a:br/>
            <a:r>
              <a:rPr sz="1300" b="0" i="0">
                <a:solidFill>
                  <a:srgbClr val="13262B"/>
                </a:solidFill>
                <a:latin typeface="Consolas"/>
              </a:rPr>
              <a:t>sequence length is 818</a:t>
            </a:r>
            <a:br/>
            <a:r>
              <a:rPr sz="1300" b="0" i="0">
                <a:solidFill>
                  <a:srgbClr val="13262B"/>
                </a:solidFill>
                <a:latin typeface="Consolas"/>
              </a:rPr>
              <a:t>bin is 800 to 899</a:t>
            </a:r>
            <a:endParaRPr sz="1300"/>
          </a:p>
        </p:txBody>
      </p:sp>
      <p:sp>
        <p:nvSpPr>
          <p:cNvPr id="19" name="Rounded Rectangle 18"/>
          <p:cNvSpPr/>
          <p:nvPr/>
        </p:nvSpPr>
        <p:spPr>
          <a:xfrm>
            <a:off x="5562600" y="5071467"/>
            <a:ext cx="5816600" cy="769541"/>
          </a:xfrm>
          <a:prstGeom prst="roundRect">
            <a:avLst>
              <a:gd name="adj" fmla="val 9902"/>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562600" y="5071467"/>
            <a:ext cx="38100" cy="7695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kst 2x20.30"/>
          <p:cNvSpPr txBox="1"/>
          <p:nvPr/>
        </p:nvSpPr>
        <p:spPr>
          <a:xfrm>
            <a:off x="5778500" y="5198467"/>
            <a:ext cx="552958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Knjiga piše </a:t>
            </a:r>
            <a:r>
              <a:rPr sz="1400" b="0" i="0">
                <a:solidFill>
                  <a:srgbClr val="A8521A"/>
                </a:solidFill>
                <a:latin typeface="Arial"/>
              </a:rPr>
              <a:t>length &lt; bin_upper</a:t>
            </a:r>
            <a:r>
              <a:rPr sz="1400" b="0" i="0">
                <a:solidFill>
                  <a:srgbClr val="13262B"/>
                </a:solidFill>
                <a:latin typeface="Arial"/>
              </a:rPr>
              <a:t>, pa sekvenca od tačno 199 baza ne upada nigde. Ispravno je </a:t>
            </a:r>
            <a:r>
              <a:rPr sz="1400" b="0" i="0">
                <a:solidFill>
                  <a:srgbClr val="A8521A"/>
                </a:solidFill>
                <a:latin typeface="Arial"/>
              </a:rPr>
              <a:t>&lt;=</a:t>
            </a:r>
            <a:r>
              <a:rPr sz="1400" b="0" i="0">
                <a:solidFill>
                  <a:srgbClr val="13262B"/>
                </a:solidFill>
                <a:latin typeface="Arial"/>
              </a:rPr>
              <a:t>.</a:t>
            </a:r>
            <a:endParaRPr sz="14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09 · VEŽBA: RAZVRSTAVANJE SEKVENCI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3: folderi i imena fajlova</a:t>
            </a:r>
            <a:endParaRPr sz="3200"/>
          </a:p>
        </p:txBody>
      </p:sp>
      <p:sp>
        <p:nvSpPr>
          <p:cNvPr id="4" name="Rounded Rectangle 3"/>
          <p:cNvSpPr/>
          <p:nvPr/>
        </p:nvSpPr>
        <p:spPr>
          <a:xfrm>
            <a:off x="819150" y="1708051"/>
            <a:ext cx="5876429" cy="2415381"/>
          </a:xfrm>
          <a:prstGeom prst="roundRect">
            <a:avLst>
              <a:gd name="adj" fmla="val 420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8x20.15"/>
          <p:cNvSpPr txBox="1"/>
          <p:nvPr/>
        </p:nvSpPr>
        <p:spPr>
          <a:xfrm>
            <a:off x="1079500" y="1892201"/>
            <a:ext cx="5462843" cy="204708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import</a:t>
            </a:r>
            <a:r>
              <a:rPr sz="1300" b="0" i="0">
                <a:solidFill>
                  <a:srgbClr val="E8EEE9"/>
                </a:solidFill>
                <a:latin typeface="Consolas"/>
              </a:rPr>
              <a:t> os</a:t>
            </a:r>
            <a:br/>
            <a:r>
              <a:rPr sz="1300" b="0" i="0">
                <a:solidFill>
                  <a:srgbClr val="8FB3AA"/>
                </a:solidFill>
                <a:latin typeface="Consolas"/>
              </a:rPr>
              <a:t># po jedan folder za svaki opseg</a:t>
            </a:r>
            <a:br/>
            <a:r>
              <a:rPr sz="1300" b="0" i="0">
                <a:solidFill>
                  <a:srgbClr val="6FD3C1"/>
                </a:solidFill>
                <a:latin typeface="Consolas"/>
              </a:rPr>
              <a:t>for</a:t>
            </a:r>
            <a:r>
              <a:rPr sz="1300" b="0" i="0">
                <a:solidFill>
                  <a:srgbClr val="E8EEE9"/>
                </a:solidFill>
                <a:latin typeface="Consolas"/>
              </a:rPr>
              <a:t> bin_lower </a:t>
            </a:r>
            <a:r>
              <a:rPr sz="1300" b="0" i="0">
                <a:solidFill>
                  <a:srgbClr val="6FD3C1"/>
                </a:solidFill>
                <a:latin typeface="Consolas"/>
              </a:rPr>
              <a:t>in</a:t>
            </a:r>
            <a:r>
              <a:rPr sz="1300" b="0" i="0">
                <a:solidFill>
                  <a:srgbClr val="E8EEE9"/>
                </a:solidFill>
                <a:latin typeface="Consolas"/>
              </a:rPr>
              <a:t> range(100, 1000, 100):</a:t>
            </a:r>
            <a:br/>
            <a:r>
              <a:rPr sz="1300" b="0" i="0">
                <a:solidFill>
                  <a:srgbClr val="E8EEE9"/>
                </a:solidFill>
                <a:latin typeface="Consolas"/>
              </a:rPr>
              <a:t>    bin_upper = bin_lower + 99</a:t>
            </a:r>
            <a:br/>
            <a:r>
              <a:rPr sz="1300" b="0" i="0">
                <a:solidFill>
                  <a:srgbClr val="E8EEE9"/>
                </a:solidFill>
                <a:latin typeface="Consolas"/>
              </a:rPr>
              <a:t>    bin_folder_name = str(bin_lower) + </a:t>
            </a:r>
            <a:r>
              <a:rPr sz="1300" b="0" i="0">
                <a:solidFill>
                  <a:srgbClr val="F0A35E"/>
                </a:solidFill>
                <a:latin typeface="Consolas"/>
              </a:rPr>
              <a:t>"_"</a:t>
            </a:r>
            <a:r>
              <a:rPr sz="1300" b="0" i="0">
                <a:solidFill>
                  <a:srgbClr val="E8EEE9"/>
                </a:solidFill>
                <a:latin typeface="Consolas"/>
              </a:rPr>
              <a:t> + str(bin_upper)</a:t>
            </a:r>
            <a:br/>
            <a:r>
              <a:rPr sz="1300" b="0" i="0">
                <a:solidFill>
                  <a:srgbClr val="E8EEE9"/>
                </a:solidFill>
                <a:latin typeface="Consolas"/>
              </a:rPr>
              <a:t>    os.mkdir(bin_folder_name)</a:t>
            </a:r>
            <a:br/>
            <a:r>
              <a:rPr sz="1300" b="0" i="0">
                <a:solidFill>
                  <a:srgbClr val="8FB3AA"/>
                </a:solidFill>
                <a:latin typeface="Consolas"/>
              </a:rPr>
              <a:t># brojač sekvenci za imena fajlova</a:t>
            </a:r>
            <a:br/>
            <a:r>
              <a:rPr sz="1300" b="0" i="0">
                <a:solidFill>
                  <a:srgbClr val="E8EEE9"/>
                </a:solidFill>
                <a:latin typeface="Consolas"/>
              </a:rPr>
              <a:t>seq_number = 1</a:t>
            </a:r>
            <a:endParaRPr sz="1300"/>
          </a:p>
        </p:txBody>
      </p:sp>
      <p:sp>
        <p:nvSpPr>
          <p:cNvPr id="6" name="Rounded Rectangle 5"/>
          <p:cNvSpPr/>
          <p:nvPr/>
        </p:nvSpPr>
        <p:spPr>
          <a:xfrm>
            <a:off x="7013079" y="1708051"/>
            <a:ext cx="4359771" cy="1349276"/>
          </a:xfrm>
          <a:prstGeom prst="roundRect">
            <a:avLst>
              <a:gd name="adj" fmla="val 7529"/>
            </a:avLst>
          </a:prstGeom>
          <a:solidFill>
            <a:srgbClr val="FCFBF7"/>
          </a:solid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6.80"/>
          <p:cNvSpPr txBox="1"/>
          <p:nvPr/>
        </p:nvSpPr>
        <p:spPr>
          <a:xfrm>
            <a:off x="7222629" y="1866801"/>
            <a:ext cx="4019485"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NOVI FOLDERI</a:t>
            </a:r>
            <a:endParaRPr sz="1200"/>
          </a:p>
        </p:txBody>
      </p:sp>
      <p:sp>
        <p:nvSpPr>
          <p:cNvPr id="8" name="Tekst 3x20.15"/>
          <p:cNvSpPr txBox="1"/>
          <p:nvPr/>
        </p:nvSpPr>
        <p:spPr>
          <a:xfrm>
            <a:off x="7222629" y="2130921"/>
            <a:ext cx="4019485" cy="767655"/>
          </a:xfrm>
          <a:prstGeom prst="rect">
            <a:avLst/>
          </a:prstGeom>
          <a:noFill/>
        </p:spPr>
        <p:txBody>
          <a:bodyPr wrap="square" anchor="t" lIns="0" rIns="0" tIns="0" bIns="0">
            <a:noAutofit/>
          </a:bodyPr>
          <a:lstStyle/>
          <a:p>
            <a:pPr algn="l">
              <a:lnSpc>
                <a:spcPts val="2014"/>
              </a:lnSpc>
              <a:spcBef>
                <a:spcPts val="0"/>
              </a:spcBef>
              <a:spcAft>
                <a:spcPts val="0"/>
              </a:spcAft>
            </a:pPr>
            <a:r>
              <a:rPr sz="1300" b="0" i="0">
                <a:solidFill>
                  <a:srgbClr val="13262B"/>
                </a:solidFill>
                <a:latin typeface="Consolas"/>
              </a:rPr>
              <a:t>100_199 200_299 300_399</a:t>
            </a:r>
            <a:br/>
            <a:r>
              <a:rPr sz="1300" b="0" i="0">
                <a:solidFill>
                  <a:srgbClr val="13262B"/>
                </a:solidFill>
                <a:latin typeface="Consolas"/>
              </a:rPr>
              <a:t>400_499 500_599 600_699</a:t>
            </a:r>
            <a:br/>
            <a:r>
              <a:rPr sz="1300" b="0" i="0">
                <a:solidFill>
                  <a:srgbClr val="13262B"/>
                </a:solidFill>
                <a:latin typeface="Consolas"/>
              </a:rPr>
              <a:t>700_799 800_899 900_999</a:t>
            </a:r>
            <a:endParaRPr sz="1300"/>
          </a:p>
        </p:txBody>
      </p:sp>
      <p:sp>
        <p:nvSpPr>
          <p:cNvPr id="9" name="Rounded Rectangle 8"/>
          <p:cNvSpPr/>
          <p:nvPr/>
        </p:nvSpPr>
        <p:spPr>
          <a:xfrm>
            <a:off x="7009904" y="3168452"/>
            <a:ext cx="4366121" cy="826691"/>
          </a:xfrm>
          <a:prstGeom prst="roundRect">
            <a:avLst>
              <a:gd name="adj" fmla="val 1228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2x20.30"/>
          <p:cNvSpPr txBox="1"/>
          <p:nvPr/>
        </p:nvSpPr>
        <p:spPr>
          <a:xfrm>
            <a:off x="7190879" y="3324027"/>
            <a:ext cx="4084255"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Ime foldera: donja granica, donja crta, gornja granica. Isto pravilo koristimo i pri upisu.</a:t>
            </a:r>
            <a:endParaRPr sz="1400"/>
          </a:p>
        </p:txBody>
      </p:sp>
      <p:sp>
        <p:nvSpPr>
          <p:cNvPr id="11" name="Rounded Rectangle 10"/>
          <p:cNvSpPr/>
          <p:nvPr/>
        </p:nvSpPr>
        <p:spPr>
          <a:xfrm>
            <a:off x="7006729" y="4099917"/>
            <a:ext cx="4372471" cy="820341"/>
          </a:xfrm>
          <a:prstGeom prst="roundRect">
            <a:avLst>
              <a:gd name="adj" fmla="val 928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06729" y="4099917"/>
            <a:ext cx="38100" cy="8203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2x20.30"/>
          <p:cNvSpPr txBox="1"/>
          <p:nvPr/>
        </p:nvSpPr>
        <p:spPr>
          <a:xfrm>
            <a:off x="7222629" y="4252317"/>
            <a:ext cx="4058347"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Imena fajlova nisu zadata: 1.dna, 2.dna, … uz brojač koji raste posle svakog upisa.</a:t>
            </a:r>
            <a:endParaRPr sz="14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09 · VEŽBA: RAZVRSTAVANJE SEKVENCI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4: upis u odgovarajući folder</a:t>
            </a:r>
            <a:endParaRPr sz="3200"/>
          </a:p>
        </p:txBody>
      </p:sp>
      <p:sp>
        <p:nvSpPr>
          <p:cNvPr id="4" name="Rounded Rectangle 3"/>
          <p:cNvSpPr/>
          <p:nvPr/>
        </p:nvSpPr>
        <p:spPr>
          <a:xfrm>
            <a:off x="819150" y="1708051"/>
            <a:ext cx="6568877" cy="3438128"/>
          </a:xfrm>
          <a:prstGeom prst="roundRect">
            <a:avLst>
              <a:gd name="adj" fmla="val 2955"/>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3x18.60"/>
          <p:cNvSpPr txBox="1"/>
          <p:nvPr/>
        </p:nvSpPr>
        <p:spPr>
          <a:xfrm>
            <a:off x="1003300" y="1892201"/>
            <a:ext cx="6307257" cy="3069828"/>
          </a:xfrm>
          <a:prstGeom prst="rect">
            <a:avLst/>
          </a:prstGeom>
          <a:noFill/>
        </p:spPr>
        <p:txBody>
          <a:bodyPr wrap="none" anchor="t" lIns="0" rIns="0" tIns="0" bIns="0">
            <a:noAutofit/>
          </a:bodyPr>
          <a:lstStyle/>
          <a:p>
            <a:pPr algn="l">
              <a:lnSpc>
                <a:spcPts val="1860"/>
              </a:lnSpc>
              <a:spcBef>
                <a:spcPts val="0"/>
              </a:spcBef>
              <a:spcAft>
                <a:spcPts val="0"/>
              </a:spcAft>
            </a:pPr>
            <a:r>
              <a:rPr sz="1200" b="0" i="0">
                <a:solidFill>
                  <a:srgbClr val="8FB3AA"/>
                </a:solidFill>
                <a:latin typeface="Consolas"/>
              </a:rPr>
              <a:t># unutar petlje kroz .dna fajlove:</a:t>
            </a:r>
            <a:br/>
            <a:r>
              <a:rPr sz="1200" b="0" i="0">
                <a:solidFill>
                  <a:srgbClr val="6FD3C1"/>
                </a:solidFill>
                <a:latin typeface="Consolas"/>
              </a:rPr>
              <a:t>for</a:t>
            </a:r>
            <a:r>
              <a:rPr sz="1200" b="0" i="0">
                <a:solidFill>
                  <a:srgbClr val="E8EEE9"/>
                </a:solidFill>
                <a:latin typeface="Consolas"/>
              </a:rPr>
              <a:t> line </a:t>
            </a:r>
            <a:r>
              <a:rPr sz="1200" b="0" i="0">
                <a:solidFill>
                  <a:srgbClr val="6FD3C1"/>
                </a:solidFill>
                <a:latin typeface="Consolas"/>
              </a:rPr>
              <a:t>in</a:t>
            </a:r>
            <a:r>
              <a:rPr sz="1200" b="0" i="0">
                <a:solidFill>
                  <a:srgbClr val="E8EEE9"/>
                </a:solidFill>
                <a:latin typeface="Consolas"/>
              </a:rPr>
              <a:t> dna_file:</a:t>
            </a:r>
            <a:br/>
            <a:r>
              <a:rPr sz="1200" b="0" i="0">
                <a:solidFill>
                  <a:srgbClr val="E8EEE9"/>
                </a:solidFill>
                <a:latin typeface="Consolas"/>
              </a:rPr>
              <a:t>    dna = line.rstrip(</a:t>
            </a:r>
            <a:r>
              <a:rPr sz="1200" b="0" i="0">
                <a:solidFill>
                  <a:srgbClr val="F0A35E"/>
                </a:solidFill>
                <a:latin typeface="Consolas"/>
              </a:rPr>
              <a:t>"\n"</a:t>
            </a:r>
            <a:r>
              <a:rPr sz="1200" b="0" i="0">
                <a:solidFill>
                  <a:srgbClr val="E8EEE9"/>
                </a:solidFill>
                <a:latin typeface="Consolas"/>
              </a:rPr>
              <a:t>)</a:t>
            </a:r>
            <a:br/>
            <a:r>
              <a:rPr sz="1200" b="0" i="0">
                <a:solidFill>
                  <a:srgbClr val="E8EEE9"/>
                </a:solidFill>
                <a:latin typeface="Consolas"/>
              </a:rPr>
              <a:t>    length = len(dna)</a:t>
            </a:r>
            <a:br/>
            <a:r>
              <a:rPr sz="1200" b="0" i="0">
                <a:solidFill>
                  <a:srgbClr val="E8EEE9"/>
                </a:solidFill>
                <a:latin typeface="Consolas"/>
              </a:rPr>
              <a:t>    </a:t>
            </a:r>
            <a:r>
              <a:rPr sz="1200" b="0" i="0">
                <a:solidFill>
                  <a:srgbClr val="6FD3C1"/>
                </a:solidFill>
                <a:latin typeface="Consolas"/>
              </a:rPr>
              <a:t>for</a:t>
            </a:r>
            <a:r>
              <a:rPr sz="1200" b="0" i="0">
                <a:solidFill>
                  <a:srgbClr val="E8EEE9"/>
                </a:solidFill>
                <a:latin typeface="Consolas"/>
              </a:rPr>
              <a:t> bin_lower </a:t>
            </a:r>
            <a:r>
              <a:rPr sz="1200" b="0" i="0">
                <a:solidFill>
                  <a:srgbClr val="6FD3C1"/>
                </a:solidFill>
                <a:latin typeface="Consolas"/>
              </a:rPr>
              <a:t>in</a:t>
            </a:r>
            <a:r>
              <a:rPr sz="1200" b="0" i="0">
                <a:solidFill>
                  <a:srgbClr val="E8EEE9"/>
                </a:solidFill>
                <a:latin typeface="Consolas"/>
              </a:rPr>
              <a:t> range(100, 1000, 100):</a:t>
            </a:r>
            <a:br/>
            <a:r>
              <a:rPr sz="1200" b="0" i="0">
                <a:solidFill>
                  <a:srgbClr val="E8EEE9"/>
                </a:solidFill>
                <a:latin typeface="Consolas"/>
              </a:rPr>
              <a:t>        bin_upper = bin_lower + 99</a:t>
            </a:r>
            <a:br/>
            <a:r>
              <a:rPr sz="1200" b="0" i="0">
                <a:solidFill>
                  <a:srgbClr val="E8EEE9"/>
                </a:solidFill>
                <a:latin typeface="Consolas"/>
              </a:rPr>
              <a:t>        </a:t>
            </a:r>
            <a:r>
              <a:rPr sz="1200" b="0" i="0">
                <a:solidFill>
                  <a:srgbClr val="6FD3C1"/>
                </a:solidFill>
                <a:latin typeface="Consolas"/>
              </a:rPr>
              <a:t>if</a:t>
            </a:r>
            <a:r>
              <a:rPr sz="1200" b="0" i="0">
                <a:solidFill>
                  <a:srgbClr val="E8EEE9"/>
                </a:solidFill>
                <a:latin typeface="Consolas"/>
              </a:rPr>
              <a:t> length &gt;= bin_lower </a:t>
            </a:r>
            <a:r>
              <a:rPr sz="1200" b="0" i="0">
                <a:solidFill>
                  <a:srgbClr val="6FD3C1"/>
                </a:solidFill>
                <a:latin typeface="Consolas"/>
              </a:rPr>
              <a:t>and</a:t>
            </a:r>
            <a:r>
              <a:rPr sz="1200" b="0" i="0">
                <a:solidFill>
                  <a:srgbClr val="E8EEE9"/>
                </a:solidFill>
                <a:latin typeface="Consolas"/>
              </a:rPr>
              <a:t> length &lt;= bin_upper:</a:t>
            </a:r>
            <a:br/>
            <a:r>
              <a:rPr sz="1200" b="0" i="0">
                <a:solidFill>
                  <a:srgbClr val="E8EEE9"/>
                </a:solidFill>
                <a:latin typeface="Consolas"/>
              </a:rPr>
              <a:t>            bin_folder_name = str(bin_lower) + </a:t>
            </a:r>
            <a:r>
              <a:rPr sz="1200" b="0" i="0">
                <a:solidFill>
                  <a:srgbClr val="F0A35E"/>
                </a:solidFill>
                <a:latin typeface="Consolas"/>
              </a:rPr>
              <a:t>"_"</a:t>
            </a:r>
            <a:r>
              <a:rPr sz="1200" b="0" i="0">
                <a:solidFill>
                  <a:srgbClr val="E8EEE9"/>
                </a:solidFill>
                <a:latin typeface="Consolas"/>
              </a:rPr>
              <a:t> + str(bin_upper)</a:t>
            </a:r>
            <a:br/>
            <a:r>
              <a:rPr sz="1200" b="0" i="0">
                <a:solidFill>
                  <a:srgbClr val="E8EEE9"/>
                </a:solidFill>
                <a:latin typeface="Consolas"/>
              </a:rPr>
              <a:t>            output_path = bin_folder_name + </a:t>
            </a:r>
            <a:r>
              <a:rPr sz="1200" b="0" i="0">
                <a:solidFill>
                  <a:srgbClr val="F0A35E"/>
                </a:solidFill>
                <a:latin typeface="Consolas"/>
              </a:rPr>
              <a:t>'/'</a:t>
            </a:r>
            <a:r>
              <a:rPr sz="1200" b="0" i="0">
                <a:solidFill>
                  <a:srgbClr val="E8EEE9"/>
                </a:solidFill>
                <a:latin typeface="Consolas"/>
              </a:rPr>
              <a:t> + str(seq_number) + </a:t>
            </a:r>
            <a:r>
              <a:rPr sz="1200" b="0" i="0">
                <a:solidFill>
                  <a:srgbClr val="F0A35E"/>
                </a:solidFill>
                <a:latin typeface="Consolas"/>
              </a:rPr>
              <a:t>'.dna'</a:t>
            </a:r>
            <a:br/>
            <a:r>
              <a:rPr sz="1200" b="0" i="0">
                <a:solidFill>
                  <a:srgbClr val="E8EEE9"/>
                </a:solidFill>
                <a:latin typeface="Consolas"/>
              </a:rPr>
              <a:t>            output = open(output_path, </a:t>
            </a:r>
            <a:r>
              <a:rPr sz="1200" b="0" i="0">
                <a:solidFill>
                  <a:srgbClr val="F0A35E"/>
                </a:solidFill>
                <a:latin typeface="Consolas"/>
              </a:rPr>
              <a:t>"w"</a:t>
            </a:r>
            <a:r>
              <a:rPr sz="1200" b="0" i="0">
                <a:solidFill>
                  <a:srgbClr val="E8EEE9"/>
                </a:solidFill>
                <a:latin typeface="Consolas"/>
              </a:rPr>
              <a:t>)</a:t>
            </a:r>
            <a:br/>
            <a:r>
              <a:rPr sz="1200" b="0" i="0">
                <a:solidFill>
                  <a:srgbClr val="E8EEE9"/>
                </a:solidFill>
                <a:latin typeface="Consolas"/>
              </a:rPr>
              <a:t>            output.write(dna)</a:t>
            </a:r>
            <a:br/>
            <a:r>
              <a:rPr sz="1200" b="0" i="0">
                <a:solidFill>
                  <a:srgbClr val="E8EEE9"/>
                </a:solidFill>
                <a:latin typeface="Consolas"/>
              </a:rPr>
              <a:t>            output.close()</a:t>
            </a:r>
            <a:br/>
            <a:r>
              <a:rPr sz="1200" b="0" i="0">
                <a:solidFill>
                  <a:srgbClr val="E8EEE9"/>
                </a:solidFill>
                <a:latin typeface="Consolas"/>
              </a:rPr>
              <a:t>            seq_number = seq_number + 1</a:t>
            </a:r>
            <a:endParaRPr sz="1200"/>
          </a:p>
        </p:txBody>
      </p:sp>
      <p:sp>
        <p:nvSpPr>
          <p:cNvPr id="6" name="Rounded Rectangle 5"/>
          <p:cNvSpPr/>
          <p:nvPr/>
        </p:nvSpPr>
        <p:spPr>
          <a:xfrm>
            <a:off x="7651552" y="1704876"/>
            <a:ext cx="3724473" cy="826691"/>
          </a:xfrm>
          <a:prstGeom prst="roundRect">
            <a:avLst>
              <a:gd name="adj" fmla="val 1228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2x20.30"/>
          <p:cNvSpPr txBox="1"/>
          <p:nvPr/>
        </p:nvSpPr>
        <p:spPr>
          <a:xfrm>
            <a:off x="7832527" y="1860451"/>
            <a:ext cx="3429774"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Putanja: folder, kosa crta, redni broj i .dna, npr. </a:t>
            </a:r>
            <a:r>
              <a:rPr sz="1400" b="0" i="0">
                <a:solidFill>
                  <a:srgbClr val="A8521A"/>
                </a:solidFill>
                <a:latin typeface="Arial"/>
              </a:rPr>
              <a:t>400_499/1.dna</a:t>
            </a:r>
            <a:r>
              <a:rPr sz="1400" b="0" i="0">
                <a:solidFill>
                  <a:srgbClr val="3D4F52"/>
                </a:solidFill>
                <a:latin typeface="Arial"/>
              </a:rPr>
              <a:t>.</a:t>
            </a:r>
            <a:endParaRPr sz="1400"/>
          </a:p>
        </p:txBody>
      </p:sp>
      <p:sp>
        <p:nvSpPr>
          <p:cNvPr id="8" name="Rounded Rectangle 7"/>
          <p:cNvSpPr/>
          <p:nvPr/>
        </p:nvSpPr>
        <p:spPr>
          <a:xfrm>
            <a:off x="7651552" y="2639516"/>
            <a:ext cx="3724473" cy="826691"/>
          </a:xfrm>
          <a:prstGeom prst="roundRect">
            <a:avLst>
              <a:gd name="adj" fmla="val 1228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2x20.30"/>
          <p:cNvSpPr txBox="1"/>
          <p:nvPr/>
        </p:nvSpPr>
        <p:spPr>
          <a:xfrm>
            <a:off x="7832527" y="2795091"/>
            <a:ext cx="3429774"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Svaki fajl otvaramo, upisujemo i odmah zatvaramo.</a:t>
            </a:r>
            <a:endParaRPr sz="1400"/>
          </a:p>
        </p:txBody>
      </p:sp>
      <p:sp>
        <p:nvSpPr>
          <p:cNvPr id="10" name="Rounded Rectangle 9"/>
          <p:cNvSpPr/>
          <p:nvPr/>
        </p:nvSpPr>
        <p:spPr>
          <a:xfrm>
            <a:off x="7648377" y="3570982"/>
            <a:ext cx="3730823" cy="562570"/>
          </a:xfrm>
          <a:prstGeom prst="roundRect">
            <a:avLst>
              <a:gd name="adj" fmla="val 13544"/>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48377" y="3570982"/>
            <a:ext cx="38100" cy="5625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1x20.30"/>
          <p:cNvSpPr txBox="1"/>
          <p:nvPr/>
        </p:nvSpPr>
        <p:spPr>
          <a:xfrm>
            <a:off x="7864277" y="3723382"/>
            <a:ext cx="3403866"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Ovo je najveći program u knjizi do sada.</a:t>
            </a:r>
            <a:endParaRPr sz="14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09 · VEŽBA: BROJANJE K-MERA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Plan u dve faze i deljenje na k-mere</a:t>
            </a:r>
            <a:endParaRPr sz="3200"/>
          </a:p>
        </p:txBody>
      </p:sp>
      <p:sp>
        <p:nvSpPr>
          <p:cNvPr id="4" name="Rounded Rectangle 3"/>
          <p:cNvSpPr/>
          <p:nvPr/>
        </p:nvSpPr>
        <p:spPr>
          <a:xfrm>
            <a:off x="815975" y="1704876"/>
            <a:ext cx="4819650" cy="1151731"/>
          </a:xfrm>
          <a:prstGeom prst="roundRect">
            <a:avLst>
              <a:gd name="adj" fmla="val 8821"/>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21.60"/>
          <p:cNvSpPr txBox="1"/>
          <p:nvPr/>
        </p:nvSpPr>
        <p:spPr>
          <a:xfrm>
            <a:off x="1022350" y="1860451"/>
            <a:ext cx="4495038"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1. Brojanje</a:t>
            </a:r>
            <a:endParaRPr sz="1800"/>
          </a:p>
        </p:txBody>
      </p:sp>
      <p:sp>
        <p:nvSpPr>
          <p:cNvPr id="6" name="Tekst 2x20.30"/>
          <p:cNvSpPr txBox="1"/>
          <p:nvPr/>
        </p:nvSpPr>
        <p:spPr>
          <a:xfrm>
            <a:off x="1022350" y="2185491"/>
            <a:ext cx="4495038"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Kroz sve sekvence, brojeve svih k-mera skupljamo u rečnik.</a:t>
            </a:r>
            <a:endParaRPr sz="1400"/>
          </a:p>
        </p:txBody>
      </p:sp>
      <p:sp>
        <p:nvSpPr>
          <p:cNvPr id="7" name="Right Arrow 6"/>
          <p:cNvSpPr/>
          <p:nvPr/>
        </p:nvSpPr>
        <p:spPr>
          <a:xfrm>
            <a:off x="5791200" y="2141041"/>
            <a:ext cx="609600" cy="279400"/>
          </a:xfrm>
          <a:prstGeom prst="rightArrow">
            <a:avLst>
              <a:gd name="adj1" fmla="val 40000"/>
              <a:gd name="adj2" fmla="val 87272"/>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56375" y="1833761"/>
            <a:ext cx="4819650" cy="893961"/>
          </a:xfrm>
          <a:prstGeom prst="roundRect">
            <a:avLst>
              <a:gd name="adj" fmla="val 11365"/>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21.60"/>
          <p:cNvSpPr txBox="1"/>
          <p:nvPr/>
        </p:nvSpPr>
        <p:spPr>
          <a:xfrm>
            <a:off x="6762750" y="1989336"/>
            <a:ext cx="4495038"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2. Ispis</a:t>
            </a:r>
            <a:endParaRPr sz="1800"/>
          </a:p>
        </p:txBody>
      </p:sp>
      <p:sp>
        <p:nvSpPr>
          <p:cNvPr id="10" name="Tekst 1x20.30"/>
          <p:cNvSpPr txBox="1"/>
          <p:nvPr/>
        </p:nvSpPr>
        <p:spPr>
          <a:xfrm>
            <a:off x="6762750" y="2314377"/>
            <a:ext cx="4495038"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Kroz rečnik, ispisujemo k-mere čiji je broj iznad praga.</a:t>
            </a:r>
            <a:endParaRPr sz="1400"/>
          </a:p>
        </p:txBody>
      </p:sp>
      <p:sp>
        <p:nvSpPr>
          <p:cNvPr id="11" name="Rounded Rectangle 10"/>
          <p:cNvSpPr/>
          <p:nvPr/>
        </p:nvSpPr>
        <p:spPr>
          <a:xfrm>
            <a:off x="819150" y="3120132"/>
            <a:ext cx="5785743" cy="1647726"/>
          </a:xfrm>
          <a:prstGeom prst="roundRect">
            <a:avLst>
              <a:gd name="adj" fmla="val 616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5x20.15"/>
          <p:cNvSpPr txBox="1"/>
          <p:nvPr/>
        </p:nvSpPr>
        <p:spPr>
          <a:xfrm>
            <a:off x="1079500" y="3304282"/>
            <a:ext cx="5370344"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test_dna = </a:t>
            </a:r>
            <a:r>
              <a:rPr sz="1300" b="0" i="0">
                <a:solidFill>
                  <a:srgbClr val="F0A35E"/>
                </a:solidFill>
                <a:latin typeface="Consolas"/>
              </a:rPr>
              <a:t>"ACTGTAGCTGTACGTAGC"</a:t>
            </a:r>
            <a:br/>
            <a:r>
              <a:rPr sz="1300" b="0" i="0">
                <a:solidFill>
                  <a:srgbClr val="E8EEE9"/>
                </a:solidFill>
                <a:latin typeface="Consolas"/>
              </a:rPr>
              <a:t>kmer_size = 4</a:t>
            </a:r>
            <a:br/>
            <a:r>
              <a:rPr sz="1300" b="0" i="0">
                <a:solidFill>
                  <a:srgbClr val="6FD3C1"/>
                </a:solidFill>
                <a:latin typeface="Consolas"/>
              </a:rPr>
              <a:t>for</a:t>
            </a:r>
            <a:r>
              <a:rPr sz="1300" b="0" i="0">
                <a:solidFill>
                  <a:srgbClr val="E8EEE9"/>
                </a:solidFill>
                <a:latin typeface="Consolas"/>
              </a:rPr>
              <a:t> start </a:t>
            </a:r>
            <a:r>
              <a:rPr sz="1300" b="0" i="0">
                <a:solidFill>
                  <a:srgbClr val="6FD3C1"/>
                </a:solidFill>
                <a:latin typeface="Consolas"/>
              </a:rPr>
              <a:t>in</a:t>
            </a:r>
            <a:r>
              <a:rPr sz="1300" b="0" i="0">
                <a:solidFill>
                  <a:srgbClr val="E8EEE9"/>
                </a:solidFill>
                <a:latin typeface="Consolas"/>
              </a:rPr>
              <a:t> range(0, len(test_dna) - (kmer_size - 1), 1):</a:t>
            </a:r>
            <a:br/>
            <a:r>
              <a:rPr sz="1300" b="0" i="0">
                <a:solidFill>
                  <a:srgbClr val="E8EEE9"/>
                </a:solidFill>
                <a:latin typeface="Consolas"/>
              </a:rPr>
              <a:t>    kmer = test_dna[start:start+kmer_size]</a:t>
            </a:r>
            <a:br/>
            <a:r>
              <a:rPr sz="1300" b="0" i="0">
                <a:solidFill>
                  <a:srgbClr val="E8EEE9"/>
                </a:solidFill>
                <a:latin typeface="Consolas"/>
              </a:rPr>
              <a:t>    print(kmer)</a:t>
            </a:r>
            <a:endParaRPr sz="1300"/>
          </a:p>
        </p:txBody>
      </p:sp>
      <p:sp>
        <p:nvSpPr>
          <p:cNvPr id="13" name="Rounded Rectangle 12"/>
          <p:cNvSpPr/>
          <p:nvPr/>
        </p:nvSpPr>
        <p:spPr>
          <a:xfrm>
            <a:off x="6719193" y="3120132"/>
            <a:ext cx="1965722" cy="1647726"/>
          </a:xfrm>
          <a:prstGeom prst="roundRect">
            <a:avLst>
              <a:gd name="adj" fmla="val 6166"/>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5x20.15"/>
          <p:cNvSpPr txBox="1"/>
          <p:nvPr/>
        </p:nvSpPr>
        <p:spPr>
          <a:xfrm>
            <a:off x="6954143" y="3304282"/>
            <a:ext cx="388541"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ACTG</a:t>
            </a:r>
            <a:br/>
            <a:r>
              <a:rPr sz="1300" b="0" i="0">
                <a:solidFill>
                  <a:srgbClr val="13262B"/>
                </a:solidFill>
                <a:latin typeface="Consolas"/>
              </a:rPr>
              <a:t>CTGT</a:t>
            </a:r>
            <a:br/>
            <a:r>
              <a:rPr sz="1300" b="0" i="0">
                <a:solidFill>
                  <a:srgbClr val="13262B"/>
                </a:solidFill>
                <a:latin typeface="Consolas"/>
              </a:rPr>
              <a:t>TGTA</a:t>
            </a:r>
            <a:br/>
            <a:r>
              <a:rPr sz="1300" b="0" i="0">
                <a:solidFill>
                  <a:srgbClr val="13262B"/>
                </a:solidFill>
                <a:latin typeface="Consolas"/>
              </a:rPr>
              <a:t>GTAG</a:t>
            </a:r>
            <a:br/>
            <a:r>
              <a:rPr sz="1300" b="0" i="0">
                <a:solidFill>
                  <a:srgbClr val="13262B"/>
                </a:solidFill>
                <a:latin typeface="Consolas"/>
              </a:rPr>
              <a:t>TAGC</a:t>
            </a:r>
            <a:endParaRPr sz="1300"/>
          </a:p>
        </p:txBody>
      </p:sp>
      <p:sp>
        <p:nvSpPr>
          <p:cNvPr id="15" name="Tekst 5x20.15"/>
          <p:cNvSpPr txBox="1"/>
          <p:nvPr/>
        </p:nvSpPr>
        <p:spPr>
          <a:xfrm>
            <a:off x="7520484" y="3304282"/>
            <a:ext cx="388541"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AGCT</a:t>
            </a:r>
            <a:br/>
            <a:r>
              <a:rPr sz="1300" b="0" i="0">
                <a:solidFill>
                  <a:srgbClr val="13262B"/>
                </a:solidFill>
                <a:latin typeface="Consolas"/>
              </a:rPr>
              <a:t>GCTG</a:t>
            </a:r>
            <a:br/>
            <a:r>
              <a:rPr sz="1300" b="0" i="0">
                <a:solidFill>
                  <a:srgbClr val="13262B"/>
                </a:solidFill>
                <a:latin typeface="Consolas"/>
              </a:rPr>
              <a:t>CTGT</a:t>
            </a:r>
            <a:br/>
            <a:r>
              <a:rPr sz="1300" b="0" i="0">
                <a:solidFill>
                  <a:srgbClr val="13262B"/>
                </a:solidFill>
                <a:latin typeface="Consolas"/>
              </a:rPr>
              <a:t>TGTA</a:t>
            </a:r>
            <a:br/>
            <a:r>
              <a:rPr sz="1300" b="0" i="0">
                <a:solidFill>
                  <a:srgbClr val="13262B"/>
                </a:solidFill>
                <a:latin typeface="Consolas"/>
              </a:rPr>
              <a:t>GTAC</a:t>
            </a:r>
            <a:endParaRPr sz="1300"/>
          </a:p>
        </p:txBody>
      </p:sp>
      <p:sp>
        <p:nvSpPr>
          <p:cNvPr id="16" name="Tekst 5x20.15"/>
          <p:cNvSpPr txBox="1"/>
          <p:nvPr/>
        </p:nvSpPr>
        <p:spPr>
          <a:xfrm>
            <a:off x="8086824" y="3304282"/>
            <a:ext cx="388541"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TACG</a:t>
            </a:r>
            <a:br/>
            <a:r>
              <a:rPr sz="1300" b="0" i="0">
                <a:solidFill>
                  <a:srgbClr val="13262B"/>
                </a:solidFill>
                <a:latin typeface="Consolas"/>
              </a:rPr>
              <a:t>ACGT</a:t>
            </a:r>
            <a:br/>
            <a:r>
              <a:rPr sz="1300" b="0" i="0">
                <a:solidFill>
                  <a:srgbClr val="13262B"/>
                </a:solidFill>
                <a:latin typeface="Consolas"/>
              </a:rPr>
              <a:t>CGTA</a:t>
            </a:r>
            <a:br/>
            <a:r>
              <a:rPr sz="1300" b="0" i="0">
                <a:solidFill>
                  <a:srgbClr val="13262B"/>
                </a:solidFill>
                <a:latin typeface="Consolas"/>
              </a:rPr>
              <a:t>GTAG</a:t>
            </a:r>
            <a:br/>
            <a:r>
              <a:rPr sz="1300" b="0" i="0">
                <a:solidFill>
                  <a:srgbClr val="13262B"/>
                </a:solidFill>
                <a:latin typeface="Consolas"/>
              </a:rPr>
              <a:t>TAGC</a:t>
            </a:r>
            <a:endParaRPr sz="1300"/>
          </a:p>
        </p:txBody>
      </p:sp>
      <p:sp>
        <p:nvSpPr>
          <p:cNvPr id="17" name="Tekst 2x20.30"/>
          <p:cNvSpPr txBox="1"/>
          <p:nvPr/>
        </p:nvSpPr>
        <p:spPr>
          <a:xfrm>
            <a:off x="8894465" y="3113782"/>
            <a:ext cx="253443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15 preklapajućih 4-mera, čitano po kolonama.</a:t>
            </a:r>
            <a:endParaRPr sz="14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09 · VEŽBA: BROJANJE K-MERA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Funkcija split_dna i njeni testovi</a:t>
            </a:r>
            <a:endParaRPr sz="3200"/>
          </a:p>
        </p:txBody>
      </p:sp>
      <p:sp>
        <p:nvSpPr>
          <p:cNvPr id="4" name="Rounded Rectangle 3"/>
          <p:cNvSpPr/>
          <p:nvPr/>
        </p:nvSpPr>
        <p:spPr>
          <a:xfrm>
            <a:off x="819150" y="1657251"/>
            <a:ext cx="5694958" cy="2671266"/>
          </a:xfrm>
          <a:prstGeom prst="roundRect">
            <a:avLst>
              <a:gd name="adj" fmla="val 3803"/>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9x20.15"/>
          <p:cNvSpPr txBox="1"/>
          <p:nvPr/>
        </p:nvSpPr>
        <p:spPr>
          <a:xfrm>
            <a:off x="1079500" y="1841401"/>
            <a:ext cx="5277743" cy="230296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def</a:t>
            </a:r>
            <a:r>
              <a:rPr sz="1300" b="0" i="0">
                <a:solidFill>
                  <a:srgbClr val="E8EEE9"/>
                </a:solidFill>
                <a:latin typeface="Consolas"/>
              </a:rPr>
              <a:t> split_dna(dna, kmer_size):</a:t>
            </a:r>
            <a:br/>
            <a:r>
              <a:rPr sz="1300" b="0" i="0">
                <a:solidFill>
                  <a:srgbClr val="E8EEE9"/>
                </a:solidFill>
                <a:latin typeface="Consolas"/>
              </a:rPr>
              <a:t>    kmers = []</a:t>
            </a:r>
            <a:br/>
            <a:r>
              <a:rPr sz="1300" b="0" i="0">
                <a:solidFill>
                  <a:srgbClr val="E8EEE9"/>
                </a:solidFill>
                <a:latin typeface="Consolas"/>
              </a:rPr>
              <a:t>    </a:t>
            </a:r>
            <a:r>
              <a:rPr sz="1300" b="0" i="0">
                <a:solidFill>
                  <a:srgbClr val="6FD3C1"/>
                </a:solidFill>
                <a:latin typeface="Consolas"/>
              </a:rPr>
              <a:t>for</a:t>
            </a:r>
            <a:r>
              <a:rPr sz="1300" b="0" i="0">
                <a:solidFill>
                  <a:srgbClr val="E8EEE9"/>
                </a:solidFill>
                <a:latin typeface="Consolas"/>
              </a:rPr>
              <a:t> start </a:t>
            </a:r>
            <a:r>
              <a:rPr sz="1300" b="0" i="0">
                <a:solidFill>
                  <a:srgbClr val="6FD3C1"/>
                </a:solidFill>
                <a:latin typeface="Consolas"/>
              </a:rPr>
              <a:t>in</a:t>
            </a:r>
            <a:r>
              <a:rPr sz="1300" b="0" i="0">
                <a:solidFill>
                  <a:srgbClr val="E8EEE9"/>
                </a:solidFill>
                <a:latin typeface="Consolas"/>
              </a:rPr>
              <a:t> range(0, len(dna) - (kmer_size - 1), 1):</a:t>
            </a:r>
            <a:br/>
            <a:r>
              <a:rPr sz="1300" b="0" i="0">
                <a:solidFill>
                  <a:srgbClr val="E8EEE9"/>
                </a:solidFill>
                <a:latin typeface="Consolas"/>
              </a:rPr>
              <a:t>        kmer = dna[start:start+kmer_size]</a:t>
            </a:r>
            <a:br/>
            <a:r>
              <a:rPr sz="1300" b="0" i="0">
                <a:solidFill>
                  <a:srgbClr val="E8EEE9"/>
                </a:solidFill>
                <a:latin typeface="Consolas"/>
              </a:rPr>
              <a:t>        kmers.append(kmer)</a:t>
            </a:r>
            <a:br/>
            <a:r>
              <a:rPr sz="1300" b="0" i="0">
                <a:solidFill>
                  <a:srgbClr val="E8EEE9"/>
                </a:solidFill>
                <a:latin typeface="Consolas"/>
              </a:rPr>
              <a:t>    </a:t>
            </a:r>
            <a:r>
              <a:rPr sz="1300" b="0" i="0">
                <a:solidFill>
                  <a:srgbClr val="6FD3C1"/>
                </a:solidFill>
                <a:latin typeface="Consolas"/>
              </a:rPr>
              <a:t>return</a:t>
            </a:r>
            <a:r>
              <a:rPr sz="1300" b="0" i="0">
                <a:solidFill>
                  <a:srgbClr val="E8EEE9"/>
                </a:solidFill>
                <a:latin typeface="Consolas"/>
              </a:rPr>
              <a:t> kmers</a:t>
            </a:r>
            <a:br/>
            <a:r>
              <a:rPr sz="1300" b="0" i="0">
                <a:solidFill>
                  <a:srgbClr val="E8EEE9"/>
                </a:solidFill>
                <a:latin typeface="Consolas"/>
              </a:rPr>
              <a:t>print(split_dna(</a:t>
            </a:r>
            <a:r>
              <a:rPr sz="1300" b="0" i="0">
                <a:solidFill>
                  <a:srgbClr val="F0A35E"/>
                </a:solidFill>
                <a:latin typeface="Consolas"/>
              </a:rPr>
              <a:t>"AATGCTGCAT"</a:t>
            </a:r>
            <a:r>
              <a:rPr sz="1300" b="0" i="0">
                <a:solidFill>
                  <a:srgbClr val="E8EEE9"/>
                </a:solidFill>
                <a:latin typeface="Consolas"/>
              </a:rPr>
              <a:t>, 4))</a:t>
            </a:r>
            <a:br/>
            <a:r>
              <a:rPr sz="1300" b="0" i="0">
                <a:solidFill>
                  <a:srgbClr val="E8EEE9"/>
                </a:solidFill>
                <a:latin typeface="Consolas"/>
              </a:rPr>
              <a:t>print(split_dna(</a:t>
            </a:r>
            <a:r>
              <a:rPr sz="1300" b="0" i="0">
                <a:solidFill>
                  <a:srgbClr val="F0A35E"/>
                </a:solidFill>
                <a:latin typeface="Consolas"/>
              </a:rPr>
              <a:t>"AATGCTGCAT"</a:t>
            </a:r>
            <a:r>
              <a:rPr sz="1300" b="0" i="0">
                <a:solidFill>
                  <a:srgbClr val="E8EEE9"/>
                </a:solidFill>
                <a:latin typeface="Consolas"/>
              </a:rPr>
              <a:t>, 5))</a:t>
            </a:r>
            <a:br/>
            <a:r>
              <a:rPr sz="1300" b="0" i="0">
                <a:solidFill>
                  <a:srgbClr val="E8EEE9"/>
                </a:solidFill>
                <a:latin typeface="Consolas"/>
              </a:rPr>
              <a:t>print(split_dna(</a:t>
            </a:r>
            <a:r>
              <a:rPr sz="1300" b="0" i="0">
                <a:solidFill>
                  <a:srgbClr val="F0A35E"/>
                </a:solidFill>
                <a:latin typeface="Consolas"/>
              </a:rPr>
              <a:t>"AATGCTGCAT"</a:t>
            </a:r>
            <a:r>
              <a:rPr sz="1300" b="0" i="0">
                <a:solidFill>
                  <a:srgbClr val="E8EEE9"/>
                </a:solidFill>
                <a:latin typeface="Consolas"/>
              </a:rPr>
              <a:t>, 6))</a:t>
            </a:r>
            <a:endParaRPr sz="1300"/>
          </a:p>
        </p:txBody>
      </p:sp>
      <p:sp>
        <p:nvSpPr>
          <p:cNvPr id="6" name="Rounded Rectangle 5"/>
          <p:cNvSpPr/>
          <p:nvPr/>
        </p:nvSpPr>
        <p:spPr>
          <a:xfrm>
            <a:off x="6777633" y="1654076"/>
            <a:ext cx="4598392" cy="826691"/>
          </a:xfrm>
          <a:prstGeom prst="roundRect">
            <a:avLst>
              <a:gd name="adj" fmla="val 1228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2x20.30"/>
          <p:cNvSpPr txBox="1"/>
          <p:nvPr/>
        </p:nvSpPr>
        <p:spPr>
          <a:xfrm>
            <a:off x="6958608" y="1809651"/>
            <a:ext cx="4321171"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Umesto ispisa, funkcija vraća listu k-mera. Ista sekvenca, različite dužine k-mera.</a:t>
            </a:r>
            <a:endParaRPr sz="1400"/>
          </a:p>
        </p:txBody>
      </p:sp>
      <p:sp>
        <p:nvSpPr>
          <p:cNvPr id="8" name="Rounded Rectangle 7"/>
          <p:cNvSpPr/>
          <p:nvPr/>
        </p:nvSpPr>
        <p:spPr>
          <a:xfrm>
            <a:off x="6774458" y="2585541"/>
            <a:ext cx="4604742" cy="820341"/>
          </a:xfrm>
          <a:prstGeom prst="roundRect">
            <a:avLst>
              <a:gd name="adj" fmla="val 928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774458" y="2585541"/>
            <a:ext cx="38100" cy="8203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2x20.30"/>
          <p:cNvSpPr txBox="1"/>
          <p:nvPr/>
        </p:nvSpPr>
        <p:spPr>
          <a:xfrm>
            <a:off x="6990358" y="2737941"/>
            <a:ext cx="4295263"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Funkciju je lakše testirati nego kod rasut po programu.</a:t>
            </a:r>
            <a:endParaRPr sz="1400"/>
          </a:p>
        </p:txBody>
      </p:sp>
      <p:sp>
        <p:nvSpPr>
          <p:cNvPr id="11" name="Rounded Rectangle 10"/>
          <p:cNvSpPr/>
          <p:nvPr/>
        </p:nvSpPr>
        <p:spPr>
          <a:xfrm>
            <a:off x="819150" y="4544417"/>
            <a:ext cx="10553700" cy="1135955"/>
          </a:xfrm>
          <a:prstGeom prst="roundRect">
            <a:avLst>
              <a:gd name="adj" fmla="val 894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3x20.15"/>
          <p:cNvSpPr txBox="1"/>
          <p:nvPr/>
        </p:nvSpPr>
        <p:spPr>
          <a:xfrm>
            <a:off x="1079500" y="4728567"/>
            <a:ext cx="10185400"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['AATG', 'ATGC', 'TGCT', 'GCTG', 'CTGC', 'TGCA', 'GCAT']</a:t>
            </a:r>
            <a:br/>
            <a:r>
              <a:rPr sz="1300" b="0" i="0">
                <a:solidFill>
                  <a:srgbClr val="13262B"/>
                </a:solidFill>
                <a:latin typeface="Consolas"/>
              </a:rPr>
              <a:t>['AATGC', 'ATGCT', 'TGCTG', 'GCTGC', 'CTGCA', 'TGCAT']</a:t>
            </a:r>
            <a:br/>
            <a:r>
              <a:rPr sz="1300" b="0" i="0">
                <a:solidFill>
                  <a:srgbClr val="13262B"/>
                </a:solidFill>
                <a:latin typeface="Consolas"/>
              </a:rPr>
              <a:t>['AATGCT', 'ATGCTG', 'TGCTGC', 'GCTGCA', 'CTGCAT']</a:t>
            </a:r>
            <a:endParaRPr sz="13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09 · VEŽBA: BROJANJE K-MERA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Konačan program: argumenti i funkcija</a:t>
            </a:r>
            <a:endParaRPr sz="3200"/>
          </a:p>
        </p:txBody>
      </p:sp>
      <p:sp>
        <p:nvSpPr>
          <p:cNvPr id="4" name="Rounded Rectangle 3"/>
          <p:cNvSpPr/>
          <p:nvPr/>
        </p:nvSpPr>
        <p:spPr>
          <a:xfrm>
            <a:off x="819150" y="1708051"/>
            <a:ext cx="5150346" cy="3438922"/>
          </a:xfrm>
          <a:prstGeom prst="roundRect">
            <a:avLst>
              <a:gd name="adj" fmla="val 295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2x20.15"/>
          <p:cNvSpPr txBox="1"/>
          <p:nvPr/>
        </p:nvSpPr>
        <p:spPr>
          <a:xfrm>
            <a:off x="1079500" y="1892201"/>
            <a:ext cx="4722239" cy="3070622"/>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import</a:t>
            </a:r>
            <a:r>
              <a:rPr sz="1300" b="0" i="0">
                <a:solidFill>
                  <a:srgbClr val="E8EEE9"/>
                </a:solidFill>
                <a:latin typeface="Consolas"/>
              </a:rPr>
              <a:t> os</a:t>
            </a:r>
            <a:br/>
            <a:r>
              <a:rPr sz="1300" b="0" i="0">
                <a:solidFill>
                  <a:srgbClr val="6FD3C1"/>
                </a:solidFill>
                <a:latin typeface="Consolas"/>
              </a:rPr>
              <a:t>import</a:t>
            </a:r>
            <a:r>
              <a:rPr sz="1300" b="0" i="0">
                <a:solidFill>
                  <a:srgbClr val="E8EEE9"/>
                </a:solidFill>
                <a:latin typeface="Consolas"/>
              </a:rPr>
              <a:t> sys</a:t>
            </a:r>
            <a:br/>
            <a:r>
              <a:rPr sz="1300" b="0" i="0">
                <a:solidFill>
                  <a:srgbClr val="8FB3AA"/>
                </a:solidFill>
                <a:latin typeface="Consolas"/>
              </a:rPr>
              <a:t># argumenti komandne linije u brojeve</a:t>
            </a:r>
            <a:br/>
            <a:r>
              <a:rPr sz="1300" b="0" i="0">
                <a:solidFill>
                  <a:srgbClr val="E8EEE9"/>
                </a:solidFill>
                <a:latin typeface="Consolas"/>
              </a:rPr>
              <a:t>kmer_size = int(sys.argv[1])</a:t>
            </a:r>
            <a:br/>
            <a:r>
              <a:rPr sz="1300" b="0" i="0">
                <a:solidFill>
                  <a:srgbClr val="E8EEE9"/>
                </a:solidFill>
                <a:latin typeface="Consolas"/>
              </a:rPr>
              <a:t>count_cutoff = int(sys.argv[2])</a:t>
            </a:r>
            <a:br/>
            <a:r>
              <a:rPr sz="1300" b="0" i="0">
                <a:solidFill>
                  <a:srgbClr val="E8EEE9"/>
                </a:solidFill>
                <a:latin typeface="Consolas"/>
              </a:rPr>
              <a:t> </a:t>
            </a:r>
            <a:br/>
            <a:r>
              <a:rPr sz="1300" b="0" i="0">
                <a:solidFill>
                  <a:srgbClr val="6FD3C1"/>
                </a:solidFill>
                <a:latin typeface="Consolas"/>
              </a:rPr>
              <a:t>def</a:t>
            </a:r>
            <a:r>
              <a:rPr sz="1300" b="0" i="0">
                <a:solidFill>
                  <a:srgbClr val="E8EEE9"/>
                </a:solidFill>
                <a:latin typeface="Consolas"/>
              </a:rPr>
              <a:t> split_dna(dna, kmer_size):</a:t>
            </a:r>
            <a:br/>
            <a:r>
              <a:rPr sz="1300" b="0" i="0">
                <a:solidFill>
                  <a:srgbClr val="E8EEE9"/>
                </a:solidFill>
                <a:latin typeface="Consolas"/>
              </a:rPr>
              <a:t>    kmers = []</a:t>
            </a:r>
            <a:br/>
            <a:r>
              <a:rPr sz="1300" b="0" i="0">
                <a:solidFill>
                  <a:srgbClr val="E8EEE9"/>
                </a:solidFill>
                <a:latin typeface="Consolas"/>
              </a:rPr>
              <a:t>    </a:t>
            </a:r>
            <a:r>
              <a:rPr sz="1300" b="0" i="0">
                <a:solidFill>
                  <a:srgbClr val="6FD3C1"/>
                </a:solidFill>
                <a:latin typeface="Consolas"/>
              </a:rPr>
              <a:t>for</a:t>
            </a:r>
            <a:r>
              <a:rPr sz="1300" b="0" i="0">
                <a:solidFill>
                  <a:srgbClr val="E8EEE9"/>
                </a:solidFill>
                <a:latin typeface="Consolas"/>
              </a:rPr>
              <a:t> start </a:t>
            </a:r>
            <a:r>
              <a:rPr sz="1300" b="0" i="0">
                <a:solidFill>
                  <a:srgbClr val="6FD3C1"/>
                </a:solidFill>
                <a:latin typeface="Consolas"/>
              </a:rPr>
              <a:t>in</a:t>
            </a:r>
            <a:r>
              <a:rPr sz="1300" b="0" i="0">
                <a:solidFill>
                  <a:srgbClr val="E8EEE9"/>
                </a:solidFill>
                <a:latin typeface="Consolas"/>
              </a:rPr>
              <a:t> range(0,len(dna)-(kmer_size-1),1):</a:t>
            </a:r>
            <a:br/>
            <a:r>
              <a:rPr sz="1300" b="0" i="0">
                <a:solidFill>
                  <a:srgbClr val="E8EEE9"/>
                </a:solidFill>
                <a:latin typeface="Consolas"/>
              </a:rPr>
              <a:t>        kmer = dna[start:start+kmer_size]</a:t>
            </a:r>
            <a:br/>
            <a:r>
              <a:rPr sz="1300" b="0" i="0">
                <a:solidFill>
                  <a:srgbClr val="E8EEE9"/>
                </a:solidFill>
                <a:latin typeface="Consolas"/>
              </a:rPr>
              <a:t>        kmers.append(kmer)</a:t>
            </a:r>
            <a:br/>
            <a:r>
              <a:rPr sz="1300" b="0" i="0">
                <a:solidFill>
                  <a:srgbClr val="E8EEE9"/>
                </a:solidFill>
                <a:latin typeface="Consolas"/>
              </a:rPr>
              <a:t>    </a:t>
            </a:r>
            <a:r>
              <a:rPr sz="1300" b="0" i="0">
                <a:solidFill>
                  <a:srgbClr val="6FD3C1"/>
                </a:solidFill>
                <a:latin typeface="Consolas"/>
              </a:rPr>
              <a:t>return</a:t>
            </a:r>
            <a:r>
              <a:rPr sz="1300" b="0" i="0">
                <a:solidFill>
                  <a:srgbClr val="E8EEE9"/>
                </a:solidFill>
                <a:latin typeface="Consolas"/>
              </a:rPr>
              <a:t> kmers</a:t>
            </a:r>
            <a:endParaRPr sz="1300"/>
          </a:p>
        </p:txBody>
      </p:sp>
      <p:sp>
        <p:nvSpPr>
          <p:cNvPr id="6" name="Tekst 2x20.30"/>
          <p:cNvSpPr txBox="1"/>
          <p:nvPr/>
        </p:nvSpPr>
        <p:spPr>
          <a:xfrm>
            <a:off x="6280646" y="1701701"/>
            <a:ext cx="5200525"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Zadatak: u svim </a:t>
            </a:r>
            <a:r>
              <a:rPr sz="1400" b="0" i="0">
                <a:solidFill>
                  <a:srgbClr val="A8521A"/>
                </a:solidFill>
                <a:latin typeface="Arial"/>
              </a:rPr>
              <a:t>.dna</a:t>
            </a:r>
            <a:r>
              <a:rPr sz="1400" b="0" i="0">
                <a:solidFill>
                  <a:srgbClr val="13262B"/>
                </a:solidFill>
                <a:latin typeface="Arial"/>
              </a:rPr>
              <a:t> fajlovima prebrojati k-mere zadate dužine i prikazati one koji se javljaju češće od zadatog praga.</a:t>
            </a:r>
            <a:endParaRPr sz="1400"/>
          </a:p>
        </p:txBody>
      </p:sp>
      <p:sp>
        <p:nvSpPr>
          <p:cNvPr id="7" name="Rounded Rectangle 6"/>
          <p:cNvSpPr/>
          <p:nvPr/>
        </p:nvSpPr>
        <p:spPr>
          <a:xfrm>
            <a:off x="6286996" y="2375991"/>
            <a:ext cx="5085854" cy="522585"/>
          </a:xfrm>
          <a:prstGeom prst="roundRect">
            <a:avLst>
              <a:gd name="adj" fmla="val 19441"/>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20.15"/>
          <p:cNvSpPr txBox="1"/>
          <p:nvPr/>
        </p:nvSpPr>
        <p:spPr>
          <a:xfrm>
            <a:off x="6496546" y="2509341"/>
            <a:ext cx="4760089"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 python kmer_counting.py 6 25</a:t>
            </a:r>
            <a:endParaRPr sz="1300"/>
          </a:p>
        </p:txBody>
      </p:sp>
      <p:sp>
        <p:nvSpPr>
          <p:cNvPr id="9" name="Rounded Rectangle 8"/>
          <p:cNvSpPr/>
          <p:nvPr/>
        </p:nvSpPr>
        <p:spPr>
          <a:xfrm>
            <a:off x="6283821" y="3060502"/>
            <a:ext cx="5092204" cy="775891"/>
          </a:xfrm>
          <a:prstGeom prst="roundRect">
            <a:avLst>
              <a:gd name="adj" fmla="val 13094"/>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2x20.30"/>
          <p:cNvSpPr txBox="1"/>
          <p:nvPr/>
        </p:nvSpPr>
        <p:spPr>
          <a:xfrm>
            <a:off x="6464796" y="3190677"/>
            <a:ext cx="4824859"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int()</a:t>
            </a:r>
            <a:r>
              <a:rPr sz="1400" b="0" i="0">
                <a:solidFill>
                  <a:srgbClr val="3D4F52"/>
                </a:solidFill>
                <a:latin typeface="Arial"/>
              </a:rPr>
              <a:t>: argumenti komandne linije su stringovi, a dužina i prag treba da budu brojevi</a:t>
            </a:r>
            <a:endParaRPr sz="1400"/>
          </a:p>
        </p:txBody>
      </p:sp>
      <p:sp>
        <p:nvSpPr>
          <p:cNvPr id="11" name="Rounded Rectangle 10"/>
          <p:cNvSpPr/>
          <p:nvPr/>
        </p:nvSpPr>
        <p:spPr>
          <a:xfrm>
            <a:off x="6283821" y="3995142"/>
            <a:ext cx="5092204" cy="775891"/>
          </a:xfrm>
          <a:prstGeom prst="roundRect">
            <a:avLst>
              <a:gd name="adj" fmla="val 13094"/>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2x20.30"/>
          <p:cNvSpPr txBox="1"/>
          <p:nvPr/>
        </p:nvSpPr>
        <p:spPr>
          <a:xfrm>
            <a:off x="6464796" y="4125317"/>
            <a:ext cx="4824859"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range</a:t>
            </a:r>
            <a:r>
              <a:rPr sz="1400" b="0" i="0">
                <a:solidFill>
                  <a:srgbClr val="3D4F52"/>
                </a:solidFill>
                <a:latin typeface="Arial"/>
              </a:rPr>
              <a:t>: poslednji k-mer počinje </a:t>
            </a:r>
            <a:r>
              <a:rPr sz="1400" b="0" i="0">
                <a:solidFill>
                  <a:srgbClr val="A8521A"/>
                </a:solidFill>
                <a:latin typeface="Arial"/>
              </a:rPr>
              <a:t>kmer_size - 1</a:t>
            </a:r>
            <a:r>
              <a:rPr sz="1400" b="0" i="0">
                <a:solidFill>
                  <a:srgbClr val="3D4F52"/>
                </a:solidFill>
                <a:latin typeface="Arial"/>
              </a:rPr>
              <a:t> mesta pre kraja, da bi bio ceo</a:t>
            </a:r>
            <a:endParaRPr sz="14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09 · VEŽBA: BROJANJE K-MERA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Konačan program: brojanje kroz sve fajlove</a:t>
            </a:r>
            <a:endParaRPr sz="3200"/>
          </a:p>
        </p:txBody>
      </p:sp>
      <p:sp>
        <p:nvSpPr>
          <p:cNvPr id="4" name="Rounded Rectangle 3"/>
          <p:cNvSpPr/>
          <p:nvPr/>
        </p:nvSpPr>
        <p:spPr>
          <a:xfrm>
            <a:off x="819150" y="1708051"/>
            <a:ext cx="5603974" cy="3694807"/>
          </a:xfrm>
          <a:prstGeom prst="roundRect">
            <a:avLst>
              <a:gd name="adj" fmla="val 274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3x20.15"/>
          <p:cNvSpPr txBox="1"/>
          <p:nvPr/>
        </p:nvSpPr>
        <p:spPr>
          <a:xfrm>
            <a:off x="1079500" y="1892201"/>
            <a:ext cx="5184940" cy="3326507"/>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kmer_counts = {}</a:t>
            </a:r>
            <a:br/>
            <a:r>
              <a:rPr sz="1300" b="0" i="0">
                <a:solidFill>
                  <a:srgbClr val="6FD3C1"/>
                </a:solidFill>
                <a:latin typeface="Consolas"/>
              </a:rPr>
              <a:t>for</a:t>
            </a:r>
            <a:r>
              <a:rPr sz="1300" b="0" i="0">
                <a:solidFill>
                  <a:srgbClr val="E8EEE9"/>
                </a:solidFill>
                <a:latin typeface="Consolas"/>
              </a:rPr>
              <a:t> file_name </a:t>
            </a:r>
            <a:r>
              <a:rPr sz="1300" b="0" i="0">
                <a:solidFill>
                  <a:srgbClr val="6FD3C1"/>
                </a:solidFill>
                <a:latin typeface="Consolas"/>
              </a:rPr>
              <a:t>in</a:t>
            </a:r>
            <a:r>
              <a:rPr sz="1300" b="0" i="0">
                <a:solidFill>
                  <a:srgbClr val="E8EEE9"/>
                </a:solidFill>
                <a:latin typeface="Consolas"/>
              </a:rPr>
              <a:t> os.listdir(</a:t>
            </a:r>
            <a:r>
              <a:rPr sz="1300" b="0" i="0">
                <a:solidFill>
                  <a:srgbClr val="F0A35E"/>
                </a:solidFill>
                <a:latin typeface="Consolas"/>
              </a:rPr>
              <a:t>"."</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file_name.endswith(</a:t>
            </a:r>
            <a:r>
              <a:rPr sz="1300" b="0" i="0">
                <a:solidFill>
                  <a:srgbClr val="F0A35E"/>
                </a:solidFill>
                <a:latin typeface="Consolas"/>
              </a:rPr>
              <a:t>".dna"</a:t>
            </a:r>
            <a:r>
              <a:rPr sz="1300" b="0" i="0">
                <a:solidFill>
                  <a:srgbClr val="E8EEE9"/>
                </a:solidFill>
                <a:latin typeface="Consolas"/>
              </a:rPr>
              <a:t>):</a:t>
            </a:r>
            <a:br/>
            <a:r>
              <a:rPr sz="1300" b="0" i="0">
                <a:solidFill>
                  <a:srgbClr val="E8EEE9"/>
                </a:solidFill>
                <a:latin typeface="Consolas"/>
              </a:rPr>
              <a:t>        dna_file = open(file_name)</a:t>
            </a:r>
            <a:br/>
            <a:r>
              <a:rPr sz="1300" b="0" i="0">
                <a:solidFill>
                  <a:srgbClr val="E8EEE9"/>
                </a:solidFill>
                <a:latin typeface="Consolas"/>
              </a:rPr>
              <a:t>        </a:t>
            </a:r>
            <a:r>
              <a:rPr sz="1300" b="0" i="0">
                <a:solidFill>
                  <a:srgbClr val="6FD3C1"/>
                </a:solidFill>
                <a:latin typeface="Consolas"/>
              </a:rPr>
              <a:t>for</a:t>
            </a:r>
            <a:r>
              <a:rPr sz="1300" b="0" i="0">
                <a:solidFill>
                  <a:srgbClr val="E8EEE9"/>
                </a:solidFill>
                <a:latin typeface="Consolas"/>
              </a:rPr>
              <a:t> line </a:t>
            </a:r>
            <a:r>
              <a:rPr sz="1300" b="0" i="0">
                <a:solidFill>
                  <a:srgbClr val="6FD3C1"/>
                </a:solidFill>
                <a:latin typeface="Consolas"/>
              </a:rPr>
              <a:t>in</a:t>
            </a:r>
            <a:r>
              <a:rPr sz="1300" b="0" i="0">
                <a:solidFill>
                  <a:srgbClr val="E8EEE9"/>
                </a:solidFill>
                <a:latin typeface="Consolas"/>
              </a:rPr>
              <a:t> dna_file:</a:t>
            </a:r>
            <a:br/>
            <a:r>
              <a:rPr sz="1300" b="0" i="0">
                <a:solidFill>
                  <a:srgbClr val="E8EEE9"/>
                </a:solidFill>
                <a:latin typeface="Consolas"/>
              </a:rPr>
              <a:t>            dna = line.rstrip(</a:t>
            </a:r>
            <a:r>
              <a:rPr sz="1300" b="0" i="0">
                <a:solidFill>
                  <a:srgbClr val="F0A35E"/>
                </a:solidFill>
                <a:latin typeface="Consolas"/>
              </a:rPr>
              <a:t>"\n"</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for</a:t>
            </a:r>
            <a:r>
              <a:rPr sz="1300" b="0" i="0">
                <a:solidFill>
                  <a:srgbClr val="E8EEE9"/>
                </a:solidFill>
                <a:latin typeface="Consolas"/>
              </a:rPr>
              <a:t> kmer </a:t>
            </a:r>
            <a:r>
              <a:rPr sz="1300" b="0" i="0">
                <a:solidFill>
                  <a:srgbClr val="6FD3C1"/>
                </a:solidFill>
                <a:latin typeface="Consolas"/>
              </a:rPr>
              <a:t>in</a:t>
            </a:r>
            <a:r>
              <a:rPr sz="1300" b="0" i="0">
                <a:solidFill>
                  <a:srgbClr val="E8EEE9"/>
                </a:solidFill>
                <a:latin typeface="Consolas"/>
              </a:rPr>
              <a:t> split_dna(dna, kmer_size):</a:t>
            </a:r>
            <a:br/>
            <a:r>
              <a:rPr sz="1300" b="0" i="0">
                <a:solidFill>
                  <a:srgbClr val="E8EEE9"/>
                </a:solidFill>
                <a:latin typeface="Consolas"/>
              </a:rPr>
              <a:t>                current_count = kmer_counts.get(kmer, 0)</a:t>
            </a:r>
            <a:br/>
            <a:r>
              <a:rPr sz="1300" b="0" i="0">
                <a:solidFill>
                  <a:srgbClr val="E8EEE9"/>
                </a:solidFill>
                <a:latin typeface="Consolas"/>
              </a:rPr>
              <a:t>                kmer_counts[kmer] = current_count + 1</a:t>
            </a:r>
            <a:br/>
            <a:r>
              <a:rPr sz="1300" b="0" i="0">
                <a:solidFill>
                  <a:srgbClr val="E8EEE9"/>
                </a:solidFill>
                <a:latin typeface="Consolas"/>
              </a:rPr>
              <a:t> </a:t>
            </a:r>
            <a:br/>
            <a:r>
              <a:rPr sz="1300" b="0" i="0">
                <a:solidFill>
                  <a:srgbClr val="6FD3C1"/>
                </a:solidFill>
                <a:latin typeface="Consolas"/>
              </a:rPr>
              <a:t>for</a:t>
            </a:r>
            <a:r>
              <a:rPr sz="1300" b="0" i="0">
                <a:solidFill>
                  <a:srgbClr val="E8EEE9"/>
                </a:solidFill>
                <a:latin typeface="Consolas"/>
              </a:rPr>
              <a:t> kmer, count </a:t>
            </a:r>
            <a:r>
              <a:rPr sz="1300" b="0" i="0">
                <a:solidFill>
                  <a:srgbClr val="6FD3C1"/>
                </a:solidFill>
                <a:latin typeface="Consolas"/>
              </a:rPr>
              <a:t>in</a:t>
            </a:r>
            <a:r>
              <a:rPr sz="1300" b="0" i="0">
                <a:solidFill>
                  <a:srgbClr val="E8EEE9"/>
                </a:solidFill>
                <a:latin typeface="Consolas"/>
              </a:rPr>
              <a:t> kmer_counts.items():</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count &gt; count_cutoff:</a:t>
            </a:r>
            <a:br/>
            <a:r>
              <a:rPr sz="1300" b="0" i="0">
                <a:solidFill>
                  <a:srgbClr val="E8EEE9"/>
                </a:solidFill>
                <a:latin typeface="Consolas"/>
              </a:rPr>
              <a:t>        print(kmer + </a:t>
            </a:r>
            <a:r>
              <a:rPr sz="1300" b="0" i="0">
                <a:solidFill>
                  <a:srgbClr val="F0A35E"/>
                </a:solidFill>
                <a:latin typeface="Consolas"/>
              </a:rPr>
              <a:t>" : "</a:t>
            </a:r>
            <a:r>
              <a:rPr sz="1300" b="0" i="0">
                <a:solidFill>
                  <a:srgbClr val="E8EEE9"/>
                </a:solidFill>
                <a:latin typeface="Consolas"/>
              </a:rPr>
              <a:t> + str(count))</a:t>
            </a:r>
            <a:endParaRPr sz="1300"/>
          </a:p>
        </p:txBody>
      </p:sp>
      <p:sp>
        <p:nvSpPr>
          <p:cNvPr id="6" name="Rounded Rectangle 5"/>
          <p:cNvSpPr/>
          <p:nvPr/>
        </p:nvSpPr>
        <p:spPr>
          <a:xfrm>
            <a:off x="6689824" y="1708051"/>
            <a:ext cx="4683026" cy="2030611"/>
          </a:xfrm>
          <a:prstGeom prst="roundRect">
            <a:avLst>
              <a:gd name="adj" fmla="val 5003"/>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6.80"/>
          <p:cNvSpPr txBox="1"/>
          <p:nvPr/>
        </p:nvSpPr>
        <p:spPr>
          <a:xfrm>
            <a:off x="6950174" y="1777901"/>
            <a:ext cx="272034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IZLAZ ZA 6 25 (KNJIGA)</a:t>
            </a:r>
            <a:endParaRPr sz="1200"/>
          </a:p>
        </p:txBody>
      </p:sp>
      <p:sp>
        <p:nvSpPr>
          <p:cNvPr id="8" name="Tekst 6x20.15"/>
          <p:cNvSpPr txBox="1"/>
          <p:nvPr/>
        </p:nvSpPr>
        <p:spPr>
          <a:xfrm>
            <a:off x="6950174" y="2019201"/>
            <a:ext cx="4245572" cy="153531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agagat : 26</a:t>
            </a:r>
            <a:br/>
            <a:r>
              <a:rPr sz="1300" b="0" i="0">
                <a:solidFill>
                  <a:srgbClr val="13262B"/>
                </a:solidFill>
                <a:latin typeface="Consolas"/>
              </a:rPr>
              <a:t>agcggg : 26</a:t>
            </a:r>
            <a:br/>
            <a:r>
              <a:rPr sz="1300" b="0" i="0">
                <a:solidFill>
                  <a:srgbClr val="13262B"/>
                </a:solidFill>
                <a:latin typeface="Consolas"/>
              </a:rPr>
              <a:t>gagtgg : 28</a:t>
            </a:r>
            <a:br/>
            <a:r>
              <a:rPr sz="1300" b="0" i="0">
                <a:solidFill>
                  <a:srgbClr val="13262B"/>
                </a:solidFill>
                <a:latin typeface="Consolas"/>
              </a:rPr>
              <a:t>ccggtt : 26</a:t>
            </a:r>
            <a:br/>
            <a:r>
              <a:rPr sz="1300" b="0" i="0">
                <a:solidFill>
                  <a:srgbClr val="13262B"/>
                </a:solidFill>
                <a:latin typeface="Consolas"/>
              </a:rPr>
              <a:t>ttctga : 26</a:t>
            </a:r>
            <a:br/>
            <a:r>
              <a:rPr sz="1300" b="0" i="0">
                <a:solidFill>
                  <a:srgbClr val="13262B"/>
                </a:solidFill>
                <a:latin typeface="Consolas"/>
              </a:rPr>
              <a:t>ggacgt : 27</a:t>
            </a:r>
            <a:endParaRPr sz="1300"/>
          </a:p>
        </p:txBody>
      </p:sp>
      <p:sp>
        <p:nvSpPr>
          <p:cNvPr id="9" name="Rounded Rectangle 8"/>
          <p:cNvSpPr/>
          <p:nvPr/>
        </p:nvSpPr>
        <p:spPr>
          <a:xfrm>
            <a:off x="6683474" y="3897412"/>
            <a:ext cx="4695726" cy="820341"/>
          </a:xfrm>
          <a:prstGeom prst="roundRect">
            <a:avLst>
              <a:gd name="adj" fmla="val 928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83474" y="3897412"/>
            <a:ext cx="38100" cy="8203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2x20.30"/>
          <p:cNvSpPr txBox="1"/>
          <p:nvPr/>
        </p:nvSpPr>
        <p:spPr>
          <a:xfrm>
            <a:off x="6924774" y="4049812"/>
            <a:ext cx="433625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get(kmer, 0) + 1</a:t>
            </a:r>
            <a:r>
              <a:rPr sz="1400" b="0" i="0">
                <a:solidFill>
                  <a:srgbClr val="13262B"/>
                </a:solidFill>
                <a:latin typeface="Arial"/>
              </a:rPr>
              <a:t>: rečnik kao brojač. Novi k-mer kreće od nule.</a:t>
            </a:r>
            <a:endParaRPr sz="140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09 · FAJLOVI, PROGRAMI I KORISNIČKI UNOS</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Rezime i vežbe</a:t>
            </a:r>
            <a:endParaRPr sz="3200"/>
          </a:p>
        </p:txBody>
      </p:sp>
      <p:sp>
        <p:nvSpPr>
          <p:cNvPr id="4" name="Rounded Rectangle 3"/>
          <p:cNvSpPr/>
          <p:nvPr/>
        </p:nvSpPr>
        <p:spPr>
          <a:xfrm>
            <a:off x="815975" y="1704876"/>
            <a:ext cx="4848920" cy="2284412"/>
          </a:xfrm>
          <a:prstGeom prst="roundRect">
            <a:avLst>
              <a:gd name="adj" fmla="val 4447"/>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21.60"/>
          <p:cNvSpPr txBox="1"/>
          <p:nvPr/>
        </p:nvSpPr>
        <p:spPr>
          <a:xfrm>
            <a:off x="1022350" y="1885851"/>
            <a:ext cx="4524893"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Šta smo naučili</a:t>
            </a:r>
            <a:endParaRPr sz="1800"/>
          </a:p>
        </p:txBody>
      </p:sp>
      <p:sp>
        <p:nvSpPr>
          <p:cNvPr id="6" name="Tekst 6x20.30"/>
          <p:cNvSpPr txBox="1"/>
          <p:nvPr/>
        </p:nvSpPr>
        <p:spPr>
          <a:xfrm>
            <a:off x="1022350" y="2261691"/>
            <a:ext cx="4524893" cy="1546622"/>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os i shutil: premeštanje, kopiranje, brisanje, listanje</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subprocess: call i check_output</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Ulaz: u kodu, preko input ili sys.argv</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Unos prikupite na početku i odmah ga proverite</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Greška može biti i van programa: fajl ne postoji, nema dozvole, spoljni program ne radi kako treba</a:t>
            </a:r>
            <a:endParaRPr sz="1400"/>
          </a:p>
        </p:txBody>
      </p:sp>
      <p:sp>
        <p:nvSpPr>
          <p:cNvPr id="7" name="Rounded Rectangle 6"/>
          <p:cNvSpPr/>
          <p:nvPr/>
        </p:nvSpPr>
        <p:spPr>
          <a:xfrm>
            <a:off x="5871270" y="1701701"/>
            <a:ext cx="5507930" cy="2637433"/>
          </a:xfrm>
          <a:prstGeom prst="roundRect">
            <a:avLst>
              <a:gd name="adj" fmla="val 3852"/>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21.60"/>
          <p:cNvSpPr txBox="1"/>
          <p:nvPr/>
        </p:nvSpPr>
        <p:spPr>
          <a:xfrm>
            <a:off x="6074470" y="1879501"/>
            <a:ext cx="5203561"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Vežbe</a:t>
            </a:r>
            <a:endParaRPr sz="1800"/>
          </a:p>
        </p:txBody>
      </p:sp>
      <p:sp>
        <p:nvSpPr>
          <p:cNvPr id="9" name="Tekst 2x20.30"/>
          <p:cNvSpPr txBox="1"/>
          <p:nvPr/>
        </p:nvSpPr>
        <p:spPr>
          <a:xfrm>
            <a:off x="6074470" y="2255341"/>
            <a:ext cx="5203561"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Ulaz: </a:t>
            </a:r>
            <a:r>
              <a:rPr sz="1400" b="0" i="0">
                <a:solidFill>
                  <a:srgbClr val="A8521A"/>
                </a:solidFill>
                <a:latin typeface="Arial"/>
              </a:rPr>
              <a:t>.dna</a:t>
            </a:r>
            <a:r>
              <a:rPr sz="1400" b="0" i="0">
                <a:solidFill>
                  <a:srgbClr val="13262B"/>
                </a:solidFill>
                <a:latin typeface="Arial"/>
              </a:rPr>
              <a:t> fajlovi sa sekvencama različitih dužina, po jedna u liniji.</a:t>
            </a:r>
            <a:endParaRPr sz="1400"/>
          </a:p>
        </p:txBody>
      </p:sp>
      <p:sp>
        <p:nvSpPr>
          <p:cNvPr id="10" name="Tekst 5x20.30"/>
          <p:cNvSpPr txBox="1"/>
          <p:nvPr/>
        </p:nvSpPr>
        <p:spPr>
          <a:xfrm>
            <a:off x="6074470" y="2872482"/>
            <a:ext cx="5203561" cy="1288852"/>
          </a:xfrm>
          <a:prstGeom prst="rect">
            <a:avLst/>
          </a:prstGeom>
          <a:noFill/>
        </p:spPr>
        <p:txBody>
          <a:bodyPr wrap="square" anchor="t" lIns="0" rIns="0" tIns="0" bIns="0">
            <a:noAutofit/>
          </a:bodyPr>
          <a:lstStyle/>
          <a:p>
            <a:pPr algn="l" marL="254000" indent="-254000">
              <a:lnSpc>
                <a:spcPts val="2030"/>
              </a:lnSpc>
              <a:spcBef>
                <a:spcPts val="0"/>
              </a:spcBef>
              <a:spcAft>
                <a:spcPts val="0"/>
              </a:spcAft>
              <a:buClr>
                <a:srgbClr val="13262B"/>
              </a:buClr>
              <a:buFont typeface="+mj-lt"/>
              <a:buAutoNum type="arabicPeriod"/>
            </a:pPr>
            <a:r>
              <a:rPr sz="1400" b="0" i="0">
                <a:solidFill>
                  <a:srgbClr val="13262B"/>
                </a:solidFill>
                <a:latin typeface="Arial"/>
              </a:rPr>
              <a:t>Razvrstavanje: napravite 9 foldera (100–199 baza, 200–299 baza, …) i svaku sekvencu upišite u poseban fajl u odgovarajućem folderu</a:t>
            </a:r>
            <a:endParaRPr sz="1400"/>
          </a:p>
          <a:p>
            <a:pPr algn="l" marL="254000" indent="-254000">
              <a:lnSpc>
                <a:spcPts val="2030"/>
              </a:lnSpc>
              <a:spcBef>
                <a:spcPts val="0"/>
              </a:spcBef>
              <a:spcAft>
                <a:spcPts val="0"/>
              </a:spcAft>
              <a:buClr>
                <a:srgbClr val="13262B"/>
              </a:buClr>
              <a:buFont typeface="+mj-lt"/>
              <a:buAutoNum type="arabicPeriod"/>
            </a:pPr>
            <a:r>
              <a:rPr sz="1400" b="0" i="0">
                <a:solidFill>
                  <a:srgbClr val="13262B"/>
                </a:solidFill>
                <a:latin typeface="Arial"/>
              </a:rPr>
              <a:t>Brojanje k-mera: dužina i prag kao argumenti komandne linije; prikažite k-mere koji se javljaju češće od praga</a:t>
            </a:r>
            <a:endParaRPr sz="140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PREGLED</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Šta sada umete</a:t>
            </a:r>
            <a:endParaRPr sz="3200"/>
          </a:p>
        </p:txBody>
      </p:sp>
      <p:sp>
        <p:nvSpPr>
          <p:cNvPr id="4" name="Rounded Rectangle 3"/>
          <p:cNvSpPr/>
          <p:nvPr/>
        </p:nvSpPr>
        <p:spPr>
          <a:xfrm>
            <a:off x="815975" y="1755676"/>
            <a:ext cx="3414117" cy="841970"/>
          </a:xfrm>
          <a:prstGeom prst="roundRect">
            <a:avLst>
              <a:gd name="adj" fmla="val 12066"/>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21.60"/>
          <p:cNvSpPr txBox="1"/>
          <p:nvPr/>
        </p:nvSpPr>
        <p:spPr>
          <a:xfrm>
            <a:off x="1022350" y="1936651"/>
            <a:ext cx="27682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A8521A"/>
                </a:solidFill>
                <a:latin typeface="Consolas"/>
              </a:rPr>
              <a:t>01</a:t>
            </a:r>
            <a:endParaRPr sz="1800"/>
          </a:p>
        </p:txBody>
      </p:sp>
      <p:sp>
        <p:nvSpPr>
          <p:cNvPr id="6" name="Tekst 2x18.90"/>
          <p:cNvSpPr txBox="1"/>
          <p:nvPr/>
        </p:nvSpPr>
        <p:spPr>
          <a:xfrm>
            <a:off x="1426170" y="1936651"/>
            <a:ext cx="2649498" cy="480020"/>
          </a:xfrm>
          <a:prstGeom prst="rect">
            <a:avLst/>
          </a:prstGeom>
          <a:noFill/>
        </p:spPr>
        <p:txBody>
          <a:bodyPr wrap="square" anchor="t" lIns="0" rIns="0" tIns="0" bIns="0">
            <a:noAutofit/>
          </a:bodyPr>
          <a:lstStyle/>
          <a:p>
            <a:pPr algn="l">
              <a:lnSpc>
                <a:spcPts val="1889"/>
              </a:lnSpc>
              <a:spcBef>
                <a:spcPts val="0"/>
              </a:spcBef>
              <a:spcAft>
                <a:spcPts val="0"/>
              </a:spcAft>
            </a:pPr>
            <a:r>
              <a:rPr sz="1400" b="0" i="0">
                <a:solidFill>
                  <a:srgbClr val="13262B"/>
                </a:solidFill>
                <a:latin typeface="Arial"/>
              </a:rPr>
              <a:t>Pišete programe u editoru i pokrećete ih iz terminala</a:t>
            </a:r>
            <a:endParaRPr sz="1400"/>
          </a:p>
        </p:txBody>
      </p:sp>
      <p:sp>
        <p:nvSpPr>
          <p:cNvPr id="7" name="Rounded Rectangle 6"/>
          <p:cNvSpPr/>
          <p:nvPr/>
        </p:nvSpPr>
        <p:spPr>
          <a:xfrm>
            <a:off x="4388842" y="1755676"/>
            <a:ext cx="3414216" cy="841970"/>
          </a:xfrm>
          <a:prstGeom prst="roundRect">
            <a:avLst>
              <a:gd name="adj" fmla="val 12066"/>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21.60"/>
          <p:cNvSpPr txBox="1"/>
          <p:nvPr/>
        </p:nvSpPr>
        <p:spPr>
          <a:xfrm>
            <a:off x="4595217" y="1936651"/>
            <a:ext cx="27682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A8521A"/>
                </a:solidFill>
                <a:latin typeface="Consolas"/>
              </a:rPr>
              <a:t>02</a:t>
            </a:r>
            <a:endParaRPr sz="1800"/>
          </a:p>
        </p:txBody>
      </p:sp>
      <p:sp>
        <p:nvSpPr>
          <p:cNvPr id="9" name="Tekst 2x18.90"/>
          <p:cNvSpPr txBox="1"/>
          <p:nvPr/>
        </p:nvSpPr>
        <p:spPr>
          <a:xfrm>
            <a:off x="4999038" y="1936651"/>
            <a:ext cx="2649599" cy="480020"/>
          </a:xfrm>
          <a:prstGeom prst="rect">
            <a:avLst/>
          </a:prstGeom>
          <a:noFill/>
        </p:spPr>
        <p:txBody>
          <a:bodyPr wrap="square" anchor="t" lIns="0" rIns="0" tIns="0" bIns="0">
            <a:noAutofit/>
          </a:bodyPr>
          <a:lstStyle/>
          <a:p>
            <a:pPr algn="l">
              <a:lnSpc>
                <a:spcPts val="1889"/>
              </a:lnSpc>
              <a:spcBef>
                <a:spcPts val="0"/>
              </a:spcBef>
              <a:spcAft>
                <a:spcPts val="0"/>
              </a:spcAft>
            </a:pPr>
            <a:r>
              <a:rPr sz="1400" b="0" i="0">
                <a:solidFill>
                  <a:srgbClr val="13262B"/>
                </a:solidFill>
                <a:latin typeface="Arial"/>
              </a:rPr>
              <a:t>Isecate, brojite i menjate sekvence kao stringove</a:t>
            </a:r>
            <a:endParaRPr sz="1400"/>
          </a:p>
        </p:txBody>
      </p:sp>
      <p:sp>
        <p:nvSpPr>
          <p:cNvPr id="10" name="Rounded Rectangle 9"/>
          <p:cNvSpPr/>
          <p:nvPr/>
        </p:nvSpPr>
        <p:spPr>
          <a:xfrm>
            <a:off x="7961809" y="1755676"/>
            <a:ext cx="3414216" cy="841970"/>
          </a:xfrm>
          <a:prstGeom prst="roundRect">
            <a:avLst>
              <a:gd name="adj" fmla="val 12066"/>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1x21.60"/>
          <p:cNvSpPr txBox="1"/>
          <p:nvPr/>
        </p:nvSpPr>
        <p:spPr>
          <a:xfrm>
            <a:off x="8168184" y="1936651"/>
            <a:ext cx="27682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A8521A"/>
                </a:solidFill>
                <a:latin typeface="Consolas"/>
              </a:rPr>
              <a:t>03</a:t>
            </a:r>
            <a:endParaRPr sz="1800"/>
          </a:p>
        </p:txBody>
      </p:sp>
      <p:sp>
        <p:nvSpPr>
          <p:cNvPr id="12" name="Tekst 2x18.90"/>
          <p:cNvSpPr txBox="1"/>
          <p:nvPr/>
        </p:nvSpPr>
        <p:spPr>
          <a:xfrm>
            <a:off x="8572004" y="1936651"/>
            <a:ext cx="2649599" cy="480020"/>
          </a:xfrm>
          <a:prstGeom prst="rect">
            <a:avLst/>
          </a:prstGeom>
          <a:noFill/>
        </p:spPr>
        <p:txBody>
          <a:bodyPr wrap="square" anchor="t" lIns="0" rIns="0" tIns="0" bIns="0">
            <a:noAutofit/>
          </a:bodyPr>
          <a:lstStyle/>
          <a:p>
            <a:pPr algn="l">
              <a:lnSpc>
                <a:spcPts val="1889"/>
              </a:lnSpc>
              <a:spcBef>
                <a:spcPts val="0"/>
              </a:spcBef>
              <a:spcAft>
                <a:spcPts val="0"/>
              </a:spcAft>
            </a:pPr>
            <a:r>
              <a:rPr sz="1400" b="0" i="0">
                <a:solidFill>
                  <a:srgbClr val="13262B"/>
                </a:solidFill>
                <a:latin typeface="Arial"/>
              </a:rPr>
              <a:t>Čitate i pišete fajlove, npr. FASTA</a:t>
            </a:r>
            <a:endParaRPr sz="1400"/>
          </a:p>
        </p:txBody>
      </p:sp>
      <p:sp>
        <p:nvSpPr>
          <p:cNvPr id="13" name="Rounded Rectangle 12"/>
          <p:cNvSpPr/>
          <p:nvPr/>
        </p:nvSpPr>
        <p:spPr>
          <a:xfrm>
            <a:off x="815975" y="2756396"/>
            <a:ext cx="3414117" cy="841970"/>
          </a:xfrm>
          <a:prstGeom prst="roundRect">
            <a:avLst>
              <a:gd name="adj" fmla="val 12066"/>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21.60"/>
          <p:cNvSpPr txBox="1"/>
          <p:nvPr/>
        </p:nvSpPr>
        <p:spPr>
          <a:xfrm>
            <a:off x="1022350" y="2937371"/>
            <a:ext cx="27682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A8521A"/>
                </a:solidFill>
                <a:latin typeface="Consolas"/>
              </a:rPr>
              <a:t>04</a:t>
            </a:r>
            <a:endParaRPr sz="1800"/>
          </a:p>
        </p:txBody>
      </p:sp>
      <p:sp>
        <p:nvSpPr>
          <p:cNvPr id="15" name="Tekst 2x18.90"/>
          <p:cNvSpPr txBox="1"/>
          <p:nvPr/>
        </p:nvSpPr>
        <p:spPr>
          <a:xfrm>
            <a:off x="1426170" y="2937371"/>
            <a:ext cx="2649498" cy="480020"/>
          </a:xfrm>
          <a:prstGeom prst="rect">
            <a:avLst/>
          </a:prstGeom>
          <a:noFill/>
        </p:spPr>
        <p:txBody>
          <a:bodyPr wrap="square" anchor="t" lIns="0" rIns="0" tIns="0" bIns="0">
            <a:noAutofit/>
          </a:bodyPr>
          <a:lstStyle/>
          <a:p>
            <a:pPr algn="l">
              <a:lnSpc>
                <a:spcPts val="1889"/>
              </a:lnSpc>
              <a:spcBef>
                <a:spcPts val="0"/>
              </a:spcBef>
              <a:spcAft>
                <a:spcPts val="0"/>
              </a:spcAft>
            </a:pPr>
            <a:r>
              <a:rPr sz="1400" b="0" i="0">
                <a:solidFill>
                  <a:srgbClr val="13262B"/>
                </a:solidFill>
                <a:latin typeface="Arial"/>
              </a:rPr>
              <a:t>Obrađujete mnogo podataka listama i petljama</a:t>
            </a:r>
            <a:endParaRPr sz="1400"/>
          </a:p>
        </p:txBody>
      </p:sp>
      <p:sp>
        <p:nvSpPr>
          <p:cNvPr id="16" name="Rounded Rectangle 15"/>
          <p:cNvSpPr/>
          <p:nvPr/>
        </p:nvSpPr>
        <p:spPr>
          <a:xfrm>
            <a:off x="4388842" y="2756396"/>
            <a:ext cx="3414216" cy="841970"/>
          </a:xfrm>
          <a:prstGeom prst="roundRect">
            <a:avLst>
              <a:gd name="adj" fmla="val 12066"/>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kst 1x21.60"/>
          <p:cNvSpPr txBox="1"/>
          <p:nvPr/>
        </p:nvSpPr>
        <p:spPr>
          <a:xfrm>
            <a:off x="4595217" y="2937371"/>
            <a:ext cx="27682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A8521A"/>
                </a:solidFill>
                <a:latin typeface="Consolas"/>
              </a:rPr>
              <a:t>05</a:t>
            </a:r>
            <a:endParaRPr sz="1800"/>
          </a:p>
        </p:txBody>
      </p:sp>
      <p:sp>
        <p:nvSpPr>
          <p:cNvPr id="18" name="Tekst 2x18.90"/>
          <p:cNvSpPr txBox="1"/>
          <p:nvPr/>
        </p:nvSpPr>
        <p:spPr>
          <a:xfrm>
            <a:off x="4999038" y="2937371"/>
            <a:ext cx="2649599" cy="480020"/>
          </a:xfrm>
          <a:prstGeom prst="rect">
            <a:avLst/>
          </a:prstGeom>
          <a:noFill/>
        </p:spPr>
        <p:txBody>
          <a:bodyPr wrap="square" anchor="t" lIns="0" rIns="0" tIns="0" bIns="0">
            <a:noAutofit/>
          </a:bodyPr>
          <a:lstStyle/>
          <a:p>
            <a:pPr algn="l">
              <a:lnSpc>
                <a:spcPts val="1889"/>
              </a:lnSpc>
              <a:spcBef>
                <a:spcPts val="0"/>
              </a:spcBef>
              <a:spcAft>
                <a:spcPts val="0"/>
              </a:spcAft>
            </a:pPr>
            <a:r>
              <a:rPr sz="1400" b="0" i="0">
                <a:solidFill>
                  <a:srgbClr val="13262B"/>
                </a:solidFill>
                <a:latin typeface="Arial"/>
              </a:rPr>
              <a:t>Pakujete kod u funkcije i testirate ga sa assert</a:t>
            </a:r>
            <a:endParaRPr sz="1400"/>
          </a:p>
        </p:txBody>
      </p:sp>
      <p:sp>
        <p:nvSpPr>
          <p:cNvPr id="19" name="Rounded Rectangle 18"/>
          <p:cNvSpPr/>
          <p:nvPr/>
        </p:nvSpPr>
        <p:spPr>
          <a:xfrm>
            <a:off x="7961809" y="2756396"/>
            <a:ext cx="3414216" cy="841970"/>
          </a:xfrm>
          <a:prstGeom prst="roundRect">
            <a:avLst>
              <a:gd name="adj" fmla="val 12066"/>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kst 1x21.60"/>
          <p:cNvSpPr txBox="1"/>
          <p:nvPr/>
        </p:nvSpPr>
        <p:spPr>
          <a:xfrm>
            <a:off x="8168184" y="2937371"/>
            <a:ext cx="27682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A8521A"/>
                </a:solidFill>
                <a:latin typeface="Consolas"/>
              </a:rPr>
              <a:t>06</a:t>
            </a:r>
            <a:endParaRPr sz="1800"/>
          </a:p>
        </p:txBody>
      </p:sp>
      <p:sp>
        <p:nvSpPr>
          <p:cNvPr id="21" name="Tekst 2x18.90"/>
          <p:cNvSpPr txBox="1"/>
          <p:nvPr/>
        </p:nvSpPr>
        <p:spPr>
          <a:xfrm>
            <a:off x="8572004" y="2937371"/>
            <a:ext cx="2649599" cy="480020"/>
          </a:xfrm>
          <a:prstGeom prst="rect">
            <a:avLst/>
          </a:prstGeom>
          <a:noFill/>
        </p:spPr>
        <p:txBody>
          <a:bodyPr wrap="square" anchor="t" lIns="0" rIns="0" tIns="0" bIns="0">
            <a:noAutofit/>
          </a:bodyPr>
          <a:lstStyle/>
          <a:p>
            <a:pPr algn="l">
              <a:lnSpc>
                <a:spcPts val="1889"/>
              </a:lnSpc>
              <a:spcBef>
                <a:spcPts val="0"/>
              </a:spcBef>
              <a:spcAft>
                <a:spcPts val="0"/>
              </a:spcAft>
            </a:pPr>
            <a:r>
              <a:rPr sz="1400" b="0" i="0">
                <a:solidFill>
                  <a:srgbClr val="13262B"/>
                </a:solidFill>
                <a:latin typeface="Arial"/>
              </a:rPr>
              <a:t>Donosite odluke uslovima if, elif i else</a:t>
            </a:r>
            <a:endParaRPr sz="1400"/>
          </a:p>
        </p:txBody>
      </p:sp>
      <p:sp>
        <p:nvSpPr>
          <p:cNvPr id="22" name="Rounded Rectangle 21"/>
          <p:cNvSpPr/>
          <p:nvPr/>
        </p:nvSpPr>
        <p:spPr>
          <a:xfrm>
            <a:off x="815975" y="3757116"/>
            <a:ext cx="3414117" cy="841970"/>
          </a:xfrm>
          <a:prstGeom prst="roundRect">
            <a:avLst>
              <a:gd name="adj" fmla="val 12066"/>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kst 1x21.60"/>
          <p:cNvSpPr txBox="1"/>
          <p:nvPr/>
        </p:nvSpPr>
        <p:spPr>
          <a:xfrm>
            <a:off x="1022350" y="3938091"/>
            <a:ext cx="27682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A8521A"/>
                </a:solidFill>
                <a:latin typeface="Consolas"/>
              </a:rPr>
              <a:t>07</a:t>
            </a:r>
            <a:endParaRPr sz="1800"/>
          </a:p>
        </p:txBody>
      </p:sp>
      <p:sp>
        <p:nvSpPr>
          <p:cNvPr id="24" name="Tekst 2x18.90"/>
          <p:cNvSpPr txBox="1"/>
          <p:nvPr/>
        </p:nvSpPr>
        <p:spPr>
          <a:xfrm>
            <a:off x="1426170" y="3938091"/>
            <a:ext cx="2649498" cy="480020"/>
          </a:xfrm>
          <a:prstGeom prst="rect">
            <a:avLst/>
          </a:prstGeom>
          <a:noFill/>
        </p:spPr>
        <p:txBody>
          <a:bodyPr wrap="square" anchor="t" lIns="0" rIns="0" tIns="0" bIns="0">
            <a:noAutofit/>
          </a:bodyPr>
          <a:lstStyle/>
          <a:p>
            <a:pPr algn="l">
              <a:lnSpc>
                <a:spcPts val="1889"/>
              </a:lnSpc>
              <a:spcBef>
                <a:spcPts val="0"/>
              </a:spcBef>
              <a:spcAft>
                <a:spcPts val="0"/>
              </a:spcAft>
            </a:pPr>
            <a:r>
              <a:rPr sz="1400" b="0" i="0">
                <a:solidFill>
                  <a:srgbClr val="13262B"/>
                </a:solidFill>
                <a:latin typeface="Arial"/>
              </a:rPr>
              <a:t>Tražite fleksibilne šablone regularnim izrazima</a:t>
            </a:r>
            <a:endParaRPr sz="1400"/>
          </a:p>
        </p:txBody>
      </p:sp>
      <p:sp>
        <p:nvSpPr>
          <p:cNvPr id="25" name="Rounded Rectangle 24"/>
          <p:cNvSpPr/>
          <p:nvPr/>
        </p:nvSpPr>
        <p:spPr>
          <a:xfrm>
            <a:off x="4388842" y="3757116"/>
            <a:ext cx="3414216" cy="841970"/>
          </a:xfrm>
          <a:prstGeom prst="roundRect">
            <a:avLst>
              <a:gd name="adj" fmla="val 12066"/>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kst 1x21.60"/>
          <p:cNvSpPr txBox="1"/>
          <p:nvPr/>
        </p:nvSpPr>
        <p:spPr>
          <a:xfrm>
            <a:off x="4595217" y="3938091"/>
            <a:ext cx="27682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A8521A"/>
                </a:solidFill>
                <a:latin typeface="Consolas"/>
              </a:rPr>
              <a:t>08</a:t>
            </a:r>
            <a:endParaRPr sz="1800"/>
          </a:p>
        </p:txBody>
      </p:sp>
      <p:sp>
        <p:nvSpPr>
          <p:cNvPr id="27" name="Tekst 2x18.90"/>
          <p:cNvSpPr txBox="1"/>
          <p:nvPr/>
        </p:nvSpPr>
        <p:spPr>
          <a:xfrm>
            <a:off x="4999038" y="3938091"/>
            <a:ext cx="2649599" cy="480020"/>
          </a:xfrm>
          <a:prstGeom prst="rect">
            <a:avLst/>
          </a:prstGeom>
          <a:noFill/>
        </p:spPr>
        <p:txBody>
          <a:bodyPr wrap="square" anchor="t" lIns="0" rIns="0" tIns="0" bIns="0">
            <a:noAutofit/>
          </a:bodyPr>
          <a:lstStyle/>
          <a:p>
            <a:pPr algn="l">
              <a:lnSpc>
                <a:spcPts val="1889"/>
              </a:lnSpc>
              <a:spcBef>
                <a:spcPts val="0"/>
              </a:spcBef>
              <a:spcAft>
                <a:spcPts val="0"/>
              </a:spcAft>
            </a:pPr>
            <a:r>
              <a:rPr sz="1400" b="0" i="0">
                <a:solidFill>
                  <a:srgbClr val="13262B"/>
                </a:solidFill>
                <a:latin typeface="Arial"/>
              </a:rPr>
              <a:t>Čuvate parove podataka u rečnicima</a:t>
            </a:r>
            <a:endParaRPr sz="1400"/>
          </a:p>
        </p:txBody>
      </p:sp>
      <p:sp>
        <p:nvSpPr>
          <p:cNvPr id="28" name="Rounded Rectangle 27"/>
          <p:cNvSpPr/>
          <p:nvPr/>
        </p:nvSpPr>
        <p:spPr>
          <a:xfrm>
            <a:off x="7961809" y="3757116"/>
            <a:ext cx="3414216" cy="841970"/>
          </a:xfrm>
          <a:prstGeom prst="roundRect">
            <a:avLst>
              <a:gd name="adj" fmla="val 12066"/>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kst 1x21.60"/>
          <p:cNvSpPr txBox="1"/>
          <p:nvPr/>
        </p:nvSpPr>
        <p:spPr>
          <a:xfrm>
            <a:off x="8168184" y="3938091"/>
            <a:ext cx="27682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A8521A"/>
                </a:solidFill>
                <a:latin typeface="Consolas"/>
              </a:rPr>
              <a:t>09</a:t>
            </a:r>
            <a:endParaRPr sz="1800"/>
          </a:p>
        </p:txBody>
      </p:sp>
      <p:sp>
        <p:nvSpPr>
          <p:cNvPr id="30" name="Tekst 2x18.90"/>
          <p:cNvSpPr txBox="1"/>
          <p:nvPr/>
        </p:nvSpPr>
        <p:spPr>
          <a:xfrm>
            <a:off x="8572004" y="3938091"/>
            <a:ext cx="2649599" cy="480020"/>
          </a:xfrm>
          <a:prstGeom prst="rect">
            <a:avLst/>
          </a:prstGeom>
          <a:noFill/>
        </p:spPr>
        <p:txBody>
          <a:bodyPr wrap="square" anchor="t" lIns="0" rIns="0" tIns="0" bIns="0">
            <a:noAutofit/>
          </a:bodyPr>
          <a:lstStyle/>
          <a:p>
            <a:pPr algn="l">
              <a:lnSpc>
                <a:spcPts val="1889"/>
              </a:lnSpc>
              <a:spcBef>
                <a:spcPts val="0"/>
              </a:spcBef>
              <a:spcAft>
                <a:spcPts val="0"/>
              </a:spcAft>
            </a:pPr>
            <a:r>
              <a:rPr sz="1400" b="0" i="0">
                <a:solidFill>
                  <a:srgbClr val="13262B"/>
                </a:solidFill>
                <a:latin typeface="Arial"/>
              </a:rPr>
              <a:t>Upravljate fajlovima, pokrećete alate, primate argumente</a:t>
            </a:r>
            <a:endParaRPr sz="140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3262B"/>
        </a:solidFill>
        <a:effectLst/>
      </p:bgPr>
    </p:bg>
    <p:spTree>
      <p:nvGrpSpPr>
        <p:cNvPr id="1" name=""/>
        <p:cNvGrpSpPr/>
        <p:nvPr/>
      </p:nvGrpSpPr>
      <p:grpSpPr/>
      <p:sp>
        <p:nvSpPr>
          <p:cNvPr id="2" name="Tekst 1x21.00"/>
          <p:cNvSpPr txBox="1"/>
          <p:nvPr/>
        </p:nvSpPr>
        <p:spPr>
          <a:xfrm>
            <a:off x="812800" y="812800"/>
            <a:ext cx="10777728" cy="266700"/>
          </a:xfrm>
          <a:prstGeom prst="rect">
            <a:avLst/>
          </a:prstGeom>
          <a:noFill/>
        </p:spPr>
        <p:txBody>
          <a:bodyPr wrap="none" anchor="t" lIns="0" rIns="0" tIns="0" bIns="0">
            <a:noAutofit/>
          </a:bodyPr>
          <a:lstStyle/>
          <a:p>
            <a:pPr algn="l">
              <a:lnSpc>
                <a:spcPts val="2100"/>
              </a:lnSpc>
              <a:spcBef>
                <a:spcPts val="0"/>
              </a:spcBef>
              <a:spcAft>
                <a:spcPts val="0"/>
              </a:spcAft>
            </a:pPr>
            <a:r>
              <a:rPr sz="1500" b="0" i="0" spc="400">
                <a:solidFill>
                  <a:srgbClr val="6FD3C1"/>
                </a:solidFill>
                <a:latin typeface="Consolas"/>
              </a:rPr>
              <a:t>ATGAAACCCGGG</a:t>
            </a:r>
            <a:r>
              <a:rPr sz="1500" b="0" i="0" spc="400">
                <a:solidFill>
                  <a:srgbClr val="F0A35E"/>
                </a:solidFill>
                <a:latin typeface="Consolas"/>
              </a:rPr>
              <a:t>TAA</a:t>
            </a:r>
            <a:endParaRPr sz="1500"/>
          </a:p>
        </p:txBody>
      </p:sp>
      <p:sp>
        <p:nvSpPr>
          <p:cNvPr id="3" name="Tekst 2x54.60"/>
          <p:cNvSpPr txBox="1"/>
          <p:nvPr/>
        </p:nvSpPr>
        <p:spPr>
          <a:xfrm>
            <a:off x="812800" y="2478584"/>
            <a:ext cx="10777728" cy="1386681"/>
          </a:xfrm>
          <a:prstGeom prst="rect">
            <a:avLst/>
          </a:prstGeom>
          <a:noFill/>
        </p:spPr>
        <p:txBody>
          <a:bodyPr wrap="square" anchor="t" lIns="0" rIns="0" tIns="0" bIns="0">
            <a:noAutofit/>
          </a:bodyPr>
          <a:lstStyle/>
          <a:p>
            <a:pPr algn="l">
              <a:lnSpc>
                <a:spcPts val="5460"/>
              </a:lnSpc>
              <a:spcBef>
                <a:spcPts val="0"/>
              </a:spcBef>
              <a:spcAft>
                <a:spcPts val="0"/>
              </a:spcAft>
            </a:pPr>
            <a:r>
              <a:rPr sz="5200" b="1" i="0">
                <a:solidFill>
                  <a:srgbClr val="F6F4EE"/>
                </a:solidFill>
                <a:latin typeface="Arial"/>
              </a:rPr>
              <a:t>Najbrži način da saznate šta neka</a:t>
            </a:r>
            <a:br/>
            <a:r>
              <a:rPr sz="5200" b="1" i="0">
                <a:solidFill>
                  <a:srgbClr val="F6F4EE"/>
                </a:solidFill>
                <a:latin typeface="Arial"/>
              </a:rPr>
              <a:t>funkcija radi: probajte je.</a:t>
            </a:r>
            <a:endParaRPr sz="5200"/>
          </a:p>
        </p:txBody>
      </p:sp>
      <p:sp>
        <p:nvSpPr>
          <p:cNvPr id="4" name="Tekst 1x25.20"/>
          <p:cNvSpPr txBox="1"/>
          <p:nvPr/>
        </p:nvSpPr>
        <p:spPr>
          <a:xfrm>
            <a:off x="812800" y="4068465"/>
            <a:ext cx="10777728" cy="319980"/>
          </a:xfrm>
          <a:prstGeom prst="rect">
            <a:avLst/>
          </a:prstGeom>
          <a:noFill/>
        </p:spPr>
        <p:txBody>
          <a:bodyPr wrap="square" anchor="t" lIns="0" rIns="0" tIns="0" bIns="0">
            <a:noAutofit/>
          </a:bodyPr>
          <a:lstStyle/>
          <a:p>
            <a:pPr algn="l">
              <a:lnSpc>
                <a:spcPts val="2520"/>
              </a:lnSpc>
              <a:spcBef>
                <a:spcPts val="0"/>
              </a:spcBef>
              <a:spcAft>
                <a:spcPts val="0"/>
              </a:spcAft>
            </a:pPr>
            <a:r>
              <a:rPr sz="1800" b="0" i="0">
                <a:solidFill>
                  <a:srgbClr val="BFD3CD"/>
                </a:solidFill>
                <a:latin typeface="Arial"/>
              </a:rPr>
              <a:t>Rešavajte vežbe pre čitanja rešenja, isprobavajte varijacije i primenjujte alate na sopstvene podatke.</a:t>
            </a:r>
            <a:endParaRPr sz="1800"/>
          </a:p>
        </p:txBody>
      </p:sp>
      <p:sp>
        <p:nvSpPr>
          <p:cNvPr id="5" name="Tekst 1x20.30"/>
          <p:cNvSpPr txBox="1"/>
          <p:nvPr/>
        </p:nvSpPr>
        <p:spPr>
          <a:xfrm>
            <a:off x="812800" y="5787430"/>
            <a:ext cx="259080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E8EEE9"/>
                </a:solidFill>
                <a:latin typeface="Arial"/>
              </a:rPr>
              <a:t>Dokumentacija: docs.python.org</a:t>
            </a:r>
            <a:endParaRPr sz="1400"/>
          </a:p>
        </p:txBody>
      </p:sp>
      <p:sp>
        <p:nvSpPr>
          <p:cNvPr id="6" name="Tekst 1x16.80"/>
          <p:cNvSpPr txBox="1"/>
          <p:nvPr/>
        </p:nvSpPr>
        <p:spPr>
          <a:xfrm>
            <a:off x="7600781" y="5831880"/>
            <a:ext cx="3778419" cy="213320"/>
          </a:xfrm>
          <a:prstGeom prst="rect">
            <a:avLst/>
          </a:prstGeom>
          <a:noFill/>
        </p:spPr>
        <p:txBody>
          <a:bodyPr wrap="square" anchor="t" lIns="0" rIns="0" tIns="0" bIns="0">
            <a:noAutofit/>
          </a:bodyPr>
          <a:lstStyle/>
          <a:p>
            <a:pPr algn="r">
              <a:lnSpc>
                <a:spcPts val="1680"/>
              </a:lnSpc>
              <a:spcBef>
                <a:spcPts val="0"/>
              </a:spcBef>
              <a:spcAft>
                <a:spcPts val="0"/>
              </a:spcAft>
            </a:pPr>
            <a:r>
              <a:rPr sz="1200" b="0" i="0">
                <a:solidFill>
                  <a:srgbClr val="8FB3AA"/>
                </a:solidFill>
                <a:latin typeface="Arial"/>
              </a:rPr>
              <a:t>Martin Jones, Python for Biologists · CC BY-NC-SA 3.0</a:t>
            </a:r>
            <a:endParaRPr sz="12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za biologe – Lekcija 9: Fajlovi, programi i korisnički unos</dc:title>
  <dc:subject>Prema knjizi Martina Jonesa: Python for Biologists</dc:subject>
  <dc:creator>Aleksandar Kartelj</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