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Većina uvodnih knjiga fajlove obrađuje mnogo kasnije, ali biolozima su fajlovi potrebni odmah. Kopiranje sekvence u kod nije dobar pristup: prave sekvence su duge, a podaci ne treba da budu pomešani sa kodom. Drugi razlog: Python često treba da primi podatke od drugog programa ili da ih preda drugom programu (pipeline), a najlakše je preko fajlova u formatu koji drugi program već razume.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Većina uvodnih knjiga fajlove obrađuje mnogo kasnije. Biolozima su potrebni odmah, jer su podaci u fajlovima, a programi rade u lancu sa drugim alatima: najlakši način da Python primi podatke od drugog programa ili ih preda dalje je fajl u formatu koji drugi program već razume. Srećom, većina bioloških podataka je u tekstualnim fajlovima, koje Python lako obrađuje. Knjiga najčešće koristi FASTA format, kao najjednostavniji i najrašireniji.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Tekstualni fajl ne mora biti čitljiv čoveku: dovoljno je da se sastoji od karaktera i linija. Ako editor prijavi grešku ili prikaže nerazumljive znakove, fajl je binarni. Primeri u ovom poglavlju koriste fajl dna.txt sa jednom linijom DNK sekvence (iz foldera chapter_3 u materijalima uz knjigu).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 promenljive, tri različita tipa i tri različite stvari: ime fajla (string), fajl objekat (novi tip koji predstavlja fajl na disku) i sadržaj (string). Imena promenljivih su proizvoljna (apple, banana, grape bi radili isto, samo bi kod bio nečitljiv), ali ime fajla nije: mora da odgovara stvarnom fajlu. Sa fajl objektima radimo uglavnom preko metoda. Puna poruka prve greške: AttributeError: 'str' object has no attribute 'read'. Python 2 bi pri ispisu objekta pokazao &lt;open file 'dna.txt', mode 'r' ...&gt;.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stringova i brojeva je lako razumeti šta predstavljaju: jedan tekst ili jedan broj. Fajl objekat predstavlja nešto manje opipljivo, fajl na hard disku. Zato s njim radimo uglavnom preko metoda (read, write, close), što isprva deluje neobično, ali fajl tip ima dobro osmišljen skup metoda. Ponavljamo važnu ideju iz poglavlja 2: imena promenljivih biramo sami, ali vrednosti, ovde ime fajla, nisu proizvoljne.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Lanac metoda my_file.read().rstrip("\n") čita se s leva nadesno: read vraća string, a na tom stringu se poziva rstrip. Ako je teško, isto se može uraditi u dva koraka; program radi jednako dobro. Ceo sadržaj promenljive (sa \n) može se videti funkcijom repr. Nepostojeći fajl: open("nonexistent.txt") daje FileNotFoundError (u Pythonu 2: IOError); proveru da li fajl postoji radimo u poglavlju 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Lanac metoda je čest u Pythonu: rezultat jednog metoda odmah koristimo za poziv sledećeg. Ključ je da ga čitamo s leva nadesno i da znamo šta svaki korak vraća. Program radi isto i ako ga napišemo u dva koraka. Napomena: u Pythonu 2 greška za nepostojeći fajl zove se IOError, kao u knjizi. U poglavlju 9 upoznajemo os.path.exists.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Svi dosadašnji programi su ispisivali rezultat na ekran, što je odlično dok učimo, jer odmah vidimo efekat izmene. Za kratke programe iz knjige nestanak izlaza nije problem, jer ih možemo ponovo pokrenuti; za program koji radi nekoliko sati jeste. Korisnici Linuxa znaju da se izlaz terminala može preusmeriti u fajl (shell redirekcija), što rešava deo ovih problema, ali ne sve.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Ispis na ekran je dobar za kratke programe, ali za veliki izlaz nije: terminal može da izgubi početak izlaza, teško je pretraživati, a sve nestaje kad se terminal zatvori. Zato izlaz upisujemo u fajlove. write radi kao print, ali piše u fajl; na ekranu se ništa ne vidi, pa rezultat proverite otvaranjem out.txt u editoru. Za razliku od print, write ne dodaje novi red sam: ako želite više linija, dodajte \n. close je metod (open je funkcija); zatvaranje osigurava da je sve stvarno upisano, što je važno kada fajl dalje čita drugi program. Slovo r pred stringom (sirov string) sprečava da Python tumači obrnute kose crte u Windows putanji; objašnjenje u poglavlju 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Drugi argument funkcije open zove se režim (mode): "r" za čitanje, "w" za pisanje i "a" za dodavanje; ima ih još, ali ova tri su najčešća. Bez drugog argumenta važi podrazumevani režim "r". Razlika između "w" i "a" je suptilna, ali važna: "w" briše postojeći sadržaj, a "a" ga čuva i dodaje na kraj. Ako fajl ne postoji, oba režima prave novi fajl. Ovde podrazumevamo da se stari sadržaj završava znakom za novi 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Funkcija open radi sa fajlovima bilo gde na računaru, ako joj damo punu putanju, tj. niz foldera do fajla. Oblik putanje zavisi od operativnog sistema. Sirove stringove (slovo r ispred navodnika) detaljnije objašnjavamo u poglavlju 7, uz regularne izraze. Primer: print("c:\new\test.txt") ispisuje „c:”, pa u novom redu „ew”, tab i „est.txt”.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je najjednostavniji i najčešći format za sekvence, pa ga knjiga najviše koristi. Druga sekvenca u vežbi je malim slovima, a treća sadrži crtice (praznine iz poravnanja); obe treba srediti pre upisa. Posle ove vežbe sledi varijanta sa tri odvojena fajla, po jedan za svaku sekvencu.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iz knjige: prvo promenljive (tri zaglavlja i tri sekvence), pa program koji ispisuje linije pravim redosledom, i to na ekran, jer se rezultat odmah vidi. Tek kad ispis bude dobar, prelazimo na pisanje u fajl. Prvi pokušaj (print(header_1), print(seq_1), …) dao je dobar redosled, ali bez znaka &gt; na početku zaglavlja. Sekvence još nisu sređene: druga je malim slovima, a treća ima crtice.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postoji metod „remove” za uklanjanje karaktera, ali znamo da zamenimo jedan karakter drugim: zamena praznim stringom (dva navodnika bez ičega između) isto je što i brisanje. Ispis na ekranu posle ovih popravki bio je savršen. Kada smo print zamenili sa write, na ekranu se ništa ne vidi, pa otvaramo sequences.fasta: druga i treća linija su se spojile, kao i četvrta i peta. To je razlika između print i write na koju treba paziti pri prelasku.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Argumenti za write postaju dugi, ali su sastavljeni od jednostavnih kocki koje već znamo. Poslednji red, preveden na srpski: znak veće, pa promenljiva header_3, pa novi red, pa promenljiva seq_3 u kojoj su sve crtice zamenjene ničim, pa još jedan novi red. Knjiga u konačnom kodu ne zatvara fajl; ovde je dodato output.close(), kao dobra navika iz ovog poglavlja.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Prvi argument funkcije open je string, pa možemo da ga dobijemo i spajanjem: rezultat spajanja dva stringa je opet string. Treba paziti na brojeve u imenima promenljivih, da u svaki fajl ode prava sekvenca. Rešenje radi, ali je puno skoro identičnih naredbi; to je motivacija za sledeće poglavlje.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genomic_dna.txt sadrži istu sekvencu kao poslednja vežba iz poglavlja 2; treba je podeliti na kodirajući i nekodirajući deo i upisati ih u dva fajla. Prazni redovi i komentari razdvajaju delove programa i čine ga čitljivijim. Granice egzona su ispravljene kao na slajdu o isecanju introna (knjiga koristi [0:62] i [62:90]). Dobra navika: na kraju zatvoriti oba izlazna fajla metodom close.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Ograničenja ovog poglavlja, koja rešavamo kasnije: (1) ceo sadržaj čitamo u jednu promenljivu, a češće treba obrada liniju po liniju, za šta trebaju liste i petlje; (2) osim čitanja, želimo i da premeštamo, kopiramo, pravimo i brišemo fajlove i foldere; (3) imena fajlova su upisana u kod, a pravi programi treba da prime ime fajla od korisnika.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16.80"/>
          <p:cNvSpPr txBox="1"/>
          <p:nvPr/>
        </p:nvSpPr>
        <p:spPr>
          <a:xfrm>
            <a:off x="812800" y="711200"/>
            <a:ext cx="64770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6FD3C1"/>
                </a:solidFill>
                <a:latin typeface="Arial"/>
              </a:rPr>
              <a:t>POGLAVLJE 3 OD 9</a:t>
            </a:r>
            <a:endParaRPr sz="1200"/>
          </a:p>
        </p:txBody>
      </p:sp>
      <p:sp>
        <p:nvSpPr>
          <p:cNvPr id="3" name="Tekst 1x100.00"/>
          <p:cNvSpPr txBox="1"/>
          <p:nvPr/>
        </p:nvSpPr>
        <p:spPr>
          <a:xfrm>
            <a:off x="812800" y="3457079"/>
            <a:ext cx="10777728" cy="1270000"/>
          </a:xfrm>
          <a:prstGeom prst="rect">
            <a:avLst/>
          </a:prstGeom>
          <a:noFill/>
        </p:spPr>
        <p:txBody>
          <a:bodyPr wrap="square" anchor="t" lIns="0" rIns="0" tIns="0" bIns="0">
            <a:noAutofit/>
          </a:bodyPr>
          <a:lstStyle/>
          <a:p>
            <a:pPr algn="l">
              <a:lnSpc>
                <a:spcPts val="10000"/>
              </a:lnSpc>
              <a:spcBef>
                <a:spcPts val="0"/>
              </a:spcBef>
              <a:spcAft>
                <a:spcPts val="0"/>
              </a:spcAft>
            </a:pPr>
            <a:r>
              <a:rPr sz="10000" b="1" i="0">
                <a:solidFill>
                  <a:srgbClr val="F0A35E"/>
                </a:solidFill>
                <a:latin typeface="Consolas"/>
              </a:rPr>
              <a:t>03</a:t>
            </a:r>
            <a:endParaRPr sz="10000"/>
          </a:p>
        </p:txBody>
      </p:sp>
      <p:sp>
        <p:nvSpPr>
          <p:cNvPr id="4" name="Tekst 1x54.60"/>
          <p:cNvSpPr txBox="1"/>
          <p:nvPr/>
        </p:nvSpPr>
        <p:spPr>
          <a:xfrm>
            <a:off x="812800" y="4879479"/>
            <a:ext cx="10777728" cy="69334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Čitanje i pisanje fajlova</a:t>
            </a:r>
            <a:endParaRPr sz="5200"/>
          </a:p>
        </p:txBody>
      </p:sp>
      <p:sp>
        <p:nvSpPr>
          <p:cNvPr id="5" name="Tekst 1x25.20"/>
          <p:cNvSpPr txBox="1"/>
          <p:nvPr/>
        </p:nvSpPr>
        <p:spPr>
          <a:xfrm>
            <a:off x="812800" y="5725220"/>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Podaci žive u fajlovima, a naši programi rade u lancu sa drugim alatima</a:t>
            </a:r>
            <a:endParaRPr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Zašto fajlove učimo tako rano?</a:t>
            </a:r>
            <a:endParaRPr sz="3200"/>
          </a:p>
        </p:txBody>
      </p:sp>
      <p:sp>
        <p:nvSpPr>
          <p:cNvPr id="4" name="Rounded Rectangle 3"/>
          <p:cNvSpPr/>
          <p:nvPr/>
        </p:nvSpPr>
        <p:spPr>
          <a:xfrm>
            <a:off x="819150" y="1708051"/>
            <a:ext cx="1612900" cy="557510"/>
          </a:xfrm>
          <a:prstGeom prst="roundRect">
            <a:avLst>
              <a:gd name="adj" fmla="val 18223"/>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8.90"/>
          <p:cNvSpPr txBox="1"/>
          <p:nvPr/>
        </p:nvSpPr>
        <p:spPr>
          <a:xfrm>
            <a:off x="913130" y="1866801"/>
            <a:ext cx="1424940" cy="240010"/>
          </a:xfrm>
          <a:prstGeom prst="rect">
            <a:avLst/>
          </a:prstGeom>
          <a:noFill/>
        </p:spPr>
        <p:txBody>
          <a:bodyPr wrap="square" anchor="t" lIns="0" rIns="0" tIns="0" bIns="0">
            <a:noAutofit/>
          </a:bodyPr>
          <a:lstStyle/>
          <a:p>
            <a:pPr algn="ctr">
              <a:lnSpc>
                <a:spcPts val="1889"/>
              </a:lnSpc>
              <a:spcBef>
                <a:spcPts val="0"/>
              </a:spcBef>
              <a:spcAft>
                <a:spcPts val="0"/>
              </a:spcAft>
            </a:pPr>
            <a:r>
              <a:rPr sz="1400" b="0" i="0">
                <a:solidFill>
                  <a:srgbClr val="13262B"/>
                </a:solidFill>
                <a:latin typeface="Arial"/>
              </a:rPr>
              <a:t>drugi alat</a:t>
            </a:r>
            <a:endParaRPr sz="1400"/>
          </a:p>
        </p:txBody>
      </p:sp>
      <p:sp>
        <p:nvSpPr>
          <p:cNvPr id="6" name="Right Arrow 5"/>
          <p:cNvSpPr/>
          <p:nvPr/>
        </p:nvSpPr>
        <p:spPr>
          <a:xfrm>
            <a:off x="2540000" y="1885156"/>
            <a:ext cx="406400" cy="2032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054350" y="1712516"/>
            <a:ext cx="1612900" cy="548580"/>
          </a:xfrm>
          <a:prstGeom prst="roundRect">
            <a:avLst>
              <a:gd name="adj" fmla="val 18520"/>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8.20"/>
          <p:cNvSpPr txBox="1"/>
          <p:nvPr/>
        </p:nvSpPr>
        <p:spPr>
          <a:xfrm>
            <a:off x="3148330" y="1871266"/>
            <a:ext cx="1424940" cy="231080"/>
          </a:xfrm>
          <a:prstGeom prst="rect">
            <a:avLst/>
          </a:prstGeom>
          <a:noFill/>
        </p:spPr>
        <p:txBody>
          <a:bodyPr wrap="square" anchor="t" lIns="0" rIns="0" tIns="0" bIns="0">
            <a:noAutofit/>
          </a:bodyPr>
          <a:lstStyle/>
          <a:p>
            <a:pPr algn="ctr">
              <a:lnSpc>
                <a:spcPts val="1820"/>
              </a:lnSpc>
              <a:spcBef>
                <a:spcPts val="0"/>
              </a:spcBef>
              <a:spcAft>
                <a:spcPts val="0"/>
              </a:spcAft>
            </a:pPr>
            <a:r>
              <a:rPr sz="1300" b="0" i="0">
                <a:solidFill>
                  <a:srgbClr val="13262B"/>
                </a:solidFill>
                <a:latin typeface="Consolas"/>
              </a:rPr>
              <a:t>ulaz.txt</a:t>
            </a:r>
            <a:endParaRPr sz="1300"/>
          </a:p>
        </p:txBody>
      </p:sp>
      <p:sp>
        <p:nvSpPr>
          <p:cNvPr id="9" name="Right Arrow 8"/>
          <p:cNvSpPr/>
          <p:nvPr/>
        </p:nvSpPr>
        <p:spPr>
          <a:xfrm>
            <a:off x="4775200" y="1885156"/>
            <a:ext cx="406400" cy="2032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89550" y="1708051"/>
            <a:ext cx="1612900" cy="557510"/>
          </a:xfrm>
          <a:prstGeom prst="roundRect">
            <a:avLst>
              <a:gd name="adj" fmla="val 1822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18.90"/>
          <p:cNvSpPr txBox="1"/>
          <p:nvPr/>
        </p:nvSpPr>
        <p:spPr>
          <a:xfrm>
            <a:off x="5383530" y="1866801"/>
            <a:ext cx="1424940" cy="240010"/>
          </a:xfrm>
          <a:prstGeom prst="rect">
            <a:avLst/>
          </a:prstGeom>
          <a:noFill/>
        </p:spPr>
        <p:txBody>
          <a:bodyPr wrap="square" anchor="t" lIns="0" rIns="0" tIns="0" bIns="0">
            <a:noAutofit/>
          </a:bodyPr>
          <a:lstStyle/>
          <a:p>
            <a:pPr algn="ctr">
              <a:lnSpc>
                <a:spcPts val="1889"/>
              </a:lnSpc>
              <a:spcBef>
                <a:spcPts val="0"/>
              </a:spcBef>
              <a:spcAft>
                <a:spcPts val="0"/>
              </a:spcAft>
            </a:pPr>
            <a:r>
              <a:rPr sz="1400" b="1" i="0">
                <a:solidFill>
                  <a:srgbClr val="6FD3C1"/>
                </a:solidFill>
                <a:latin typeface="Arial"/>
              </a:rPr>
              <a:t>naš program</a:t>
            </a:r>
            <a:endParaRPr sz="1400"/>
          </a:p>
        </p:txBody>
      </p:sp>
      <p:sp>
        <p:nvSpPr>
          <p:cNvPr id="12" name="Right Arrow 11"/>
          <p:cNvSpPr/>
          <p:nvPr/>
        </p:nvSpPr>
        <p:spPr>
          <a:xfrm>
            <a:off x="7010400" y="1885156"/>
            <a:ext cx="406400" cy="2032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524750" y="1712516"/>
            <a:ext cx="1612900" cy="548580"/>
          </a:xfrm>
          <a:prstGeom prst="roundRect">
            <a:avLst>
              <a:gd name="adj" fmla="val 18520"/>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8.20"/>
          <p:cNvSpPr txBox="1"/>
          <p:nvPr/>
        </p:nvSpPr>
        <p:spPr>
          <a:xfrm>
            <a:off x="7618730" y="1871266"/>
            <a:ext cx="1424940" cy="231080"/>
          </a:xfrm>
          <a:prstGeom prst="rect">
            <a:avLst/>
          </a:prstGeom>
          <a:noFill/>
        </p:spPr>
        <p:txBody>
          <a:bodyPr wrap="square" anchor="t" lIns="0" rIns="0" tIns="0" bIns="0">
            <a:noAutofit/>
          </a:bodyPr>
          <a:lstStyle/>
          <a:p>
            <a:pPr algn="ctr">
              <a:lnSpc>
                <a:spcPts val="1820"/>
              </a:lnSpc>
              <a:spcBef>
                <a:spcPts val="0"/>
              </a:spcBef>
              <a:spcAft>
                <a:spcPts val="0"/>
              </a:spcAft>
            </a:pPr>
            <a:r>
              <a:rPr sz="1300" b="0" i="0">
                <a:solidFill>
                  <a:srgbClr val="13262B"/>
                </a:solidFill>
                <a:latin typeface="Consolas"/>
              </a:rPr>
              <a:t>izlaz.txt</a:t>
            </a:r>
            <a:endParaRPr sz="1300"/>
          </a:p>
        </p:txBody>
      </p:sp>
      <p:sp>
        <p:nvSpPr>
          <p:cNvPr id="15" name="Right Arrow 14"/>
          <p:cNvSpPr/>
          <p:nvPr/>
        </p:nvSpPr>
        <p:spPr>
          <a:xfrm>
            <a:off x="9245600" y="1885156"/>
            <a:ext cx="406400" cy="2032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59950" y="1708051"/>
            <a:ext cx="1612900" cy="557510"/>
          </a:xfrm>
          <a:prstGeom prst="roundRect">
            <a:avLst>
              <a:gd name="adj" fmla="val 18223"/>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18.90"/>
          <p:cNvSpPr txBox="1"/>
          <p:nvPr/>
        </p:nvSpPr>
        <p:spPr>
          <a:xfrm>
            <a:off x="9853930" y="1866801"/>
            <a:ext cx="1424940" cy="240010"/>
          </a:xfrm>
          <a:prstGeom prst="rect">
            <a:avLst/>
          </a:prstGeom>
          <a:noFill/>
        </p:spPr>
        <p:txBody>
          <a:bodyPr wrap="square" anchor="t" lIns="0" rIns="0" tIns="0" bIns="0">
            <a:noAutofit/>
          </a:bodyPr>
          <a:lstStyle/>
          <a:p>
            <a:pPr algn="ctr">
              <a:lnSpc>
                <a:spcPts val="1889"/>
              </a:lnSpc>
              <a:spcBef>
                <a:spcPts val="0"/>
              </a:spcBef>
              <a:spcAft>
                <a:spcPts val="0"/>
              </a:spcAft>
            </a:pPr>
            <a:r>
              <a:rPr sz="1400" b="0" i="0">
                <a:solidFill>
                  <a:srgbClr val="13262B"/>
                </a:solidFill>
                <a:latin typeface="Arial"/>
              </a:rPr>
              <a:t>sledeći alat</a:t>
            </a:r>
            <a:endParaRPr sz="1400"/>
          </a:p>
        </p:txBody>
      </p:sp>
      <p:sp>
        <p:nvSpPr>
          <p:cNvPr id="18" name="Rounded Rectangle 17"/>
          <p:cNvSpPr/>
          <p:nvPr/>
        </p:nvSpPr>
        <p:spPr>
          <a:xfrm>
            <a:off x="815975" y="2529086"/>
            <a:ext cx="5175250" cy="1768872"/>
          </a:xfrm>
          <a:prstGeom prst="roundRect">
            <a:avLst>
              <a:gd name="adj" fmla="val 574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1x21.60"/>
          <p:cNvSpPr txBox="1"/>
          <p:nvPr/>
        </p:nvSpPr>
        <p:spPr>
          <a:xfrm>
            <a:off x="1022350" y="271006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Podaci su u fajlovima</a:t>
            </a:r>
            <a:endParaRPr sz="1800"/>
          </a:p>
        </p:txBody>
      </p:sp>
      <p:sp>
        <p:nvSpPr>
          <p:cNvPr id="20" name="Tekst 4x20.30"/>
          <p:cNvSpPr txBox="1"/>
          <p:nvPr/>
        </p:nvSpPr>
        <p:spPr>
          <a:xfrm>
            <a:off x="1022350" y="3085902"/>
            <a:ext cx="4857750" cy="103108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DNK i proteinske sekvence, npr. FASTA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očitavanja sekvenciranja i njihovi kvaliteti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SNP-ovi, filogenetska stabla, mape očitavanja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podaci o uzorcima, matrice genetskih rastojanja</a:t>
            </a:r>
            <a:endParaRPr sz="1400"/>
          </a:p>
        </p:txBody>
      </p:sp>
      <p:sp>
        <p:nvSpPr>
          <p:cNvPr id="21" name="Rounded Rectangle 20"/>
          <p:cNvSpPr/>
          <p:nvPr/>
        </p:nvSpPr>
        <p:spPr>
          <a:xfrm>
            <a:off x="6200775" y="2529086"/>
            <a:ext cx="5175250" cy="1768872"/>
          </a:xfrm>
          <a:prstGeom prst="roundRect">
            <a:avLst>
              <a:gd name="adj" fmla="val 574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1x21.60"/>
          <p:cNvSpPr txBox="1"/>
          <p:nvPr/>
        </p:nvSpPr>
        <p:spPr>
          <a:xfrm>
            <a:off x="6407150" y="271006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Kopiranje u kod nije rešenje</a:t>
            </a:r>
            <a:endParaRPr sz="1800"/>
          </a:p>
        </p:txBody>
      </p:sp>
      <p:sp>
        <p:nvSpPr>
          <p:cNvPr id="23" name="Tekst 3x20.30"/>
          <p:cNvSpPr txBox="1"/>
          <p:nvPr/>
        </p:nvSpPr>
        <p:spPr>
          <a:xfrm>
            <a:off x="6407150" y="3085902"/>
            <a:ext cx="4857750" cy="77331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prave sekvence su mnogo duže od onih u vežbama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podaci ne treba da budu pomešani sa kodom</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u lancu alata podaci stižu i odlaze kroz fajlove</a:t>
            </a:r>
            <a:endParaRPr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Tekstualni i binarni fajlovi</a:t>
            </a:r>
            <a:endParaRPr sz="3200"/>
          </a:p>
        </p:txBody>
      </p:sp>
      <p:sp>
        <p:nvSpPr>
          <p:cNvPr id="4" name="Tekst 2x20.30"/>
          <p:cNvSpPr txBox="1"/>
          <p:nvPr/>
        </p:nvSpPr>
        <p:spPr>
          <a:xfrm>
            <a:off x="812800" y="1701701"/>
            <a:ext cx="1077772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Većina bioloških podataka čuva se u tekstualnim fajlovima: sekvence, očitavanja i njihovi kvaliteti, SNP-ovi, filogenetska stabla, matrice genetskih rastojanja.</a:t>
            </a:r>
            <a:endParaRPr sz="1400"/>
          </a:p>
        </p:txBody>
      </p:sp>
      <p:sp>
        <p:nvSpPr>
          <p:cNvPr id="5" name="Rounded Rectangle 4"/>
          <p:cNvSpPr/>
          <p:nvPr/>
        </p:nvSpPr>
        <p:spPr>
          <a:xfrm>
            <a:off x="815975" y="2474416"/>
            <a:ext cx="5175250" cy="2026642"/>
          </a:xfrm>
          <a:prstGeom prst="roundRect">
            <a:avLst>
              <a:gd name="adj" fmla="val 501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21.60"/>
          <p:cNvSpPr txBox="1"/>
          <p:nvPr/>
        </p:nvSpPr>
        <p:spPr>
          <a:xfrm>
            <a:off x="1022350" y="265539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Tekstualni: karakteri i linije</a:t>
            </a:r>
            <a:endParaRPr sz="1800"/>
          </a:p>
        </p:txBody>
      </p:sp>
      <p:sp>
        <p:nvSpPr>
          <p:cNvPr id="7" name="Tekst 5x20.30"/>
          <p:cNvSpPr txBox="1"/>
          <p:nvPr/>
        </p:nvSpPr>
        <p:spPr>
          <a:xfrm>
            <a:off x="1022350" y="3031232"/>
            <a:ext cx="4857750" cy="128885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FASTA fajlovi sa DNK i proteinskim sekvencama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FASTQ fajlovi sa očitavanjima sekvenciranja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Izlaz programa komandne linije, npr. BLAST</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HTML stranice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Python kod</a:t>
            </a:r>
            <a:endParaRPr sz="1400"/>
          </a:p>
        </p:txBody>
      </p:sp>
      <p:sp>
        <p:nvSpPr>
          <p:cNvPr id="8" name="Rounded Rectangle 7"/>
          <p:cNvSpPr/>
          <p:nvPr/>
        </p:nvSpPr>
        <p:spPr>
          <a:xfrm>
            <a:off x="6200775" y="2474416"/>
            <a:ext cx="5175250" cy="2026642"/>
          </a:xfrm>
          <a:prstGeom prst="roundRect">
            <a:avLst>
              <a:gd name="adj" fmla="val 501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1.60"/>
          <p:cNvSpPr txBox="1"/>
          <p:nvPr/>
        </p:nvSpPr>
        <p:spPr>
          <a:xfrm>
            <a:off x="6407150" y="2655391"/>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Binarni: bajtovi</a:t>
            </a:r>
            <a:endParaRPr sz="1800"/>
          </a:p>
        </p:txBody>
      </p:sp>
      <p:sp>
        <p:nvSpPr>
          <p:cNvPr id="10" name="Tekst 3x20.30"/>
          <p:cNvSpPr txBox="1"/>
          <p:nvPr/>
        </p:nvSpPr>
        <p:spPr>
          <a:xfrm>
            <a:off x="6407150" y="3031232"/>
            <a:ext cx="4857750" cy="77331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Slike (JPEG, PNG)</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Audio i video fajlovi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Kompresovani fajlovi (ZIP)</a:t>
            </a:r>
            <a:endParaRPr sz="1400"/>
          </a:p>
        </p:txBody>
      </p:sp>
      <p:sp>
        <p:nvSpPr>
          <p:cNvPr id="11" name="Rounded Rectangle 10"/>
          <p:cNvSpPr/>
          <p:nvPr/>
        </p:nvSpPr>
        <p:spPr>
          <a:xfrm>
            <a:off x="812800" y="4758234"/>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2800" y="4758234"/>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0.30"/>
          <p:cNvSpPr txBox="1"/>
          <p:nvPr/>
        </p:nvSpPr>
        <p:spPr>
          <a:xfrm>
            <a:off x="1054100" y="4910634"/>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Brz test: otvorite fajl u tekst editoru. Ako se prikaže bez problema, tekstualni je, čak i ako sadržaj ne razumete.</a:t>
            </a:r>
            <a:endParaRPr sz="14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Otvaranje i čitanje: open i read</a:t>
            </a:r>
            <a:endParaRPr sz="3200"/>
          </a:p>
        </p:txBody>
      </p:sp>
      <p:sp>
        <p:nvSpPr>
          <p:cNvPr id="4" name="Rounded Rectangle 3"/>
          <p:cNvSpPr/>
          <p:nvPr/>
        </p:nvSpPr>
        <p:spPr>
          <a:xfrm>
            <a:off x="819150" y="1708051"/>
            <a:ext cx="3516213" cy="1442641"/>
          </a:xfrm>
          <a:prstGeom prst="roundRect">
            <a:avLst>
              <a:gd name="adj" fmla="val 7042"/>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917601"/>
            <a:ext cx="3055424"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my_file_name = </a:t>
            </a:r>
            <a:r>
              <a:rPr sz="1300" b="0" i="0">
                <a:solidFill>
                  <a:srgbClr val="F0A35E"/>
                </a:solidFill>
                <a:latin typeface="Consolas"/>
              </a:rPr>
              <a:t>"dna.txt"</a:t>
            </a:r>
            <a:br/>
            <a:r>
              <a:rPr sz="1300" b="0" i="0">
                <a:solidFill>
                  <a:srgbClr val="E8EEE9"/>
                </a:solidFill>
                <a:latin typeface="Consolas"/>
              </a:rPr>
              <a:t>my_file = open(my_file_name)</a:t>
            </a:r>
            <a:br/>
            <a:r>
              <a:rPr sz="1300" b="0" i="0">
                <a:solidFill>
                  <a:srgbClr val="E8EEE9"/>
                </a:solidFill>
                <a:latin typeface="Consolas"/>
              </a:rPr>
              <a:t>my_file_contents = my_file.read()</a:t>
            </a:r>
            <a:br/>
            <a:r>
              <a:rPr sz="1300" b="0" i="0">
                <a:solidFill>
                  <a:srgbClr val="E8EEE9"/>
                </a:solidFill>
                <a:latin typeface="Consolas"/>
              </a:rPr>
              <a:t>print(my_file_contents)</a:t>
            </a:r>
            <a:endParaRPr sz="1300"/>
          </a:p>
        </p:txBody>
      </p:sp>
      <p:sp>
        <p:nvSpPr>
          <p:cNvPr id="6" name="Tekst 1x21.60"/>
          <p:cNvSpPr txBox="1"/>
          <p:nvPr/>
        </p:nvSpPr>
        <p:spPr>
          <a:xfrm>
            <a:off x="4646513" y="1701701"/>
            <a:ext cx="686734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Dve česte greške</a:t>
            </a:r>
            <a:endParaRPr sz="1800"/>
          </a:p>
        </p:txBody>
      </p:sp>
      <p:sp>
        <p:nvSpPr>
          <p:cNvPr id="7" name="Tekst 1x16.80"/>
          <p:cNvSpPr txBox="1"/>
          <p:nvPr/>
        </p:nvSpPr>
        <p:spPr>
          <a:xfrm>
            <a:off x="4646513" y="2102941"/>
            <a:ext cx="6867340"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A8521A"/>
                </a:solidFill>
                <a:latin typeface="Consolas"/>
              </a:rPr>
              <a:t>my_file_name.read() → AttributeError</a:t>
            </a:r>
            <a:endParaRPr sz="1200"/>
          </a:p>
        </p:txBody>
      </p:sp>
      <p:sp>
        <p:nvSpPr>
          <p:cNvPr id="8" name="Tekst 1x19.60"/>
          <p:cNvSpPr txBox="1"/>
          <p:nvPr/>
        </p:nvSpPr>
        <p:spPr>
          <a:xfrm>
            <a:off x="4646513" y="2341662"/>
            <a:ext cx="6867340"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read radi samo na fajl objektu, ne na imenu fajla</a:t>
            </a:r>
            <a:endParaRPr sz="1400"/>
          </a:p>
        </p:txBody>
      </p:sp>
      <p:sp>
        <p:nvSpPr>
          <p:cNvPr id="9" name="Tekst 1x16.80"/>
          <p:cNvSpPr txBox="1"/>
          <p:nvPr/>
        </p:nvSpPr>
        <p:spPr>
          <a:xfrm>
            <a:off x="4646513" y="2717502"/>
            <a:ext cx="6867340" cy="213320"/>
          </a:xfrm>
          <a:prstGeom prst="rect">
            <a:avLst/>
          </a:prstGeom>
          <a:noFill/>
        </p:spPr>
        <p:txBody>
          <a:bodyPr wrap="square" anchor="t" lIns="0" rIns="0" tIns="0" bIns="0">
            <a:noAutofit/>
          </a:bodyPr>
          <a:lstStyle/>
          <a:p>
            <a:pPr algn="l">
              <a:lnSpc>
                <a:spcPts val="1680"/>
              </a:lnSpc>
              <a:spcBef>
                <a:spcPts val="0"/>
              </a:spcBef>
              <a:spcAft>
                <a:spcPts val="0"/>
              </a:spcAft>
            </a:pPr>
            <a:r>
              <a:rPr sz="1200" b="0" i="0">
                <a:solidFill>
                  <a:srgbClr val="A8521A"/>
                </a:solidFill>
                <a:latin typeface="Consolas"/>
              </a:rPr>
              <a:t>print(my_file) → &lt;_io.TextIOWrapper …&gt;</a:t>
            </a:r>
            <a:endParaRPr sz="1200"/>
          </a:p>
        </p:txBody>
      </p:sp>
      <p:sp>
        <p:nvSpPr>
          <p:cNvPr id="10" name="Tekst 1x19.60"/>
          <p:cNvSpPr txBox="1"/>
          <p:nvPr/>
        </p:nvSpPr>
        <p:spPr>
          <a:xfrm>
            <a:off x="4646513" y="2956223"/>
            <a:ext cx="6867340"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ispisan je fajl objekat, a ne sadržaj fajla</a:t>
            </a:r>
            <a:endParaRPr sz="1400"/>
          </a:p>
        </p:txBody>
      </p:sp>
      <p:sp>
        <p:nvSpPr>
          <p:cNvPr id="11" name="Rounded Rectangle 10"/>
          <p:cNvSpPr/>
          <p:nvPr/>
        </p:nvSpPr>
        <p:spPr>
          <a:xfrm>
            <a:off x="815975" y="3462238"/>
            <a:ext cx="2897485" cy="859631"/>
          </a:xfrm>
          <a:prstGeom prst="roundRect">
            <a:avLst>
              <a:gd name="adj" fmla="val 1181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9.60"/>
          <p:cNvSpPr txBox="1"/>
          <p:nvPr/>
        </p:nvSpPr>
        <p:spPr>
          <a:xfrm>
            <a:off x="996950" y="3617813"/>
            <a:ext cx="2586246"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my_file_name</a:t>
            </a:r>
            <a:endParaRPr sz="1400"/>
          </a:p>
        </p:txBody>
      </p:sp>
      <p:sp>
        <p:nvSpPr>
          <p:cNvPr id="13" name="Tekst 1x19.60"/>
          <p:cNvSpPr txBox="1"/>
          <p:nvPr/>
        </p:nvSpPr>
        <p:spPr>
          <a:xfrm>
            <a:off x="996950" y="3917454"/>
            <a:ext cx="2586246"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string: ime fajla na disku</a:t>
            </a:r>
            <a:endParaRPr sz="1400"/>
          </a:p>
        </p:txBody>
      </p:sp>
      <p:sp>
        <p:nvSpPr>
          <p:cNvPr id="14" name="Tekst 1x18.20"/>
          <p:cNvSpPr txBox="1"/>
          <p:nvPr/>
        </p:nvSpPr>
        <p:spPr>
          <a:xfrm>
            <a:off x="3901480" y="3611364"/>
            <a:ext cx="570111"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0F7C6E"/>
                </a:solidFill>
                <a:latin typeface="Consolas"/>
              </a:rPr>
              <a:t>open()</a:t>
            </a:r>
            <a:endParaRPr sz="1300"/>
          </a:p>
        </p:txBody>
      </p:sp>
      <p:sp>
        <p:nvSpPr>
          <p:cNvPr id="15" name="Right Arrow 14"/>
          <p:cNvSpPr/>
          <p:nvPr/>
        </p:nvSpPr>
        <p:spPr>
          <a:xfrm>
            <a:off x="3869035" y="3893245"/>
            <a:ext cx="609600" cy="279400"/>
          </a:xfrm>
          <a:prstGeom prst="rightArrow">
            <a:avLst>
              <a:gd name="adj1" fmla="val 40000"/>
              <a:gd name="adj2" fmla="val 87272"/>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34210" y="3462238"/>
            <a:ext cx="2897584" cy="859631"/>
          </a:xfrm>
          <a:prstGeom prst="roundRect">
            <a:avLst>
              <a:gd name="adj" fmla="val 1181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19.60"/>
          <p:cNvSpPr txBox="1"/>
          <p:nvPr/>
        </p:nvSpPr>
        <p:spPr>
          <a:xfrm>
            <a:off x="4815185" y="3617813"/>
            <a:ext cx="2586347"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my_file</a:t>
            </a:r>
            <a:endParaRPr sz="1400"/>
          </a:p>
        </p:txBody>
      </p:sp>
      <p:sp>
        <p:nvSpPr>
          <p:cNvPr id="18" name="Tekst 1x19.60"/>
          <p:cNvSpPr txBox="1"/>
          <p:nvPr/>
        </p:nvSpPr>
        <p:spPr>
          <a:xfrm>
            <a:off x="4815185" y="3917454"/>
            <a:ext cx="2586347"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fajl objekat: predstavlja sam fajl</a:t>
            </a:r>
            <a:endParaRPr sz="1400"/>
          </a:p>
        </p:txBody>
      </p:sp>
      <p:sp>
        <p:nvSpPr>
          <p:cNvPr id="19" name="Tekst 1x18.20"/>
          <p:cNvSpPr txBox="1"/>
          <p:nvPr/>
        </p:nvSpPr>
        <p:spPr>
          <a:xfrm>
            <a:off x="7687370" y="3611364"/>
            <a:ext cx="660896"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0F7C6E"/>
                </a:solidFill>
                <a:latin typeface="Consolas"/>
              </a:rPr>
              <a:t>.read()</a:t>
            </a:r>
            <a:endParaRPr sz="1300"/>
          </a:p>
        </p:txBody>
      </p:sp>
      <p:sp>
        <p:nvSpPr>
          <p:cNvPr id="20" name="Right Arrow 19"/>
          <p:cNvSpPr/>
          <p:nvPr/>
        </p:nvSpPr>
        <p:spPr>
          <a:xfrm>
            <a:off x="7700268" y="3893245"/>
            <a:ext cx="609600" cy="279400"/>
          </a:xfrm>
          <a:prstGeom prst="rightArrow">
            <a:avLst>
              <a:gd name="adj1" fmla="val 40000"/>
              <a:gd name="adj2" fmla="val 87272"/>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78441" y="3462238"/>
            <a:ext cx="2897584" cy="859631"/>
          </a:xfrm>
          <a:prstGeom prst="roundRect">
            <a:avLst>
              <a:gd name="adj" fmla="val 1181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1x19.60"/>
          <p:cNvSpPr txBox="1"/>
          <p:nvPr/>
        </p:nvSpPr>
        <p:spPr>
          <a:xfrm>
            <a:off x="8659416" y="3617813"/>
            <a:ext cx="2586347"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my_file_contents</a:t>
            </a:r>
            <a:endParaRPr sz="1400"/>
          </a:p>
        </p:txBody>
      </p:sp>
      <p:sp>
        <p:nvSpPr>
          <p:cNvPr id="23" name="Tekst 1x19.60"/>
          <p:cNvSpPr txBox="1"/>
          <p:nvPr/>
        </p:nvSpPr>
        <p:spPr>
          <a:xfrm>
            <a:off x="8659416" y="3917454"/>
            <a:ext cx="2586347" cy="248841"/>
          </a:xfrm>
          <a:prstGeom prst="rect">
            <a:avLst/>
          </a:prstGeom>
          <a:noFill/>
        </p:spPr>
        <p:txBody>
          <a:bodyPr wrap="square" anchor="t" lIns="0" rIns="0" tIns="0" bIns="0">
            <a:noAutofit/>
          </a:bodyPr>
          <a:lstStyle/>
          <a:p>
            <a:pPr algn="l">
              <a:lnSpc>
                <a:spcPts val="1960"/>
              </a:lnSpc>
              <a:spcBef>
                <a:spcPts val="0"/>
              </a:spcBef>
              <a:spcAft>
                <a:spcPts val="0"/>
              </a:spcAft>
            </a:pPr>
            <a:r>
              <a:rPr sz="1400" b="0" i="0">
                <a:solidFill>
                  <a:srgbClr val="3D4F52"/>
                </a:solidFill>
                <a:latin typeface="Arial"/>
              </a:rPr>
              <a:t>string: tekst iz fajla</a:t>
            </a:r>
            <a:endParaRPr sz="14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Fajl objekat: novi tip podataka</a:t>
            </a:r>
            <a:endParaRPr sz="3200"/>
          </a:p>
        </p:txBody>
      </p:sp>
      <p:sp>
        <p:nvSpPr>
          <p:cNvPr id="4" name="Tekst 1x21.60"/>
          <p:cNvSpPr txBox="1"/>
          <p:nvPr/>
        </p:nvSpPr>
        <p:spPr>
          <a:xfrm>
            <a:off x="8128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Sa fajlom radimo preko metoda</a:t>
            </a:r>
            <a:endParaRPr sz="1800"/>
          </a:p>
        </p:txBody>
      </p:sp>
      <p:sp>
        <p:nvSpPr>
          <p:cNvPr id="5" name="Rounded Rectangle 4"/>
          <p:cNvSpPr/>
          <p:nvPr/>
        </p:nvSpPr>
        <p:spPr>
          <a:xfrm>
            <a:off x="819150" y="2083891"/>
            <a:ext cx="5118100"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8x20.15"/>
          <p:cNvSpPr txBox="1"/>
          <p:nvPr/>
        </p:nvSpPr>
        <p:spPr>
          <a:xfrm>
            <a:off x="1079500" y="2268041"/>
            <a:ext cx="4689348"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string i broj koristimo direktno</a:t>
            </a:r>
            <a:br/>
            <a:r>
              <a:rPr sz="1300" b="0" i="0">
                <a:solidFill>
                  <a:srgbClr val="E8EEE9"/>
                </a:solidFill>
                <a:latin typeface="Consolas"/>
              </a:rPr>
              <a:t>my_string = </a:t>
            </a:r>
            <a:r>
              <a:rPr sz="1300" b="0" i="0">
                <a:solidFill>
                  <a:srgbClr val="F0A35E"/>
                </a:solidFill>
                <a:latin typeface="Consolas"/>
              </a:rPr>
              <a:t>'abcdefg'</a:t>
            </a:r>
            <a:br/>
            <a:r>
              <a:rPr sz="1300" b="0" i="0">
                <a:solidFill>
                  <a:srgbClr val="E8EEE9"/>
                </a:solidFill>
                <a:latin typeface="Consolas"/>
              </a:rPr>
              <a:t>print(my_string)</a:t>
            </a:r>
            <a:br/>
            <a:r>
              <a:rPr sz="1300" b="0" i="0">
                <a:solidFill>
                  <a:srgbClr val="E8EEE9"/>
                </a:solidFill>
                <a:latin typeface="Consolas"/>
              </a:rPr>
              <a:t>my_number = 42</a:t>
            </a:r>
            <a:br/>
            <a:r>
              <a:rPr sz="1300" b="0" i="0">
                <a:solidFill>
                  <a:srgbClr val="E8EEE9"/>
                </a:solidFill>
                <a:latin typeface="Consolas"/>
              </a:rPr>
              <a:t>print(my_number + 1)</a:t>
            </a:r>
            <a:br/>
            <a:r>
              <a:rPr sz="1300" b="0" i="0">
                <a:solidFill>
                  <a:srgbClr val="8FB3AA"/>
                </a:solidFill>
                <a:latin typeface="Consolas"/>
              </a:rPr>
              <a:t># fajl objekat: preko metoda</a:t>
            </a:r>
            <a:br/>
            <a:r>
              <a:rPr sz="1300" b="0" i="0">
                <a:solidFill>
                  <a:srgbClr val="E8EEE9"/>
                </a:solidFill>
                <a:latin typeface="Consolas"/>
              </a:rPr>
              <a:t>my_file = open(</a:t>
            </a:r>
            <a:r>
              <a:rPr sz="1300" b="0" i="0">
                <a:solidFill>
                  <a:srgbClr val="F0A35E"/>
                </a:solidFill>
                <a:latin typeface="Consolas"/>
              </a:rPr>
              <a:t>"dna.txt"</a:t>
            </a:r>
            <a:r>
              <a:rPr sz="1300" b="0" i="0">
                <a:solidFill>
                  <a:srgbClr val="E8EEE9"/>
                </a:solidFill>
                <a:latin typeface="Consolas"/>
              </a:rPr>
              <a:t>)</a:t>
            </a:r>
            <a:br/>
            <a:r>
              <a:rPr sz="1300" b="0" i="0">
                <a:solidFill>
                  <a:srgbClr val="E8EEE9"/>
                </a:solidFill>
                <a:latin typeface="Consolas"/>
              </a:rPr>
              <a:t>print(my_file.read())</a:t>
            </a:r>
            <a:endParaRPr sz="1300"/>
          </a:p>
        </p:txBody>
      </p:sp>
      <p:sp>
        <p:nvSpPr>
          <p:cNvPr id="7" name="Tekst 2x20.30"/>
          <p:cNvSpPr txBox="1"/>
          <p:nvPr/>
        </p:nvSpPr>
        <p:spPr>
          <a:xfrm>
            <a:off x="812800" y="4607223"/>
            <a:ext cx="52334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String i broj predstavljaju jednu vrednost. Fajl objekat predstavlja fajl na disku.</a:t>
            </a:r>
            <a:endParaRPr sz="1400"/>
          </a:p>
        </p:txBody>
      </p:sp>
      <p:sp>
        <p:nvSpPr>
          <p:cNvPr id="8" name="Tekst 1x21.60"/>
          <p:cNvSpPr txBox="1"/>
          <p:nvPr/>
        </p:nvSpPr>
        <p:spPr>
          <a:xfrm>
            <a:off x="62484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Imena su proizvoljna, ime fajla nije</a:t>
            </a:r>
            <a:endParaRPr sz="1800"/>
          </a:p>
        </p:txBody>
      </p:sp>
      <p:sp>
        <p:nvSpPr>
          <p:cNvPr id="9" name="Rounded Rectangle 8"/>
          <p:cNvSpPr/>
          <p:nvPr/>
        </p:nvSpPr>
        <p:spPr>
          <a:xfrm>
            <a:off x="6254750" y="2083891"/>
            <a:ext cx="51181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20.15"/>
          <p:cNvSpPr txBox="1"/>
          <p:nvPr/>
        </p:nvSpPr>
        <p:spPr>
          <a:xfrm>
            <a:off x="6515100" y="2268041"/>
            <a:ext cx="468934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apple = </a:t>
            </a:r>
            <a:r>
              <a:rPr sz="1300" b="0" i="0">
                <a:solidFill>
                  <a:srgbClr val="F0A35E"/>
                </a:solidFill>
                <a:latin typeface="Consolas"/>
              </a:rPr>
              <a:t>"dna.txt"</a:t>
            </a:r>
            <a:br/>
            <a:r>
              <a:rPr sz="1300" b="0" i="0">
                <a:solidFill>
                  <a:srgbClr val="E8EEE9"/>
                </a:solidFill>
                <a:latin typeface="Consolas"/>
              </a:rPr>
              <a:t>banana = open(apple)</a:t>
            </a:r>
            <a:br/>
            <a:r>
              <a:rPr sz="1300" b="0" i="0">
                <a:solidFill>
                  <a:srgbClr val="E8EEE9"/>
                </a:solidFill>
                <a:latin typeface="Consolas"/>
              </a:rPr>
              <a:t>grape = banana.read()</a:t>
            </a:r>
            <a:endParaRPr sz="1300"/>
          </a:p>
        </p:txBody>
      </p:sp>
      <p:sp>
        <p:nvSpPr>
          <p:cNvPr id="11" name="Tekst 2x20.30"/>
          <p:cNvSpPr txBox="1"/>
          <p:nvPr/>
        </p:nvSpPr>
        <p:spPr>
          <a:xfrm>
            <a:off x="6248400" y="3327797"/>
            <a:ext cx="52334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Radi isto kao </a:t>
            </a:r>
            <a:r>
              <a:rPr sz="1400" b="0" i="0">
                <a:solidFill>
                  <a:srgbClr val="A8521A"/>
                </a:solidFill>
                <a:latin typeface="Arial"/>
              </a:rPr>
              <a:t>my_file_name</a:t>
            </a:r>
            <a:r>
              <a:rPr sz="1400" b="0" i="0">
                <a:solidFill>
                  <a:srgbClr val="3D4F52"/>
                </a:solidFill>
                <a:latin typeface="Arial"/>
              </a:rPr>
              <a:t>, </a:t>
            </a:r>
            <a:r>
              <a:rPr sz="1400" b="0" i="0">
                <a:solidFill>
                  <a:srgbClr val="A8521A"/>
                </a:solidFill>
                <a:latin typeface="Arial"/>
              </a:rPr>
              <a:t>my_file</a:t>
            </a:r>
            <a:r>
              <a:rPr sz="1400" b="0" i="0">
                <a:solidFill>
                  <a:srgbClr val="3D4F52"/>
                </a:solidFill>
                <a:latin typeface="Arial"/>
              </a:rPr>
              <a:t> i </a:t>
            </a:r>
            <a:r>
              <a:rPr sz="1400" b="0" i="0">
                <a:solidFill>
                  <a:srgbClr val="A8521A"/>
                </a:solidFill>
                <a:latin typeface="Arial"/>
              </a:rPr>
              <a:t>my_file_contents</a:t>
            </a:r>
            <a:r>
              <a:rPr sz="1400" b="0" i="0">
                <a:solidFill>
                  <a:srgbClr val="3D4F52"/>
                </a:solidFill>
                <a:latin typeface="Arial"/>
              </a:rPr>
              <a:t>, samo je teže za čitanje.</a:t>
            </a:r>
            <a:endParaRPr sz="1400"/>
          </a:p>
        </p:txBody>
      </p:sp>
      <p:sp>
        <p:nvSpPr>
          <p:cNvPr id="12" name="Rounded Rectangle 11"/>
          <p:cNvSpPr/>
          <p:nvPr/>
        </p:nvSpPr>
        <p:spPr>
          <a:xfrm>
            <a:off x="6248400" y="3944938"/>
            <a:ext cx="51308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8400" y="3944938"/>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20.30"/>
          <p:cNvSpPr txBox="1"/>
          <p:nvPr/>
        </p:nvSpPr>
        <p:spPr>
          <a:xfrm>
            <a:off x="6489700" y="4097338"/>
            <a:ext cx="478002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Ali </a:t>
            </a:r>
            <a:r>
              <a:rPr sz="1400" b="0" i="0">
                <a:solidFill>
                  <a:srgbClr val="A8521A"/>
                </a:solidFill>
                <a:latin typeface="Arial"/>
              </a:rPr>
              <a:t>"dna.txt"</a:t>
            </a:r>
            <a:r>
              <a:rPr sz="1400" b="0" i="0">
                <a:solidFill>
                  <a:srgbClr val="13262B"/>
                </a:solidFill>
                <a:latin typeface="Arial"/>
              </a:rPr>
              <a:t> mora biti ime stvarnog fajla na disku.</a:t>
            </a:r>
            <a:endParaRPr sz="14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Novi red na kraju fajla: rstrip</a:t>
            </a:r>
            <a:endParaRPr sz="3200"/>
          </a:p>
        </p:txBody>
      </p:sp>
      <p:sp>
        <p:nvSpPr>
          <p:cNvPr id="4" name="Rounded Rectangle 3"/>
          <p:cNvSpPr/>
          <p:nvPr/>
        </p:nvSpPr>
        <p:spPr>
          <a:xfrm>
            <a:off x="819150" y="1657251"/>
            <a:ext cx="10553700"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841401"/>
            <a:ext cx="10185400"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my_file = open(</a:t>
            </a:r>
            <a:r>
              <a:rPr sz="1300" b="0" i="0">
                <a:solidFill>
                  <a:srgbClr val="F0A35E"/>
                </a:solidFill>
                <a:latin typeface="Consolas"/>
              </a:rPr>
              <a:t>"dna.txt"</a:t>
            </a:r>
            <a:r>
              <a:rPr sz="1300" b="0" i="0">
                <a:solidFill>
                  <a:srgbClr val="E8EEE9"/>
                </a:solidFill>
                <a:latin typeface="Consolas"/>
              </a:rPr>
              <a:t>)</a:t>
            </a:r>
            <a:br/>
            <a:r>
              <a:rPr sz="1300" b="0" i="0">
                <a:solidFill>
                  <a:srgbClr val="E8EEE9"/>
                </a:solidFill>
                <a:latin typeface="Consolas"/>
              </a:rPr>
              <a:t>my_dna = my_file.read()</a:t>
            </a:r>
            <a:br/>
            <a:r>
              <a:rPr sz="1300" b="0" i="0">
                <a:solidFill>
                  <a:srgbClr val="E8EEE9"/>
                </a:solidFill>
                <a:latin typeface="Consolas"/>
              </a:rPr>
              <a:t>dna_length = len(my_dna)</a:t>
            </a:r>
            <a:br/>
            <a:r>
              <a:rPr sz="1300" b="0" i="0">
                <a:solidFill>
                  <a:srgbClr val="E8EEE9"/>
                </a:solidFill>
                <a:latin typeface="Consolas"/>
              </a:rPr>
              <a:t>print(</a:t>
            </a:r>
            <a:r>
              <a:rPr sz="1300" b="0" i="0">
                <a:solidFill>
                  <a:srgbClr val="F0A35E"/>
                </a:solidFill>
                <a:latin typeface="Consolas"/>
              </a:rPr>
              <a:t>"sequence is "</a:t>
            </a:r>
            <a:r>
              <a:rPr sz="1300" b="0" i="0">
                <a:solidFill>
                  <a:srgbClr val="E8EEE9"/>
                </a:solidFill>
                <a:latin typeface="Consolas"/>
              </a:rPr>
              <a:t> + my_dna + </a:t>
            </a:r>
            <a:r>
              <a:rPr sz="1300" b="0" i="0">
                <a:solidFill>
                  <a:srgbClr val="F0A35E"/>
                </a:solidFill>
                <a:latin typeface="Consolas"/>
              </a:rPr>
              <a:t>" and length is "</a:t>
            </a:r>
            <a:r>
              <a:rPr sz="1300" b="0" i="0">
                <a:solidFill>
                  <a:srgbClr val="E8EEE9"/>
                </a:solidFill>
                <a:latin typeface="Consolas"/>
              </a:rPr>
              <a:t> + str(dna_length))</a:t>
            </a:r>
            <a:endParaRPr sz="1300"/>
          </a:p>
        </p:txBody>
      </p:sp>
      <p:sp>
        <p:nvSpPr>
          <p:cNvPr id="6" name="Rounded Rectangle 5"/>
          <p:cNvSpPr/>
          <p:nvPr/>
        </p:nvSpPr>
        <p:spPr>
          <a:xfrm>
            <a:off x="819150" y="3264991"/>
            <a:ext cx="3243957" cy="1032470"/>
          </a:xfrm>
          <a:prstGeom prst="roundRect">
            <a:avLst>
              <a:gd name="adj" fmla="val 9840"/>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3015357" y="3322141"/>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8" name="Tekst 2x20.15"/>
          <p:cNvSpPr txBox="1"/>
          <p:nvPr/>
        </p:nvSpPr>
        <p:spPr>
          <a:xfrm>
            <a:off x="1079500" y="3601541"/>
            <a:ext cx="2777722"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sequence is ACTGTACGTGCACTGATC</a:t>
            </a:r>
            <a:br/>
            <a:r>
              <a:rPr sz="1300" b="0" i="0">
                <a:solidFill>
                  <a:srgbClr val="13262B"/>
                </a:solidFill>
                <a:latin typeface="Consolas"/>
              </a:rPr>
              <a:t> and length is 19</a:t>
            </a:r>
            <a:endParaRPr sz="1300"/>
          </a:p>
        </p:txBody>
      </p:sp>
      <p:sp>
        <p:nvSpPr>
          <p:cNvPr id="9" name="Rounded Rectangle 8"/>
          <p:cNvSpPr/>
          <p:nvPr/>
        </p:nvSpPr>
        <p:spPr>
          <a:xfrm>
            <a:off x="4225032" y="3261816"/>
            <a:ext cx="7150993" cy="1038820"/>
          </a:xfrm>
          <a:prstGeom prst="roundRect">
            <a:avLst>
              <a:gd name="adj" fmla="val 9780"/>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30"/>
          <p:cNvSpPr txBox="1"/>
          <p:nvPr/>
        </p:nvSpPr>
        <p:spPr>
          <a:xfrm>
            <a:off x="4431407" y="3523456"/>
            <a:ext cx="6860163"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Izlaz je u dva reda, a dužina je 19, ne 18: </a:t>
            </a:r>
            <a:r>
              <a:rPr sz="1400" b="0" i="0">
                <a:solidFill>
                  <a:srgbClr val="A8521A"/>
                </a:solidFill>
                <a:latin typeface="Arial"/>
              </a:rPr>
              <a:t>read</a:t>
            </a:r>
            <a:r>
              <a:rPr sz="1400" b="0" i="0">
                <a:solidFill>
                  <a:srgbClr val="3D4F52"/>
                </a:solidFill>
                <a:latin typeface="Arial"/>
              </a:rPr>
              <a:t> je vratio i znak za novi red sa kraja fajla, </a:t>
            </a:r>
            <a:r>
              <a:rPr sz="1400" b="0" i="0">
                <a:solidFill>
                  <a:srgbClr val="A8521A"/>
                </a:solidFill>
                <a:latin typeface="Arial"/>
              </a:rPr>
              <a:t>'ACTGTACGTGCACTGATC\n'</a:t>
            </a:r>
            <a:r>
              <a:rPr sz="1400" b="0" i="0">
                <a:solidFill>
                  <a:srgbClr val="3D4F52"/>
                </a:solidFill>
                <a:latin typeface="Arial"/>
              </a:rPr>
              <a:t>.</a:t>
            </a:r>
            <a:endParaRPr sz="1400"/>
          </a:p>
        </p:txBody>
      </p:sp>
      <p:sp>
        <p:nvSpPr>
          <p:cNvPr id="11" name="Rounded Rectangle 10"/>
          <p:cNvSpPr/>
          <p:nvPr/>
        </p:nvSpPr>
        <p:spPr>
          <a:xfrm>
            <a:off x="819150" y="4513362"/>
            <a:ext cx="3788668" cy="880070"/>
          </a:xfrm>
          <a:prstGeom prst="roundRect">
            <a:avLst>
              <a:gd name="adj" fmla="val 115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2x20.15"/>
          <p:cNvSpPr txBox="1"/>
          <p:nvPr/>
        </p:nvSpPr>
        <p:spPr>
          <a:xfrm>
            <a:off x="1079500" y="4697512"/>
            <a:ext cx="3333327"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ukloni novi red sa kraja</a:t>
            </a:r>
            <a:br/>
            <a:r>
              <a:rPr sz="1300" b="0" i="0">
                <a:solidFill>
                  <a:srgbClr val="E8EEE9"/>
                </a:solidFill>
                <a:latin typeface="Consolas"/>
              </a:rPr>
              <a:t>my_dna = my_file.read().rstrip(</a:t>
            </a:r>
            <a:r>
              <a:rPr sz="1300" b="0" i="0">
                <a:solidFill>
                  <a:srgbClr val="F0A35E"/>
                </a:solidFill>
                <a:latin typeface="Consolas"/>
              </a:rPr>
              <a:t>"\n"</a:t>
            </a:r>
            <a:r>
              <a:rPr sz="1300" b="0" i="0">
                <a:solidFill>
                  <a:srgbClr val="E8EEE9"/>
                </a:solidFill>
                <a:latin typeface="Consolas"/>
              </a:rPr>
              <a:t>)</a:t>
            </a:r>
            <a:endParaRPr sz="1300"/>
          </a:p>
        </p:txBody>
      </p:sp>
      <p:sp>
        <p:nvSpPr>
          <p:cNvPr id="13" name="Rounded Rectangle 12"/>
          <p:cNvSpPr/>
          <p:nvPr/>
        </p:nvSpPr>
        <p:spPr>
          <a:xfrm>
            <a:off x="4772918" y="4513362"/>
            <a:ext cx="6599932" cy="880070"/>
          </a:xfrm>
          <a:prstGeom prst="roundRect">
            <a:avLst>
              <a:gd name="adj" fmla="val 115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6.80"/>
          <p:cNvSpPr txBox="1"/>
          <p:nvPr/>
        </p:nvSpPr>
        <p:spPr>
          <a:xfrm>
            <a:off x="10325100" y="4570512"/>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15" name="Tekst 1x20.15"/>
          <p:cNvSpPr txBox="1"/>
          <p:nvPr/>
        </p:nvSpPr>
        <p:spPr>
          <a:xfrm>
            <a:off x="5033268" y="4953397"/>
            <a:ext cx="6200817"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sequence is ACTGTACGTGCACTGATC and length is 18</a:t>
            </a:r>
            <a:endParaRPr sz="13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Lanac metoda i nepostojeći fajl</a:t>
            </a:r>
            <a:endParaRPr sz="3200"/>
          </a:p>
        </p:txBody>
      </p:sp>
      <p:sp>
        <p:nvSpPr>
          <p:cNvPr id="4" name="Tekst 1x21.60"/>
          <p:cNvSpPr txBox="1"/>
          <p:nvPr/>
        </p:nvSpPr>
        <p:spPr>
          <a:xfrm>
            <a:off x="812800" y="1701701"/>
            <a:ext cx="559855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Čita se s leva nadesno</a:t>
            </a:r>
            <a:endParaRPr sz="1800"/>
          </a:p>
        </p:txBody>
      </p:sp>
      <p:sp>
        <p:nvSpPr>
          <p:cNvPr id="5" name="Rounded Rectangle 4"/>
          <p:cNvSpPr/>
          <p:nvPr/>
        </p:nvSpPr>
        <p:spPr>
          <a:xfrm>
            <a:off x="819150" y="2083891"/>
            <a:ext cx="5476081" cy="624185"/>
          </a:xfrm>
          <a:prstGeom prst="roundRect">
            <a:avLst>
              <a:gd name="adj" fmla="val 1627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20.15"/>
          <p:cNvSpPr txBox="1"/>
          <p:nvPr/>
        </p:nvSpPr>
        <p:spPr>
          <a:xfrm>
            <a:off x="1079500" y="2268041"/>
            <a:ext cx="5054489"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my_dna = my_file.read().rstrip(</a:t>
            </a:r>
            <a:r>
              <a:rPr sz="1300" b="0" i="0">
                <a:solidFill>
                  <a:srgbClr val="F0A35E"/>
                </a:solidFill>
                <a:latin typeface="Consolas"/>
              </a:rPr>
              <a:t>"\n"</a:t>
            </a:r>
            <a:r>
              <a:rPr sz="1300" b="0" i="0">
                <a:solidFill>
                  <a:srgbClr val="E8EEE9"/>
                </a:solidFill>
                <a:latin typeface="Consolas"/>
              </a:rPr>
              <a:t>)</a:t>
            </a:r>
            <a:endParaRPr sz="1300"/>
          </a:p>
        </p:txBody>
      </p:sp>
      <p:sp>
        <p:nvSpPr>
          <p:cNvPr id="7" name="Tekst 1x20.15"/>
          <p:cNvSpPr txBox="1"/>
          <p:nvPr/>
        </p:nvSpPr>
        <p:spPr>
          <a:xfrm>
            <a:off x="812800" y="2816027"/>
            <a:ext cx="1424940" cy="257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my_file</a:t>
            </a:r>
            <a:endParaRPr sz="1300"/>
          </a:p>
        </p:txBody>
      </p:sp>
      <p:sp>
        <p:nvSpPr>
          <p:cNvPr id="8" name="Tekst 1x20.30"/>
          <p:cNvSpPr txBox="1"/>
          <p:nvPr/>
        </p:nvSpPr>
        <p:spPr>
          <a:xfrm>
            <a:off x="2362200" y="2816027"/>
            <a:ext cx="4018169"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fajl objekat</a:t>
            </a:r>
            <a:endParaRPr sz="1400"/>
          </a:p>
        </p:txBody>
      </p:sp>
      <p:sp>
        <p:nvSpPr>
          <p:cNvPr id="9" name="Tekst 1x20.15"/>
          <p:cNvSpPr txBox="1"/>
          <p:nvPr/>
        </p:nvSpPr>
        <p:spPr>
          <a:xfrm>
            <a:off x="812800" y="3149997"/>
            <a:ext cx="1424940" cy="257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.read()</a:t>
            </a:r>
            <a:endParaRPr sz="1300"/>
          </a:p>
        </p:txBody>
      </p:sp>
      <p:sp>
        <p:nvSpPr>
          <p:cNvPr id="10" name="Tekst 1x20.30"/>
          <p:cNvSpPr txBox="1"/>
          <p:nvPr/>
        </p:nvSpPr>
        <p:spPr>
          <a:xfrm>
            <a:off x="2362200" y="3149997"/>
            <a:ext cx="4018169"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vraća string, sa \n na kraju</a:t>
            </a:r>
            <a:endParaRPr sz="1400"/>
          </a:p>
        </p:txBody>
      </p:sp>
      <p:sp>
        <p:nvSpPr>
          <p:cNvPr id="11" name="Tekst 1x20.15"/>
          <p:cNvSpPr txBox="1"/>
          <p:nvPr/>
        </p:nvSpPr>
        <p:spPr>
          <a:xfrm>
            <a:off x="812800" y="3483967"/>
            <a:ext cx="1424940" cy="257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.rstrip("\n")</a:t>
            </a:r>
            <a:endParaRPr sz="1300"/>
          </a:p>
        </p:txBody>
      </p:sp>
      <p:sp>
        <p:nvSpPr>
          <p:cNvPr id="12" name="Tekst 1x20.30"/>
          <p:cNvSpPr txBox="1"/>
          <p:nvPr/>
        </p:nvSpPr>
        <p:spPr>
          <a:xfrm>
            <a:off x="2362200" y="3483967"/>
            <a:ext cx="4018169"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poziva se na tom stringu i vraća ga bez \n</a:t>
            </a:r>
            <a:endParaRPr sz="1400"/>
          </a:p>
        </p:txBody>
      </p:sp>
      <p:sp>
        <p:nvSpPr>
          <p:cNvPr id="13" name="Tekst 1x20.30"/>
          <p:cNvSpPr txBox="1"/>
          <p:nvPr/>
        </p:nvSpPr>
        <p:spPr>
          <a:xfrm>
            <a:off x="812800" y="3843338"/>
            <a:ext cx="5598557"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Ako je teško, isto se piše u dva koraka:</a:t>
            </a:r>
            <a:endParaRPr sz="1400"/>
          </a:p>
        </p:txBody>
      </p:sp>
      <p:sp>
        <p:nvSpPr>
          <p:cNvPr id="14" name="Rounded Rectangle 13"/>
          <p:cNvSpPr/>
          <p:nvPr/>
        </p:nvSpPr>
        <p:spPr>
          <a:xfrm>
            <a:off x="819150" y="4209058"/>
            <a:ext cx="5476081" cy="880070"/>
          </a:xfrm>
          <a:prstGeom prst="roundRect">
            <a:avLst>
              <a:gd name="adj" fmla="val 115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2x20.15"/>
          <p:cNvSpPr txBox="1"/>
          <p:nvPr/>
        </p:nvSpPr>
        <p:spPr>
          <a:xfrm>
            <a:off x="1079500" y="4393208"/>
            <a:ext cx="5054489"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my_file_contents = my_file.read()</a:t>
            </a:r>
            <a:br/>
            <a:r>
              <a:rPr sz="1300" b="0" i="0">
                <a:solidFill>
                  <a:srgbClr val="E8EEE9"/>
                </a:solidFill>
                <a:latin typeface="Consolas"/>
              </a:rPr>
              <a:t>my_dna = my_file_contents.rstrip(</a:t>
            </a:r>
            <a:r>
              <a:rPr sz="1300" b="0" i="0">
                <a:solidFill>
                  <a:srgbClr val="F0A35E"/>
                </a:solidFill>
                <a:latin typeface="Consolas"/>
              </a:rPr>
              <a:t>"\n"</a:t>
            </a:r>
            <a:r>
              <a:rPr sz="1300" b="0" i="0">
                <a:solidFill>
                  <a:srgbClr val="E8EEE9"/>
                </a:solidFill>
                <a:latin typeface="Consolas"/>
              </a:rPr>
              <a:t>)</a:t>
            </a:r>
            <a:endParaRPr sz="1300"/>
          </a:p>
        </p:txBody>
      </p:sp>
      <p:sp>
        <p:nvSpPr>
          <p:cNvPr id="16" name="Tekst 1x21.60"/>
          <p:cNvSpPr txBox="1"/>
          <p:nvPr/>
        </p:nvSpPr>
        <p:spPr>
          <a:xfrm>
            <a:off x="6606381" y="1701701"/>
            <a:ext cx="4868275"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Fajl koji ne postoji</a:t>
            </a:r>
            <a:endParaRPr sz="1800"/>
          </a:p>
        </p:txBody>
      </p:sp>
      <p:sp>
        <p:nvSpPr>
          <p:cNvPr id="17" name="Rounded Rectangle 16"/>
          <p:cNvSpPr/>
          <p:nvPr/>
        </p:nvSpPr>
        <p:spPr>
          <a:xfrm>
            <a:off x="6612731" y="2083891"/>
            <a:ext cx="4760119" cy="624185"/>
          </a:xfrm>
          <a:prstGeom prst="roundRect">
            <a:avLst>
              <a:gd name="adj" fmla="val 1627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20.15"/>
          <p:cNvSpPr txBox="1"/>
          <p:nvPr/>
        </p:nvSpPr>
        <p:spPr>
          <a:xfrm>
            <a:off x="6873081" y="2268041"/>
            <a:ext cx="4324207"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my_file = open(</a:t>
            </a:r>
            <a:r>
              <a:rPr sz="1300" b="0" i="0">
                <a:solidFill>
                  <a:srgbClr val="F0A35E"/>
                </a:solidFill>
                <a:latin typeface="Consolas"/>
              </a:rPr>
              <a:t>"nonexistent.txt"</a:t>
            </a:r>
            <a:r>
              <a:rPr sz="1300" b="0" i="0">
                <a:solidFill>
                  <a:srgbClr val="E8EEE9"/>
                </a:solidFill>
                <a:latin typeface="Consolas"/>
              </a:rPr>
              <a:t>)</a:t>
            </a:r>
            <a:endParaRPr sz="1300"/>
          </a:p>
        </p:txBody>
      </p:sp>
      <p:sp>
        <p:nvSpPr>
          <p:cNvPr id="19" name="Tekst 2x18.00"/>
          <p:cNvSpPr txBox="1"/>
          <p:nvPr/>
        </p:nvSpPr>
        <p:spPr>
          <a:xfrm>
            <a:off x="6606381" y="2816027"/>
            <a:ext cx="4868275" cy="457200"/>
          </a:xfrm>
          <a:prstGeom prst="rect">
            <a:avLst/>
          </a:prstGeom>
          <a:noFill/>
        </p:spPr>
        <p:txBody>
          <a:bodyPr wrap="square" anchor="t" lIns="0" rIns="0" tIns="0" bIns="0">
            <a:noAutofit/>
          </a:bodyPr>
          <a:lstStyle/>
          <a:p>
            <a:pPr algn="l">
              <a:lnSpc>
                <a:spcPts val="1800"/>
              </a:lnSpc>
              <a:spcBef>
                <a:spcPts val="0"/>
              </a:spcBef>
              <a:spcAft>
                <a:spcPts val="0"/>
              </a:spcAft>
            </a:pPr>
            <a:r>
              <a:rPr sz="1200" b="0" i="0">
                <a:solidFill>
                  <a:srgbClr val="A8521A"/>
                </a:solidFill>
                <a:latin typeface="Consolas"/>
              </a:rPr>
              <a:t>FileNotFoundError: [Errno 2] No such file or directory: 'nonexistent.txt'</a:t>
            </a:r>
            <a:endParaRPr sz="1200"/>
          </a:p>
        </p:txBody>
      </p:sp>
      <p:sp>
        <p:nvSpPr>
          <p:cNvPr id="20" name="Tekst 2x20.30"/>
          <p:cNvSpPr txBox="1"/>
          <p:nvPr/>
        </p:nvSpPr>
        <p:spPr>
          <a:xfrm>
            <a:off x="6606381" y="3374827"/>
            <a:ext cx="486827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Kako da proverimo da li fajl postoji pre otvaranja, vidimo u poglavlju 9.</a:t>
            </a:r>
            <a:endParaRPr sz="14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Zašto izlaz pisati u fajl?</a:t>
            </a:r>
            <a:endParaRPr sz="3200"/>
          </a:p>
        </p:txBody>
      </p:sp>
      <p:sp>
        <p:nvSpPr>
          <p:cNvPr id="4" name="Rounded Rectangle 3"/>
          <p:cNvSpPr/>
          <p:nvPr/>
        </p:nvSpPr>
        <p:spPr>
          <a:xfrm>
            <a:off x="815975" y="1704876"/>
            <a:ext cx="5181600" cy="2386012"/>
          </a:xfrm>
          <a:prstGeom prst="roundRect">
            <a:avLst>
              <a:gd name="adj" fmla="val 425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86422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Ispis na ekran</a:t>
            </a:r>
            <a:endParaRPr sz="1800"/>
          </a:p>
        </p:txBody>
      </p:sp>
      <p:sp>
        <p:nvSpPr>
          <p:cNvPr id="6" name="Tekst 2x20.30"/>
          <p:cNvSpPr txBox="1"/>
          <p:nvPr/>
        </p:nvSpPr>
        <p:spPr>
          <a:xfrm>
            <a:off x="1022350" y="2261691"/>
            <a:ext cx="4864227"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Odličan za kratke programe, isprobavanje i poruke o napretku. Za veliki izlaz nije:</a:t>
            </a:r>
            <a:endParaRPr sz="1400"/>
          </a:p>
        </p:txBody>
      </p:sp>
      <p:sp>
        <p:nvSpPr>
          <p:cNvPr id="7" name="Tekst 4x20.30"/>
          <p:cNvSpPr txBox="1"/>
          <p:nvPr/>
        </p:nvSpPr>
        <p:spPr>
          <a:xfrm>
            <a:off x="1022350" y="2878832"/>
            <a:ext cx="4864227" cy="103108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terminal može da izgubi početak dugog izlaza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teško se pretražuje, a duge linije se prelamaju</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sve završi na jednom mestu</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nestaje kad se terminal zatvori</a:t>
            </a:r>
            <a:endParaRPr sz="1400"/>
          </a:p>
        </p:txBody>
      </p:sp>
      <p:sp>
        <p:nvSpPr>
          <p:cNvPr id="8" name="Rounded Rectangle 7"/>
          <p:cNvSpPr/>
          <p:nvPr/>
        </p:nvSpPr>
        <p:spPr>
          <a:xfrm>
            <a:off x="6203950" y="1701701"/>
            <a:ext cx="5175250" cy="2392362"/>
          </a:xfrm>
          <a:prstGeom prst="roundRect">
            <a:avLst>
              <a:gd name="adj" fmla="val 4246"/>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1.60"/>
          <p:cNvSpPr txBox="1"/>
          <p:nvPr/>
        </p:nvSpPr>
        <p:spPr>
          <a:xfrm>
            <a:off x="6407150" y="1879501"/>
            <a:ext cx="486422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Pisanje u fajl</a:t>
            </a:r>
            <a:endParaRPr sz="1800"/>
          </a:p>
        </p:txBody>
      </p:sp>
      <p:sp>
        <p:nvSpPr>
          <p:cNvPr id="10" name="Tekst 5x20.30"/>
          <p:cNvSpPr txBox="1"/>
          <p:nvPr/>
        </p:nvSpPr>
        <p:spPr>
          <a:xfrm>
            <a:off x="6407150" y="2255341"/>
            <a:ext cx="4864227" cy="128885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rezultat ostaje i posle kraja programa, što je važno za programe koji rade satima</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različiti delovi izlaza mogu u različite fajlove</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fajl dalje čita sledeći program u lancu</a:t>
            </a:r>
            <a:endParaRPr sz="1400"/>
          </a:p>
          <a:p>
            <a:pPr algn="l" marL="228600" indent="-171450">
              <a:lnSpc>
                <a:spcPts val="2030"/>
              </a:lnSpc>
              <a:spcBef>
                <a:spcPts val="0"/>
              </a:spcBef>
              <a:spcAft>
                <a:spcPts val="0"/>
              </a:spcAft>
              <a:buClr>
                <a:srgbClr val="13262B"/>
              </a:buClr>
              <a:buFont typeface="Arial"/>
              <a:buChar char="•"/>
            </a:pPr>
            <a:r>
              <a:rPr sz="1400" b="0" i="0">
                <a:solidFill>
                  <a:srgbClr val="13262B"/>
                </a:solidFill>
                <a:latin typeface="Arial"/>
              </a:rPr>
              <a:t>fajl se otvara u editoru i lako pretražuje</a:t>
            </a:r>
            <a:endParaRPr sz="14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Pisanje u fajl i zatvaranje</a:t>
            </a:r>
            <a:endParaRPr sz="3200"/>
          </a:p>
        </p:txBody>
      </p:sp>
      <p:sp>
        <p:nvSpPr>
          <p:cNvPr id="4" name="Tekst 1x21.60"/>
          <p:cNvSpPr txBox="1"/>
          <p:nvPr/>
        </p:nvSpPr>
        <p:spPr>
          <a:xfrm>
            <a:off x="812800" y="1650901"/>
            <a:ext cx="668203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Režim, drugi argument open</a:t>
            </a:r>
            <a:endParaRPr sz="1800"/>
          </a:p>
        </p:txBody>
      </p:sp>
      <p:sp>
        <p:nvSpPr>
          <p:cNvPr id="5" name="Rectangle 4"/>
          <p:cNvSpPr/>
          <p:nvPr/>
        </p:nvSpPr>
        <p:spPr>
          <a:xfrm>
            <a:off x="812800" y="2026741"/>
            <a:ext cx="6551017" cy="330795"/>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800" y="2351187"/>
            <a:ext cx="1441152"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919480" y="2088971"/>
            <a:ext cx="1253192"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Režim</a:t>
            </a:r>
            <a:endParaRPr sz="1400"/>
          </a:p>
        </p:txBody>
      </p:sp>
      <p:sp>
        <p:nvSpPr>
          <p:cNvPr id="8" name="Rectangle 7"/>
          <p:cNvSpPr/>
          <p:nvPr/>
        </p:nvSpPr>
        <p:spPr>
          <a:xfrm>
            <a:off x="2253952" y="2351187"/>
            <a:ext cx="510986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6.80"/>
          <p:cNvSpPr txBox="1"/>
          <p:nvPr/>
        </p:nvSpPr>
        <p:spPr>
          <a:xfrm>
            <a:off x="2360632" y="2088971"/>
            <a:ext cx="4994435"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Značenje</a:t>
            </a:r>
            <a:endParaRPr sz="1400"/>
          </a:p>
        </p:txBody>
      </p:sp>
      <p:sp>
        <p:nvSpPr>
          <p:cNvPr id="10" name="Rectangle 9"/>
          <p:cNvSpPr/>
          <p:nvPr/>
        </p:nvSpPr>
        <p:spPr>
          <a:xfrm>
            <a:off x="812800" y="2685157"/>
            <a:ext cx="1441152"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16.80"/>
          <p:cNvSpPr txBox="1"/>
          <p:nvPr/>
        </p:nvSpPr>
        <p:spPr>
          <a:xfrm>
            <a:off x="919480" y="2419767"/>
            <a:ext cx="125319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"r"</a:t>
            </a:r>
            <a:endParaRPr sz="1400"/>
          </a:p>
        </p:txBody>
      </p:sp>
      <p:sp>
        <p:nvSpPr>
          <p:cNvPr id="12" name="Rectangle 11"/>
          <p:cNvSpPr/>
          <p:nvPr/>
        </p:nvSpPr>
        <p:spPr>
          <a:xfrm>
            <a:off x="2253952" y="2685157"/>
            <a:ext cx="510986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16.80"/>
          <p:cNvSpPr txBox="1"/>
          <p:nvPr/>
        </p:nvSpPr>
        <p:spPr>
          <a:xfrm>
            <a:off x="2360632" y="2419767"/>
            <a:ext cx="4994435"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čitanje (podrazumevano)</a:t>
            </a:r>
            <a:endParaRPr sz="1400"/>
          </a:p>
        </p:txBody>
      </p:sp>
      <p:sp>
        <p:nvSpPr>
          <p:cNvPr id="14" name="Rectangle 13"/>
          <p:cNvSpPr/>
          <p:nvPr/>
        </p:nvSpPr>
        <p:spPr>
          <a:xfrm>
            <a:off x="812800" y="3019127"/>
            <a:ext cx="1441152"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16.80"/>
          <p:cNvSpPr txBox="1"/>
          <p:nvPr/>
        </p:nvSpPr>
        <p:spPr>
          <a:xfrm>
            <a:off x="919480" y="2753737"/>
            <a:ext cx="125319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"w"</a:t>
            </a:r>
            <a:endParaRPr sz="1400"/>
          </a:p>
        </p:txBody>
      </p:sp>
      <p:sp>
        <p:nvSpPr>
          <p:cNvPr id="16" name="Rectangle 15"/>
          <p:cNvSpPr/>
          <p:nvPr/>
        </p:nvSpPr>
        <p:spPr>
          <a:xfrm>
            <a:off x="2253952" y="3019127"/>
            <a:ext cx="510986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16.80"/>
          <p:cNvSpPr txBox="1"/>
          <p:nvPr/>
        </p:nvSpPr>
        <p:spPr>
          <a:xfrm>
            <a:off x="2360632" y="2753737"/>
            <a:ext cx="4994435"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pisanje: postojeći sadržaj se briše</a:t>
            </a:r>
            <a:endParaRPr sz="1400"/>
          </a:p>
        </p:txBody>
      </p:sp>
      <p:sp>
        <p:nvSpPr>
          <p:cNvPr id="18" name="Rectangle 17"/>
          <p:cNvSpPr/>
          <p:nvPr/>
        </p:nvSpPr>
        <p:spPr>
          <a:xfrm>
            <a:off x="812800" y="3353098"/>
            <a:ext cx="1441152"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1x16.80"/>
          <p:cNvSpPr txBox="1"/>
          <p:nvPr/>
        </p:nvSpPr>
        <p:spPr>
          <a:xfrm>
            <a:off x="919480" y="3087707"/>
            <a:ext cx="1253192"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"a"</a:t>
            </a:r>
            <a:endParaRPr sz="1400"/>
          </a:p>
        </p:txBody>
      </p:sp>
      <p:sp>
        <p:nvSpPr>
          <p:cNvPr id="20" name="Rectangle 19"/>
          <p:cNvSpPr/>
          <p:nvPr/>
        </p:nvSpPr>
        <p:spPr>
          <a:xfrm>
            <a:off x="2253952" y="3353098"/>
            <a:ext cx="510986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1x16.80"/>
          <p:cNvSpPr txBox="1"/>
          <p:nvPr/>
        </p:nvSpPr>
        <p:spPr>
          <a:xfrm>
            <a:off x="2360632" y="3087707"/>
            <a:ext cx="4994435"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dodavanje na kraj fajla</a:t>
            </a:r>
            <a:endParaRPr sz="1400"/>
          </a:p>
        </p:txBody>
      </p:sp>
      <p:sp>
        <p:nvSpPr>
          <p:cNvPr id="22" name="Tekst 1x20.30"/>
          <p:cNvSpPr txBox="1"/>
          <p:nvPr/>
        </p:nvSpPr>
        <p:spPr>
          <a:xfrm>
            <a:off x="812800" y="3464223"/>
            <a:ext cx="6682038"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Ako fajl ne postoji, i </a:t>
            </a:r>
            <a:r>
              <a:rPr sz="1400" b="0" i="0">
                <a:solidFill>
                  <a:srgbClr val="A8521A"/>
                </a:solidFill>
                <a:latin typeface="Arial"/>
              </a:rPr>
              <a:t>"w"</a:t>
            </a:r>
            <a:r>
              <a:rPr sz="1400" b="0" i="0">
                <a:solidFill>
                  <a:srgbClr val="3D4F52"/>
                </a:solidFill>
                <a:latin typeface="Arial"/>
              </a:rPr>
              <a:t> i </a:t>
            </a:r>
            <a:r>
              <a:rPr sz="1400" b="0" i="0">
                <a:solidFill>
                  <a:srgbClr val="A8521A"/>
                </a:solidFill>
                <a:latin typeface="Arial"/>
              </a:rPr>
              <a:t>"a"</a:t>
            </a:r>
            <a:r>
              <a:rPr sz="1400" b="0" i="0">
                <a:solidFill>
                  <a:srgbClr val="3D4F52"/>
                </a:solidFill>
                <a:latin typeface="Arial"/>
              </a:rPr>
              <a:t> prave novi.</a:t>
            </a:r>
            <a:endParaRPr sz="1400"/>
          </a:p>
        </p:txBody>
      </p:sp>
      <p:sp>
        <p:nvSpPr>
          <p:cNvPr id="23" name="Tekst 1x21.60"/>
          <p:cNvSpPr txBox="1"/>
          <p:nvPr/>
        </p:nvSpPr>
        <p:spPr>
          <a:xfrm>
            <a:off x="7668617" y="1650901"/>
            <a:ext cx="3784794"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write i close</a:t>
            </a:r>
            <a:endParaRPr sz="1800"/>
          </a:p>
        </p:txBody>
      </p:sp>
      <p:sp>
        <p:nvSpPr>
          <p:cNvPr id="24" name="Rounded Rectangle 23"/>
          <p:cNvSpPr/>
          <p:nvPr/>
        </p:nvSpPr>
        <p:spPr>
          <a:xfrm>
            <a:off x="7674967" y="2033091"/>
            <a:ext cx="3697883" cy="2159496"/>
          </a:xfrm>
          <a:prstGeom prst="roundRect">
            <a:avLst>
              <a:gd name="adj" fmla="val 470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7x20.15"/>
          <p:cNvSpPr txBox="1"/>
          <p:nvPr/>
        </p:nvSpPr>
        <p:spPr>
          <a:xfrm>
            <a:off x="7935317" y="2217241"/>
            <a:ext cx="3240726" cy="179119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my_file = open(</a:t>
            </a:r>
            <a:r>
              <a:rPr sz="1300" b="0" i="0">
                <a:solidFill>
                  <a:srgbClr val="F0A35E"/>
                </a:solidFill>
                <a:latin typeface="Consolas"/>
              </a:rPr>
              <a:t>"out.txt"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my_file.write(</a:t>
            </a:r>
            <a:r>
              <a:rPr sz="1300" b="0" i="0">
                <a:solidFill>
                  <a:srgbClr val="F0A35E"/>
                </a:solidFill>
                <a:latin typeface="Consolas"/>
              </a:rPr>
              <a:t>"Hello world"</a:t>
            </a:r>
            <a:r>
              <a:rPr sz="1300" b="0" i="0">
                <a:solidFill>
                  <a:srgbClr val="E8EEE9"/>
                </a:solidFill>
                <a:latin typeface="Consolas"/>
              </a:rPr>
              <a:t>)</a:t>
            </a:r>
            <a:br/>
            <a:r>
              <a:rPr sz="1300" b="0" i="0">
                <a:solidFill>
                  <a:srgbClr val="8FB3AA"/>
                </a:solidFill>
                <a:latin typeface="Consolas"/>
              </a:rPr>
              <a:t># write prima bilo koji string</a:t>
            </a:r>
            <a:br/>
            <a:r>
              <a:rPr sz="1300" b="0" i="0">
                <a:solidFill>
                  <a:srgbClr val="E8EEE9"/>
                </a:solidFill>
                <a:latin typeface="Consolas"/>
              </a:rPr>
              <a:t>my_file.write(str(len(</a:t>
            </a:r>
            <a:r>
              <a:rPr sz="1300" b="0" i="0">
                <a:solidFill>
                  <a:srgbClr val="F0A35E"/>
                </a:solidFill>
                <a:latin typeface="Consolas"/>
              </a:rPr>
              <a:t>'AGTGCTAG'</a:t>
            </a:r>
            <a:r>
              <a:rPr sz="1300" b="0" i="0">
                <a:solidFill>
                  <a:srgbClr val="E8EEE9"/>
                </a:solidFill>
                <a:latin typeface="Consolas"/>
              </a:rPr>
              <a:t>)))</a:t>
            </a:r>
            <a:br/>
            <a:r>
              <a:rPr sz="1300" b="0" i="0">
                <a:solidFill>
                  <a:srgbClr val="E8EEE9"/>
                </a:solidFill>
                <a:latin typeface="Consolas"/>
              </a:rPr>
              <a:t>my_file.write(</a:t>
            </a:r>
            <a:r>
              <a:rPr sz="1300" b="0" i="0">
                <a:solidFill>
                  <a:srgbClr val="F0A35E"/>
                </a:solidFill>
                <a:latin typeface="Consolas"/>
              </a:rPr>
              <a:t>"ATGC"</a:t>
            </a:r>
            <a:r>
              <a:rPr sz="1300" b="0" i="0">
                <a:solidFill>
                  <a:srgbClr val="E8EEE9"/>
                </a:solidFill>
                <a:latin typeface="Consolas"/>
              </a:rPr>
              <a:t>.lower())</a:t>
            </a:r>
            <a:br/>
            <a:r>
              <a:rPr sz="1300" b="0" i="0">
                <a:solidFill>
                  <a:srgbClr val="8FB3AA"/>
                </a:solidFill>
                <a:latin typeface="Consolas"/>
              </a:rPr>
              <a:t># na kraju zatvorite fajl</a:t>
            </a:r>
            <a:br/>
            <a:r>
              <a:rPr sz="1300" b="0" i="0">
                <a:solidFill>
                  <a:srgbClr val="E8EEE9"/>
                </a:solidFill>
                <a:latin typeface="Consolas"/>
              </a:rPr>
              <a:t>my_file.close()</a:t>
            </a:r>
            <a:endParaRPr sz="1300"/>
          </a:p>
        </p:txBody>
      </p:sp>
      <p:sp>
        <p:nvSpPr>
          <p:cNvPr id="26" name="Rounded Rectangle 25"/>
          <p:cNvSpPr/>
          <p:nvPr/>
        </p:nvSpPr>
        <p:spPr>
          <a:xfrm>
            <a:off x="812800" y="4402138"/>
            <a:ext cx="5181600"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2800" y="4402138"/>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t 2x20.30"/>
          <p:cNvSpPr txBox="1"/>
          <p:nvPr/>
        </p:nvSpPr>
        <p:spPr>
          <a:xfrm>
            <a:off x="1054100" y="4554538"/>
            <a:ext cx="483184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write</a:t>
            </a:r>
            <a:r>
              <a:rPr sz="1400" b="0" i="0">
                <a:solidFill>
                  <a:srgbClr val="13262B"/>
                </a:solidFill>
                <a:latin typeface="Arial"/>
              </a:rPr>
              <a:t> radi kao </a:t>
            </a:r>
            <a:r>
              <a:rPr sz="1400" b="0" i="0">
                <a:solidFill>
                  <a:srgbClr val="A8521A"/>
                </a:solidFill>
                <a:latin typeface="Arial"/>
              </a:rPr>
              <a:t>print</a:t>
            </a:r>
            <a:r>
              <a:rPr sz="1400" b="0" i="0">
                <a:solidFill>
                  <a:srgbClr val="13262B"/>
                </a:solidFill>
                <a:latin typeface="Arial"/>
              </a:rPr>
              <a:t>, ali piše u fajl: na ekranu se ne vidi ništa, pa rezultat proverite u editoru.</a:t>
            </a:r>
            <a:endParaRPr sz="1400"/>
          </a:p>
        </p:txBody>
      </p:sp>
      <p:sp>
        <p:nvSpPr>
          <p:cNvPr id="29" name="Rounded Rectangle 28"/>
          <p:cNvSpPr/>
          <p:nvPr/>
        </p:nvSpPr>
        <p:spPr>
          <a:xfrm>
            <a:off x="6197600" y="4402138"/>
            <a:ext cx="5181600"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7600" y="4402138"/>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kst 2x20.30"/>
          <p:cNvSpPr txBox="1"/>
          <p:nvPr/>
        </p:nvSpPr>
        <p:spPr>
          <a:xfrm>
            <a:off x="6438900" y="4554538"/>
            <a:ext cx="483184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close</a:t>
            </a:r>
            <a:r>
              <a:rPr sz="1400" b="0" i="0">
                <a:solidFill>
                  <a:srgbClr val="13262B"/>
                </a:solidFill>
                <a:latin typeface="Arial"/>
              </a:rPr>
              <a:t> je metod (a </a:t>
            </a:r>
            <a:r>
              <a:rPr sz="1400" b="0" i="0">
                <a:solidFill>
                  <a:srgbClr val="A8521A"/>
                </a:solidFill>
                <a:latin typeface="Arial"/>
              </a:rPr>
              <a:t>open</a:t>
            </a:r>
            <a:r>
              <a:rPr sz="1400" b="0" i="0">
                <a:solidFill>
                  <a:srgbClr val="13262B"/>
                </a:solidFill>
                <a:latin typeface="Arial"/>
              </a:rPr>
              <a:t> funkcija): ne prima argumente i ne vraća korisnu vrednost.</a:t>
            </a:r>
            <a:endParaRPr sz="1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Razlika između "w" i "a"</a:t>
            </a:r>
            <a:endParaRPr sz="3200"/>
          </a:p>
        </p:txBody>
      </p:sp>
      <p:sp>
        <p:nvSpPr>
          <p:cNvPr id="4" name="Tekst 1x21.60"/>
          <p:cNvSpPr txBox="1"/>
          <p:nvPr/>
        </p:nvSpPr>
        <p:spPr>
          <a:xfrm>
            <a:off x="812800" y="1701701"/>
            <a:ext cx="1077772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Režim "w": prepisuje</a:t>
            </a:r>
            <a:endParaRPr sz="1800"/>
          </a:p>
        </p:txBody>
      </p:sp>
      <p:sp>
        <p:nvSpPr>
          <p:cNvPr id="5" name="Rounded Rectangle 4"/>
          <p:cNvSpPr/>
          <p:nvPr/>
        </p:nvSpPr>
        <p:spPr>
          <a:xfrm>
            <a:off x="819150" y="2195016"/>
            <a:ext cx="2730500" cy="761305"/>
          </a:xfrm>
          <a:prstGeom prst="roundRect">
            <a:avLst>
              <a:gd name="adj" fmla="val 13345"/>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16.80"/>
          <p:cNvSpPr txBox="1"/>
          <p:nvPr/>
        </p:nvSpPr>
        <p:spPr>
          <a:xfrm>
            <a:off x="1003300" y="2328366"/>
            <a:ext cx="2409444"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OUT.TXT PRE</a:t>
            </a:r>
            <a:endParaRPr sz="1200"/>
          </a:p>
        </p:txBody>
      </p:sp>
      <p:sp>
        <p:nvSpPr>
          <p:cNvPr id="7" name="Tekst 1x20.15"/>
          <p:cNvSpPr txBox="1"/>
          <p:nvPr/>
        </p:nvSpPr>
        <p:spPr>
          <a:xfrm>
            <a:off x="1003300" y="2567087"/>
            <a:ext cx="2409444" cy="25588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stari sadržaj</a:t>
            </a:r>
            <a:endParaRPr sz="1300"/>
          </a:p>
        </p:txBody>
      </p:sp>
      <p:sp>
        <p:nvSpPr>
          <p:cNvPr id="8" name="Right Arrow 7"/>
          <p:cNvSpPr/>
          <p:nvPr/>
        </p:nvSpPr>
        <p:spPr>
          <a:xfrm>
            <a:off x="3708400" y="2461320"/>
            <a:ext cx="457200" cy="2286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24350" y="2058491"/>
            <a:ext cx="3543300" cy="1034355"/>
          </a:xfrm>
          <a:prstGeom prst="roundRect">
            <a:avLst>
              <a:gd name="adj" fmla="val 9822"/>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20.15"/>
          <p:cNvSpPr txBox="1"/>
          <p:nvPr/>
        </p:nvSpPr>
        <p:spPr>
          <a:xfrm>
            <a:off x="4533900" y="2191841"/>
            <a:ext cx="3186684"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f = open(</a:t>
            </a:r>
            <a:r>
              <a:rPr sz="1300" b="0" i="0">
                <a:solidFill>
                  <a:srgbClr val="F0A35E"/>
                </a:solidFill>
                <a:latin typeface="Consolas"/>
              </a:rPr>
              <a:t>"out.txt"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f.write(</a:t>
            </a:r>
            <a:r>
              <a:rPr sz="1300" b="0" i="0">
                <a:solidFill>
                  <a:srgbClr val="F0A35E"/>
                </a:solidFill>
                <a:latin typeface="Consolas"/>
              </a:rPr>
              <a:t>"novi red\n"</a:t>
            </a:r>
            <a:r>
              <a:rPr sz="1300" b="0" i="0">
                <a:solidFill>
                  <a:srgbClr val="E8EEE9"/>
                </a:solidFill>
                <a:latin typeface="Consolas"/>
              </a:rPr>
              <a:t>)</a:t>
            </a:r>
            <a:br/>
            <a:r>
              <a:rPr sz="1300" b="0" i="0">
                <a:solidFill>
                  <a:srgbClr val="E8EEE9"/>
                </a:solidFill>
                <a:latin typeface="Consolas"/>
              </a:rPr>
              <a:t>f.close()</a:t>
            </a:r>
            <a:endParaRPr sz="1300"/>
          </a:p>
        </p:txBody>
      </p:sp>
      <p:sp>
        <p:nvSpPr>
          <p:cNvPr id="11" name="Right Arrow 10"/>
          <p:cNvSpPr/>
          <p:nvPr/>
        </p:nvSpPr>
        <p:spPr>
          <a:xfrm>
            <a:off x="8026400" y="2461320"/>
            <a:ext cx="457200" cy="2286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42350" y="2195016"/>
            <a:ext cx="2730500" cy="761305"/>
          </a:xfrm>
          <a:prstGeom prst="roundRect">
            <a:avLst>
              <a:gd name="adj" fmla="val 13345"/>
            </a:avLst>
          </a:prstGeom>
          <a:solidFill>
            <a:srgbClr val="FCFBF7"/>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16.80"/>
          <p:cNvSpPr txBox="1"/>
          <p:nvPr/>
        </p:nvSpPr>
        <p:spPr>
          <a:xfrm>
            <a:off x="8826500" y="2328366"/>
            <a:ext cx="2409444"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OUT.TXT POSLE</a:t>
            </a:r>
            <a:endParaRPr sz="1200"/>
          </a:p>
        </p:txBody>
      </p:sp>
      <p:sp>
        <p:nvSpPr>
          <p:cNvPr id="14" name="Tekst 1x20.15"/>
          <p:cNvSpPr txBox="1"/>
          <p:nvPr/>
        </p:nvSpPr>
        <p:spPr>
          <a:xfrm>
            <a:off x="8826500" y="2567087"/>
            <a:ext cx="2409444" cy="25588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novi red</a:t>
            </a:r>
            <a:endParaRPr sz="1300"/>
          </a:p>
        </p:txBody>
      </p:sp>
      <p:sp>
        <p:nvSpPr>
          <p:cNvPr id="15" name="Tekst 1x21.60"/>
          <p:cNvSpPr txBox="1"/>
          <p:nvPr/>
        </p:nvSpPr>
        <p:spPr>
          <a:xfrm>
            <a:off x="812800" y="3353197"/>
            <a:ext cx="1077772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Režim "a": dodaje na kraj</a:t>
            </a:r>
            <a:endParaRPr sz="1800"/>
          </a:p>
        </p:txBody>
      </p:sp>
      <p:sp>
        <p:nvSpPr>
          <p:cNvPr id="16" name="Rounded Rectangle 15"/>
          <p:cNvSpPr/>
          <p:nvPr/>
        </p:nvSpPr>
        <p:spPr>
          <a:xfrm>
            <a:off x="819150" y="3846512"/>
            <a:ext cx="2730500" cy="761305"/>
          </a:xfrm>
          <a:prstGeom prst="roundRect">
            <a:avLst>
              <a:gd name="adj" fmla="val 13345"/>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1x16.80"/>
          <p:cNvSpPr txBox="1"/>
          <p:nvPr/>
        </p:nvSpPr>
        <p:spPr>
          <a:xfrm>
            <a:off x="1003300" y="3979862"/>
            <a:ext cx="2409444"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OUT.TXT PRE</a:t>
            </a:r>
            <a:endParaRPr sz="1200"/>
          </a:p>
        </p:txBody>
      </p:sp>
      <p:sp>
        <p:nvSpPr>
          <p:cNvPr id="18" name="Tekst 1x20.15"/>
          <p:cNvSpPr txBox="1"/>
          <p:nvPr/>
        </p:nvSpPr>
        <p:spPr>
          <a:xfrm>
            <a:off x="1003300" y="4218583"/>
            <a:ext cx="2409444" cy="25588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stari sadržaj</a:t>
            </a:r>
            <a:endParaRPr sz="1300"/>
          </a:p>
        </p:txBody>
      </p:sp>
      <p:sp>
        <p:nvSpPr>
          <p:cNvPr id="19" name="Right Arrow 18"/>
          <p:cNvSpPr/>
          <p:nvPr/>
        </p:nvSpPr>
        <p:spPr>
          <a:xfrm>
            <a:off x="3708400" y="4112816"/>
            <a:ext cx="457200" cy="2286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324350" y="3709988"/>
            <a:ext cx="3543300" cy="1034355"/>
          </a:xfrm>
          <a:prstGeom prst="roundRect">
            <a:avLst>
              <a:gd name="adj" fmla="val 9822"/>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kst 3x20.15"/>
          <p:cNvSpPr txBox="1"/>
          <p:nvPr/>
        </p:nvSpPr>
        <p:spPr>
          <a:xfrm>
            <a:off x="4533900" y="3843338"/>
            <a:ext cx="3186684"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f = open(</a:t>
            </a:r>
            <a:r>
              <a:rPr sz="1300" b="0" i="0">
                <a:solidFill>
                  <a:srgbClr val="F0A35E"/>
                </a:solidFill>
                <a:latin typeface="Consolas"/>
              </a:rPr>
              <a:t>"out.txt"</a:t>
            </a:r>
            <a:r>
              <a:rPr sz="1300" b="0" i="0">
                <a:solidFill>
                  <a:srgbClr val="E8EEE9"/>
                </a:solidFill>
                <a:latin typeface="Consolas"/>
              </a:rPr>
              <a:t>, </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f.write(</a:t>
            </a:r>
            <a:r>
              <a:rPr sz="1300" b="0" i="0">
                <a:solidFill>
                  <a:srgbClr val="F0A35E"/>
                </a:solidFill>
                <a:latin typeface="Consolas"/>
              </a:rPr>
              <a:t>"novi red\n"</a:t>
            </a:r>
            <a:r>
              <a:rPr sz="1300" b="0" i="0">
                <a:solidFill>
                  <a:srgbClr val="E8EEE9"/>
                </a:solidFill>
                <a:latin typeface="Consolas"/>
              </a:rPr>
              <a:t>)</a:t>
            </a:r>
            <a:br/>
            <a:r>
              <a:rPr sz="1300" b="0" i="0">
                <a:solidFill>
                  <a:srgbClr val="E8EEE9"/>
                </a:solidFill>
                <a:latin typeface="Consolas"/>
              </a:rPr>
              <a:t>f.close()</a:t>
            </a:r>
            <a:endParaRPr sz="1300"/>
          </a:p>
        </p:txBody>
      </p:sp>
      <p:sp>
        <p:nvSpPr>
          <p:cNvPr id="22" name="Right Arrow 21"/>
          <p:cNvSpPr/>
          <p:nvPr/>
        </p:nvSpPr>
        <p:spPr>
          <a:xfrm>
            <a:off x="8026400" y="4112816"/>
            <a:ext cx="457200" cy="228600"/>
          </a:xfrm>
          <a:prstGeom prst="rightArrow">
            <a:avLst>
              <a:gd name="adj1" fmla="val 40000"/>
              <a:gd name="adj2" fmla="val 80000"/>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42350" y="3718520"/>
            <a:ext cx="2730500" cy="1017191"/>
          </a:xfrm>
          <a:prstGeom prst="roundRect">
            <a:avLst>
              <a:gd name="adj" fmla="val 9988"/>
            </a:avLst>
          </a:prstGeom>
          <a:solidFill>
            <a:srgbClr val="FCFBF7"/>
          </a:solidFill>
          <a:ln w="12700">
            <a:solidFill>
              <a:srgbClr val="A852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16.80"/>
          <p:cNvSpPr txBox="1"/>
          <p:nvPr/>
        </p:nvSpPr>
        <p:spPr>
          <a:xfrm>
            <a:off x="8826500" y="3851870"/>
            <a:ext cx="2409444"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OUT.TXT POSLE</a:t>
            </a:r>
            <a:endParaRPr sz="1200"/>
          </a:p>
        </p:txBody>
      </p:sp>
      <p:sp>
        <p:nvSpPr>
          <p:cNvPr id="25" name="Tekst 2x20.15"/>
          <p:cNvSpPr txBox="1"/>
          <p:nvPr/>
        </p:nvSpPr>
        <p:spPr>
          <a:xfrm>
            <a:off x="8826500" y="4090591"/>
            <a:ext cx="2409444" cy="511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13262B"/>
                </a:solidFill>
                <a:latin typeface="Consolas"/>
              </a:rPr>
              <a:t>stari sadržaj</a:t>
            </a:r>
            <a:br/>
            <a:r>
              <a:rPr sz="1300" b="0" i="0">
                <a:solidFill>
                  <a:srgbClr val="13262B"/>
                </a:solidFill>
                <a:latin typeface="Consolas"/>
              </a:rPr>
              <a:t>novi red</a:t>
            </a:r>
            <a:endParaRPr sz="13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Putanje do fajlova u drugim folderima</a:t>
            </a:r>
            <a:endParaRPr sz="3200"/>
          </a:p>
        </p:txBody>
      </p:sp>
      <p:sp>
        <p:nvSpPr>
          <p:cNvPr id="4" name="Rounded Rectangle 3"/>
          <p:cNvSpPr/>
          <p:nvPr/>
        </p:nvSpPr>
        <p:spPr>
          <a:xfrm>
            <a:off x="819150" y="1708051"/>
            <a:ext cx="105537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3x20.15"/>
          <p:cNvSpPr txBox="1"/>
          <p:nvPr/>
        </p:nvSpPr>
        <p:spPr>
          <a:xfrm>
            <a:off x="1079500" y="1892201"/>
            <a:ext cx="10185400"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open(</a:t>
            </a:r>
            <a:r>
              <a:rPr sz="1300" b="0" i="0">
                <a:solidFill>
                  <a:srgbClr val="F0A35E"/>
                </a:solidFill>
                <a:latin typeface="Consolas"/>
              </a:rPr>
              <a:t>"/home/martin/myfolder/myfile.txt"</a:t>
            </a:r>
            <a:r>
              <a:rPr sz="1300" b="0" i="0">
                <a:solidFill>
                  <a:srgbClr val="E8EEE9"/>
                </a:solidFill>
                <a:latin typeface="Consolas"/>
              </a:rPr>
              <a:t>)            </a:t>
            </a:r>
            <a:r>
              <a:rPr sz="1300" b="0" i="0">
                <a:solidFill>
                  <a:srgbClr val="8FB3AA"/>
                </a:solidFill>
                <a:latin typeface="Consolas"/>
              </a:rPr>
              <a:t># Linux</a:t>
            </a:r>
            <a:br/>
            <a:r>
              <a:rPr sz="1300" b="0" i="0">
                <a:solidFill>
                  <a:srgbClr val="E8EEE9"/>
                </a:solidFill>
                <a:latin typeface="Consolas"/>
              </a:rPr>
              <a:t>open(</a:t>
            </a:r>
            <a:r>
              <a:rPr sz="1300" b="0" i="0">
                <a:solidFill>
                  <a:srgbClr val="F0A35E"/>
                </a:solidFill>
                <a:latin typeface="Consolas"/>
              </a:rPr>
              <a:t>"/Users/martin/Desktop/myfolder/myfile.txt"</a:t>
            </a:r>
            <a:r>
              <a:rPr sz="1300" b="0" i="0">
                <a:solidFill>
                  <a:srgbClr val="E8EEE9"/>
                </a:solidFill>
                <a:latin typeface="Consolas"/>
              </a:rPr>
              <a:t>)   </a:t>
            </a:r>
            <a:r>
              <a:rPr sz="1300" b="0" i="0">
                <a:solidFill>
                  <a:srgbClr val="8FB3AA"/>
                </a:solidFill>
                <a:latin typeface="Consolas"/>
              </a:rPr>
              <a:t># macOS</a:t>
            </a:r>
            <a:br/>
            <a:r>
              <a:rPr sz="1300" b="0" i="0">
                <a:solidFill>
                  <a:srgbClr val="E8EEE9"/>
                </a:solidFill>
                <a:latin typeface="Consolas"/>
              </a:rPr>
              <a:t>open(</a:t>
            </a:r>
            <a:r>
              <a:rPr sz="1300" b="0" i="0">
                <a:solidFill>
                  <a:srgbClr val="F0A35E"/>
                </a:solidFill>
                <a:latin typeface="Consolas"/>
              </a:rPr>
              <a:t>r"c:\windows\Desktop\myfolder\myfile.txt"</a:t>
            </a:r>
            <a:r>
              <a:rPr sz="1300" b="0" i="0">
                <a:solidFill>
                  <a:srgbClr val="E8EEE9"/>
                </a:solidFill>
                <a:latin typeface="Consolas"/>
              </a:rPr>
              <a:t>)     </a:t>
            </a:r>
            <a:r>
              <a:rPr sz="1300" b="0" i="0">
                <a:solidFill>
                  <a:srgbClr val="8FB3AA"/>
                </a:solidFill>
                <a:latin typeface="Consolas"/>
              </a:rPr>
              <a:t># Windows: r pre navodnika</a:t>
            </a:r>
            <a:endParaRPr sz="1300"/>
          </a:p>
        </p:txBody>
      </p:sp>
      <p:sp>
        <p:nvSpPr>
          <p:cNvPr id="6" name="Rounded Rectangle 5"/>
          <p:cNvSpPr/>
          <p:nvPr/>
        </p:nvSpPr>
        <p:spPr>
          <a:xfrm>
            <a:off x="815975" y="3107531"/>
            <a:ext cx="5175250" cy="1485702"/>
          </a:xfrm>
          <a:prstGeom prst="roundRect">
            <a:avLst>
              <a:gd name="adj" fmla="val 683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1.60"/>
          <p:cNvSpPr txBox="1"/>
          <p:nvPr/>
        </p:nvSpPr>
        <p:spPr>
          <a:xfrm>
            <a:off x="1022350" y="3288506"/>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Bez putanje</a:t>
            </a:r>
            <a:endParaRPr sz="1800"/>
          </a:p>
        </p:txBody>
      </p:sp>
      <p:sp>
        <p:nvSpPr>
          <p:cNvPr id="8" name="Tekst 3x20.30"/>
          <p:cNvSpPr txBox="1"/>
          <p:nvPr/>
        </p:nvSpPr>
        <p:spPr>
          <a:xfrm>
            <a:off x="1022350" y="3638947"/>
            <a:ext cx="4857750"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open("dna.txt")</a:t>
            </a:r>
            <a:r>
              <a:rPr sz="1400" b="0" i="0">
                <a:solidFill>
                  <a:srgbClr val="3D4F52"/>
                </a:solidFill>
                <a:latin typeface="Arial"/>
              </a:rPr>
              <a:t> traži fajl u folderu iz kog je program pokrenut. Zato je najlakše da program i podaci budu u istom folderu.</a:t>
            </a:r>
            <a:endParaRPr sz="1400"/>
          </a:p>
        </p:txBody>
      </p:sp>
      <p:sp>
        <p:nvSpPr>
          <p:cNvPr id="9" name="Rounded Rectangle 8"/>
          <p:cNvSpPr/>
          <p:nvPr/>
        </p:nvSpPr>
        <p:spPr>
          <a:xfrm>
            <a:off x="6200775" y="3107531"/>
            <a:ext cx="5175250" cy="1227931"/>
          </a:xfrm>
          <a:prstGeom prst="roundRect">
            <a:avLst>
              <a:gd name="adj" fmla="val 827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6407150" y="3288506"/>
            <a:ext cx="48577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Zašto r na Windowsu?</a:t>
            </a:r>
            <a:endParaRPr sz="1800"/>
          </a:p>
        </p:txBody>
      </p:sp>
      <p:sp>
        <p:nvSpPr>
          <p:cNvPr id="11" name="Tekst 2x20.30"/>
          <p:cNvSpPr txBox="1"/>
          <p:nvPr/>
        </p:nvSpPr>
        <p:spPr>
          <a:xfrm>
            <a:off x="6407150" y="3638947"/>
            <a:ext cx="48577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Obrnuta kosa crta počinje specijalni karakter: u </a:t>
            </a:r>
            <a:r>
              <a:rPr sz="1400" b="0" i="0">
                <a:solidFill>
                  <a:srgbClr val="A8521A"/>
                </a:solidFill>
                <a:latin typeface="Arial"/>
              </a:rPr>
              <a:t>"c:\new\test.txt"</a:t>
            </a:r>
            <a:r>
              <a:rPr sz="1400" b="0" i="0">
                <a:solidFill>
                  <a:srgbClr val="3D4F52"/>
                </a:solidFill>
                <a:latin typeface="Arial"/>
              </a:rPr>
              <a:t> kriju se </a:t>
            </a:r>
            <a:r>
              <a:rPr sz="1400" b="0" i="0">
                <a:solidFill>
                  <a:srgbClr val="A8521A"/>
                </a:solidFill>
                <a:latin typeface="Arial"/>
              </a:rPr>
              <a:t>\n</a:t>
            </a:r>
            <a:r>
              <a:rPr sz="1400" b="0" i="0">
                <a:solidFill>
                  <a:srgbClr val="3D4F52"/>
                </a:solidFill>
                <a:latin typeface="Arial"/>
              </a:rPr>
              <a:t> i </a:t>
            </a:r>
            <a:r>
              <a:rPr sz="1400" b="0" i="0">
                <a:solidFill>
                  <a:srgbClr val="A8521A"/>
                </a:solidFill>
                <a:latin typeface="Arial"/>
              </a:rPr>
              <a:t>\t</a:t>
            </a:r>
            <a:r>
              <a:rPr sz="1400" b="0" i="0">
                <a:solidFill>
                  <a:srgbClr val="3D4F52"/>
                </a:solidFill>
                <a:latin typeface="Arial"/>
              </a:rPr>
              <a:t>. Slovo r to isključuje.</a:t>
            </a:r>
            <a:endParaRPr sz="14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FASTA format</a:t>
            </a:r>
            <a:endParaRPr sz="3200"/>
          </a:p>
        </p:txBody>
      </p:sp>
      <p:sp>
        <p:nvSpPr>
          <p:cNvPr id="4" name="Rounded Rectangle 3"/>
          <p:cNvSpPr/>
          <p:nvPr/>
        </p:nvSpPr>
        <p:spPr>
          <a:xfrm>
            <a:off x="819150" y="1708051"/>
            <a:ext cx="3797300" cy="1903611"/>
          </a:xfrm>
          <a:prstGeom prst="roundRect">
            <a:avLst>
              <a:gd name="adj" fmla="val 533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6x20.15"/>
          <p:cNvSpPr txBox="1"/>
          <p:nvPr/>
        </p:nvSpPr>
        <p:spPr>
          <a:xfrm>
            <a:off x="1079500" y="1892201"/>
            <a:ext cx="3342132"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A8521A"/>
                </a:solidFill>
                <a:latin typeface="Consolas"/>
              </a:rPr>
              <a:t>&gt;sequence_one</a:t>
            </a:r>
            <a:br/>
            <a:r>
              <a:rPr sz="1300" b="0" i="0">
                <a:solidFill>
                  <a:srgbClr val="13262B"/>
                </a:solidFill>
                <a:latin typeface="Consolas"/>
              </a:rPr>
              <a:t>ATCGATCGATCGATCGAT</a:t>
            </a:r>
            <a:br/>
            <a:r>
              <a:rPr sz="1300" b="0" i="0">
                <a:solidFill>
                  <a:srgbClr val="A8521A"/>
                </a:solidFill>
                <a:latin typeface="Consolas"/>
              </a:rPr>
              <a:t>&gt;sequence_two</a:t>
            </a:r>
            <a:br/>
            <a:r>
              <a:rPr sz="1300" b="0" i="0">
                <a:solidFill>
                  <a:srgbClr val="13262B"/>
                </a:solidFill>
                <a:latin typeface="Consolas"/>
              </a:rPr>
              <a:t>ACTAGCTAGCTAGCATCG</a:t>
            </a:r>
            <a:br/>
            <a:r>
              <a:rPr sz="1300" b="0" i="0">
                <a:solidFill>
                  <a:srgbClr val="A8521A"/>
                </a:solidFill>
                <a:latin typeface="Consolas"/>
              </a:rPr>
              <a:t>&gt;sequence_three</a:t>
            </a:r>
            <a:br/>
            <a:r>
              <a:rPr sz="1300" b="0" i="0">
                <a:solidFill>
                  <a:srgbClr val="13262B"/>
                </a:solidFill>
                <a:latin typeface="Consolas"/>
              </a:rPr>
              <a:t>ACTGCATCGATCGTACCT</a:t>
            </a:r>
            <a:endParaRPr sz="1300"/>
          </a:p>
        </p:txBody>
      </p:sp>
      <p:sp>
        <p:nvSpPr>
          <p:cNvPr id="6" name="Tekst 4x20.30"/>
          <p:cNvSpPr txBox="1"/>
          <p:nvPr/>
        </p:nvSpPr>
        <p:spPr>
          <a:xfrm>
            <a:off x="812800" y="3745012"/>
            <a:ext cx="3886200" cy="103108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Linija koja počinje sa </a:t>
            </a:r>
            <a:r>
              <a:rPr sz="1400" b="0" i="0">
                <a:solidFill>
                  <a:srgbClr val="A8521A"/>
                </a:solidFill>
                <a:latin typeface="Arial"/>
              </a:rPr>
              <a:t>&gt;</a:t>
            </a:r>
            <a:r>
              <a:rPr sz="1400" b="0" i="0">
                <a:solidFill>
                  <a:srgbClr val="3D4F52"/>
                </a:solidFill>
                <a:latin typeface="Arial"/>
              </a:rPr>
              <a:t> je zaglavlje: ime sekvence, često pristupni broj iz javne baze. Ispod je sekvenca. Jedan fajl može da sadrži više sekvenci.</a:t>
            </a:r>
            <a:endParaRPr sz="1400"/>
          </a:p>
        </p:txBody>
      </p:sp>
      <p:sp>
        <p:nvSpPr>
          <p:cNvPr id="7" name="Tekst 1x21.60"/>
          <p:cNvSpPr txBox="1"/>
          <p:nvPr/>
        </p:nvSpPr>
        <p:spPr>
          <a:xfrm>
            <a:off x="4927600" y="1701701"/>
            <a:ext cx="6580632"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Vežba: FASTA fajl sa tri sekvence</a:t>
            </a:r>
            <a:endParaRPr sz="1800"/>
          </a:p>
        </p:txBody>
      </p:sp>
      <p:sp>
        <p:nvSpPr>
          <p:cNvPr id="8" name="Rectangle 7"/>
          <p:cNvSpPr/>
          <p:nvPr/>
        </p:nvSpPr>
        <p:spPr>
          <a:xfrm>
            <a:off x="4927600" y="2102941"/>
            <a:ext cx="6451600" cy="287536"/>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27600" y="2384127"/>
            <a:ext cx="154830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4.40"/>
          <p:cNvSpPr txBox="1"/>
          <p:nvPr/>
        </p:nvSpPr>
        <p:spPr>
          <a:xfrm>
            <a:off x="5019040" y="2156281"/>
            <a:ext cx="1392737" cy="174506"/>
          </a:xfrm>
          <a:prstGeom prst="rect">
            <a:avLst/>
          </a:prstGeom>
          <a:noFill/>
        </p:spPr>
        <p:txBody>
          <a:bodyPr wrap="square" anchor="t" lIns="0" rIns="0" tIns="0" bIns="0">
            <a:noAutofit/>
          </a:bodyPr>
          <a:lstStyle/>
          <a:p>
            <a:pPr algn="l">
              <a:lnSpc>
                <a:spcPts val="1439"/>
              </a:lnSpc>
              <a:spcBef>
                <a:spcPts val="0"/>
              </a:spcBef>
              <a:spcAft>
                <a:spcPts val="0"/>
              </a:spcAft>
            </a:pPr>
            <a:r>
              <a:rPr sz="1200" b="1" i="0">
                <a:solidFill>
                  <a:srgbClr val="13262B"/>
                </a:solidFill>
                <a:latin typeface="Consolas"/>
              </a:rPr>
              <a:t>Zaglavlje</a:t>
            </a:r>
            <a:endParaRPr sz="1200"/>
          </a:p>
        </p:txBody>
      </p:sp>
      <p:sp>
        <p:nvSpPr>
          <p:cNvPr id="11" name="Rectangle 10"/>
          <p:cNvSpPr/>
          <p:nvPr/>
        </p:nvSpPr>
        <p:spPr>
          <a:xfrm>
            <a:off x="6475909" y="2384127"/>
            <a:ext cx="4903291"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4.40"/>
          <p:cNvSpPr txBox="1"/>
          <p:nvPr/>
        </p:nvSpPr>
        <p:spPr>
          <a:xfrm>
            <a:off x="6567349" y="2156281"/>
            <a:ext cx="4811851" cy="174506"/>
          </a:xfrm>
          <a:prstGeom prst="rect">
            <a:avLst/>
          </a:prstGeom>
          <a:noFill/>
        </p:spPr>
        <p:txBody>
          <a:bodyPr wrap="square" anchor="t" lIns="0" rIns="0" tIns="0" bIns="0">
            <a:noAutofit/>
          </a:bodyPr>
          <a:lstStyle/>
          <a:p>
            <a:pPr algn="l">
              <a:lnSpc>
                <a:spcPts val="1439"/>
              </a:lnSpc>
              <a:spcBef>
                <a:spcPts val="0"/>
              </a:spcBef>
              <a:spcAft>
                <a:spcPts val="0"/>
              </a:spcAft>
            </a:pPr>
            <a:r>
              <a:rPr sz="1200" b="1" i="0">
                <a:solidFill>
                  <a:srgbClr val="13262B"/>
                </a:solidFill>
                <a:latin typeface="Consolas"/>
              </a:rPr>
              <a:t>DNK sekvenca</a:t>
            </a:r>
            <a:endParaRPr sz="1200"/>
          </a:p>
        </p:txBody>
      </p:sp>
      <p:sp>
        <p:nvSpPr>
          <p:cNvPr id="13" name="Rectangle 12"/>
          <p:cNvSpPr/>
          <p:nvPr/>
        </p:nvSpPr>
        <p:spPr>
          <a:xfrm>
            <a:off x="4927600" y="2674838"/>
            <a:ext cx="154830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4.40"/>
          <p:cNvSpPr txBox="1"/>
          <p:nvPr/>
        </p:nvSpPr>
        <p:spPr>
          <a:xfrm>
            <a:off x="5019040" y="2443817"/>
            <a:ext cx="1392737" cy="177681"/>
          </a:xfrm>
          <a:prstGeom prst="rect">
            <a:avLst/>
          </a:prstGeom>
          <a:noFill/>
        </p:spPr>
        <p:txBody>
          <a:bodyPr wrap="square" anchor="t" lIns="0" rIns="0" tIns="0" bIns="0">
            <a:noAutofit/>
          </a:bodyPr>
          <a:lstStyle/>
          <a:p>
            <a:pPr algn="l">
              <a:lnSpc>
                <a:spcPts val="1439"/>
              </a:lnSpc>
              <a:spcBef>
                <a:spcPts val="0"/>
              </a:spcBef>
              <a:spcAft>
                <a:spcPts val="0"/>
              </a:spcAft>
            </a:pPr>
            <a:r>
              <a:rPr sz="1200" b="0" i="0">
                <a:solidFill>
                  <a:srgbClr val="13262B"/>
                </a:solidFill>
                <a:latin typeface="Consolas"/>
              </a:rPr>
              <a:t>ABC123</a:t>
            </a:r>
            <a:endParaRPr sz="1200"/>
          </a:p>
        </p:txBody>
      </p:sp>
      <p:sp>
        <p:nvSpPr>
          <p:cNvPr id="15" name="Rectangle 14"/>
          <p:cNvSpPr/>
          <p:nvPr/>
        </p:nvSpPr>
        <p:spPr>
          <a:xfrm>
            <a:off x="6475909" y="2674838"/>
            <a:ext cx="4903291"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4.40"/>
          <p:cNvSpPr txBox="1"/>
          <p:nvPr/>
        </p:nvSpPr>
        <p:spPr>
          <a:xfrm>
            <a:off x="6567349" y="2443817"/>
            <a:ext cx="4814820" cy="177681"/>
          </a:xfrm>
          <a:prstGeom prst="rect">
            <a:avLst/>
          </a:prstGeom>
          <a:noFill/>
        </p:spPr>
        <p:txBody>
          <a:bodyPr wrap="square" anchor="t" lIns="0" rIns="0" tIns="0" bIns="0">
            <a:noAutofit/>
          </a:bodyPr>
          <a:lstStyle/>
          <a:p>
            <a:pPr algn="l">
              <a:lnSpc>
                <a:spcPts val="1439"/>
              </a:lnSpc>
              <a:spcBef>
                <a:spcPts val="0"/>
              </a:spcBef>
              <a:spcAft>
                <a:spcPts val="0"/>
              </a:spcAft>
            </a:pPr>
            <a:r>
              <a:rPr sz="1200" b="0" i="0">
                <a:solidFill>
                  <a:srgbClr val="13262B"/>
                </a:solidFill>
                <a:latin typeface="Consolas"/>
              </a:rPr>
              <a:t>ATCGTACGATCGATCGATCGCTAGACGTATCG</a:t>
            </a:r>
            <a:endParaRPr sz="1200"/>
          </a:p>
        </p:txBody>
      </p:sp>
      <p:sp>
        <p:nvSpPr>
          <p:cNvPr id="17" name="Rectangle 16"/>
          <p:cNvSpPr/>
          <p:nvPr/>
        </p:nvSpPr>
        <p:spPr>
          <a:xfrm>
            <a:off x="4927600" y="2965549"/>
            <a:ext cx="154830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14.40"/>
          <p:cNvSpPr txBox="1"/>
          <p:nvPr/>
        </p:nvSpPr>
        <p:spPr>
          <a:xfrm>
            <a:off x="5019040" y="2734528"/>
            <a:ext cx="1392737" cy="177681"/>
          </a:xfrm>
          <a:prstGeom prst="rect">
            <a:avLst/>
          </a:prstGeom>
          <a:noFill/>
        </p:spPr>
        <p:txBody>
          <a:bodyPr wrap="square" anchor="t" lIns="0" rIns="0" tIns="0" bIns="0">
            <a:noAutofit/>
          </a:bodyPr>
          <a:lstStyle/>
          <a:p>
            <a:pPr algn="l">
              <a:lnSpc>
                <a:spcPts val="1439"/>
              </a:lnSpc>
              <a:spcBef>
                <a:spcPts val="0"/>
              </a:spcBef>
              <a:spcAft>
                <a:spcPts val="0"/>
              </a:spcAft>
            </a:pPr>
            <a:r>
              <a:rPr sz="1200" b="0" i="0">
                <a:solidFill>
                  <a:srgbClr val="13262B"/>
                </a:solidFill>
                <a:latin typeface="Consolas"/>
              </a:rPr>
              <a:t>DEF456</a:t>
            </a:r>
            <a:endParaRPr sz="1200"/>
          </a:p>
        </p:txBody>
      </p:sp>
      <p:sp>
        <p:nvSpPr>
          <p:cNvPr id="19" name="Rectangle 18"/>
          <p:cNvSpPr/>
          <p:nvPr/>
        </p:nvSpPr>
        <p:spPr>
          <a:xfrm>
            <a:off x="6475909" y="2965549"/>
            <a:ext cx="4903291"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14.40"/>
          <p:cNvSpPr txBox="1"/>
          <p:nvPr/>
        </p:nvSpPr>
        <p:spPr>
          <a:xfrm>
            <a:off x="6567349" y="2734528"/>
            <a:ext cx="4814820" cy="177681"/>
          </a:xfrm>
          <a:prstGeom prst="rect">
            <a:avLst/>
          </a:prstGeom>
          <a:noFill/>
        </p:spPr>
        <p:txBody>
          <a:bodyPr wrap="square" anchor="t" lIns="0" rIns="0" tIns="0" bIns="0">
            <a:noAutofit/>
          </a:bodyPr>
          <a:lstStyle/>
          <a:p>
            <a:pPr algn="l">
              <a:lnSpc>
                <a:spcPts val="1439"/>
              </a:lnSpc>
              <a:spcBef>
                <a:spcPts val="0"/>
              </a:spcBef>
              <a:spcAft>
                <a:spcPts val="0"/>
              </a:spcAft>
            </a:pPr>
            <a:r>
              <a:rPr sz="1200" b="0" i="0">
                <a:solidFill>
                  <a:srgbClr val="13262B"/>
                </a:solidFill>
                <a:latin typeface="Consolas"/>
              </a:rPr>
              <a:t>actgatcgacgatcgatcgatcacgact</a:t>
            </a:r>
            <a:endParaRPr sz="1200"/>
          </a:p>
        </p:txBody>
      </p:sp>
      <p:sp>
        <p:nvSpPr>
          <p:cNvPr id="21" name="Rectangle 20"/>
          <p:cNvSpPr/>
          <p:nvPr/>
        </p:nvSpPr>
        <p:spPr>
          <a:xfrm>
            <a:off x="4927600" y="3256260"/>
            <a:ext cx="154830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1x14.40"/>
          <p:cNvSpPr txBox="1"/>
          <p:nvPr/>
        </p:nvSpPr>
        <p:spPr>
          <a:xfrm>
            <a:off x="5019040" y="3025239"/>
            <a:ext cx="1392737" cy="177681"/>
          </a:xfrm>
          <a:prstGeom prst="rect">
            <a:avLst/>
          </a:prstGeom>
          <a:noFill/>
        </p:spPr>
        <p:txBody>
          <a:bodyPr wrap="square" anchor="t" lIns="0" rIns="0" tIns="0" bIns="0">
            <a:noAutofit/>
          </a:bodyPr>
          <a:lstStyle/>
          <a:p>
            <a:pPr algn="l">
              <a:lnSpc>
                <a:spcPts val="1439"/>
              </a:lnSpc>
              <a:spcBef>
                <a:spcPts val="0"/>
              </a:spcBef>
              <a:spcAft>
                <a:spcPts val="0"/>
              </a:spcAft>
            </a:pPr>
            <a:r>
              <a:rPr sz="1200" b="0" i="0">
                <a:solidFill>
                  <a:srgbClr val="13262B"/>
                </a:solidFill>
                <a:latin typeface="Consolas"/>
              </a:rPr>
              <a:t>HIJ789</a:t>
            </a:r>
            <a:endParaRPr sz="1200"/>
          </a:p>
        </p:txBody>
      </p:sp>
      <p:sp>
        <p:nvSpPr>
          <p:cNvPr id="23" name="Rectangle 22"/>
          <p:cNvSpPr/>
          <p:nvPr/>
        </p:nvSpPr>
        <p:spPr>
          <a:xfrm>
            <a:off x="6475909" y="3256260"/>
            <a:ext cx="4903291"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14.40"/>
          <p:cNvSpPr txBox="1"/>
          <p:nvPr/>
        </p:nvSpPr>
        <p:spPr>
          <a:xfrm>
            <a:off x="6567349" y="3025239"/>
            <a:ext cx="4814820" cy="177681"/>
          </a:xfrm>
          <a:prstGeom prst="rect">
            <a:avLst/>
          </a:prstGeom>
          <a:noFill/>
        </p:spPr>
        <p:txBody>
          <a:bodyPr wrap="square" anchor="t" lIns="0" rIns="0" tIns="0" bIns="0">
            <a:noAutofit/>
          </a:bodyPr>
          <a:lstStyle/>
          <a:p>
            <a:pPr algn="l">
              <a:lnSpc>
                <a:spcPts val="1439"/>
              </a:lnSpc>
              <a:spcBef>
                <a:spcPts val="0"/>
              </a:spcBef>
              <a:spcAft>
                <a:spcPts val="0"/>
              </a:spcAft>
            </a:pPr>
            <a:r>
              <a:rPr sz="1200" b="0" i="0">
                <a:solidFill>
                  <a:srgbClr val="13262B"/>
                </a:solidFill>
                <a:latin typeface="Consolas"/>
              </a:rPr>
              <a:t>ACTGAC-ACTGT--ACTGTA----CATGTG</a:t>
            </a:r>
            <a:endParaRPr sz="1200"/>
          </a:p>
        </p:txBody>
      </p:sp>
      <p:sp>
        <p:nvSpPr>
          <p:cNvPr id="25" name="Tekst 1x20.30"/>
          <p:cNvSpPr txBox="1"/>
          <p:nvPr/>
        </p:nvSpPr>
        <p:spPr>
          <a:xfrm>
            <a:off x="4927600" y="3392785"/>
            <a:ext cx="658063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Sve sekvence velikim slovima, samo baze A, T, G i C.</a:t>
            </a:r>
            <a:endParaRPr sz="1400"/>
          </a:p>
        </p:txBody>
      </p:sp>
      <p:sp>
        <p:nvSpPr>
          <p:cNvPr id="26" name="Rounded Rectangle 25"/>
          <p:cNvSpPr/>
          <p:nvPr/>
        </p:nvSpPr>
        <p:spPr>
          <a:xfrm>
            <a:off x="4927600" y="3777555"/>
            <a:ext cx="64516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27600" y="3777555"/>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t 1x20.30"/>
          <p:cNvSpPr txBox="1"/>
          <p:nvPr/>
        </p:nvSpPr>
        <p:spPr>
          <a:xfrm>
            <a:off x="5168900" y="3929955"/>
            <a:ext cx="612724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Rešenje gradimo korak po korak na sledećim slajdovima, kao u knjizi.</a:t>
            </a:r>
            <a:endParaRPr sz="1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VEŽBA: FASTA FAJL</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1: prvo ispis na ekran</a:t>
            </a:r>
            <a:endParaRPr sz="3200"/>
          </a:p>
        </p:txBody>
      </p:sp>
      <p:sp>
        <p:nvSpPr>
          <p:cNvPr id="4" name="Rounded Rectangle 3"/>
          <p:cNvSpPr/>
          <p:nvPr/>
        </p:nvSpPr>
        <p:spPr>
          <a:xfrm>
            <a:off x="819150" y="1708051"/>
            <a:ext cx="433318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6x20.15"/>
          <p:cNvSpPr txBox="1"/>
          <p:nvPr/>
        </p:nvSpPr>
        <p:spPr>
          <a:xfrm>
            <a:off x="1079500" y="1892201"/>
            <a:ext cx="3888730"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header_1 = </a:t>
            </a:r>
            <a:r>
              <a:rPr sz="1300" b="0" i="0">
                <a:solidFill>
                  <a:srgbClr val="F0A35E"/>
                </a:solidFill>
                <a:latin typeface="Consolas"/>
              </a:rPr>
              <a:t>"ABC123"</a:t>
            </a:r>
            <a:br/>
            <a:r>
              <a:rPr sz="1300" b="0" i="0">
                <a:solidFill>
                  <a:srgbClr val="E8EEE9"/>
                </a:solidFill>
                <a:latin typeface="Consolas"/>
              </a:rPr>
              <a:t>header_2 = </a:t>
            </a:r>
            <a:r>
              <a:rPr sz="1300" b="0" i="0">
                <a:solidFill>
                  <a:srgbClr val="F0A35E"/>
                </a:solidFill>
                <a:latin typeface="Consolas"/>
              </a:rPr>
              <a:t>"DEF456"</a:t>
            </a:r>
            <a:br/>
            <a:r>
              <a:rPr sz="1300" b="0" i="0">
                <a:solidFill>
                  <a:srgbClr val="E8EEE9"/>
                </a:solidFill>
                <a:latin typeface="Consolas"/>
              </a:rPr>
              <a:t>header_3 = </a:t>
            </a:r>
            <a:r>
              <a:rPr sz="1300" b="0" i="0">
                <a:solidFill>
                  <a:srgbClr val="F0A35E"/>
                </a:solidFill>
                <a:latin typeface="Consolas"/>
              </a:rPr>
              <a:t>"HIJ789"</a:t>
            </a:r>
            <a:br/>
            <a:r>
              <a:rPr sz="1300" b="0" i="0">
                <a:solidFill>
                  <a:srgbClr val="E8EEE9"/>
                </a:solidFill>
                <a:latin typeface="Consolas"/>
              </a:rPr>
              <a:t>seq_1 = </a:t>
            </a:r>
            <a:r>
              <a:rPr sz="1300" b="0" i="0">
                <a:solidFill>
                  <a:srgbClr val="F0A35E"/>
                </a:solidFill>
                <a:latin typeface="Consolas"/>
              </a:rPr>
              <a:t>"ATCGTACGATCGATCGATCGCTAGACGTATCG"</a:t>
            </a:r>
            <a:br/>
            <a:r>
              <a:rPr sz="1300" b="0" i="0">
                <a:solidFill>
                  <a:srgbClr val="E8EEE9"/>
                </a:solidFill>
                <a:latin typeface="Consolas"/>
              </a:rPr>
              <a:t>seq_2 = </a:t>
            </a:r>
            <a:r>
              <a:rPr sz="1300" b="0" i="0">
                <a:solidFill>
                  <a:srgbClr val="F0A35E"/>
                </a:solidFill>
                <a:latin typeface="Consolas"/>
              </a:rPr>
              <a:t>"actgatcgacgatcgatcgatcacgact"</a:t>
            </a:r>
            <a:br/>
            <a:r>
              <a:rPr sz="1300" b="0" i="0">
                <a:solidFill>
                  <a:srgbClr val="E8EEE9"/>
                </a:solidFill>
                <a:latin typeface="Consolas"/>
              </a:rPr>
              <a:t>seq_3 = </a:t>
            </a:r>
            <a:r>
              <a:rPr sz="1300" b="0" i="0">
                <a:solidFill>
                  <a:srgbClr val="F0A35E"/>
                </a:solidFill>
                <a:latin typeface="Consolas"/>
              </a:rPr>
              <a:t>"ACTGAC-ACTGT--ACTGTA----CATGTG"</a:t>
            </a:r>
            <a:endParaRPr sz="1300"/>
          </a:p>
        </p:txBody>
      </p:sp>
      <p:sp>
        <p:nvSpPr>
          <p:cNvPr id="6" name="Rounded Rectangle 5"/>
          <p:cNvSpPr/>
          <p:nvPr/>
        </p:nvSpPr>
        <p:spPr>
          <a:xfrm>
            <a:off x="819150" y="3725962"/>
            <a:ext cx="433318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3x20.15"/>
          <p:cNvSpPr txBox="1"/>
          <p:nvPr/>
        </p:nvSpPr>
        <p:spPr>
          <a:xfrm>
            <a:off x="1079500" y="3910112"/>
            <a:ext cx="3888730"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a:t>
            </a:r>
            <a:r>
              <a:rPr sz="1300" b="0" i="0">
                <a:solidFill>
                  <a:srgbClr val="F0A35E"/>
                </a:solidFill>
                <a:latin typeface="Consolas"/>
              </a:rPr>
              <a:t>'&gt;'</a:t>
            </a:r>
            <a:r>
              <a:rPr sz="1300" b="0" i="0">
                <a:solidFill>
                  <a:srgbClr val="E8EEE9"/>
                </a:solidFill>
                <a:latin typeface="Consolas"/>
              </a:rPr>
              <a:t> + header_1 + </a:t>
            </a:r>
            <a:r>
              <a:rPr sz="1300" b="0" i="0">
                <a:solidFill>
                  <a:srgbClr val="F0A35E"/>
                </a:solidFill>
                <a:latin typeface="Consolas"/>
              </a:rPr>
              <a:t>'\n'</a:t>
            </a:r>
            <a:r>
              <a:rPr sz="1300" b="0" i="0">
                <a:solidFill>
                  <a:srgbClr val="E8EEE9"/>
                </a:solidFill>
                <a:latin typeface="Consolas"/>
              </a:rPr>
              <a:t> + seq_1)</a:t>
            </a:r>
            <a:br/>
            <a:r>
              <a:rPr sz="1300" b="0" i="0">
                <a:solidFill>
                  <a:srgbClr val="E8EEE9"/>
                </a:solidFill>
                <a:latin typeface="Consolas"/>
              </a:rPr>
              <a:t>print(</a:t>
            </a:r>
            <a:r>
              <a:rPr sz="1300" b="0" i="0">
                <a:solidFill>
                  <a:srgbClr val="F0A35E"/>
                </a:solidFill>
                <a:latin typeface="Consolas"/>
              </a:rPr>
              <a:t>'&gt;'</a:t>
            </a:r>
            <a:r>
              <a:rPr sz="1300" b="0" i="0">
                <a:solidFill>
                  <a:srgbClr val="E8EEE9"/>
                </a:solidFill>
                <a:latin typeface="Consolas"/>
              </a:rPr>
              <a:t> + header_2 + </a:t>
            </a:r>
            <a:r>
              <a:rPr sz="1300" b="0" i="0">
                <a:solidFill>
                  <a:srgbClr val="F0A35E"/>
                </a:solidFill>
                <a:latin typeface="Consolas"/>
              </a:rPr>
              <a:t>'\n'</a:t>
            </a:r>
            <a:r>
              <a:rPr sz="1300" b="0" i="0">
                <a:solidFill>
                  <a:srgbClr val="E8EEE9"/>
                </a:solidFill>
                <a:latin typeface="Consolas"/>
              </a:rPr>
              <a:t> + seq_2)</a:t>
            </a:r>
            <a:br/>
            <a:r>
              <a:rPr sz="1300" b="0" i="0">
                <a:solidFill>
                  <a:srgbClr val="E8EEE9"/>
                </a:solidFill>
                <a:latin typeface="Consolas"/>
              </a:rPr>
              <a:t>print(</a:t>
            </a:r>
            <a:r>
              <a:rPr sz="1300" b="0" i="0">
                <a:solidFill>
                  <a:srgbClr val="F0A35E"/>
                </a:solidFill>
                <a:latin typeface="Consolas"/>
              </a:rPr>
              <a:t>'&gt;'</a:t>
            </a:r>
            <a:r>
              <a:rPr sz="1300" b="0" i="0">
                <a:solidFill>
                  <a:srgbClr val="E8EEE9"/>
                </a:solidFill>
                <a:latin typeface="Consolas"/>
              </a:rPr>
              <a:t> + header_3 + </a:t>
            </a:r>
            <a:r>
              <a:rPr sz="1300" b="0" i="0">
                <a:solidFill>
                  <a:srgbClr val="F0A35E"/>
                </a:solidFill>
                <a:latin typeface="Consolas"/>
              </a:rPr>
              <a:t>'\n'</a:t>
            </a:r>
            <a:r>
              <a:rPr sz="1300" b="0" i="0">
                <a:solidFill>
                  <a:srgbClr val="E8EEE9"/>
                </a:solidFill>
                <a:latin typeface="Consolas"/>
              </a:rPr>
              <a:t> + seq_3)</a:t>
            </a:r>
            <a:endParaRPr sz="1300"/>
          </a:p>
        </p:txBody>
      </p:sp>
      <p:sp>
        <p:nvSpPr>
          <p:cNvPr id="8" name="Rounded Rectangle 7"/>
          <p:cNvSpPr/>
          <p:nvPr/>
        </p:nvSpPr>
        <p:spPr>
          <a:xfrm>
            <a:off x="5419030" y="1708051"/>
            <a:ext cx="5953820" cy="1903611"/>
          </a:xfrm>
          <a:prstGeom prst="roundRect">
            <a:avLst>
              <a:gd name="adj" fmla="val 5337"/>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16.80"/>
          <p:cNvSpPr txBox="1"/>
          <p:nvPr/>
        </p:nvSpPr>
        <p:spPr>
          <a:xfrm>
            <a:off x="10325100" y="1765201"/>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10" name="Tekst 6x20.15"/>
          <p:cNvSpPr txBox="1"/>
          <p:nvPr/>
        </p:nvSpPr>
        <p:spPr>
          <a:xfrm>
            <a:off x="5679380" y="1892201"/>
            <a:ext cx="5541782"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&gt;ABC123</a:t>
            </a:r>
            <a:br/>
            <a:r>
              <a:rPr sz="1300" b="0" i="0">
                <a:solidFill>
                  <a:srgbClr val="13262B"/>
                </a:solidFill>
                <a:latin typeface="Consolas"/>
              </a:rPr>
              <a:t>ATCGTACGATCGATCGATCGCTAGACGTATCG</a:t>
            </a:r>
            <a:br/>
            <a:r>
              <a:rPr sz="1300" b="0" i="0">
                <a:solidFill>
                  <a:srgbClr val="13262B"/>
                </a:solidFill>
                <a:latin typeface="Consolas"/>
              </a:rPr>
              <a:t>&gt;DEF456</a:t>
            </a:r>
            <a:br/>
            <a:r>
              <a:rPr sz="1300" b="0" i="0">
                <a:solidFill>
                  <a:srgbClr val="13262B"/>
                </a:solidFill>
                <a:latin typeface="Consolas"/>
              </a:rPr>
              <a:t>actgatcgacgatcgatcgatcacgact</a:t>
            </a:r>
            <a:br/>
            <a:r>
              <a:rPr sz="1300" b="0" i="0">
                <a:solidFill>
                  <a:srgbClr val="13262B"/>
                </a:solidFill>
                <a:latin typeface="Consolas"/>
              </a:rPr>
              <a:t>&gt;HIJ789</a:t>
            </a:r>
            <a:br/>
            <a:r>
              <a:rPr sz="1300" b="0" i="0">
                <a:solidFill>
                  <a:srgbClr val="13262B"/>
                </a:solidFill>
                <a:latin typeface="Consolas"/>
              </a:rPr>
              <a:t>ACTGAC-ACTGT--ACTGTA----CATGTG</a:t>
            </a:r>
            <a:endParaRPr sz="1300"/>
          </a:p>
        </p:txBody>
      </p:sp>
      <p:sp>
        <p:nvSpPr>
          <p:cNvPr id="11" name="Tekst 2x20.30"/>
          <p:cNvSpPr txBox="1"/>
          <p:nvPr/>
        </p:nvSpPr>
        <p:spPr>
          <a:xfrm>
            <a:off x="5412680" y="3770412"/>
            <a:ext cx="608585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Redosled linija je dobar. Prvi pokušaj sa šest print naredbi zaboravio je znak </a:t>
            </a:r>
            <a:r>
              <a:rPr sz="1400" b="0" i="0">
                <a:solidFill>
                  <a:srgbClr val="A8521A"/>
                </a:solidFill>
                <a:latin typeface="Arial"/>
              </a:rPr>
              <a:t>&gt;</a:t>
            </a:r>
            <a:r>
              <a:rPr sz="1400" b="0" i="0">
                <a:solidFill>
                  <a:srgbClr val="3D4F52"/>
                </a:solidFill>
                <a:latin typeface="Arial"/>
              </a:rPr>
              <a:t>; jedan print sa </a:t>
            </a:r>
            <a:r>
              <a:rPr sz="1400" b="0" i="0">
                <a:solidFill>
                  <a:srgbClr val="A8521A"/>
                </a:solidFill>
                <a:latin typeface="Arial"/>
              </a:rPr>
              <a:t>\n</a:t>
            </a:r>
            <a:r>
              <a:rPr sz="1400" b="0" i="0">
                <a:solidFill>
                  <a:srgbClr val="3D4F52"/>
                </a:solidFill>
                <a:latin typeface="Arial"/>
              </a:rPr>
              <a:t> ispisuje i zaglavlje i sekvencu.</a:t>
            </a:r>
            <a:endParaRPr sz="14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VEŽBA: FASTA FAJL</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2: sređivanje sekvenci i pisanje u fajl</a:t>
            </a:r>
            <a:endParaRPr sz="3200"/>
          </a:p>
        </p:txBody>
      </p:sp>
      <p:sp>
        <p:nvSpPr>
          <p:cNvPr id="4" name="Rounded Rectangle 3"/>
          <p:cNvSpPr/>
          <p:nvPr/>
        </p:nvSpPr>
        <p:spPr>
          <a:xfrm>
            <a:off x="819150" y="1657251"/>
            <a:ext cx="10553700"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841401"/>
            <a:ext cx="10185400"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output = open(</a:t>
            </a:r>
            <a:r>
              <a:rPr sz="1300" b="0" i="0">
                <a:solidFill>
                  <a:srgbClr val="F0A35E"/>
                </a:solidFill>
                <a:latin typeface="Consolas"/>
              </a:rPr>
              <a:t>"sequences.fasta"</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output.write(</a:t>
            </a:r>
            <a:r>
              <a:rPr sz="1300" b="0" i="0">
                <a:solidFill>
                  <a:srgbClr val="F0A35E"/>
                </a:solidFill>
                <a:latin typeface="Consolas"/>
              </a:rPr>
              <a:t>'&gt;'</a:t>
            </a:r>
            <a:r>
              <a:rPr sz="1300" b="0" i="0">
                <a:solidFill>
                  <a:srgbClr val="E8EEE9"/>
                </a:solidFill>
                <a:latin typeface="Consolas"/>
              </a:rPr>
              <a:t> + header_1 + </a:t>
            </a:r>
            <a:r>
              <a:rPr sz="1300" b="0" i="0">
                <a:solidFill>
                  <a:srgbClr val="F0A35E"/>
                </a:solidFill>
                <a:latin typeface="Consolas"/>
              </a:rPr>
              <a:t>'\n'</a:t>
            </a:r>
            <a:r>
              <a:rPr sz="1300" b="0" i="0">
                <a:solidFill>
                  <a:srgbClr val="E8EEE9"/>
                </a:solidFill>
                <a:latin typeface="Consolas"/>
              </a:rPr>
              <a:t> + seq_1)</a:t>
            </a:r>
            <a:br/>
            <a:r>
              <a:rPr sz="1300" b="0" i="0">
                <a:solidFill>
                  <a:srgbClr val="E8EEE9"/>
                </a:solidFill>
                <a:latin typeface="Consolas"/>
              </a:rPr>
              <a:t>output.write(</a:t>
            </a:r>
            <a:r>
              <a:rPr sz="1300" b="0" i="0">
                <a:solidFill>
                  <a:srgbClr val="F0A35E"/>
                </a:solidFill>
                <a:latin typeface="Consolas"/>
              </a:rPr>
              <a:t>'&gt;'</a:t>
            </a:r>
            <a:r>
              <a:rPr sz="1300" b="0" i="0">
                <a:solidFill>
                  <a:srgbClr val="E8EEE9"/>
                </a:solidFill>
                <a:latin typeface="Consolas"/>
              </a:rPr>
              <a:t> + header_2 + </a:t>
            </a:r>
            <a:r>
              <a:rPr sz="1300" b="0" i="0">
                <a:solidFill>
                  <a:srgbClr val="F0A35E"/>
                </a:solidFill>
                <a:latin typeface="Consolas"/>
              </a:rPr>
              <a:t>'\n'</a:t>
            </a:r>
            <a:r>
              <a:rPr sz="1300" b="0" i="0">
                <a:solidFill>
                  <a:srgbClr val="E8EEE9"/>
                </a:solidFill>
                <a:latin typeface="Consolas"/>
              </a:rPr>
              <a:t> + seq_2.upper())</a:t>
            </a:r>
            <a:br/>
            <a:r>
              <a:rPr sz="1300" b="0" i="0">
                <a:solidFill>
                  <a:srgbClr val="E8EEE9"/>
                </a:solidFill>
                <a:latin typeface="Consolas"/>
              </a:rPr>
              <a:t>output.write(</a:t>
            </a:r>
            <a:r>
              <a:rPr sz="1300" b="0" i="0">
                <a:solidFill>
                  <a:srgbClr val="F0A35E"/>
                </a:solidFill>
                <a:latin typeface="Consolas"/>
              </a:rPr>
              <a:t>'&gt;'</a:t>
            </a:r>
            <a:r>
              <a:rPr sz="1300" b="0" i="0">
                <a:solidFill>
                  <a:srgbClr val="E8EEE9"/>
                </a:solidFill>
                <a:latin typeface="Consolas"/>
              </a:rPr>
              <a:t> + header_3 + </a:t>
            </a:r>
            <a:r>
              <a:rPr sz="1300" b="0" i="0">
                <a:solidFill>
                  <a:srgbClr val="F0A35E"/>
                </a:solidFill>
                <a:latin typeface="Consolas"/>
              </a:rPr>
              <a:t>'\n'</a:t>
            </a:r>
            <a:r>
              <a:rPr sz="1300" b="0" i="0">
                <a:solidFill>
                  <a:srgbClr val="E8EEE9"/>
                </a:solidFill>
                <a:latin typeface="Consolas"/>
              </a:rPr>
              <a:t> + seq_3.replace(</a:t>
            </a:r>
            <a:r>
              <a:rPr sz="1300" b="0" i="0">
                <a:solidFill>
                  <a:srgbClr val="F0A35E"/>
                </a:solidFill>
                <a:latin typeface="Consolas"/>
              </a:rPr>
              <a:t>'-'</a:t>
            </a:r>
            <a:r>
              <a:rPr sz="1300" b="0" i="0">
                <a:solidFill>
                  <a:srgbClr val="E8EEE9"/>
                </a:solidFill>
                <a:latin typeface="Consolas"/>
              </a:rPr>
              <a:t>, </a:t>
            </a:r>
            <a:r>
              <a:rPr sz="1300" b="0" i="0">
                <a:solidFill>
                  <a:srgbClr val="F0A35E"/>
                </a:solidFill>
                <a:latin typeface="Consolas"/>
              </a:rPr>
              <a:t>''</a:t>
            </a:r>
            <a:r>
              <a:rPr sz="1300" b="0" i="0">
                <a:solidFill>
                  <a:srgbClr val="E8EEE9"/>
                </a:solidFill>
                <a:latin typeface="Consolas"/>
              </a:rPr>
              <a:t>))</a:t>
            </a:r>
            <a:endParaRPr sz="1300"/>
          </a:p>
        </p:txBody>
      </p:sp>
      <p:sp>
        <p:nvSpPr>
          <p:cNvPr id="6" name="Rounded Rectangle 5"/>
          <p:cNvSpPr/>
          <p:nvPr/>
        </p:nvSpPr>
        <p:spPr>
          <a:xfrm>
            <a:off x="819150" y="3264991"/>
            <a:ext cx="4060924" cy="1391841"/>
          </a:xfrm>
          <a:prstGeom prst="roundRect">
            <a:avLst>
              <a:gd name="adj" fmla="val 729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2803624" y="3322141"/>
            <a:ext cx="19431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SEQUENCES.FASTA</a:t>
            </a:r>
            <a:endParaRPr sz="1200"/>
          </a:p>
        </p:txBody>
      </p:sp>
      <p:sp>
        <p:nvSpPr>
          <p:cNvPr id="8" name="Tekst 4x20.15"/>
          <p:cNvSpPr txBox="1"/>
          <p:nvPr/>
        </p:nvSpPr>
        <p:spPr>
          <a:xfrm>
            <a:off x="1079500" y="3449141"/>
            <a:ext cx="3611029"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&gt;ABC123</a:t>
            </a:r>
            <a:br/>
            <a:r>
              <a:rPr sz="1300" b="0" i="0">
                <a:solidFill>
                  <a:srgbClr val="13262B"/>
                </a:solidFill>
                <a:latin typeface="Consolas"/>
              </a:rPr>
              <a:t>ATCGTACGATCGATCGATCGCTAGACGTATCG</a:t>
            </a:r>
            <a:r>
              <a:rPr sz="1300" b="0" i="0">
                <a:solidFill>
                  <a:srgbClr val="A8521A"/>
                </a:solidFill>
                <a:latin typeface="Consolas"/>
              </a:rPr>
              <a:t>&gt;DEF456</a:t>
            </a:r>
            <a:br/>
            <a:r>
              <a:rPr sz="1300" b="0" i="0">
                <a:solidFill>
                  <a:srgbClr val="13262B"/>
                </a:solidFill>
                <a:latin typeface="Consolas"/>
              </a:rPr>
              <a:t>ACTGATCGACGATCGATCGATCACGACT</a:t>
            </a:r>
            <a:r>
              <a:rPr sz="1300" b="0" i="0">
                <a:solidFill>
                  <a:srgbClr val="A8521A"/>
                </a:solidFill>
                <a:latin typeface="Consolas"/>
              </a:rPr>
              <a:t>&gt;HIJ789</a:t>
            </a:r>
            <a:br/>
            <a:r>
              <a:rPr sz="1300" b="0" i="0">
                <a:solidFill>
                  <a:srgbClr val="13262B"/>
                </a:solidFill>
                <a:latin typeface="Consolas"/>
              </a:rPr>
              <a:t>ACTGACACTGTACTGTACATGTG</a:t>
            </a:r>
            <a:endParaRPr sz="1300"/>
          </a:p>
        </p:txBody>
      </p:sp>
      <p:sp>
        <p:nvSpPr>
          <p:cNvPr id="9" name="Rounded Rectangle 8"/>
          <p:cNvSpPr/>
          <p:nvPr/>
        </p:nvSpPr>
        <p:spPr>
          <a:xfrm>
            <a:off x="5092799" y="3261816"/>
            <a:ext cx="6283226" cy="775891"/>
          </a:xfrm>
          <a:prstGeom prst="roundRect">
            <a:avLst>
              <a:gd name="adj" fmla="val 1309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30"/>
          <p:cNvSpPr txBox="1"/>
          <p:nvPr/>
        </p:nvSpPr>
        <p:spPr>
          <a:xfrm>
            <a:off x="5273774" y="3391991"/>
            <a:ext cx="602795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upper()</a:t>
            </a:r>
            <a:r>
              <a:rPr sz="1400" b="0" i="0">
                <a:solidFill>
                  <a:srgbClr val="3D4F52"/>
                </a:solidFill>
                <a:latin typeface="Arial"/>
              </a:rPr>
              <a:t> sređuje drugu sekvencu; zamena crtice praznim stringom </a:t>
            </a:r>
            <a:r>
              <a:rPr sz="1400" b="0" i="0">
                <a:solidFill>
                  <a:srgbClr val="A8521A"/>
                </a:solidFill>
                <a:latin typeface="Arial"/>
              </a:rPr>
              <a:t>''</a:t>
            </a:r>
            <a:r>
              <a:rPr sz="1400" b="0" i="0">
                <a:solidFill>
                  <a:srgbClr val="3D4F52"/>
                </a:solidFill>
                <a:latin typeface="Arial"/>
              </a:rPr>
              <a:t> briše crtice.</a:t>
            </a:r>
            <a:endParaRPr sz="1400"/>
          </a:p>
        </p:txBody>
      </p:sp>
      <p:sp>
        <p:nvSpPr>
          <p:cNvPr id="11" name="Rounded Rectangle 10"/>
          <p:cNvSpPr/>
          <p:nvPr/>
        </p:nvSpPr>
        <p:spPr>
          <a:xfrm>
            <a:off x="5089624" y="4142482"/>
            <a:ext cx="6289576" cy="511770"/>
          </a:xfrm>
          <a:prstGeom prst="roundRect">
            <a:avLst>
              <a:gd name="adj" fmla="val 14889"/>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89624" y="4142482"/>
            <a:ext cx="38100" cy="5117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20.30"/>
          <p:cNvSpPr txBox="1"/>
          <p:nvPr/>
        </p:nvSpPr>
        <p:spPr>
          <a:xfrm>
            <a:off x="5305524" y="4269482"/>
            <a:ext cx="600255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Linije su se spojile: </a:t>
            </a:r>
            <a:r>
              <a:rPr sz="1400" b="0" i="0">
                <a:solidFill>
                  <a:srgbClr val="A8521A"/>
                </a:solidFill>
                <a:latin typeface="Arial"/>
              </a:rPr>
              <a:t>print</a:t>
            </a:r>
            <a:r>
              <a:rPr sz="1400" b="0" i="0">
                <a:solidFill>
                  <a:srgbClr val="13262B"/>
                </a:solidFill>
                <a:latin typeface="Arial"/>
              </a:rPr>
              <a:t> sam dodaje novi red, a </a:t>
            </a:r>
            <a:r>
              <a:rPr sz="1400" b="0" i="0">
                <a:solidFill>
                  <a:srgbClr val="A8521A"/>
                </a:solidFill>
                <a:latin typeface="Arial"/>
              </a:rPr>
              <a:t>write</a:t>
            </a:r>
            <a:r>
              <a:rPr sz="1400" b="0" i="0">
                <a:solidFill>
                  <a:srgbClr val="13262B"/>
                </a:solidFill>
                <a:latin typeface="Arial"/>
              </a:rPr>
              <a:t> ne.</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VEŽBA: FASTA FAJL</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3: novi red na kraju svakog zapisa</a:t>
            </a:r>
            <a:endParaRPr sz="3200"/>
          </a:p>
        </p:txBody>
      </p:sp>
      <p:sp>
        <p:nvSpPr>
          <p:cNvPr id="4" name="Rounded Rectangle 3"/>
          <p:cNvSpPr/>
          <p:nvPr/>
        </p:nvSpPr>
        <p:spPr>
          <a:xfrm>
            <a:off x="819150" y="1708051"/>
            <a:ext cx="6084094" cy="2493566"/>
          </a:xfrm>
          <a:prstGeom prst="roundRect">
            <a:avLst>
              <a:gd name="adj" fmla="val 407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18.60"/>
          <p:cNvSpPr txBox="1"/>
          <p:nvPr/>
        </p:nvSpPr>
        <p:spPr>
          <a:xfrm>
            <a:off x="1054100" y="1892201"/>
            <a:ext cx="5726478" cy="2125266"/>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8FB3AA"/>
                </a:solidFill>
                <a:latin typeface="Consolas"/>
              </a:rPr>
              <a:t># header_1..3 i seq_1..3 kao u koraku 1</a:t>
            </a:r>
            <a:br/>
            <a:r>
              <a:rPr sz="1200" b="0" i="0">
                <a:solidFill>
                  <a:srgbClr val="E8EEE9"/>
                </a:solidFill>
                <a:latin typeface="Consolas"/>
              </a:rPr>
              <a:t>output = open(</a:t>
            </a:r>
            <a:r>
              <a:rPr sz="1200" b="0" i="0">
                <a:solidFill>
                  <a:srgbClr val="F0A35E"/>
                </a:solidFill>
                <a:latin typeface="Consolas"/>
              </a:rPr>
              <a:t>"sequences.fasta"</a:t>
            </a:r>
            <a:r>
              <a:rPr sz="1200" b="0" i="0">
                <a:solidFill>
                  <a:srgbClr val="E8EEE9"/>
                </a:solidFill>
                <a:latin typeface="Consolas"/>
              </a:rPr>
              <a:t>, </a:t>
            </a:r>
            <a:r>
              <a:rPr sz="1200" b="0" i="0">
                <a:solidFill>
                  <a:srgbClr val="F0A35E"/>
                </a:solidFill>
                <a:latin typeface="Consolas"/>
              </a:rPr>
              <a:t>"w"</a:t>
            </a:r>
            <a:r>
              <a:rPr sz="1200" b="0" i="0">
                <a:solidFill>
                  <a:srgbClr val="E8EEE9"/>
                </a:solidFill>
                <a:latin typeface="Consolas"/>
              </a:rPr>
              <a:t>)</a:t>
            </a:r>
            <a:br/>
            <a:r>
              <a:rPr sz="1200" b="0" i="0">
                <a:solidFill>
                  <a:srgbClr val="8FB3AA"/>
                </a:solidFill>
                <a:latin typeface="Consolas"/>
              </a:rPr>
              <a:t># prvi zapis</a:t>
            </a:r>
            <a:br/>
            <a:r>
              <a:rPr sz="1200" b="0" i="0">
                <a:solidFill>
                  <a:srgbClr val="E8EEE9"/>
                </a:solidFill>
                <a:latin typeface="Consolas"/>
              </a:rPr>
              <a:t>output.write(</a:t>
            </a:r>
            <a:r>
              <a:rPr sz="1200" b="0" i="0">
                <a:solidFill>
                  <a:srgbClr val="F0A35E"/>
                </a:solidFill>
                <a:latin typeface="Consolas"/>
              </a:rPr>
              <a:t>'&gt;'</a:t>
            </a:r>
            <a:r>
              <a:rPr sz="1200" b="0" i="0">
                <a:solidFill>
                  <a:srgbClr val="E8EEE9"/>
                </a:solidFill>
                <a:latin typeface="Consolas"/>
              </a:rPr>
              <a:t> + header_1 + </a:t>
            </a:r>
            <a:r>
              <a:rPr sz="1200" b="0" i="0">
                <a:solidFill>
                  <a:srgbClr val="F0A35E"/>
                </a:solidFill>
                <a:latin typeface="Consolas"/>
              </a:rPr>
              <a:t>'\n'</a:t>
            </a:r>
            <a:r>
              <a:rPr sz="1200" b="0" i="0">
                <a:solidFill>
                  <a:srgbClr val="E8EEE9"/>
                </a:solidFill>
                <a:latin typeface="Consolas"/>
              </a:rPr>
              <a:t> + seq_1 + </a:t>
            </a:r>
            <a:r>
              <a:rPr sz="1200" b="0" i="0">
                <a:solidFill>
                  <a:srgbClr val="F0A35E"/>
                </a:solidFill>
                <a:latin typeface="Consolas"/>
              </a:rPr>
              <a:t>'\n'</a:t>
            </a:r>
            <a:r>
              <a:rPr sz="1200" b="0" i="0">
                <a:solidFill>
                  <a:srgbClr val="E8EEE9"/>
                </a:solidFill>
                <a:latin typeface="Consolas"/>
              </a:rPr>
              <a:t>)</a:t>
            </a:r>
            <a:br/>
            <a:r>
              <a:rPr sz="1200" b="0" i="0">
                <a:solidFill>
                  <a:srgbClr val="8FB3AA"/>
                </a:solidFill>
                <a:latin typeface="Consolas"/>
              </a:rPr>
              <a:t># drugi zapis, velikim slovima</a:t>
            </a:r>
            <a:br/>
            <a:r>
              <a:rPr sz="1200" b="0" i="0">
                <a:solidFill>
                  <a:srgbClr val="E8EEE9"/>
                </a:solidFill>
                <a:latin typeface="Consolas"/>
              </a:rPr>
              <a:t>output.write(</a:t>
            </a:r>
            <a:r>
              <a:rPr sz="1200" b="0" i="0">
                <a:solidFill>
                  <a:srgbClr val="F0A35E"/>
                </a:solidFill>
                <a:latin typeface="Consolas"/>
              </a:rPr>
              <a:t>'&gt;'</a:t>
            </a:r>
            <a:r>
              <a:rPr sz="1200" b="0" i="0">
                <a:solidFill>
                  <a:srgbClr val="E8EEE9"/>
                </a:solidFill>
                <a:latin typeface="Consolas"/>
              </a:rPr>
              <a:t> + header_2 + </a:t>
            </a:r>
            <a:r>
              <a:rPr sz="1200" b="0" i="0">
                <a:solidFill>
                  <a:srgbClr val="F0A35E"/>
                </a:solidFill>
                <a:latin typeface="Consolas"/>
              </a:rPr>
              <a:t>'\n'</a:t>
            </a:r>
            <a:r>
              <a:rPr sz="1200" b="0" i="0">
                <a:solidFill>
                  <a:srgbClr val="E8EEE9"/>
                </a:solidFill>
                <a:latin typeface="Consolas"/>
              </a:rPr>
              <a:t> + seq_2.upper() + </a:t>
            </a:r>
            <a:r>
              <a:rPr sz="1200" b="0" i="0">
                <a:solidFill>
                  <a:srgbClr val="F0A35E"/>
                </a:solidFill>
                <a:latin typeface="Consolas"/>
              </a:rPr>
              <a:t>'\n'</a:t>
            </a:r>
            <a:r>
              <a:rPr sz="1200" b="0" i="0">
                <a:solidFill>
                  <a:srgbClr val="E8EEE9"/>
                </a:solidFill>
                <a:latin typeface="Consolas"/>
              </a:rPr>
              <a:t>)</a:t>
            </a:r>
            <a:br/>
            <a:r>
              <a:rPr sz="1200" b="0" i="0">
                <a:solidFill>
                  <a:srgbClr val="8FB3AA"/>
                </a:solidFill>
                <a:latin typeface="Consolas"/>
              </a:rPr>
              <a:t># treći zapis, bez crtica</a:t>
            </a:r>
            <a:br/>
            <a:r>
              <a:rPr sz="1200" b="0" i="0">
                <a:solidFill>
                  <a:srgbClr val="E8EEE9"/>
                </a:solidFill>
                <a:latin typeface="Consolas"/>
              </a:rPr>
              <a:t>output.write(</a:t>
            </a:r>
            <a:r>
              <a:rPr sz="1200" b="0" i="0">
                <a:solidFill>
                  <a:srgbClr val="F0A35E"/>
                </a:solidFill>
                <a:latin typeface="Consolas"/>
              </a:rPr>
              <a:t>'&gt;'</a:t>
            </a:r>
            <a:r>
              <a:rPr sz="1200" b="0" i="0">
                <a:solidFill>
                  <a:srgbClr val="E8EEE9"/>
                </a:solidFill>
                <a:latin typeface="Consolas"/>
              </a:rPr>
              <a:t> + header_3 + </a:t>
            </a:r>
            <a:r>
              <a:rPr sz="1200" b="0" i="0">
                <a:solidFill>
                  <a:srgbClr val="F0A35E"/>
                </a:solidFill>
                <a:latin typeface="Consolas"/>
              </a:rPr>
              <a:t>'\n'</a:t>
            </a:r>
            <a:r>
              <a:rPr sz="1200" b="0" i="0">
                <a:solidFill>
                  <a:srgbClr val="E8EEE9"/>
                </a:solidFill>
                <a:latin typeface="Consolas"/>
              </a:rPr>
              <a:t> + seq_3.replace(</a:t>
            </a:r>
            <a:r>
              <a:rPr sz="1200" b="0" i="0">
                <a:solidFill>
                  <a:srgbClr val="F0A35E"/>
                </a:solidFill>
                <a:latin typeface="Consolas"/>
              </a:rPr>
              <a:t>'-'</a:t>
            </a:r>
            <a:r>
              <a:rPr sz="1200" b="0" i="0">
                <a:solidFill>
                  <a:srgbClr val="E8EEE9"/>
                </a:solidFill>
                <a:latin typeface="Consolas"/>
              </a:rPr>
              <a:t>, </a:t>
            </a:r>
            <a:r>
              <a:rPr sz="1200" b="0" i="0">
                <a:solidFill>
                  <a:srgbClr val="F0A35E"/>
                </a:solidFill>
                <a:latin typeface="Consolas"/>
              </a:rPr>
              <a:t>''</a:t>
            </a:r>
            <a:r>
              <a:rPr sz="1200" b="0" i="0">
                <a:solidFill>
                  <a:srgbClr val="E8EEE9"/>
                </a:solidFill>
                <a:latin typeface="Consolas"/>
              </a:rPr>
              <a:t>) + </a:t>
            </a:r>
            <a:r>
              <a:rPr sz="1200" b="0" i="0">
                <a:solidFill>
                  <a:srgbClr val="F0A35E"/>
                </a:solidFill>
                <a:latin typeface="Consolas"/>
              </a:rPr>
              <a:t>'\n'</a:t>
            </a:r>
            <a:r>
              <a:rPr sz="1200" b="0" i="0">
                <a:solidFill>
                  <a:srgbClr val="E8EEE9"/>
                </a:solidFill>
                <a:latin typeface="Consolas"/>
              </a:rPr>
              <a:t>)</a:t>
            </a:r>
            <a:br/>
            <a:r>
              <a:rPr sz="1200" b="0" i="0">
                <a:solidFill>
                  <a:srgbClr val="E8EEE9"/>
                </a:solidFill>
                <a:latin typeface="Consolas"/>
              </a:rPr>
              <a:t>output.close()</a:t>
            </a:r>
            <a:endParaRPr sz="1200"/>
          </a:p>
        </p:txBody>
      </p:sp>
      <p:sp>
        <p:nvSpPr>
          <p:cNvPr id="6" name="Rounded Rectangle 5"/>
          <p:cNvSpPr/>
          <p:nvPr/>
        </p:nvSpPr>
        <p:spPr>
          <a:xfrm>
            <a:off x="7068344" y="1708051"/>
            <a:ext cx="4304506" cy="1785144"/>
          </a:xfrm>
          <a:prstGeom prst="roundRect">
            <a:avLst>
              <a:gd name="adj" fmla="val 5691"/>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6x18.60"/>
          <p:cNvSpPr txBox="1"/>
          <p:nvPr/>
        </p:nvSpPr>
        <p:spPr>
          <a:xfrm>
            <a:off x="7277894" y="1892201"/>
            <a:ext cx="3963114" cy="1416844"/>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13262B"/>
                </a:solidFill>
                <a:latin typeface="Consolas"/>
              </a:rPr>
              <a:t>&gt;ABC123</a:t>
            </a:r>
            <a:br/>
            <a:r>
              <a:rPr sz="1200" b="0" i="0">
                <a:solidFill>
                  <a:srgbClr val="13262B"/>
                </a:solidFill>
                <a:latin typeface="Consolas"/>
              </a:rPr>
              <a:t>ATCGTACGATCGATCGATCGCTAGACGTATCG</a:t>
            </a:r>
            <a:br/>
            <a:r>
              <a:rPr sz="1200" b="0" i="0">
                <a:solidFill>
                  <a:srgbClr val="13262B"/>
                </a:solidFill>
                <a:latin typeface="Consolas"/>
              </a:rPr>
              <a:t>&gt;DEF456</a:t>
            </a:r>
            <a:br/>
            <a:r>
              <a:rPr sz="1200" b="0" i="0">
                <a:solidFill>
                  <a:srgbClr val="13262B"/>
                </a:solidFill>
                <a:latin typeface="Consolas"/>
              </a:rPr>
              <a:t>ACTGATCGACGATCGATCGATCACGACT</a:t>
            </a:r>
            <a:br/>
            <a:r>
              <a:rPr sz="1200" b="0" i="0">
                <a:solidFill>
                  <a:srgbClr val="13262B"/>
                </a:solidFill>
                <a:latin typeface="Consolas"/>
              </a:rPr>
              <a:t>&gt;HIJ789</a:t>
            </a:r>
            <a:br/>
            <a:r>
              <a:rPr sz="1200" b="0" i="0">
                <a:solidFill>
                  <a:srgbClr val="13262B"/>
                </a:solidFill>
                <a:latin typeface="Consolas"/>
              </a:rPr>
              <a:t>ACTGACACTGTACTGTACATGTG</a:t>
            </a:r>
            <a:endParaRPr sz="1200"/>
          </a:p>
        </p:txBody>
      </p:sp>
      <p:sp>
        <p:nvSpPr>
          <p:cNvPr id="8" name="Rounded Rectangle 7"/>
          <p:cNvSpPr/>
          <p:nvPr/>
        </p:nvSpPr>
        <p:spPr>
          <a:xfrm>
            <a:off x="812800" y="4461966"/>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0" y="4461966"/>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0.30"/>
          <p:cNvSpPr txBox="1"/>
          <p:nvPr/>
        </p:nvSpPr>
        <p:spPr>
          <a:xfrm>
            <a:off x="1054100" y="4614366"/>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Složen argument je niz jednostavnih delova: „znak &gt;, zaglavlje, novi red, sekvenca bez crtica, novi red”.</a:t>
            </a:r>
            <a:endParaRPr sz="14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VEŽBA: VIŠE FASTA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Jedan fajl po sekvenci</a:t>
            </a:r>
            <a:endParaRPr sz="3200"/>
          </a:p>
        </p:txBody>
      </p:sp>
      <p:sp>
        <p:nvSpPr>
          <p:cNvPr id="4" name="Rounded Rectangle 3"/>
          <p:cNvSpPr/>
          <p:nvPr/>
        </p:nvSpPr>
        <p:spPr>
          <a:xfrm>
            <a:off x="819150" y="1708051"/>
            <a:ext cx="1055370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6x20.15"/>
          <p:cNvSpPr txBox="1"/>
          <p:nvPr/>
        </p:nvSpPr>
        <p:spPr>
          <a:xfrm>
            <a:off x="1079500" y="1892201"/>
            <a:ext cx="10185400"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output_1 = open(header_1 + </a:t>
            </a:r>
            <a:r>
              <a:rPr sz="1300" b="0" i="0">
                <a:solidFill>
                  <a:srgbClr val="F0A35E"/>
                </a:solidFill>
                <a:latin typeface="Consolas"/>
              </a:rPr>
              <a:t>".fasta"</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output_2 = open(header_2 + </a:t>
            </a:r>
            <a:r>
              <a:rPr sz="1300" b="0" i="0">
                <a:solidFill>
                  <a:srgbClr val="F0A35E"/>
                </a:solidFill>
                <a:latin typeface="Consolas"/>
              </a:rPr>
              <a:t>".fasta"</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output_3 = open(header_3 + </a:t>
            </a:r>
            <a:r>
              <a:rPr sz="1300" b="0" i="0">
                <a:solidFill>
                  <a:srgbClr val="F0A35E"/>
                </a:solidFill>
                <a:latin typeface="Consolas"/>
              </a:rPr>
              <a:t>".fasta"</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output_1.write(</a:t>
            </a:r>
            <a:r>
              <a:rPr sz="1300" b="0" i="0">
                <a:solidFill>
                  <a:srgbClr val="F0A35E"/>
                </a:solidFill>
                <a:latin typeface="Consolas"/>
              </a:rPr>
              <a:t>'&gt;'</a:t>
            </a:r>
            <a:r>
              <a:rPr sz="1300" b="0" i="0">
                <a:solidFill>
                  <a:srgbClr val="E8EEE9"/>
                </a:solidFill>
                <a:latin typeface="Consolas"/>
              </a:rPr>
              <a:t> + header_1 + </a:t>
            </a:r>
            <a:r>
              <a:rPr sz="1300" b="0" i="0">
                <a:solidFill>
                  <a:srgbClr val="F0A35E"/>
                </a:solidFill>
                <a:latin typeface="Consolas"/>
              </a:rPr>
              <a:t>'\n'</a:t>
            </a:r>
            <a:r>
              <a:rPr sz="1300" b="0" i="0">
                <a:solidFill>
                  <a:srgbClr val="E8EEE9"/>
                </a:solidFill>
                <a:latin typeface="Consolas"/>
              </a:rPr>
              <a:t> + seq_1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output_2.write(</a:t>
            </a:r>
            <a:r>
              <a:rPr sz="1300" b="0" i="0">
                <a:solidFill>
                  <a:srgbClr val="F0A35E"/>
                </a:solidFill>
                <a:latin typeface="Consolas"/>
              </a:rPr>
              <a:t>'&gt;'</a:t>
            </a:r>
            <a:r>
              <a:rPr sz="1300" b="0" i="0">
                <a:solidFill>
                  <a:srgbClr val="E8EEE9"/>
                </a:solidFill>
                <a:latin typeface="Consolas"/>
              </a:rPr>
              <a:t> + header_2 + </a:t>
            </a:r>
            <a:r>
              <a:rPr sz="1300" b="0" i="0">
                <a:solidFill>
                  <a:srgbClr val="F0A35E"/>
                </a:solidFill>
                <a:latin typeface="Consolas"/>
              </a:rPr>
              <a:t>'\n'</a:t>
            </a:r>
            <a:r>
              <a:rPr sz="1300" b="0" i="0">
                <a:solidFill>
                  <a:srgbClr val="E8EEE9"/>
                </a:solidFill>
                <a:latin typeface="Consolas"/>
              </a:rPr>
              <a:t> + seq_2.upper()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output_3.write(</a:t>
            </a:r>
            <a:r>
              <a:rPr sz="1300" b="0" i="0">
                <a:solidFill>
                  <a:srgbClr val="F0A35E"/>
                </a:solidFill>
                <a:latin typeface="Consolas"/>
              </a:rPr>
              <a:t>'&gt;'</a:t>
            </a:r>
            <a:r>
              <a:rPr sz="1300" b="0" i="0">
                <a:solidFill>
                  <a:srgbClr val="E8EEE9"/>
                </a:solidFill>
                <a:latin typeface="Consolas"/>
              </a:rPr>
              <a:t> + header_3 + </a:t>
            </a:r>
            <a:r>
              <a:rPr sz="1300" b="0" i="0">
                <a:solidFill>
                  <a:srgbClr val="F0A35E"/>
                </a:solidFill>
                <a:latin typeface="Consolas"/>
              </a:rPr>
              <a:t>'\n'</a:t>
            </a:r>
            <a:r>
              <a:rPr sz="1300" b="0" i="0">
                <a:solidFill>
                  <a:srgbClr val="E8EEE9"/>
                </a:solidFill>
                <a:latin typeface="Consolas"/>
              </a:rPr>
              <a:t> + seq_3.replace(</a:t>
            </a:r>
            <a:r>
              <a:rPr sz="1300" b="0" i="0">
                <a:solidFill>
                  <a:srgbClr val="F0A35E"/>
                </a:solidFill>
                <a:latin typeface="Consolas"/>
              </a:rPr>
              <a:t>'-'</a:t>
            </a:r>
            <a:r>
              <a:rPr sz="1300" b="0" i="0">
                <a:solidFill>
                  <a:srgbClr val="E8EEE9"/>
                </a:solidFill>
                <a:latin typeface="Consolas"/>
              </a:rPr>
              <a:t>, </a:t>
            </a:r>
            <a:r>
              <a:rPr sz="1300" b="0" i="0">
                <a:solidFill>
                  <a:srgbClr val="F0A35E"/>
                </a:solidFill>
                <a:latin typeface="Consolas"/>
              </a:rPr>
              <a:t>''</a:t>
            </a:r>
            <a:r>
              <a:rPr sz="1300" b="0" i="0">
                <a:solidFill>
                  <a:srgbClr val="E8EEE9"/>
                </a:solidFill>
                <a:latin typeface="Consolas"/>
              </a:rPr>
              <a:t>) + </a:t>
            </a:r>
            <a:r>
              <a:rPr sz="1300" b="0" i="0">
                <a:solidFill>
                  <a:srgbClr val="F0A35E"/>
                </a:solidFill>
                <a:latin typeface="Consolas"/>
              </a:rPr>
              <a:t>'\n'</a:t>
            </a:r>
            <a:r>
              <a:rPr sz="1300" b="0" i="0">
                <a:solidFill>
                  <a:srgbClr val="E8EEE9"/>
                </a:solidFill>
                <a:latin typeface="Consolas"/>
              </a:rPr>
              <a:t>)</a:t>
            </a:r>
            <a:endParaRPr sz="1300"/>
          </a:p>
        </p:txBody>
      </p:sp>
      <p:sp>
        <p:nvSpPr>
          <p:cNvPr id="6" name="Rounded Rectangle 5"/>
          <p:cNvSpPr/>
          <p:nvPr/>
        </p:nvSpPr>
        <p:spPr>
          <a:xfrm>
            <a:off x="815975" y="3875187"/>
            <a:ext cx="3592016" cy="1480046"/>
          </a:xfrm>
          <a:prstGeom prst="roundRect">
            <a:avLst>
              <a:gd name="adj" fmla="val 686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21.60"/>
          <p:cNvSpPr txBox="1"/>
          <p:nvPr/>
        </p:nvSpPr>
        <p:spPr>
          <a:xfrm>
            <a:off x="1022350" y="4056162"/>
            <a:ext cx="3242852"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Rezultat</a:t>
            </a:r>
            <a:endParaRPr sz="1800"/>
          </a:p>
        </p:txBody>
      </p:sp>
      <p:sp>
        <p:nvSpPr>
          <p:cNvPr id="8" name="Tekst 3x20.15"/>
          <p:cNvSpPr txBox="1"/>
          <p:nvPr/>
        </p:nvSpPr>
        <p:spPr>
          <a:xfrm>
            <a:off x="1022350" y="4406602"/>
            <a:ext cx="3242852" cy="767655"/>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ABC123.fasta</a:t>
            </a:r>
            <a:br/>
            <a:r>
              <a:rPr sz="1300" b="0" i="0">
                <a:solidFill>
                  <a:srgbClr val="A8521A"/>
                </a:solidFill>
                <a:latin typeface="Consolas"/>
              </a:rPr>
              <a:t>DEF456.fasta</a:t>
            </a:r>
            <a:br/>
            <a:r>
              <a:rPr sz="1300" b="0" i="0">
                <a:solidFill>
                  <a:srgbClr val="A8521A"/>
                </a:solidFill>
                <a:latin typeface="Consolas"/>
              </a:rPr>
              <a:t>HIJ789.fasta</a:t>
            </a:r>
            <a:endParaRPr sz="1300"/>
          </a:p>
        </p:txBody>
      </p:sp>
      <p:sp>
        <p:nvSpPr>
          <p:cNvPr id="9" name="Rounded Rectangle 8"/>
          <p:cNvSpPr/>
          <p:nvPr/>
        </p:nvSpPr>
        <p:spPr>
          <a:xfrm>
            <a:off x="4614366" y="3872012"/>
            <a:ext cx="6764834" cy="1486396"/>
          </a:xfrm>
          <a:prstGeom prst="roundRect">
            <a:avLst>
              <a:gd name="adj" fmla="val 683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4817566" y="4049812"/>
            <a:ext cx="6480354"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Previše ponavljanja</a:t>
            </a:r>
            <a:endParaRPr sz="1800"/>
          </a:p>
        </p:txBody>
      </p:sp>
      <p:sp>
        <p:nvSpPr>
          <p:cNvPr id="11" name="Tekst 3x20.30"/>
          <p:cNvSpPr txBox="1"/>
          <p:nvPr/>
        </p:nvSpPr>
        <p:spPr>
          <a:xfrm>
            <a:off x="4817566" y="4400252"/>
            <a:ext cx="6480354"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Četiri dela koda, i svaki ima tri skoro ista reda: zaglavlja, sekvence, otvaranje fajlova i pisanje. To je mnogo kucanja i lako dovodi do greške. Liste i petlje iz poglavlja 4 rešavaju upravo taj problem.</a:t>
            </a:r>
            <a:endParaRPr sz="14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VEŽBA: PODELA GENOMSKE DNK</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Kodirajući i nekodirajući deo u dva fajla</a:t>
            </a:r>
            <a:endParaRPr sz="3200"/>
          </a:p>
        </p:txBody>
      </p:sp>
      <p:sp>
        <p:nvSpPr>
          <p:cNvPr id="4" name="Rounded Rectangle 3"/>
          <p:cNvSpPr/>
          <p:nvPr/>
        </p:nvSpPr>
        <p:spPr>
          <a:xfrm>
            <a:off x="819150" y="1708051"/>
            <a:ext cx="4787205" cy="3694807"/>
          </a:xfrm>
          <a:prstGeom prst="roundRect">
            <a:avLst>
              <a:gd name="adj" fmla="val 274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3x20.15"/>
          <p:cNvSpPr txBox="1"/>
          <p:nvPr/>
        </p:nvSpPr>
        <p:spPr>
          <a:xfrm>
            <a:off x="1079500" y="1892201"/>
            <a:ext cx="4351836" cy="332650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otvori fajl i pročitaj sadržaj</a:t>
            </a:r>
            <a:br/>
            <a:r>
              <a:rPr sz="1300" b="0" i="0">
                <a:solidFill>
                  <a:srgbClr val="E8EEE9"/>
                </a:solidFill>
                <a:latin typeface="Consolas"/>
              </a:rPr>
              <a:t>dna_file = open(</a:t>
            </a:r>
            <a:r>
              <a:rPr sz="1300" b="0" i="0">
                <a:solidFill>
                  <a:srgbClr val="F0A35E"/>
                </a:solidFill>
                <a:latin typeface="Consolas"/>
              </a:rPr>
              <a:t>"genomic_dna.txt"</a:t>
            </a:r>
            <a:r>
              <a:rPr sz="1300" b="0" i="0">
                <a:solidFill>
                  <a:srgbClr val="E8EEE9"/>
                </a:solidFill>
                <a:latin typeface="Consolas"/>
              </a:rPr>
              <a:t>)</a:t>
            </a:r>
            <a:br/>
            <a:r>
              <a:rPr sz="1300" b="0" i="0">
                <a:solidFill>
                  <a:srgbClr val="E8EEE9"/>
                </a:solidFill>
                <a:latin typeface="Consolas"/>
              </a:rPr>
              <a:t>my_dna = dna_file.read()</a:t>
            </a:r>
            <a:br/>
            <a:r>
              <a:rPr sz="1300" b="0" i="0">
                <a:solidFill>
                  <a:srgbClr val="8FB3AA"/>
                </a:solidFill>
                <a:latin typeface="Consolas"/>
              </a:rPr>
              <a:t># izdvoj delove sekvence</a:t>
            </a:r>
            <a:br/>
            <a:r>
              <a:rPr sz="1300" b="0" i="0">
                <a:solidFill>
                  <a:srgbClr val="E8EEE9"/>
                </a:solidFill>
                <a:latin typeface="Consolas"/>
              </a:rPr>
              <a:t>exon1 = my_dna[0:63]</a:t>
            </a:r>
            <a:br/>
            <a:r>
              <a:rPr sz="1300" b="0" i="0">
                <a:solidFill>
                  <a:srgbClr val="E8EEE9"/>
                </a:solidFill>
                <a:latin typeface="Consolas"/>
              </a:rPr>
              <a:t>intron = my_dna[63:90]</a:t>
            </a:r>
            <a:br/>
            <a:r>
              <a:rPr sz="1300" b="0" i="0">
                <a:solidFill>
                  <a:srgbClr val="E8EEE9"/>
                </a:solidFill>
                <a:latin typeface="Consolas"/>
              </a:rPr>
              <a:t>exon2 = my_dna[90:10000]</a:t>
            </a:r>
            <a:br/>
            <a:r>
              <a:rPr sz="1300" b="0" i="0">
                <a:solidFill>
                  <a:srgbClr val="8FB3AA"/>
                </a:solidFill>
                <a:latin typeface="Consolas"/>
              </a:rPr>
              <a:t># otvori dva izlazna fajla</a:t>
            </a:r>
            <a:br/>
            <a:r>
              <a:rPr sz="1300" b="0" i="0">
                <a:solidFill>
                  <a:srgbClr val="E8EEE9"/>
                </a:solidFill>
                <a:latin typeface="Consolas"/>
              </a:rPr>
              <a:t>coding_file = open(</a:t>
            </a:r>
            <a:r>
              <a:rPr sz="1300" b="0" i="0">
                <a:solidFill>
                  <a:srgbClr val="F0A35E"/>
                </a:solidFill>
                <a:latin typeface="Consolas"/>
              </a:rPr>
              <a:t>"coding_dna.txt"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noncoding_file = open(</a:t>
            </a:r>
            <a:r>
              <a:rPr sz="1300" b="0" i="0">
                <a:solidFill>
                  <a:srgbClr val="F0A35E"/>
                </a:solidFill>
                <a:latin typeface="Consolas"/>
              </a:rPr>
              <a:t>"noncoding_dna.txt"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8FB3AA"/>
                </a:solidFill>
                <a:latin typeface="Consolas"/>
              </a:rPr>
              <a:t># upiši sekvence</a:t>
            </a:r>
            <a:br/>
            <a:r>
              <a:rPr sz="1300" b="0" i="0">
                <a:solidFill>
                  <a:srgbClr val="E8EEE9"/>
                </a:solidFill>
                <a:latin typeface="Consolas"/>
              </a:rPr>
              <a:t>coding_file.write(exon1 + exon2)</a:t>
            </a:r>
            <a:br/>
            <a:r>
              <a:rPr sz="1300" b="0" i="0">
                <a:solidFill>
                  <a:srgbClr val="E8EEE9"/>
                </a:solidFill>
                <a:latin typeface="Consolas"/>
              </a:rPr>
              <a:t>noncoding_file.write(intron)</a:t>
            </a:r>
            <a:endParaRPr sz="1300"/>
          </a:p>
        </p:txBody>
      </p:sp>
      <p:sp>
        <p:nvSpPr>
          <p:cNvPr id="6" name="Tekst 1x20.30"/>
          <p:cNvSpPr txBox="1"/>
          <p:nvPr/>
        </p:nvSpPr>
        <p:spPr>
          <a:xfrm>
            <a:off x="5917505" y="1701701"/>
            <a:ext cx="5570928"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Polazimo od rešenja iz poglavlja 2. Šta se menja:</a:t>
            </a:r>
            <a:endParaRPr sz="1400"/>
          </a:p>
        </p:txBody>
      </p:sp>
      <p:sp>
        <p:nvSpPr>
          <p:cNvPr id="7" name="Rounded Rectangle 6"/>
          <p:cNvSpPr/>
          <p:nvPr/>
        </p:nvSpPr>
        <p:spPr>
          <a:xfrm>
            <a:off x="5920680" y="2064246"/>
            <a:ext cx="5455345" cy="518120"/>
          </a:xfrm>
          <a:prstGeom prst="roundRect">
            <a:avLst>
              <a:gd name="adj" fmla="val 1960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9.60"/>
          <p:cNvSpPr txBox="1"/>
          <p:nvPr/>
        </p:nvSpPr>
        <p:spPr>
          <a:xfrm>
            <a:off x="6101655" y="2194421"/>
            <a:ext cx="12323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1</a:t>
            </a:r>
            <a:endParaRPr sz="1400"/>
          </a:p>
        </p:txBody>
      </p:sp>
      <p:sp>
        <p:nvSpPr>
          <p:cNvPr id="9" name="Tekst 1x20.30"/>
          <p:cNvSpPr txBox="1"/>
          <p:nvPr/>
        </p:nvSpPr>
        <p:spPr>
          <a:xfrm>
            <a:off x="6326485" y="2194421"/>
            <a:ext cx="422401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sekvenca se čita iz fajla, umesto da je upisana u kod</a:t>
            </a:r>
            <a:endParaRPr sz="1400"/>
          </a:p>
        </p:txBody>
      </p:sp>
      <p:sp>
        <p:nvSpPr>
          <p:cNvPr id="10" name="Rounded Rectangle 9"/>
          <p:cNvSpPr/>
          <p:nvPr/>
        </p:nvSpPr>
        <p:spPr>
          <a:xfrm>
            <a:off x="5920680" y="2690316"/>
            <a:ext cx="5455345" cy="518120"/>
          </a:xfrm>
          <a:prstGeom prst="roundRect">
            <a:avLst>
              <a:gd name="adj" fmla="val 1960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19.60"/>
          <p:cNvSpPr txBox="1"/>
          <p:nvPr/>
        </p:nvSpPr>
        <p:spPr>
          <a:xfrm>
            <a:off x="6101655" y="2820491"/>
            <a:ext cx="12323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2</a:t>
            </a:r>
            <a:endParaRPr sz="1400"/>
          </a:p>
        </p:txBody>
      </p:sp>
      <p:sp>
        <p:nvSpPr>
          <p:cNvPr id="12" name="Tekst 1x20.30"/>
          <p:cNvSpPr txBox="1"/>
          <p:nvPr/>
        </p:nvSpPr>
        <p:spPr>
          <a:xfrm>
            <a:off x="6326485" y="2820491"/>
            <a:ext cx="398214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dva nova fajl objekta za izlaz, otvorena za pisanje</a:t>
            </a:r>
            <a:endParaRPr sz="1400"/>
          </a:p>
        </p:txBody>
      </p:sp>
      <p:sp>
        <p:nvSpPr>
          <p:cNvPr id="13" name="Rounded Rectangle 12"/>
          <p:cNvSpPr/>
          <p:nvPr/>
        </p:nvSpPr>
        <p:spPr>
          <a:xfrm>
            <a:off x="5920680" y="3316387"/>
            <a:ext cx="5455345" cy="518120"/>
          </a:xfrm>
          <a:prstGeom prst="roundRect">
            <a:avLst>
              <a:gd name="adj" fmla="val 1960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9.60"/>
          <p:cNvSpPr txBox="1"/>
          <p:nvPr/>
        </p:nvSpPr>
        <p:spPr>
          <a:xfrm>
            <a:off x="6101655" y="3446562"/>
            <a:ext cx="12323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3</a:t>
            </a:r>
            <a:endParaRPr sz="1400"/>
          </a:p>
        </p:txBody>
      </p:sp>
      <p:sp>
        <p:nvSpPr>
          <p:cNvPr id="15" name="Tekst 1x20.30"/>
          <p:cNvSpPr txBox="1"/>
          <p:nvPr/>
        </p:nvSpPr>
        <p:spPr>
          <a:xfrm>
            <a:off x="6326485" y="3446562"/>
            <a:ext cx="2913739"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egzoni idu u jedan fajl, intron u drugi</a:t>
            </a:r>
            <a:endParaRPr sz="14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03 · ČITANJE I PISANJE FAJLOVA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Rezime i vežbe</a:t>
            </a:r>
            <a:endParaRPr sz="3200"/>
          </a:p>
        </p:txBody>
      </p:sp>
      <p:sp>
        <p:nvSpPr>
          <p:cNvPr id="4" name="Rounded Rectangle 3"/>
          <p:cNvSpPr/>
          <p:nvPr/>
        </p:nvSpPr>
        <p:spPr>
          <a:xfrm>
            <a:off x="815975" y="1704876"/>
            <a:ext cx="5037931" cy="2542183"/>
          </a:xfrm>
          <a:prstGeom prst="roundRect">
            <a:avLst>
              <a:gd name="adj" fmla="val 3996"/>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717685"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smo naučili</a:t>
            </a:r>
            <a:endParaRPr sz="1800"/>
          </a:p>
        </p:txBody>
      </p:sp>
      <p:sp>
        <p:nvSpPr>
          <p:cNvPr id="6" name="Tekst 7x20.30"/>
          <p:cNvSpPr txBox="1"/>
          <p:nvPr/>
        </p:nvSpPr>
        <p:spPr>
          <a:xfrm>
            <a:off x="1022350" y="2261691"/>
            <a:ext cx="4717685" cy="180439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Rad sa fajlom ima dva koraka: prvo open, pa čitanje ili pisanje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Ime fajla, fajl objekat i sadržaj su tri različite stvari</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rstrip("\n") uklanja novi red sa kraja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Režimi "r", "w" i "a"; metodi write i close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Putanje se razlikuju po operativnim sistemima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Nepostojeći fajl daje FileNotFoundError</a:t>
            </a:r>
            <a:endParaRPr sz="1400"/>
          </a:p>
        </p:txBody>
      </p:sp>
      <p:sp>
        <p:nvSpPr>
          <p:cNvPr id="7" name="Rounded Rectangle 6"/>
          <p:cNvSpPr/>
          <p:nvPr/>
        </p:nvSpPr>
        <p:spPr>
          <a:xfrm>
            <a:off x="6060281" y="1701701"/>
            <a:ext cx="5318919" cy="2020292"/>
          </a:xfrm>
          <a:prstGeom prst="roundRect">
            <a:avLst>
              <a:gd name="adj" fmla="val 502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6263481" y="1879501"/>
            <a:ext cx="5010769"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Vežbe</a:t>
            </a:r>
            <a:endParaRPr sz="1800"/>
          </a:p>
        </p:txBody>
      </p:sp>
      <p:sp>
        <p:nvSpPr>
          <p:cNvPr id="9" name="Tekst 5x20.30"/>
          <p:cNvSpPr txBox="1"/>
          <p:nvPr/>
        </p:nvSpPr>
        <p:spPr>
          <a:xfrm>
            <a:off x="6263481" y="2255341"/>
            <a:ext cx="5010769" cy="1288852"/>
          </a:xfrm>
          <a:prstGeom prst="rect">
            <a:avLst/>
          </a:prstGeom>
          <a:noFill/>
        </p:spPr>
        <p:txBody>
          <a:bodyPr wrap="square" anchor="t" lIns="0" rIns="0" tIns="0" bIns="0">
            <a:noAutofit/>
          </a:bodyPr>
          <a:lstStyle/>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Podelite genomsku DNK iz genomic_dna.txt na kodirajući i nekodirajući deo i upišite ih u dva fajla</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Napravite FASTA fajl sa tri sekvence (prethodni slajd)</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Napravite tri FASTA fajla, po jedan za svaku sekvencu; ime fajla je zaglavlje + .fasta</a:t>
            </a:r>
            <a:endParaRPr sz="1400"/>
          </a:p>
        </p:txBody>
      </p:sp>
      <p:sp>
        <p:nvSpPr>
          <p:cNvPr id="10" name="Tekst 2x20.30"/>
          <p:cNvSpPr txBox="1"/>
          <p:nvPr/>
        </p:nvSpPr>
        <p:spPr>
          <a:xfrm>
            <a:off x="6060281" y="3874393"/>
            <a:ext cx="5425297"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Sledi: čitanje liniju po liniju (pogl. 4), rad sa fajlovima i folderima i imena fajlova koja zadaje korisnik (pogl. 9).</a:t>
            </a:r>
            <a:endParaRPr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za biologe – Lekcija 3: Čitanje i pisanje fajlova</dc:title>
  <dc:subject>Prema knjizi Martina Jonesa: Python for Biologists</dc:subject>
  <dc:creator>Aleksandar Kartelj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